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563C1"/>
                </a:solidFill>
              </a:defRPr>
            </a:pPr>
            <a:r>
              <a:t>Gauss-Markov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4546A"/>
                </a:solidFill>
              </a:defRPr>
            </a:pPr>
            <a:r>
              <a:t>应用回归分析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5A5A5"/>
                </a:solidFill>
              </a:defRPr>
            </a:pPr>
            <a:r>
              <a:t>Chapter 04 | Peng Ding, A First Course in Causal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为什么需要 Gauss-Markov？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OLS 估计凭什么"最好"？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有没有比 OLS 更好的估计？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第 3 章 OLS 是纯代数运算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没有随机假设谈不上"最优"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114800"/>
            <a:ext cx="320040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0563C1"/>
                </a:solidFill>
              </a:defRPr>
            </a:pPr>
            <a:r>
              <a:t>"OLS 凭什么最好？"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从代数到统计：引入随机假设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第 3 章 OLS 是纯代数运算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没有随机假设谈不上"最优"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Gauss-Markov 模型给出了讨论统计性质的基础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需要误差的前二阶矩：均值、方差、协方差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章节路线图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1. Gauss-Markov 模型假设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2. OLS 估计量的性质（均值、方差）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3. Gauss-Markov 定理（核心）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4. 定理的直观解释与证明思路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Gauss-Markov 模型假设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Assumption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线性形式: $Y = X\beta + \varepsilon$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设计矩阵: $X$ 固定且列线性无关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误差均值: $E(\varepsilon) =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误差协方差: $\cov(\varepsilon) = \sigma^2 I_n$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（同方差、不相关）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未知参数为 $(\beta, \sigma^2)$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个体水平视角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每个观测: $y_i = x_i^\top \beta + \varepsilon_i$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误差均值 0: $E(\varepsilon_i) =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误差方差 $\sigma^2$（同方差）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不相关: $\cov(\varepsilon_i, \varepsilon_j) = 0, i \neq j$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同方差假设的含义与重要性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homoskedasticity = 相同方差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词源学：k 更好地表示 variance 含义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(McCulloch 1985)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异方差情形需要加权最小二乘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（见第 19 章）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OLS 估计量：矩阵形式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4.1 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$\hat{\beta} = (X^\top X)^{-1} X^\top Y$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$\hat{\beta}$ 是 $Y$ 的线性函数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仅依赖矩阵运算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令 $A = (X^\top X)^{-1} X^\top$，则 $\hat{\beta} = AY$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$A$ 不依赖 $Y$，所以 OLS 是线性估计量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OLS 估计量的均值与方差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Theorem 4.1 (无偏性): $E(\hat{\beta}) = \beta$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协方差矩阵: $\cov(\hat{\beta}) = \sigma^2 (X^\top X)^{-1}$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证明：利用 $E(Y) = X\beta$ 和 $\cov(Y) = \sigma^2 I_n$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Gauss-Markov 定理（核心）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Gauss-Markov Theorem 4.2: $\hat{\beta}$ 是 BLUE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Best Linear Unbiased Estimator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条件 C1: $\tilde{\beta} = AY$ 对 $Y$ 线性，$A$ 不依赖 $Y$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条件 C2: $E(\tilde{\beta}) = \beta$（对所有 $\beta$ 无偏）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核心不等式: $\cov(\tilde{\beta}) \succeq \cov(\hat{\beta})$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BLUE 的含义：协方差矩阵序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$\cov(\tilde{\beta}) \succeq \cov(\hat{\beta})$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等价于：对任意 $c \in \mathbb{R}^p$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$\var(c^\top \tilde{\beta}) \geq \var(c^\top \hat{\beta})$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每个坐标分量 $\hat{\beta}_j$ 方差最小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对任意线性组合 $c^\top \tilde{\beta}$ 方差不小于 $c^\top \hat{\beta}$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为什么只比较线性估计量？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$A$ 可以是 $X$ 的任意非线性函数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线性约束已包含极广的估计量类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无偏性是自然要求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在许多现代应用中，有偏估计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(Ridge、Lasso) 方差更小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OLS 投影几何直观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Lemma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投影矩阵 $H = X(X^\top X)^{-1} X^\top$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$\hat{Y} = HY$ 是 $Y$ 到 $X$ 列空间的投影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残差 $\hat{\varepsilon} = (I - H)Y$ 与列空间正交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$Y = \hat{Y} + \hat{\varepsilon}$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$H$ 和 $I_n - H$ 是投影矩阵，两者正交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拟合值与残差的分布性质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Theorem 4.2: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$E(\hat{Y}) = X\beta$，$E(\hat{\varepsilon}) =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$\cov(\hat{Y}) = \sigma^2 H$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$\cov(\hat{\varepsilon}) = \sigma^2(I - H)$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$\hat{Y}$ 与 $\hat{\varepsilon}$ 不相关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正交 vs. 不相关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常见误区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陈述 (S1): $\hat{Y}$ 与 $\hat{\varepsilon}$ 正交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——代数事实，无需随机假设（OLS 投影性质）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陈述 (S2): $\hat{Y}$ 与 $\hat{\varepsilon}$ 不相关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——随机陈述，需要 Gauss-Markov 假设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两者含义不同，不能混淆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误差椭圆可视化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$\hat{\beta}$ 的置信椭圆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其他线性无偏估计的置信椭圆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OLS 的置信椭圆最小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（被其他所有椭圆包裹）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$\Rightarrow$ $\hat{\beta}$ 在所有方向上方差最小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Gauss-Markov 定理证明思路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第一步: OLS 满足无偏性条件 $AX = I_p$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第二步: $\cov(\tilde{\beta}) = \cov(\hat{\beta}) + \cov(\tilde{\beta} - \hat{\beta})$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第三步: $\cov(\hat{\beta}, \tilde{\beta} - \hat{\beta}) =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第四步: $\cov(\tilde{\beta} - \hat{\beta}) \succeq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$\Rightarrow \cov(\tilde{\beta}) \succeq \cov(\hat{\beta})$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例子：简单线性回归的 BLUE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$y_i = \alpha + \beta x_i + \varepsilon_i$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$\var(\hat{\beta}) = \sigma^2 / \sum (x_i - \bar{x})^2$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任何线性无偏估计的 $\beta$ 系数方差都不小于此值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设计越分散，OLS 估计越精确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例子：均值的 BLUE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$y_i \sim$ 均值 $\mu$，方差 $\sigma^2$，互不相关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线性估计 $\hat{\mu} = \sum a_i y_i$，无偏要求 $\sum a_i = 1$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最优选择：$a_i = 1/n$（简单平均）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方差 $\var(\hat{\mu}) = \sigma^2/n$ 为最小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例子：Gauss-Markov 预测定理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Theorem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Gauss-Markov for Prediction: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$\hat{Y} = X\hat{\beta}$ 是 $X\beta$ 的最佳线性无偏预测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适用于任何线性预测 $\tilde{Y} = \tilde{H} Y$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$\cov(\tilde{Y}) \succeq \cov(\hat{Y})$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563C1"/>
                </a:solidFill>
              </a:defRPr>
            </a:pPr>
            <a:r>
              <a:t>Gauss-Markov 定理总结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"/>
            <a:ext cx="1371600" cy="3200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546A"/>
                </a:solidFill>
              </a:defRPr>
            </a:pPr>
            <a:r>
              <a:t>Gauss-Markov 模型: 线性 + 同方差 + 不相关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OLS $\hat{\beta}$ 是 BLUE: $\cov(\tilde{\beta}) \succeq \cov(\hat{\beta})$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核心不等式: $\cov(\tilde{\beta}) - \cov(\hat{\beta}) = \cov(\tilde{\beta} - \hat{\beta}) \succeq 0$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局限：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  - 不谈非线性估计（Ridge、Lasso）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  - 不谈正态假设（Normal 模型 MLE）</a:t>
            </a:r>
          </a:p>
          <a:p>
            <a:pPr>
              <a:defRPr sz="2400">
                <a:solidFill>
                  <a:srgbClr val="44546A"/>
                </a:solidFill>
              </a:defRPr>
            </a:pPr>
            <a:r>
              <a:t>  - 不谈稳健性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