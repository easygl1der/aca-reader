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841" r:id="rId3"/>
    <p:sldId id="772" r:id="rId4"/>
    <p:sldId id="770" r:id="rId5"/>
    <p:sldId id="842" r:id="rId6"/>
    <p:sldId id="843" r:id="rId7"/>
    <p:sldId id="844" r:id="rId8"/>
    <p:sldId id="771" r:id="rId9"/>
    <p:sldId id="845" r:id="rId10"/>
    <p:sldId id="846" r:id="rId11"/>
    <p:sldId id="847" r:id="rId12"/>
    <p:sldId id="848" r:id="rId13"/>
    <p:sldId id="850" r:id="rId14"/>
    <p:sldId id="851" r:id="rId15"/>
    <p:sldId id="852" r:id="rId16"/>
    <p:sldId id="855" r:id="rId17"/>
    <p:sldId id="853" r:id="rId18"/>
    <p:sldId id="858" r:id="rId19"/>
    <p:sldId id="859" r:id="rId20"/>
    <p:sldId id="860" r:id="rId21"/>
    <p:sldId id="861" r:id="rId22"/>
    <p:sldId id="862" r:id="rId23"/>
    <p:sldId id="8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2381"/>
  </p:normalViewPr>
  <p:slideViewPr>
    <p:cSldViewPr snapToGrid="0" snapToObjects="1">
      <p:cViewPr varScale="1">
        <p:scale>
          <a:sx n="146" d="100"/>
          <a:sy n="146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26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0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0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2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3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95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5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6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90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07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65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7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55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39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76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25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27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78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16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AE535-4897-9F43-9D8C-0D4F33BE6F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2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Applied linear regression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秋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Main topics</a:t>
            </a:r>
            <a:endParaRPr lang="zh-CN" altLang="en-US" sz="28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32DCA2E-DEE5-955D-6DA9-EA0CDBE200A9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7068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Linear models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Generalized linear models</a:t>
            </a:r>
          </a:p>
          <a:p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each model, we focus 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Point estimation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Statistical inference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Prediction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checking and selection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Implementation in R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855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models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study linear models with different sets of assumptions</a:t>
            </a:r>
          </a:p>
          <a:p>
            <a:pPr lvl="1"/>
            <a:r>
              <a:rPr lang="en-US" sz="2000" dirty="0"/>
              <a:t>Purely algebraic linear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Heteroskedastic linear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Gauss-Markov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Generalized Gauss-Markov model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Normal linear model</a:t>
            </a: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use the OLS as the common estimator across these models 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This part is organized around the properties of the OLS under different models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902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Algebraic properties of OLS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No probabilistic assumptions</a:t>
                </a: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All properties follow from solving </a:t>
                </a:r>
              </a:p>
              <a:p>
                <a:pPr marL="0" indent="0" algn="ctr">
                  <a:buNone/>
                </a:pPr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min</m:t>
                        </m:r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Arial Unicode MS" panose="020B0604020202020204" pitchFamily="34" charset="-128"/>
                                            <a:cs typeface="Arial Unicode MS" panose="020B0604020202020204" pitchFamily="34" charset="-128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Arial Unicode MS" panose="020B0604020202020204" pitchFamily="34" charset="-128"/>
                                        <a:cs typeface="Arial Unicode MS" panose="020B0604020202020204" pitchFamily="34" charset="-128"/>
                                      </a:rPr>
                                      <m:t>𝛽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OLS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)</m:t>
                        </m:r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bSup>
                            <m:acc>
                              <m:accPr>
                                <m:chr m:val="̂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𝛽</m:t>
                                </m:r>
                              </m:e>
                            </m:acc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=0</m:t>
                        </m:r>
                      </m:e>
                    </m:nary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Geometric interpretation (orthogonal projection)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Projection matrix: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FWL theorem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Point estimator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Corresponding variance estimators</a:t>
                </a: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29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Statistical properties under Gauss-Markov 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𝑣𝑎𝑟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𝐼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 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the BLUE;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𝑣𝑎𝑟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Unbiased variance estimator: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fPr>
                      <m:num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𝑝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No exact inference possible</a:t>
                </a: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Extensions to the generalized Gauss-Markov model</a:t>
                </a: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61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Statistical properties under Normal linear model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(0,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 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Exact inference: scalar 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𝑡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vector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𝐹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Equivalence between Wald tests and F test  (ANOVA)</a:t>
                </a: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Prediction: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F0B7D22-3159-88C4-8FF4-BA68004FA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399" y="2200093"/>
            <a:ext cx="7840579" cy="211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7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Asymptotic inference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(fixed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𝛽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probability</a:t>
                </a: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𝛽</m:t>
                            </m:r>
                          </m:e>
                        </m:acc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(0, 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𝑀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EHW variance estimator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Asymptotic inference: scalar 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𝑧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vector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Prediction: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/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982200" cy="5162097"/>
              </a:xfrm>
              <a:prstGeom prst="rect">
                <a:avLst/>
              </a:prstGeom>
              <a:blipFill>
                <a:blip r:embed="rId3"/>
                <a:stretch>
                  <a:fillRect l="-88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56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fitting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Coefficient of determination: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b="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b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Equivalent definitions 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Relationship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and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𝐹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test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Interpretations and limitations</a:t>
                </a:r>
              </a:p>
              <a:p>
                <a:pPr lvl="1"/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  <a:blipFill>
                <a:blip r:embed="rId3"/>
                <a:stretch>
                  <a:fillRect l="-1012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81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checking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Checking whether the assumptions hold </a:t>
            </a:r>
          </a:p>
          <a:p>
            <a:pPr lvl="1"/>
            <a:r>
              <a:rPr lang="en-US" altLang="zh-CN" sz="20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check the assumptions indirectly through their implications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If the implications do not hold, then the assumptions may be implausible</a:t>
            </a:r>
          </a:p>
          <a:p>
            <a:pPr lvl="1"/>
            <a:endParaRPr lang="en-US" altLang="zh-CN" sz="2000" b="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b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Visual diagnostics: residual plot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Nonlinearity, heteroskedasticity</a:t>
            </a:r>
            <a:endParaRPr lang="en-US" altLang="zh-CN" sz="2000" b="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Leverage scores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Leave-one-out formula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Outlier detection</a:t>
            </a: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808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Overfitting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When the goal is inference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Variance inflation (</a:t>
                </a:r>
                <a:r>
                  <a:rPr lang="en-US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multicollinearity</a:t>
                </a: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), bias variance tradeoff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Interpretation depends on which covariates are included</a:t>
                </a: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When the goal is prediction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may be inflated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→</m:t>
                    </m:r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Poor out of sample performance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Model selection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𝑅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AIC/BIC, CV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Procedures: best subset, forward/backward</a:t>
                </a:r>
              </a:p>
              <a:p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457189" lvl="1" indent="0"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16771C40-93E8-9146-9362-82870BFE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8782111" cy="5162097"/>
              </a:xfrm>
              <a:prstGeom prst="rect">
                <a:avLst/>
              </a:prstGeom>
              <a:blipFill>
                <a:blip r:embed="rId3"/>
                <a:stretch>
                  <a:fillRect l="-1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9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Regularization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 systematic response to overfitting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Ridge regression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Lasso</a:t>
            </a:r>
          </a:p>
          <a:p>
            <a:pPr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both approaches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Motivation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Optimization formulation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 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Tuning parameter selection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354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Generalized linear models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Binary outcomes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Categorical outcomes: nominal, ordinal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Count outcomes</a:t>
            </a:r>
          </a:p>
          <a:p>
            <a:pPr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For each scenario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formulation: GLM unification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 of the parameters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Computation: Newton’s method through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irls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Inference: MLE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Prediction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016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Summary of linear regression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F8426F-1A07-2FD5-9BAE-57038FE19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570" y="2157498"/>
            <a:ext cx="7565571" cy="470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8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ANOVA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144DB-995E-51D0-F98F-AE1D1DAFD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43" y="2200093"/>
            <a:ext cx="7772400" cy="21423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E852D0-D092-AFC7-B0BC-4AC3DB852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43" y="4387663"/>
            <a:ext cx="7772400" cy="210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4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EHW variances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D2D372-CB55-5615-FCC2-6FA093B9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00" y="2538642"/>
            <a:ext cx="63373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5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Residual plot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8E5C53-FBDC-E85B-FEEB-7C9E7936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601" y="1552050"/>
            <a:ext cx="5506999" cy="53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8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Outlier detection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AC1D6-13E7-3186-F128-0D21B620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25" y="2072096"/>
            <a:ext cx="5600332" cy="47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86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(binary outcome)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724F3B-0A20-90EF-BC37-9B452BCB1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94" y="2157368"/>
            <a:ext cx="6071506" cy="433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01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(nominal outcome)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8FDCD-C947-C005-4924-6014E6D78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489" y="2285362"/>
            <a:ext cx="7024552" cy="44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4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(ordinal outcome)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BB0876-14A3-4CF8-A706-4490EC9D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2" y="2203102"/>
            <a:ext cx="7157357" cy="433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37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Poisson reg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562B4-64C2-AD4B-47CC-58728C15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885" y="2064101"/>
            <a:ext cx="7094825" cy="460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51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Understanding the code output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Poisson regression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562B4-64C2-AD4B-47CC-58728C15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885" y="2064101"/>
            <a:ext cx="7094825" cy="460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51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What you are expected to understand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6771C40-93E8-9146-9362-82870BFE9A5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8782111" cy="516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Technical details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formulation, estimation, inference, prediction, checking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Key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computational ideas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Derivations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of the asymptotic results are not required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Meaning of the assumptions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Choosing appropriate models for a given problem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Interpretation of parameters and fitted results</a:t>
            </a:r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pPr>
              <a:buClr>
                <a:schemeClr val="tx1"/>
              </a:buClr>
            </a:pPr>
            <a:r>
              <a:rPr lang="en-US" altLang="zh-CN" sz="2400" dirty="0"/>
              <a:t>R implementation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what the code is doing</a:t>
            </a:r>
          </a:p>
          <a:p>
            <a:pPr lvl="1"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Correct interpretation of the output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189" lvl="1" indent="0"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6466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33308</TotalTime>
  <Words>636</Words>
  <Application>Microsoft Office PowerPoint</Application>
  <PresentationFormat>宽屏</PresentationFormat>
  <Paragraphs>232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 Unicode MS</vt:lpstr>
      <vt:lpstr>Microsoft YaHei</vt:lpstr>
      <vt:lpstr>Microsoft YaHei</vt:lpstr>
      <vt:lpstr>Arial</vt:lpstr>
      <vt:lpstr>Calibri</vt:lpstr>
      <vt:lpstr>Cambria Math</vt:lpstr>
      <vt:lpstr>Times New Roman</vt:lpstr>
      <vt:lpstr>Office Theme</vt:lpstr>
      <vt:lpstr>Applied linear regression</vt:lpstr>
      <vt:lpstr>Main topics</vt:lpstr>
      <vt:lpstr>Linear models</vt:lpstr>
      <vt:lpstr>Algebraic properties of OLS</vt:lpstr>
      <vt:lpstr>Statistical properties under Gauss-Markov model</vt:lpstr>
      <vt:lpstr>Statistical properties under Normal linear model</vt:lpstr>
      <vt:lpstr>Asymptotic inference</vt:lpstr>
      <vt:lpstr>Model fitting</vt:lpstr>
      <vt:lpstr>Model checking</vt:lpstr>
      <vt:lpstr>Overfitting</vt:lpstr>
      <vt:lpstr>Regularization</vt:lpstr>
      <vt:lpstr>Generalized linear models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Understanding the code output</vt:lpstr>
      <vt:lpstr>What you are expected to understand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216</cp:revision>
  <dcterms:created xsi:type="dcterms:W3CDTF">2022-01-07T20:32:42Z</dcterms:created>
  <dcterms:modified xsi:type="dcterms:W3CDTF">2026-01-01T11:21:18Z</dcterms:modified>
</cp:coreProperties>
</file>