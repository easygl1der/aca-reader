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697" r:id="rId3"/>
    <p:sldId id="698" r:id="rId4"/>
    <p:sldId id="714" r:id="rId5"/>
    <p:sldId id="810" r:id="rId6"/>
    <p:sldId id="699" r:id="rId7"/>
    <p:sldId id="700" r:id="rId8"/>
    <p:sldId id="710" r:id="rId9"/>
    <p:sldId id="701" r:id="rId10"/>
    <p:sldId id="702" r:id="rId11"/>
    <p:sldId id="703" r:id="rId12"/>
    <p:sldId id="704" r:id="rId13"/>
    <p:sldId id="705" r:id="rId14"/>
    <p:sldId id="809" r:id="rId15"/>
    <p:sldId id="706" r:id="rId16"/>
    <p:sldId id="707" r:id="rId17"/>
    <p:sldId id="808" r:id="rId18"/>
    <p:sldId id="709" r:id="rId19"/>
    <p:sldId id="711" r:id="rId20"/>
    <p:sldId id="712" r:id="rId21"/>
    <p:sldId id="71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5825"/>
    <a:srgbClr val="A0142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690"/>
    <p:restoredTop sz="92318"/>
  </p:normalViewPr>
  <p:slideViewPr>
    <p:cSldViewPr snapToGrid="0" snapToObjects="1">
      <p:cViewPr varScale="1">
        <p:scale>
          <a:sx n="96" d="100"/>
          <a:sy n="96" d="100"/>
        </p:scale>
        <p:origin x="211" y="77"/>
      </p:cViewPr>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A4D128-213F-6F4E-ABC7-E697D995B169}" type="datetimeFigureOut">
              <a:rPr lang="en-US" smtClean="0"/>
              <a:t>11/5/2025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8D76FB-495F-DB45-B1C0-BAC6DBEDEA01}" type="slidenum">
              <a:rPr lang="en-US" smtClean="0"/>
              <a:t>‹#›</a:t>
            </a:fld>
            <a:endParaRPr lang="en-US"/>
          </a:p>
        </p:txBody>
      </p:sp>
    </p:spTree>
    <p:extLst>
      <p:ext uri="{BB962C8B-B14F-4D97-AF65-F5344CB8AC3E}">
        <p14:creationId xmlns:p14="http://schemas.microsoft.com/office/powerpoint/2010/main" val="3251460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a:t>
            </a:r>
            <a:r>
              <a:rPr lang="en-US" altLang="zh-CN" dirty="0"/>
              <a:t>X</a:t>
            </a:r>
            <a:r>
              <a:rPr lang="zh-CN" altLang="en-US" dirty="0"/>
              <a:t>不是列满秩的时候很难求逆，或者说</a:t>
            </a:r>
            <a:r>
              <a:rPr lang="en-US" altLang="zh-CN" dirty="0"/>
              <a:t>X</a:t>
            </a:r>
            <a:r>
              <a:rPr lang="zh-CN" altLang="en-US" dirty="0"/>
              <a:t>就算是列满秩，列是线性独立的，但是非常接近“线性相关”，所以这个矩阵求逆是非常不稳定的。我们希望改进这个</a:t>
            </a:r>
            <a:r>
              <a:rPr lang="en-US" altLang="zh-CN" dirty="0"/>
              <a:t>OLS</a:t>
            </a:r>
            <a:r>
              <a:rPr lang="zh-CN" altLang="en-US" dirty="0"/>
              <a:t>的估计，使得即使</a:t>
            </a:r>
            <a:r>
              <a:rPr lang="en-US" altLang="zh-CN" dirty="0"/>
              <a:t>X^T X</a:t>
            </a:r>
            <a:r>
              <a:rPr lang="zh-CN" altLang="en-US" dirty="0"/>
              <a:t>非常接近不可逆的时候，我们的估计依然很稳定，这就是岭回归的最早的思路。最早的岭回归是它加了一个</a:t>
            </a:r>
            <a:r>
              <a:rPr lang="en-US" altLang="zh-CN" dirty="0"/>
              <a:t>\lambda </a:t>
            </a:r>
            <a:r>
              <a:rPr lang="en-US" altLang="zh-CN" dirty="0" err="1"/>
              <a:t>I_p</a:t>
            </a:r>
            <a:r>
              <a:rPr lang="zh-CN" altLang="en-US" dirty="0"/>
              <a:t>，</a:t>
            </a:r>
            <a:r>
              <a:rPr lang="en-US" altLang="zh-CN" dirty="0"/>
              <a:t>\lambda</a:t>
            </a:r>
            <a:r>
              <a:rPr lang="zh-CN" altLang="en-US" dirty="0"/>
              <a:t>叫做</a:t>
            </a:r>
            <a:r>
              <a:rPr lang="en-US" altLang="zh-CN" dirty="0"/>
              <a:t>tuning parameter</a:t>
            </a:r>
            <a:r>
              <a:rPr lang="zh-CN" altLang="en-US" dirty="0"/>
              <a:t>，这个数是在估计的时候选定的，但是我们先假定它给出了。不同的</a:t>
            </a:r>
            <a:r>
              <a:rPr lang="en-US" altLang="zh-CN" dirty="0"/>
              <a:t>tuning parameter</a:t>
            </a:r>
            <a:r>
              <a:rPr lang="zh-CN" altLang="en-US" dirty="0"/>
              <a:t>对应不同的</a:t>
            </a:r>
            <a:r>
              <a:rPr lang="en-US" altLang="zh-CN" dirty="0"/>
              <a:t>\hat{\beta}</a:t>
            </a:r>
            <a:r>
              <a:rPr lang="zh-CN" altLang="en-US" dirty="0"/>
              <a:t>，我们在实际模型中会去选定</a:t>
            </a:r>
            <a:r>
              <a:rPr lang="en-US" altLang="zh-CN" dirty="0"/>
              <a:t>\lambda</a:t>
            </a:r>
            <a:r>
              <a:rPr lang="zh-CN" altLang="en-US" dirty="0"/>
              <a:t>使得这个模型效果最好。我们可以证明只要</a:t>
            </a:r>
            <a:r>
              <a:rPr lang="en-US" altLang="zh-CN" dirty="0"/>
              <a:t>\lambda&gt;0</a:t>
            </a:r>
            <a:r>
              <a:rPr lang="zh-CN" altLang="en-US" dirty="0"/>
              <a:t>，</a:t>
            </a:r>
            <a:r>
              <a:rPr lang="en-US" altLang="zh-CN" dirty="0"/>
              <a:t>(X^T X+\lambda </a:t>
            </a:r>
            <a:r>
              <a:rPr lang="en-US" altLang="zh-CN" dirty="0" err="1"/>
              <a:t>I_p</a:t>
            </a:r>
            <a:r>
              <a:rPr lang="en-US" altLang="zh-CN" dirty="0"/>
              <a:t>)^{-1}</a:t>
            </a:r>
            <a:r>
              <a:rPr lang="zh-CN" altLang="en-US" dirty="0"/>
              <a:t>一定是可逆的。</a:t>
            </a:r>
          </a:p>
        </p:txBody>
      </p:sp>
      <p:sp>
        <p:nvSpPr>
          <p:cNvPr id="4" name="灯片编号占位符 3"/>
          <p:cNvSpPr>
            <a:spLocks noGrp="1"/>
          </p:cNvSpPr>
          <p:nvPr>
            <p:ph type="sldNum" sz="quarter" idx="5"/>
          </p:nvPr>
        </p:nvSpPr>
        <p:spPr/>
        <p:txBody>
          <a:bodyPr/>
          <a:lstStyle/>
          <a:p>
            <a:fld id="{4C8D76FB-495F-DB45-B1C0-BAC6DBEDEA01}" type="slidenum">
              <a:rPr lang="en-US" smtClean="0"/>
              <a:t>2</a:t>
            </a:fld>
            <a:endParaRPr lang="en-US"/>
          </a:p>
        </p:txBody>
      </p:sp>
    </p:spTree>
    <p:extLst>
      <p:ext uri="{BB962C8B-B14F-4D97-AF65-F5344CB8AC3E}">
        <p14:creationId xmlns:p14="http://schemas.microsoft.com/office/powerpoint/2010/main" val="9205437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我们不对</a:t>
            </a:r>
            <a:r>
              <a:rPr lang="en-US" altLang="zh-CN" dirty="0"/>
              <a:t>b_0</a:t>
            </a:r>
            <a:r>
              <a:rPr lang="zh-CN" altLang="en-US" dirty="0"/>
              <a:t>做惩罚，因为截距项是永远出现在回归里面的？中心化处理之后，你会发现，截距项 </a:t>
            </a:r>
            <a:r>
              <a:rPr lang="en-US" altLang="zh-CN" dirty="0"/>
              <a:t>$b_0$ </a:t>
            </a:r>
            <a:r>
              <a:rPr lang="zh-CN" altLang="en-US" dirty="0"/>
              <a:t>根本就没有出现在这个需要惩罚的优化问题里，它只是控制一个上下问题，而不蕴含任何信息和关系。</a:t>
            </a:r>
            <a:endParaRPr lang="en-US" dirty="0"/>
          </a:p>
        </p:txBody>
      </p:sp>
      <p:sp>
        <p:nvSpPr>
          <p:cNvPr id="4" name="Slide Number Placeholder 3"/>
          <p:cNvSpPr>
            <a:spLocks noGrp="1"/>
          </p:cNvSpPr>
          <p:nvPr>
            <p:ph type="sldNum" sz="quarter" idx="5"/>
          </p:nvPr>
        </p:nvSpPr>
        <p:spPr/>
        <p:txBody>
          <a:bodyPr/>
          <a:lstStyle/>
          <a:p>
            <a:fld id="{4C8D76FB-495F-DB45-B1C0-BAC6DBEDEA01}" type="slidenum">
              <a:rPr lang="en-US" smtClean="0"/>
              <a:t>3</a:t>
            </a:fld>
            <a:endParaRPr lang="en-US"/>
          </a:p>
        </p:txBody>
      </p:sp>
    </p:spTree>
    <p:extLst>
      <p:ext uri="{BB962C8B-B14F-4D97-AF65-F5344CB8AC3E}">
        <p14:creationId xmlns:p14="http://schemas.microsoft.com/office/powerpoint/2010/main" val="16289386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8D76FB-495F-DB45-B1C0-BAC6DBEDEA01}" type="slidenum">
              <a:rPr lang="en-US" smtClean="0"/>
              <a:t>4</a:t>
            </a:fld>
            <a:endParaRPr lang="en-US"/>
          </a:p>
        </p:txBody>
      </p:sp>
    </p:spTree>
    <p:extLst>
      <p:ext uri="{BB962C8B-B14F-4D97-AF65-F5344CB8AC3E}">
        <p14:creationId xmlns:p14="http://schemas.microsoft.com/office/powerpoint/2010/main" val="11805399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practical data analysis, the covariates may have concrete meanings. In those cases, you may not want to scale the covariates. However, the results below do not rely on the choice of scaling although it requires centering the covariates and outcome. </a:t>
            </a:r>
            <a:endParaRPr lang="en-US" dirty="0"/>
          </a:p>
          <a:p>
            <a:endParaRPr lang="en-US" dirty="0"/>
          </a:p>
        </p:txBody>
      </p:sp>
      <p:sp>
        <p:nvSpPr>
          <p:cNvPr id="4" name="Slide Number Placeholder 3"/>
          <p:cNvSpPr>
            <a:spLocks noGrp="1"/>
          </p:cNvSpPr>
          <p:nvPr>
            <p:ph type="sldNum" sz="quarter" idx="5"/>
          </p:nvPr>
        </p:nvSpPr>
        <p:spPr/>
        <p:txBody>
          <a:bodyPr/>
          <a:lstStyle/>
          <a:p>
            <a:fld id="{4C8D76FB-495F-DB45-B1C0-BAC6DBEDEA01}" type="slidenum">
              <a:rPr lang="en-US" smtClean="0"/>
              <a:t>6</a:t>
            </a:fld>
            <a:endParaRPr lang="en-US"/>
          </a:p>
        </p:txBody>
      </p:sp>
    </p:spTree>
    <p:extLst>
      <p:ext uri="{BB962C8B-B14F-4D97-AF65-F5344CB8AC3E}">
        <p14:creationId xmlns:p14="http://schemas.microsoft.com/office/powerpoint/2010/main" val="32512417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when </a:t>
            </a:r>
            <a:r>
              <a:rPr lang="el-GR" sz="1200" kern="1200" dirty="0">
                <a:solidFill>
                  <a:schemeClr val="tx1"/>
                </a:solidFill>
                <a:effectLst/>
                <a:latin typeface="+mn-lt"/>
                <a:ea typeface="+mn-ea"/>
                <a:cs typeface="+mn-cs"/>
              </a:rPr>
              <a:t>λ &gt; 0, </a:t>
            </a:r>
            <a:r>
              <a:rPr lang="en-US" sz="1200" kern="1200" dirty="0">
                <a:solidFill>
                  <a:schemeClr val="tx1"/>
                </a:solidFill>
                <a:effectLst/>
                <a:latin typeface="+mn-lt"/>
                <a:ea typeface="+mn-ea"/>
                <a:cs typeface="+mn-cs"/>
              </a:rPr>
              <a:t>it is not a projection matrix </a:t>
            </a:r>
            <a:endParaRPr lang="en-US" dirty="0"/>
          </a:p>
          <a:p>
            <a:endParaRPr lang="en-US" dirty="0"/>
          </a:p>
        </p:txBody>
      </p:sp>
      <p:sp>
        <p:nvSpPr>
          <p:cNvPr id="4" name="Slide Number Placeholder 3"/>
          <p:cNvSpPr>
            <a:spLocks noGrp="1"/>
          </p:cNvSpPr>
          <p:nvPr>
            <p:ph type="sldNum" sz="quarter" idx="5"/>
          </p:nvPr>
        </p:nvSpPr>
        <p:spPr/>
        <p:txBody>
          <a:bodyPr/>
          <a:lstStyle/>
          <a:p>
            <a:fld id="{4C8D76FB-495F-DB45-B1C0-BAC6DBEDEA01}" type="slidenum">
              <a:rPr lang="en-US" smtClean="0"/>
              <a:t>7</a:t>
            </a:fld>
            <a:endParaRPr lang="en-US"/>
          </a:p>
        </p:txBody>
      </p:sp>
    </p:spTree>
    <p:extLst>
      <p:ext uri="{BB962C8B-B14F-4D97-AF65-F5344CB8AC3E}">
        <p14:creationId xmlns:p14="http://schemas.microsoft.com/office/powerpoint/2010/main" val="24885598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岭回归为什么叫岭回归？是因为在最小二乘中，有一整条线是最好的，这是不稳定的，就像一个山脊一样，岭回归就是要解决这个问题，加入一个惩罚项，变的圆润一点。</a:t>
            </a:r>
            <a:endParaRPr lang="en-US" dirty="0"/>
          </a:p>
        </p:txBody>
      </p:sp>
      <p:sp>
        <p:nvSpPr>
          <p:cNvPr id="4" name="Slide Number Placeholder 3"/>
          <p:cNvSpPr>
            <a:spLocks noGrp="1"/>
          </p:cNvSpPr>
          <p:nvPr>
            <p:ph type="sldNum" sz="quarter" idx="5"/>
          </p:nvPr>
        </p:nvSpPr>
        <p:spPr/>
        <p:txBody>
          <a:bodyPr/>
          <a:lstStyle/>
          <a:p>
            <a:fld id="{4C8D76FB-495F-DB45-B1C0-BAC6DBEDEA01}" type="slidenum">
              <a:rPr lang="en-US" smtClean="0"/>
              <a:t>8</a:t>
            </a:fld>
            <a:endParaRPr lang="en-US"/>
          </a:p>
        </p:txBody>
      </p:sp>
    </p:spTree>
    <p:extLst>
      <p:ext uri="{BB962C8B-B14F-4D97-AF65-F5344CB8AC3E}">
        <p14:creationId xmlns:p14="http://schemas.microsoft.com/office/powerpoint/2010/main" val="15071877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when </a:t>
            </a:r>
            <a:r>
              <a:rPr lang="el-GR" sz="1200" kern="1200" dirty="0">
                <a:solidFill>
                  <a:schemeClr val="tx1"/>
                </a:solidFill>
                <a:effectLst/>
                <a:latin typeface="+mn-lt"/>
                <a:ea typeface="+mn-ea"/>
                <a:cs typeface="+mn-cs"/>
              </a:rPr>
              <a:t>λ &gt; 0, </a:t>
            </a:r>
            <a:r>
              <a:rPr lang="en-US" sz="1200" kern="1200" dirty="0">
                <a:solidFill>
                  <a:schemeClr val="tx1"/>
                </a:solidFill>
                <a:effectLst/>
                <a:latin typeface="+mn-lt"/>
                <a:ea typeface="+mn-ea"/>
                <a:cs typeface="+mn-cs"/>
              </a:rPr>
              <a:t>it is not a projection matrix </a:t>
            </a:r>
            <a:endParaRPr lang="en-US" dirty="0"/>
          </a:p>
          <a:p>
            <a:endParaRPr lang="en-US" dirty="0"/>
          </a:p>
        </p:txBody>
      </p:sp>
      <p:sp>
        <p:nvSpPr>
          <p:cNvPr id="4" name="Slide Number Placeholder 3"/>
          <p:cNvSpPr>
            <a:spLocks noGrp="1"/>
          </p:cNvSpPr>
          <p:nvPr>
            <p:ph type="sldNum" sz="quarter" idx="5"/>
          </p:nvPr>
        </p:nvSpPr>
        <p:spPr/>
        <p:txBody>
          <a:bodyPr/>
          <a:lstStyle/>
          <a:p>
            <a:fld id="{4C8D76FB-495F-DB45-B1C0-BAC6DBEDEA01}" type="slidenum">
              <a:rPr lang="en-US" smtClean="0"/>
              <a:t>9</a:t>
            </a:fld>
            <a:endParaRPr lang="en-US"/>
          </a:p>
        </p:txBody>
      </p:sp>
    </p:spTree>
    <p:extLst>
      <p:ext uri="{BB962C8B-B14F-4D97-AF65-F5344CB8AC3E}">
        <p14:creationId xmlns:p14="http://schemas.microsoft.com/office/powerpoint/2010/main" val="35236290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8D76FB-495F-DB45-B1C0-BAC6DBEDEA01}" type="slidenum">
              <a:rPr lang="en-US" smtClean="0"/>
              <a:t>10</a:t>
            </a:fld>
            <a:endParaRPr lang="en-US"/>
          </a:p>
        </p:txBody>
      </p:sp>
    </p:spTree>
    <p:extLst>
      <p:ext uri="{BB962C8B-B14F-4D97-AF65-F5344CB8AC3E}">
        <p14:creationId xmlns:p14="http://schemas.microsoft.com/office/powerpoint/2010/main" val="34903002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8D76FB-495F-DB45-B1C0-BAC6DBEDEA01}" type="slidenum">
              <a:rPr lang="en-US" smtClean="0"/>
              <a:t>11</a:t>
            </a:fld>
            <a:endParaRPr lang="en-US"/>
          </a:p>
        </p:txBody>
      </p:sp>
    </p:spTree>
    <p:extLst>
      <p:ext uri="{BB962C8B-B14F-4D97-AF65-F5344CB8AC3E}">
        <p14:creationId xmlns:p14="http://schemas.microsoft.com/office/powerpoint/2010/main" val="40131062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8D76FB-495F-DB45-B1C0-BAC6DBEDEA01}" type="slidenum">
              <a:rPr lang="en-US" smtClean="0"/>
              <a:t>12</a:t>
            </a:fld>
            <a:endParaRPr lang="en-US"/>
          </a:p>
        </p:txBody>
      </p:sp>
    </p:spTree>
    <p:extLst>
      <p:ext uri="{BB962C8B-B14F-4D97-AF65-F5344CB8AC3E}">
        <p14:creationId xmlns:p14="http://schemas.microsoft.com/office/powerpoint/2010/main" val="29269831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can the MSE of ridge estimator be lower than that of OLS?</a:t>
            </a:r>
          </a:p>
        </p:txBody>
      </p:sp>
      <p:sp>
        <p:nvSpPr>
          <p:cNvPr id="4" name="Slide Number Placeholder 3"/>
          <p:cNvSpPr>
            <a:spLocks noGrp="1"/>
          </p:cNvSpPr>
          <p:nvPr>
            <p:ph type="sldNum" sz="quarter" idx="5"/>
          </p:nvPr>
        </p:nvSpPr>
        <p:spPr/>
        <p:txBody>
          <a:bodyPr/>
          <a:lstStyle/>
          <a:p>
            <a:fld id="{4C8D76FB-495F-DB45-B1C0-BAC6DBEDEA01}" type="slidenum">
              <a:rPr lang="en-US" smtClean="0"/>
              <a:t>13</a:t>
            </a:fld>
            <a:endParaRPr lang="en-US"/>
          </a:p>
        </p:txBody>
      </p:sp>
    </p:spTree>
    <p:extLst>
      <p:ext uri="{BB962C8B-B14F-4D97-AF65-F5344CB8AC3E}">
        <p14:creationId xmlns:p14="http://schemas.microsoft.com/office/powerpoint/2010/main" val="7487756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8D76FB-495F-DB45-B1C0-BAC6DBEDEA01}" type="slidenum">
              <a:rPr lang="en-US" smtClean="0"/>
              <a:t>14</a:t>
            </a:fld>
            <a:endParaRPr lang="en-US"/>
          </a:p>
        </p:txBody>
      </p:sp>
    </p:spTree>
    <p:extLst>
      <p:ext uri="{BB962C8B-B14F-4D97-AF65-F5344CB8AC3E}">
        <p14:creationId xmlns:p14="http://schemas.microsoft.com/office/powerpoint/2010/main" val="35281112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8D76FB-495F-DB45-B1C0-BAC6DBEDEA01}" type="slidenum">
              <a:rPr lang="en-US" smtClean="0"/>
              <a:t>15</a:t>
            </a:fld>
            <a:endParaRPr lang="en-US"/>
          </a:p>
        </p:txBody>
      </p:sp>
    </p:spTree>
    <p:extLst>
      <p:ext uri="{BB962C8B-B14F-4D97-AF65-F5344CB8AC3E}">
        <p14:creationId xmlns:p14="http://schemas.microsoft.com/office/powerpoint/2010/main" val="29797933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8D76FB-495F-DB45-B1C0-BAC6DBEDEA01}" type="slidenum">
              <a:rPr lang="en-US" smtClean="0"/>
              <a:t>16</a:t>
            </a:fld>
            <a:endParaRPr lang="en-US"/>
          </a:p>
        </p:txBody>
      </p:sp>
    </p:spTree>
    <p:extLst>
      <p:ext uri="{BB962C8B-B14F-4D97-AF65-F5344CB8AC3E}">
        <p14:creationId xmlns:p14="http://schemas.microsoft.com/office/powerpoint/2010/main" val="25501832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9F79CE-CD64-3E46-8DDE-E612CD09D8AF}" type="slidenum">
              <a:rPr lang="en-US" smtClean="0"/>
              <a:t>17</a:t>
            </a:fld>
            <a:endParaRPr lang="en-US"/>
          </a:p>
        </p:txBody>
      </p:sp>
    </p:spTree>
    <p:extLst>
      <p:ext uri="{BB962C8B-B14F-4D97-AF65-F5344CB8AC3E}">
        <p14:creationId xmlns:p14="http://schemas.microsoft.com/office/powerpoint/2010/main" val="34957002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8D76FB-495F-DB45-B1C0-BAC6DBEDEA01}" type="slidenum">
              <a:rPr lang="en-US" smtClean="0"/>
              <a:t>18</a:t>
            </a:fld>
            <a:endParaRPr lang="en-US"/>
          </a:p>
        </p:txBody>
      </p:sp>
    </p:spTree>
    <p:extLst>
      <p:ext uri="{BB962C8B-B14F-4D97-AF65-F5344CB8AC3E}">
        <p14:creationId xmlns:p14="http://schemas.microsoft.com/office/powerpoint/2010/main" val="21434216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8D76FB-495F-DB45-B1C0-BAC6DBEDEA01}" type="slidenum">
              <a:rPr lang="en-US" smtClean="0"/>
              <a:t>19</a:t>
            </a:fld>
            <a:endParaRPr lang="en-US"/>
          </a:p>
        </p:txBody>
      </p:sp>
    </p:spTree>
    <p:extLst>
      <p:ext uri="{BB962C8B-B14F-4D97-AF65-F5344CB8AC3E}">
        <p14:creationId xmlns:p14="http://schemas.microsoft.com/office/powerpoint/2010/main" val="24728583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MSE(\lambda)</a:t>
            </a:r>
            <a:r>
              <a:rPr lang="zh-CN" altLang="en-US" dirty="0"/>
              <a:t>在</a:t>
            </a:r>
            <a:r>
              <a:rPr lang="en-US" altLang="zh-CN" dirty="0"/>
              <a:t>0</a:t>
            </a:r>
            <a:r>
              <a:rPr lang="zh-CN" altLang="en-US" dirty="0"/>
              <a:t>处的导数</a:t>
            </a:r>
            <a:r>
              <a:rPr lang="en-US" altLang="zh-CN" dirty="0"/>
              <a:t>&lt;0</a:t>
            </a:r>
            <a:r>
              <a:rPr lang="zh-CN" altLang="en-US" dirty="0"/>
              <a:t>，说明在无偏估计下，</a:t>
            </a:r>
            <a:r>
              <a:rPr lang="en-US" altLang="zh-CN" dirty="0"/>
              <a:t>MSE</a:t>
            </a:r>
            <a:r>
              <a:rPr lang="zh-CN" altLang="en-US"/>
              <a:t>取不到最好的结果，带一点偏差反而会好。</a:t>
            </a:r>
            <a:endParaRPr lang="en-US" dirty="0"/>
          </a:p>
        </p:txBody>
      </p:sp>
      <p:sp>
        <p:nvSpPr>
          <p:cNvPr id="4" name="Slide Number Placeholder 3"/>
          <p:cNvSpPr>
            <a:spLocks noGrp="1"/>
          </p:cNvSpPr>
          <p:nvPr>
            <p:ph type="sldNum" sz="quarter" idx="5"/>
          </p:nvPr>
        </p:nvSpPr>
        <p:spPr/>
        <p:txBody>
          <a:bodyPr/>
          <a:lstStyle/>
          <a:p>
            <a:fld id="{4C8D76FB-495F-DB45-B1C0-BAC6DBEDEA01}" type="slidenum">
              <a:rPr lang="en-US" smtClean="0"/>
              <a:t>20</a:t>
            </a:fld>
            <a:endParaRPr lang="en-US"/>
          </a:p>
        </p:txBody>
      </p:sp>
    </p:spTree>
    <p:extLst>
      <p:ext uri="{BB962C8B-B14F-4D97-AF65-F5344CB8AC3E}">
        <p14:creationId xmlns:p14="http://schemas.microsoft.com/office/powerpoint/2010/main" val="6666695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8D76FB-495F-DB45-B1C0-BAC6DBEDEA01}" type="slidenum">
              <a:rPr lang="en-US" smtClean="0"/>
              <a:t>21</a:t>
            </a:fld>
            <a:endParaRPr lang="en-US"/>
          </a:p>
        </p:txBody>
      </p:sp>
    </p:spTree>
    <p:extLst>
      <p:ext uri="{BB962C8B-B14F-4D97-AF65-F5344CB8AC3E}">
        <p14:creationId xmlns:p14="http://schemas.microsoft.com/office/powerpoint/2010/main" val="27747397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5FC8A-1FB6-3041-A418-D61E2C3DA4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AF47742-DAB1-C14E-A5BA-70F7F796BCF6}"/>
              </a:ext>
            </a:extLst>
          </p:cNvPr>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FB6F0F5-1172-4443-B1D2-5FA4A3CBB556}"/>
              </a:ext>
            </a:extLst>
          </p:cNvPr>
          <p:cNvSpPr>
            <a:spLocks noGrp="1"/>
          </p:cNvSpPr>
          <p:nvPr>
            <p:ph type="dt" sz="half" idx="10"/>
          </p:nvPr>
        </p:nvSpPr>
        <p:spPr/>
        <p:txBody>
          <a:bodyPr/>
          <a:lstStyle/>
          <a:p>
            <a:fld id="{97338502-F17E-DC4B-9F41-BAD476EB8CDC}" type="datetimeFigureOut">
              <a:rPr lang="en-US" smtClean="0"/>
              <a:t>11/5/2025</a:t>
            </a:fld>
            <a:endParaRPr lang="en-US"/>
          </a:p>
        </p:txBody>
      </p:sp>
      <p:sp>
        <p:nvSpPr>
          <p:cNvPr id="5" name="Footer Placeholder 4">
            <a:extLst>
              <a:ext uri="{FF2B5EF4-FFF2-40B4-BE49-F238E27FC236}">
                <a16:creationId xmlns:a16="http://schemas.microsoft.com/office/drawing/2014/main" id="{05EB7974-E7D6-B34D-9439-F9FBE61ED6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A9B4C7-B3E7-2249-9AAE-D0EE3D2B7EB0}"/>
              </a:ext>
            </a:extLst>
          </p:cNvPr>
          <p:cNvSpPr>
            <a:spLocks noGrp="1"/>
          </p:cNvSpPr>
          <p:nvPr>
            <p:ph type="sldNum" sz="quarter" idx="12"/>
          </p:nvPr>
        </p:nvSpPr>
        <p:spPr/>
        <p:txBody>
          <a:bodyPr/>
          <a:lstStyle/>
          <a:p>
            <a:fld id="{57803370-4F3B-144B-8ABA-B36C9E3D55D2}" type="slidenum">
              <a:rPr lang="en-US" smtClean="0"/>
              <a:t>‹#›</a:t>
            </a:fld>
            <a:endParaRPr lang="en-US"/>
          </a:p>
        </p:txBody>
      </p:sp>
    </p:spTree>
    <p:extLst>
      <p:ext uri="{BB962C8B-B14F-4D97-AF65-F5344CB8AC3E}">
        <p14:creationId xmlns:p14="http://schemas.microsoft.com/office/powerpoint/2010/main" val="3983899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0B802-5C9D-5D40-9713-8F0AF3E9654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FE7CEE-95B7-784A-8744-013528B7E0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87651F-9F0D-CE47-A7C3-72ADEC6D561A}"/>
              </a:ext>
            </a:extLst>
          </p:cNvPr>
          <p:cNvSpPr>
            <a:spLocks noGrp="1"/>
          </p:cNvSpPr>
          <p:nvPr>
            <p:ph type="dt" sz="half" idx="10"/>
          </p:nvPr>
        </p:nvSpPr>
        <p:spPr/>
        <p:txBody>
          <a:bodyPr/>
          <a:lstStyle/>
          <a:p>
            <a:fld id="{97338502-F17E-DC4B-9F41-BAD476EB8CDC}" type="datetimeFigureOut">
              <a:rPr lang="en-US" smtClean="0"/>
              <a:t>11/5/2025</a:t>
            </a:fld>
            <a:endParaRPr lang="en-US"/>
          </a:p>
        </p:txBody>
      </p:sp>
      <p:sp>
        <p:nvSpPr>
          <p:cNvPr id="5" name="Footer Placeholder 4">
            <a:extLst>
              <a:ext uri="{FF2B5EF4-FFF2-40B4-BE49-F238E27FC236}">
                <a16:creationId xmlns:a16="http://schemas.microsoft.com/office/drawing/2014/main" id="{2E39990C-26CF-5340-9185-412EDD20B1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80482D-EE59-6B44-B09D-54DF378E29DB}"/>
              </a:ext>
            </a:extLst>
          </p:cNvPr>
          <p:cNvSpPr>
            <a:spLocks noGrp="1"/>
          </p:cNvSpPr>
          <p:nvPr>
            <p:ph type="sldNum" sz="quarter" idx="12"/>
          </p:nvPr>
        </p:nvSpPr>
        <p:spPr/>
        <p:txBody>
          <a:bodyPr/>
          <a:lstStyle/>
          <a:p>
            <a:fld id="{57803370-4F3B-144B-8ABA-B36C9E3D55D2}" type="slidenum">
              <a:rPr lang="en-US" smtClean="0"/>
              <a:t>‹#›</a:t>
            </a:fld>
            <a:endParaRPr lang="en-US"/>
          </a:p>
        </p:txBody>
      </p:sp>
    </p:spTree>
    <p:extLst>
      <p:ext uri="{BB962C8B-B14F-4D97-AF65-F5344CB8AC3E}">
        <p14:creationId xmlns:p14="http://schemas.microsoft.com/office/powerpoint/2010/main" val="653530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8DE8B-08E4-6746-B7C6-2D6F7D77DEE5}"/>
              </a:ext>
            </a:extLst>
          </p:cNvPr>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0B837A5-9526-B64C-B0B3-EC555F7584AA}"/>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81C4E4-A98D-7F4C-A038-86F2454F7AA0}"/>
              </a:ext>
            </a:extLst>
          </p:cNvPr>
          <p:cNvSpPr>
            <a:spLocks noGrp="1"/>
          </p:cNvSpPr>
          <p:nvPr>
            <p:ph type="dt" sz="half" idx="10"/>
          </p:nvPr>
        </p:nvSpPr>
        <p:spPr/>
        <p:txBody>
          <a:bodyPr/>
          <a:lstStyle/>
          <a:p>
            <a:fld id="{97338502-F17E-DC4B-9F41-BAD476EB8CDC}" type="datetimeFigureOut">
              <a:rPr lang="en-US" smtClean="0"/>
              <a:t>11/5/2025</a:t>
            </a:fld>
            <a:endParaRPr lang="en-US"/>
          </a:p>
        </p:txBody>
      </p:sp>
      <p:sp>
        <p:nvSpPr>
          <p:cNvPr id="5" name="Footer Placeholder 4">
            <a:extLst>
              <a:ext uri="{FF2B5EF4-FFF2-40B4-BE49-F238E27FC236}">
                <a16:creationId xmlns:a16="http://schemas.microsoft.com/office/drawing/2014/main" id="{1A3ADB87-08F0-6645-91C0-90A36E9EF1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B2DCD8-FACC-EF40-A476-D4C9F098E0DA}"/>
              </a:ext>
            </a:extLst>
          </p:cNvPr>
          <p:cNvSpPr>
            <a:spLocks noGrp="1"/>
          </p:cNvSpPr>
          <p:nvPr>
            <p:ph type="sldNum" sz="quarter" idx="12"/>
          </p:nvPr>
        </p:nvSpPr>
        <p:spPr/>
        <p:txBody>
          <a:bodyPr/>
          <a:lstStyle/>
          <a:p>
            <a:fld id="{57803370-4F3B-144B-8ABA-B36C9E3D55D2}" type="slidenum">
              <a:rPr lang="en-US" smtClean="0"/>
              <a:t>‹#›</a:t>
            </a:fld>
            <a:endParaRPr lang="en-US"/>
          </a:p>
        </p:txBody>
      </p:sp>
    </p:spTree>
    <p:extLst>
      <p:ext uri="{BB962C8B-B14F-4D97-AF65-F5344CB8AC3E}">
        <p14:creationId xmlns:p14="http://schemas.microsoft.com/office/powerpoint/2010/main" val="2656738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B3A11-2C38-6345-9832-CD9E4234C5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F966E1-8E61-EB4F-98F1-2A3FD59E97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E9BD906-8014-9840-917B-BB1BE8DAFC9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F27BADE-2CE5-5944-BEA5-62B1C3EC9812}"/>
              </a:ext>
            </a:extLst>
          </p:cNvPr>
          <p:cNvSpPr>
            <a:spLocks noGrp="1"/>
          </p:cNvSpPr>
          <p:nvPr>
            <p:ph type="dt" sz="half" idx="10"/>
          </p:nvPr>
        </p:nvSpPr>
        <p:spPr/>
        <p:txBody>
          <a:bodyPr/>
          <a:lstStyle/>
          <a:p>
            <a:fld id="{97338502-F17E-DC4B-9F41-BAD476EB8CDC}" type="datetimeFigureOut">
              <a:rPr lang="en-US" smtClean="0"/>
              <a:t>11/5/2025</a:t>
            </a:fld>
            <a:endParaRPr lang="en-US"/>
          </a:p>
        </p:txBody>
      </p:sp>
      <p:sp>
        <p:nvSpPr>
          <p:cNvPr id="6" name="Footer Placeholder 5">
            <a:extLst>
              <a:ext uri="{FF2B5EF4-FFF2-40B4-BE49-F238E27FC236}">
                <a16:creationId xmlns:a16="http://schemas.microsoft.com/office/drawing/2014/main" id="{5803CA7E-B3F3-234F-8843-CF1B52B778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134860-30EA-0542-8960-CB71E62C2A7F}"/>
              </a:ext>
            </a:extLst>
          </p:cNvPr>
          <p:cNvSpPr>
            <a:spLocks noGrp="1"/>
          </p:cNvSpPr>
          <p:nvPr>
            <p:ph type="sldNum" sz="quarter" idx="12"/>
          </p:nvPr>
        </p:nvSpPr>
        <p:spPr/>
        <p:txBody>
          <a:bodyPr/>
          <a:lstStyle/>
          <a:p>
            <a:fld id="{57803370-4F3B-144B-8ABA-B36C9E3D55D2}" type="slidenum">
              <a:rPr lang="en-US" smtClean="0"/>
              <a:t>‹#›</a:t>
            </a:fld>
            <a:endParaRPr lang="en-US"/>
          </a:p>
        </p:txBody>
      </p:sp>
    </p:spTree>
    <p:extLst>
      <p:ext uri="{BB962C8B-B14F-4D97-AF65-F5344CB8AC3E}">
        <p14:creationId xmlns:p14="http://schemas.microsoft.com/office/powerpoint/2010/main" val="3607890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C88B9-4FB0-594D-A3C8-B920561FA2FF}"/>
              </a:ext>
            </a:extLst>
          </p:cNvPr>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317FA0D-47CF-804B-ADFF-C1FBCED7490C}"/>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8A6630-46C1-304B-A31B-F683D3BB0340}"/>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5370E5B-079D-3F45-BA01-C9AD653DD871}"/>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44FE20-58B7-C04B-89A7-8A255F953D6D}"/>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DF9B889-CD5B-FB44-BD7D-2E3DE5505226}"/>
              </a:ext>
            </a:extLst>
          </p:cNvPr>
          <p:cNvSpPr>
            <a:spLocks noGrp="1"/>
          </p:cNvSpPr>
          <p:nvPr>
            <p:ph type="dt" sz="half" idx="10"/>
          </p:nvPr>
        </p:nvSpPr>
        <p:spPr/>
        <p:txBody>
          <a:bodyPr/>
          <a:lstStyle/>
          <a:p>
            <a:fld id="{97338502-F17E-DC4B-9F41-BAD476EB8CDC}" type="datetimeFigureOut">
              <a:rPr lang="en-US" smtClean="0"/>
              <a:t>11/5/2025</a:t>
            </a:fld>
            <a:endParaRPr lang="en-US"/>
          </a:p>
        </p:txBody>
      </p:sp>
      <p:sp>
        <p:nvSpPr>
          <p:cNvPr id="8" name="Footer Placeholder 7">
            <a:extLst>
              <a:ext uri="{FF2B5EF4-FFF2-40B4-BE49-F238E27FC236}">
                <a16:creationId xmlns:a16="http://schemas.microsoft.com/office/drawing/2014/main" id="{70387C38-F33E-E940-9D72-4F662511032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77AD557-D134-064A-A446-E4906B19659C}"/>
              </a:ext>
            </a:extLst>
          </p:cNvPr>
          <p:cNvSpPr>
            <a:spLocks noGrp="1"/>
          </p:cNvSpPr>
          <p:nvPr>
            <p:ph type="sldNum" sz="quarter" idx="12"/>
          </p:nvPr>
        </p:nvSpPr>
        <p:spPr/>
        <p:txBody>
          <a:bodyPr/>
          <a:lstStyle/>
          <a:p>
            <a:fld id="{57803370-4F3B-144B-8ABA-B36C9E3D55D2}" type="slidenum">
              <a:rPr lang="en-US" smtClean="0"/>
              <a:t>‹#›</a:t>
            </a:fld>
            <a:endParaRPr lang="en-US"/>
          </a:p>
        </p:txBody>
      </p:sp>
    </p:spTree>
    <p:extLst>
      <p:ext uri="{BB962C8B-B14F-4D97-AF65-F5344CB8AC3E}">
        <p14:creationId xmlns:p14="http://schemas.microsoft.com/office/powerpoint/2010/main" val="1520858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0F00-4145-DC48-8A29-69BD407CC98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21F20B2-462E-F746-BEE4-DA5D2AEAF649}"/>
              </a:ext>
            </a:extLst>
          </p:cNvPr>
          <p:cNvSpPr>
            <a:spLocks noGrp="1"/>
          </p:cNvSpPr>
          <p:nvPr>
            <p:ph type="dt" sz="half" idx="10"/>
          </p:nvPr>
        </p:nvSpPr>
        <p:spPr/>
        <p:txBody>
          <a:bodyPr/>
          <a:lstStyle/>
          <a:p>
            <a:fld id="{97338502-F17E-DC4B-9F41-BAD476EB8CDC}" type="datetimeFigureOut">
              <a:rPr lang="en-US" smtClean="0"/>
              <a:t>11/5/2025</a:t>
            </a:fld>
            <a:endParaRPr lang="en-US"/>
          </a:p>
        </p:txBody>
      </p:sp>
      <p:sp>
        <p:nvSpPr>
          <p:cNvPr id="4" name="Footer Placeholder 3">
            <a:extLst>
              <a:ext uri="{FF2B5EF4-FFF2-40B4-BE49-F238E27FC236}">
                <a16:creationId xmlns:a16="http://schemas.microsoft.com/office/drawing/2014/main" id="{9D4A5F02-D3A0-BC45-924B-F537F6879F8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8CF2EDE-B42D-1C45-90AC-640331E15542}"/>
              </a:ext>
            </a:extLst>
          </p:cNvPr>
          <p:cNvSpPr>
            <a:spLocks noGrp="1"/>
          </p:cNvSpPr>
          <p:nvPr>
            <p:ph type="sldNum" sz="quarter" idx="12"/>
          </p:nvPr>
        </p:nvSpPr>
        <p:spPr/>
        <p:txBody>
          <a:bodyPr/>
          <a:lstStyle/>
          <a:p>
            <a:fld id="{57803370-4F3B-144B-8ABA-B36C9E3D55D2}" type="slidenum">
              <a:rPr lang="en-US" smtClean="0"/>
              <a:t>‹#›</a:t>
            </a:fld>
            <a:endParaRPr lang="en-US"/>
          </a:p>
        </p:txBody>
      </p:sp>
    </p:spTree>
    <p:extLst>
      <p:ext uri="{BB962C8B-B14F-4D97-AF65-F5344CB8AC3E}">
        <p14:creationId xmlns:p14="http://schemas.microsoft.com/office/powerpoint/2010/main" val="33408549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6AF63A-2A34-9443-B3A1-F7AD55578BC1}"/>
              </a:ext>
            </a:extLst>
          </p:cNvPr>
          <p:cNvSpPr>
            <a:spLocks noGrp="1"/>
          </p:cNvSpPr>
          <p:nvPr>
            <p:ph type="dt" sz="half" idx="10"/>
          </p:nvPr>
        </p:nvSpPr>
        <p:spPr/>
        <p:txBody>
          <a:bodyPr/>
          <a:lstStyle/>
          <a:p>
            <a:fld id="{97338502-F17E-DC4B-9F41-BAD476EB8CDC}" type="datetimeFigureOut">
              <a:rPr lang="en-US" smtClean="0"/>
              <a:t>11/5/2025</a:t>
            </a:fld>
            <a:endParaRPr lang="en-US"/>
          </a:p>
        </p:txBody>
      </p:sp>
      <p:sp>
        <p:nvSpPr>
          <p:cNvPr id="3" name="Footer Placeholder 2">
            <a:extLst>
              <a:ext uri="{FF2B5EF4-FFF2-40B4-BE49-F238E27FC236}">
                <a16:creationId xmlns:a16="http://schemas.microsoft.com/office/drawing/2014/main" id="{2A3C7C21-24A3-624B-A109-AFC30D8803A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615E5C-B91F-6D4D-8F8C-60C86E7D4314}"/>
              </a:ext>
            </a:extLst>
          </p:cNvPr>
          <p:cNvSpPr>
            <a:spLocks noGrp="1"/>
          </p:cNvSpPr>
          <p:nvPr>
            <p:ph type="sldNum" sz="quarter" idx="12"/>
          </p:nvPr>
        </p:nvSpPr>
        <p:spPr/>
        <p:txBody>
          <a:bodyPr/>
          <a:lstStyle/>
          <a:p>
            <a:fld id="{57803370-4F3B-144B-8ABA-B36C9E3D55D2}" type="slidenum">
              <a:rPr lang="en-US" smtClean="0"/>
              <a:t>‹#›</a:t>
            </a:fld>
            <a:endParaRPr lang="en-US"/>
          </a:p>
        </p:txBody>
      </p:sp>
    </p:spTree>
    <p:extLst>
      <p:ext uri="{BB962C8B-B14F-4D97-AF65-F5344CB8AC3E}">
        <p14:creationId xmlns:p14="http://schemas.microsoft.com/office/powerpoint/2010/main" val="3524729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9C247-E86B-7E4B-85FF-22E979058D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ED83CF5-B7AC-6344-BEDE-C1DC558C5D5B}"/>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1ED479-0A31-E74C-8CFF-F83A737191D2}"/>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865952-1887-1242-A818-B48F8B40E2D2}"/>
              </a:ext>
            </a:extLst>
          </p:cNvPr>
          <p:cNvSpPr>
            <a:spLocks noGrp="1"/>
          </p:cNvSpPr>
          <p:nvPr>
            <p:ph type="dt" sz="half" idx="10"/>
          </p:nvPr>
        </p:nvSpPr>
        <p:spPr/>
        <p:txBody>
          <a:bodyPr/>
          <a:lstStyle/>
          <a:p>
            <a:fld id="{97338502-F17E-DC4B-9F41-BAD476EB8CDC}" type="datetimeFigureOut">
              <a:rPr lang="en-US" smtClean="0"/>
              <a:t>11/5/2025</a:t>
            </a:fld>
            <a:endParaRPr lang="en-US"/>
          </a:p>
        </p:txBody>
      </p:sp>
      <p:sp>
        <p:nvSpPr>
          <p:cNvPr id="6" name="Footer Placeholder 5">
            <a:extLst>
              <a:ext uri="{FF2B5EF4-FFF2-40B4-BE49-F238E27FC236}">
                <a16:creationId xmlns:a16="http://schemas.microsoft.com/office/drawing/2014/main" id="{5B17D4EC-6C26-3343-BE5B-4618E517AC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A067B4-9192-2B4D-B6BA-824E852566C4}"/>
              </a:ext>
            </a:extLst>
          </p:cNvPr>
          <p:cNvSpPr>
            <a:spLocks noGrp="1"/>
          </p:cNvSpPr>
          <p:nvPr>
            <p:ph type="sldNum" sz="quarter" idx="12"/>
          </p:nvPr>
        </p:nvSpPr>
        <p:spPr/>
        <p:txBody>
          <a:bodyPr/>
          <a:lstStyle/>
          <a:p>
            <a:fld id="{57803370-4F3B-144B-8ABA-B36C9E3D55D2}" type="slidenum">
              <a:rPr lang="en-US" smtClean="0"/>
              <a:t>‹#›</a:t>
            </a:fld>
            <a:endParaRPr lang="en-US"/>
          </a:p>
        </p:txBody>
      </p:sp>
    </p:spTree>
    <p:extLst>
      <p:ext uri="{BB962C8B-B14F-4D97-AF65-F5344CB8AC3E}">
        <p14:creationId xmlns:p14="http://schemas.microsoft.com/office/powerpoint/2010/main" val="37851640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44F99-0279-E64B-A930-DD2DFE1627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0C7E41E-F499-FD45-AA09-8683F0D29C82}"/>
              </a:ext>
            </a:extLst>
          </p:cNvPr>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a:extLst>
              <a:ext uri="{FF2B5EF4-FFF2-40B4-BE49-F238E27FC236}">
                <a16:creationId xmlns:a16="http://schemas.microsoft.com/office/drawing/2014/main" id="{BF769A72-A800-F842-8071-88E5094D6D5E}"/>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4FD681-5220-164D-B93A-853D489B8375}"/>
              </a:ext>
            </a:extLst>
          </p:cNvPr>
          <p:cNvSpPr>
            <a:spLocks noGrp="1"/>
          </p:cNvSpPr>
          <p:nvPr>
            <p:ph type="dt" sz="half" idx="10"/>
          </p:nvPr>
        </p:nvSpPr>
        <p:spPr/>
        <p:txBody>
          <a:bodyPr/>
          <a:lstStyle/>
          <a:p>
            <a:fld id="{97338502-F17E-DC4B-9F41-BAD476EB8CDC}" type="datetimeFigureOut">
              <a:rPr lang="en-US" smtClean="0"/>
              <a:t>11/5/2025</a:t>
            </a:fld>
            <a:endParaRPr lang="en-US"/>
          </a:p>
        </p:txBody>
      </p:sp>
      <p:sp>
        <p:nvSpPr>
          <p:cNvPr id="6" name="Footer Placeholder 5">
            <a:extLst>
              <a:ext uri="{FF2B5EF4-FFF2-40B4-BE49-F238E27FC236}">
                <a16:creationId xmlns:a16="http://schemas.microsoft.com/office/drawing/2014/main" id="{88E4C564-BE03-8440-959E-1F518EC840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C254D9-1620-D64C-AF60-D151063F32C5}"/>
              </a:ext>
            </a:extLst>
          </p:cNvPr>
          <p:cNvSpPr>
            <a:spLocks noGrp="1"/>
          </p:cNvSpPr>
          <p:nvPr>
            <p:ph type="sldNum" sz="quarter" idx="12"/>
          </p:nvPr>
        </p:nvSpPr>
        <p:spPr/>
        <p:txBody>
          <a:bodyPr/>
          <a:lstStyle/>
          <a:p>
            <a:fld id="{57803370-4F3B-144B-8ABA-B36C9E3D55D2}" type="slidenum">
              <a:rPr lang="en-US" smtClean="0"/>
              <a:t>‹#›</a:t>
            </a:fld>
            <a:endParaRPr lang="en-US"/>
          </a:p>
        </p:txBody>
      </p:sp>
    </p:spTree>
    <p:extLst>
      <p:ext uri="{BB962C8B-B14F-4D97-AF65-F5344CB8AC3E}">
        <p14:creationId xmlns:p14="http://schemas.microsoft.com/office/powerpoint/2010/main" val="27597190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C499A-DD86-D24E-A290-0B13D2D72E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D35DDCF-0EB5-0B42-9F19-70570301C1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52CFB8-64A2-6243-A467-76379B3B6CE1}"/>
              </a:ext>
            </a:extLst>
          </p:cNvPr>
          <p:cNvSpPr>
            <a:spLocks noGrp="1"/>
          </p:cNvSpPr>
          <p:nvPr>
            <p:ph type="dt" sz="half" idx="10"/>
          </p:nvPr>
        </p:nvSpPr>
        <p:spPr/>
        <p:txBody>
          <a:bodyPr/>
          <a:lstStyle/>
          <a:p>
            <a:fld id="{97338502-F17E-DC4B-9F41-BAD476EB8CDC}" type="datetimeFigureOut">
              <a:rPr lang="en-US" smtClean="0"/>
              <a:t>11/5/2025</a:t>
            </a:fld>
            <a:endParaRPr lang="en-US"/>
          </a:p>
        </p:txBody>
      </p:sp>
      <p:sp>
        <p:nvSpPr>
          <p:cNvPr id="5" name="Footer Placeholder 4">
            <a:extLst>
              <a:ext uri="{FF2B5EF4-FFF2-40B4-BE49-F238E27FC236}">
                <a16:creationId xmlns:a16="http://schemas.microsoft.com/office/drawing/2014/main" id="{47925434-A072-D245-8271-A14B1A4D6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54B9DA-DDF0-C34D-8AFE-B5CAAEF3AE7B}"/>
              </a:ext>
            </a:extLst>
          </p:cNvPr>
          <p:cNvSpPr>
            <a:spLocks noGrp="1"/>
          </p:cNvSpPr>
          <p:nvPr>
            <p:ph type="sldNum" sz="quarter" idx="12"/>
          </p:nvPr>
        </p:nvSpPr>
        <p:spPr/>
        <p:txBody>
          <a:bodyPr/>
          <a:lstStyle/>
          <a:p>
            <a:fld id="{57803370-4F3B-144B-8ABA-B36C9E3D55D2}" type="slidenum">
              <a:rPr lang="en-US" smtClean="0"/>
              <a:t>‹#›</a:t>
            </a:fld>
            <a:endParaRPr lang="en-US"/>
          </a:p>
        </p:txBody>
      </p:sp>
    </p:spTree>
    <p:extLst>
      <p:ext uri="{BB962C8B-B14F-4D97-AF65-F5344CB8AC3E}">
        <p14:creationId xmlns:p14="http://schemas.microsoft.com/office/powerpoint/2010/main" val="39543138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D15942-F520-8140-82C2-549925B9176C}"/>
              </a:ext>
            </a:extLst>
          </p:cNvPr>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E1EF6AE-3D2E-074D-80D3-C0295DA011CA}"/>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509591-4801-7644-BB66-3C5CEB6BF4A1}"/>
              </a:ext>
            </a:extLst>
          </p:cNvPr>
          <p:cNvSpPr>
            <a:spLocks noGrp="1"/>
          </p:cNvSpPr>
          <p:nvPr>
            <p:ph type="dt" sz="half" idx="10"/>
          </p:nvPr>
        </p:nvSpPr>
        <p:spPr/>
        <p:txBody>
          <a:bodyPr/>
          <a:lstStyle/>
          <a:p>
            <a:fld id="{97338502-F17E-DC4B-9F41-BAD476EB8CDC}" type="datetimeFigureOut">
              <a:rPr lang="en-US" smtClean="0"/>
              <a:t>11/5/2025</a:t>
            </a:fld>
            <a:endParaRPr lang="en-US"/>
          </a:p>
        </p:txBody>
      </p:sp>
      <p:sp>
        <p:nvSpPr>
          <p:cNvPr id="5" name="Footer Placeholder 4">
            <a:extLst>
              <a:ext uri="{FF2B5EF4-FFF2-40B4-BE49-F238E27FC236}">
                <a16:creationId xmlns:a16="http://schemas.microsoft.com/office/drawing/2014/main" id="{7B498A03-9EC2-5942-8AF7-4EE129F90F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D53ECD-47F7-6640-A418-41363373A207}"/>
              </a:ext>
            </a:extLst>
          </p:cNvPr>
          <p:cNvSpPr>
            <a:spLocks noGrp="1"/>
          </p:cNvSpPr>
          <p:nvPr>
            <p:ph type="sldNum" sz="quarter" idx="12"/>
          </p:nvPr>
        </p:nvSpPr>
        <p:spPr/>
        <p:txBody>
          <a:bodyPr/>
          <a:lstStyle/>
          <a:p>
            <a:fld id="{57803370-4F3B-144B-8ABA-B36C9E3D55D2}" type="slidenum">
              <a:rPr lang="en-US" smtClean="0"/>
              <a:t>‹#›</a:t>
            </a:fld>
            <a:endParaRPr lang="en-US"/>
          </a:p>
        </p:txBody>
      </p:sp>
    </p:spTree>
    <p:extLst>
      <p:ext uri="{BB962C8B-B14F-4D97-AF65-F5344CB8AC3E}">
        <p14:creationId xmlns:p14="http://schemas.microsoft.com/office/powerpoint/2010/main" val="6358681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D098E4-3EF4-B940-93C1-1851E23AD5AB}"/>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81D4DF2-BE2A-2040-9A6C-84673A4812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C1B57D-0C15-8044-9772-0CEEEAA1C963}"/>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338502-F17E-DC4B-9F41-BAD476EB8CDC}" type="datetimeFigureOut">
              <a:rPr lang="en-US" smtClean="0"/>
              <a:t>11/5/2025</a:t>
            </a:fld>
            <a:endParaRPr lang="en-US"/>
          </a:p>
        </p:txBody>
      </p:sp>
      <p:sp>
        <p:nvSpPr>
          <p:cNvPr id="5" name="Footer Placeholder 4">
            <a:extLst>
              <a:ext uri="{FF2B5EF4-FFF2-40B4-BE49-F238E27FC236}">
                <a16:creationId xmlns:a16="http://schemas.microsoft.com/office/drawing/2014/main" id="{EC1FF6CD-B256-804D-A913-74F1B54B8A56}"/>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26141D8-076E-4C4E-BD9C-F12DD0F4B423}"/>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803370-4F3B-144B-8ABA-B36C9E3D55D2}" type="slidenum">
              <a:rPr lang="en-US" smtClean="0"/>
              <a:t>‹#›</a:t>
            </a:fld>
            <a:endParaRPr lang="en-US"/>
          </a:p>
        </p:txBody>
      </p:sp>
    </p:spTree>
    <p:extLst>
      <p:ext uri="{BB962C8B-B14F-4D97-AF65-F5344CB8AC3E}">
        <p14:creationId xmlns:p14="http://schemas.microsoft.com/office/powerpoint/2010/main" val="3735292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7.xml"/><Relationship Id="rId26" Type="http://schemas.openxmlformats.org/officeDocument/2006/relationships/image" Target="../media/image11.png"/><Relationship Id="rId3" Type="http://schemas.openxmlformats.org/officeDocument/2006/relationships/tags" Target="../tags/tag3.xml"/><Relationship Id="rId21" Type="http://schemas.openxmlformats.org/officeDocument/2006/relationships/tags" Target="../tags/tag4.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6.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image" Target="../media/image8.png"/><Relationship Id="rId29" Type="http://schemas.openxmlformats.org/officeDocument/2006/relationships/image" Target="../media/image13.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image" Target="../media/image10.png"/><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5.xml"/><Relationship Id="rId28" Type="http://schemas.openxmlformats.org/officeDocument/2006/relationships/image" Target="../media/image12.png"/><Relationship Id="rId10" Type="http://schemas.openxmlformats.org/officeDocument/2006/relationships/tags" Target="../tags/tag10.xml"/><Relationship Id="rId19" Type="http://schemas.openxmlformats.org/officeDocument/2006/relationships/tags" Target="../tags/tag3.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image" Target="../media/image9.png"/><Relationship Id="rId27" Type="http://schemas.openxmlformats.org/officeDocument/2006/relationships/tags" Target="../tags/tag7.xml"/></Relationships>
</file>

<file path=ppt/slides/_rels/slide6.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0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3" Type="http://schemas.openxmlformats.org/officeDocument/2006/relationships/image" Target="../media/image330.png"/><Relationship Id="rId7"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8.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19.xml.rels><?xml version="1.0" encoding="UTF-8" standalone="yes"?>
<Relationships xmlns="http://schemas.openxmlformats.org/package/2006/relationships"><Relationship Id="rId3" Type="http://schemas.openxmlformats.org/officeDocument/2006/relationships/image" Target="../media/image47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C8180ED6-2ACB-A649-8746-79EC7812504B}"/>
              </a:ext>
            </a:extLst>
          </p:cNvPr>
          <p:cNvSpPr>
            <a:spLocks noGrp="1"/>
          </p:cNvSpPr>
          <p:nvPr>
            <p:ph type="ctrTitle"/>
          </p:nvPr>
        </p:nvSpPr>
        <p:spPr>
          <a:xfrm>
            <a:off x="2058380" y="1260489"/>
            <a:ext cx="8075240" cy="1710011"/>
          </a:xfrm>
          <a:prstGeom prst="roundRect">
            <a:avLst/>
          </a:prstGeom>
          <a:solidFill>
            <a:srgbClr val="005825"/>
          </a:solidFill>
        </p:spPr>
        <p:style>
          <a:lnRef idx="0">
            <a:schemeClr val="accent1"/>
          </a:lnRef>
          <a:fillRef idx="3">
            <a:schemeClr val="accent1"/>
          </a:fillRef>
          <a:effectRef idx="3">
            <a:schemeClr val="accent1"/>
          </a:effectRef>
          <a:fontRef idx="minor">
            <a:schemeClr val="lt1"/>
          </a:fontRef>
        </p:style>
        <p:txBody>
          <a:bodyPr anchor="ctr">
            <a:noAutofit/>
          </a:bodyPr>
          <a:lstStyle/>
          <a:p>
            <a:r>
              <a:rPr lang="en-US" altLang="zh-CN" sz="4000" b="1" dirty="0">
                <a:latin typeface="微软雅黑" pitchFamily="34" charset="-122"/>
                <a:ea typeface="微软雅黑" pitchFamily="34" charset="-122"/>
              </a:rPr>
              <a:t>Ridge regression</a:t>
            </a:r>
            <a:endParaRPr lang="zh-CN" altLang="en-US" sz="4000" b="1" dirty="0">
              <a:latin typeface="微软雅黑" pitchFamily="34" charset="-122"/>
              <a:ea typeface="微软雅黑" pitchFamily="34" charset="-122"/>
            </a:endParaRPr>
          </a:p>
        </p:txBody>
      </p:sp>
      <p:sp>
        <p:nvSpPr>
          <p:cNvPr id="5" name="副标题 2">
            <a:extLst>
              <a:ext uri="{FF2B5EF4-FFF2-40B4-BE49-F238E27FC236}">
                <a16:creationId xmlns:a16="http://schemas.microsoft.com/office/drawing/2014/main" id="{65B63C4A-E74D-EC4E-82DE-0EDC1FB3D00F}"/>
              </a:ext>
            </a:extLst>
          </p:cNvPr>
          <p:cNvSpPr>
            <a:spLocks noGrp="1"/>
          </p:cNvSpPr>
          <p:nvPr>
            <p:ph type="subTitle" idx="1"/>
          </p:nvPr>
        </p:nvSpPr>
        <p:spPr>
          <a:xfrm>
            <a:off x="1524000" y="3887501"/>
            <a:ext cx="9144000" cy="1373086"/>
          </a:xfrm>
        </p:spPr>
        <p:txBody>
          <a:bodyPr>
            <a:normAutofit/>
          </a:bodyPr>
          <a:lstStyle/>
          <a:p>
            <a:r>
              <a:rPr lang="zh-CN" altLang="en-US" b="1" dirty="0">
                <a:solidFill>
                  <a:schemeClr val="tx1"/>
                </a:solidFill>
                <a:latin typeface="Microsoft YaHei" panose="020B0503020204020204" pitchFamily="34" charset="-122"/>
                <a:ea typeface="Microsoft YaHei" panose="020B0503020204020204" pitchFamily="34" charset="-122"/>
              </a:rPr>
              <a:t>蒋智超</a:t>
            </a:r>
            <a:endParaRPr lang="en-US" altLang="zh-CN" b="1" dirty="0">
              <a:latin typeface="Microsoft YaHei" panose="020B0503020204020204" pitchFamily="34" charset="-122"/>
              <a:ea typeface="Microsoft YaHei" panose="020B0503020204020204" pitchFamily="34" charset="-122"/>
            </a:endParaRPr>
          </a:p>
          <a:p>
            <a:r>
              <a:rPr lang="zh-CN" altLang="en-US" b="1" dirty="0">
                <a:solidFill>
                  <a:schemeClr val="tx1"/>
                </a:solidFill>
                <a:latin typeface="Microsoft YaHei" panose="020B0503020204020204" pitchFamily="34" charset="-122"/>
                <a:ea typeface="Microsoft YaHei" panose="020B0503020204020204" pitchFamily="34" charset="-122"/>
              </a:rPr>
              <a:t>          </a:t>
            </a:r>
            <a:endParaRPr lang="en-US" altLang="zh-CN" b="1" dirty="0">
              <a:solidFill>
                <a:schemeClr val="tx1"/>
              </a:solidFill>
              <a:latin typeface="Microsoft YaHei" panose="020B0503020204020204" pitchFamily="34" charset="-122"/>
              <a:ea typeface="Microsoft YaHei" panose="020B0503020204020204" pitchFamily="34" charset="-122"/>
            </a:endParaRPr>
          </a:p>
          <a:p>
            <a:r>
              <a:rPr lang="en-US" altLang="zh-CN" b="1" dirty="0">
                <a:solidFill>
                  <a:schemeClr val="tx1"/>
                </a:solidFill>
                <a:latin typeface="Microsoft YaHei" panose="020B0503020204020204" pitchFamily="34" charset="-122"/>
                <a:ea typeface="Microsoft YaHei" panose="020B0503020204020204" pitchFamily="34" charset="-122"/>
              </a:rPr>
              <a:t>2025</a:t>
            </a:r>
            <a:r>
              <a:rPr lang="zh-CN" altLang="en-US" b="1" dirty="0">
                <a:solidFill>
                  <a:schemeClr val="tx1"/>
                </a:solidFill>
                <a:latin typeface="Microsoft YaHei" panose="020B0503020204020204" pitchFamily="34" charset="-122"/>
                <a:ea typeface="Microsoft YaHei" panose="020B0503020204020204" pitchFamily="34" charset="-122"/>
              </a:rPr>
              <a:t>年 </a:t>
            </a:r>
            <a:r>
              <a:rPr lang="zh-CN" altLang="en-US" b="1" dirty="0">
                <a:latin typeface="Microsoft YaHei" panose="020B0503020204020204" pitchFamily="34" charset="-122"/>
                <a:ea typeface="Microsoft YaHei" panose="020B0503020204020204" pitchFamily="34" charset="-122"/>
              </a:rPr>
              <a:t>秋    </a:t>
            </a:r>
            <a:endParaRPr lang="en-US" altLang="zh-CN" b="1"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268624703"/>
      </p:ext>
    </p:extLst>
  </p:cSld>
  <p:clrMapOvr>
    <a:masterClrMapping/>
  </p:clrMapOvr>
  <mc:AlternateContent xmlns:mc="http://schemas.openxmlformats.org/markup-compatibility/2006" xmlns:p14="http://schemas.microsoft.com/office/powerpoint/2010/main">
    <mc:Choice Requires="p14">
      <p:transition spd="slow" p14:dur="2000" advTm="2572"/>
    </mc:Choice>
    <mc:Fallback xmlns="">
      <p:transition spd="slow" advTm="257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Motivation</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2</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C6594E3-7E8F-E048-8A2C-DFFA3212C37D}"/>
                  </a:ext>
                </a:extLst>
              </p:cNvPr>
              <p:cNvSpPr txBox="1"/>
              <p:nvPr/>
            </p:nvSpPr>
            <p:spPr>
              <a:xfrm>
                <a:off x="838201" y="1828274"/>
                <a:ext cx="10425056" cy="4278094"/>
              </a:xfrm>
              <a:prstGeom prst="rect">
                <a:avLst/>
              </a:prstGeom>
              <a:noFill/>
            </p:spPr>
            <p:txBody>
              <a:bodyPr wrap="square" rtlCol="0">
                <a:spAutoFit/>
              </a:bodyPr>
              <a:lstStyle/>
              <a:p>
                <a:pPr marL="285750" indent="-285750">
                  <a:buFont typeface="Arial" panose="020B0604020202020204" pitchFamily="34" charset="0"/>
                  <a:buChar char="•"/>
                </a:pPr>
                <a:r>
                  <a:rPr lang="en-US" sz="2400" dirty="0"/>
                  <a:t>The OLS estimator can be unstable due to inverting </a:t>
                </a: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𝑋</m:t>
                        </m:r>
                      </m:e>
                      <m:sup>
                        <m:r>
                          <a:rPr lang="en-US" sz="2400" b="0" i="1" smtClean="0">
                            <a:latin typeface="Cambria Math" panose="02040503050406030204" pitchFamily="18" charset="0"/>
                          </a:rPr>
                          <m:t>𝑇</m:t>
                        </m:r>
                      </m:sup>
                    </m:sSup>
                    <m:r>
                      <a:rPr lang="en-US" sz="2400" b="0" i="1" smtClean="0">
                        <a:latin typeface="Cambria Math" panose="02040503050406030204" pitchFamily="18" charset="0"/>
                      </a:rPr>
                      <m:t>𝑋</m:t>
                    </m:r>
                  </m:oMath>
                </a14:m>
                <a:endParaRPr lang="en-US" sz="2400" dirty="0"/>
              </a:p>
              <a:p>
                <a:pPr marL="742950" lvl="1" indent="-285750">
                  <a:buFont typeface="Arial" panose="020B0604020202020204" pitchFamily="34" charset="0"/>
                  <a:buChar char="•"/>
                </a:pPr>
                <a:r>
                  <a:rPr lang="en-US" sz="2000" dirty="0"/>
                  <a:t>If the columns of </a:t>
                </a:r>
                <a14:m>
                  <m:oMath xmlns:m="http://schemas.openxmlformats.org/officeDocument/2006/math">
                    <m:r>
                      <a:rPr lang="en-US" sz="2000" i="1" dirty="0" smtClean="0">
                        <a:latin typeface="Cambria Math" panose="02040503050406030204" pitchFamily="18" charset="0"/>
                      </a:rPr>
                      <m:t>𝑋</m:t>
                    </m:r>
                  </m:oMath>
                </a14:m>
                <a:r>
                  <a:rPr lang="en-US" sz="2000" dirty="0"/>
                  <a:t> are highly correlated, then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𝑋</m:t>
                        </m:r>
                      </m:e>
                      <m:sup>
                        <m:r>
                          <a:rPr lang="en-US" sz="2000" i="1">
                            <a:latin typeface="Cambria Math" panose="02040503050406030204" pitchFamily="18" charset="0"/>
                          </a:rPr>
                          <m:t>𝑇</m:t>
                        </m:r>
                      </m:sup>
                    </m:sSup>
                    <m:r>
                      <a:rPr lang="en-US" sz="2000" i="1">
                        <a:latin typeface="Cambria Math" panose="02040503050406030204" pitchFamily="18" charset="0"/>
                      </a:rPr>
                      <m:t>𝑋</m:t>
                    </m:r>
                  </m:oMath>
                </a14:m>
                <a:r>
                  <a:rPr lang="en-US" sz="2000" dirty="0"/>
                  <a:t> will be nearly singular</a:t>
                </a:r>
              </a:p>
              <a:p>
                <a:pPr marL="742950" lvl="1" indent="-285750">
                  <a:buFont typeface="Arial" panose="020B0604020202020204" pitchFamily="34" charset="0"/>
                  <a:buChar char="•"/>
                </a:pPr>
                <a:r>
                  <a:rPr lang="en-US" sz="2000" dirty="0"/>
                  <a:t>If the number of covariates are larger than the sample size, then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𝑋</m:t>
                        </m:r>
                      </m:e>
                      <m:sup>
                        <m:r>
                          <a:rPr lang="en-US" sz="2000" i="1">
                            <a:latin typeface="Cambria Math" panose="02040503050406030204" pitchFamily="18" charset="0"/>
                          </a:rPr>
                          <m:t>𝑇</m:t>
                        </m:r>
                      </m:sup>
                    </m:sSup>
                    <m:r>
                      <a:rPr lang="en-US" sz="2000" i="1">
                        <a:latin typeface="Cambria Math" panose="02040503050406030204" pitchFamily="18" charset="0"/>
                      </a:rPr>
                      <m:t>𝑋</m:t>
                    </m:r>
                  </m:oMath>
                </a14:m>
                <a:r>
                  <a:rPr lang="en-US" sz="2000" dirty="0"/>
                  <a:t> is not</a:t>
                </a:r>
                <a:r>
                  <a:rPr lang="zh-CN" altLang="en-US" sz="2000" dirty="0"/>
                  <a:t> </a:t>
                </a:r>
                <a:r>
                  <a:rPr lang="en-US" sz="2000" dirty="0"/>
                  <a:t>invertible</a:t>
                </a:r>
              </a:p>
              <a:p>
                <a:pPr marL="742950" lvl="1" indent="-285750">
                  <a:buFont typeface="Arial" panose="020B0604020202020204" pitchFamily="34" charset="0"/>
                  <a:buChar char="•"/>
                </a:pPr>
                <a:endParaRPr lang="en-US" sz="2000" dirty="0"/>
              </a:p>
              <a:p>
                <a:pPr marL="742950" lvl="1"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400" dirty="0" err="1"/>
                  <a:t>Hoerl</a:t>
                </a:r>
                <a:r>
                  <a:rPr lang="en-US" sz="2400" dirty="0"/>
                  <a:t> and Kennard (1970) proposed the following ridge estimator as a modification of OLS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742950" lvl="1" indent="-285750">
                  <a:buFont typeface="Arial" panose="020B0604020202020204" pitchFamily="34" charset="0"/>
                  <a:buChar char="•"/>
                </a:pPr>
                <a14:m>
                  <m:oMath xmlns:m="http://schemas.openxmlformats.org/officeDocument/2006/math">
                    <m:r>
                      <a:rPr lang="en-US" sz="2000" i="1" smtClean="0">
                        <a:latin typeface="Cambria Math" panose="02040503050406030204" pitchFamily="18" charset="0"/>
                        <a:ea typeface="Cambria Math" panose="02040503050406030204" pitchFamily="18" charset="0"/>
                      </a:rPr>
                      <m:t>𝜆</m:t>
                    </m:r>
                  </m:oMath>
                </a14:m>
                <a:r>
                  <a:rPr lang="en-US" sz="2000" dirty="0"/>
                  <a:t> is a positive tuning parameter</a:t>
                </a:r>
              </a:p>
              <a:p>
                <a:pPr marL="742950" lvl="1" indent="-285750">
                  <a:buFont typeface="Arial" panose="020B0604020202020204" pitchFamily="34" charset="0"/>
                  <a:buChar char="•"/>
                </a:pPr>
                <a:r>
                  <a:rPr lang="en-US" sz="2000" dirty="0"/>
                  <a:t>The ridge estimator is always well defined </a:t>
                </a:r>
              </a:p>
              <a:p>
                <a:pPr marL="285750" indent="-285750">
                  <a:buFont typeface="Arial" panose="020B0604020202020204" pitchFamily="34" charset="0"/>
                  <a:buChar char="•"/>
                </a:pPr>
                <a:endParaRPr lang="en-US" sz="2000" dirty="0"/>
              </a:p>
            </p:txBody>
          </p:sp>
        </mc:Choice>
        <mc:Fallback xmlns="">
          <p:sp>
            <p:nvSpPr>
              <p:cNvPr id="7" name="TextBox 6">
                <a:extLst>
                  <a:ext uri="{FF2B5EF4-FFF2-40B4-BE49-F238E27FC236}">
                    <a16:creationId xmlns:a16="http://schemas.microsoft.com/office/drawing/2014/main" id="{2C6594E3-7E8F-E048-8A2C-DFFA3212C37D}"/>
                  </a:ext>
                </a:extLst>
              </p:cNvPr>
              <p:cNvSpPr txBox="1">
                <a:spLocks noRot="1" noChangeAspect="1" noMove="1" noResize="1" noEditPoints="1" noAdjustHandles="1" noChangeArrowheads="1" noChangeShapeType="1" noTextEdit="1"/>
              </p:cNvSpPr>
              <p:nvPr/>
            </p:nvSpPr>
            <p:spPr>
              <a:xfrm>
                <a:off x="838201" y="1828274"/>
                <a:ext cx="10425056" cy="4278094"/>
              </a:xfrm>
              <a:prstGeom prst="rect">
                <a:avLst/>
              </a:prstGeom>
              <a:blipFill>
                <a:blip r:embed="rId3"/>
                <a:stretch>
                  <a:fillRect l="-852" t="-1187"/>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4381692C-CAF7-B84E-A91C-8D47C05E4D3A}"/>
              </a:ext>
            </a:extLst>
          </p:cNvPr>
          <p:cNvPicPr>
            <a:picLocks noChangeAspect="1"/>
          </p:cNvPicPr>
          <p:nvPr/>
        </p:nvPicPr>
        <p:blipFill>
          <a:blip r:embed="rId4"/>
          <a:stretch>
            <a:fillRect/>
          </a:stretch>
        </p:blipFill>
        <p:spPr>
          <a:xfrm>
            <a:off x="3380217" y="4316635"/>
            <a:ext cx="4635500" cy="584200"/>
          </a:xfrm>
          <a:prstGeom prst="rect">
            <a:avLst/>
          </a:prstGeom>
        </p:spPr>
      </p:pic>
    </p:spTree>
    <p:extLst>
      <p:ext uri="{BB962C8B-B14F-4D97-AF65-F5344CB8AC3E}">
        <p14:creationId xmlns:p14="http://schemas.microsoft.com/office/powerpoint/2010/main" val="3710105007"/>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Motivation</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3</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6FE264E-4FEB-B846-9E7B-0C1E941E7CDC}"/>
                  </a:ext>
                </a:extLst>
              </p:cNvPr>
              <p:cNvSpPr txBox="1"/>
              <p:nvPr/>
            </p:nvSpPr>
            <p:spPr>
              <a:xfrm>
                <a:off x="838200" y="1858593"/>
                <a:ext cx="11444993" cy="4647426"/>
              </a:xfrm>
              <a:prstGeom prst="rect">
                <a:avLst/>
              </a:prstGeom>
              <a:noFill/>
            </p:spPr>
            <p:txBody>
              <a:bodyPr wrap="none" rtlCol="0">
                <a:spAutoFit/>
              </a:bodyPr>
              <a:lstStyle/>
              <a:p>
                <a:pPr marL="285750" indent="-285750">
                  <a:buFont typeface="Arial" panose="020B0604020202020204" pitchFamily="34" charset="0"/>
                  <a:buChar char="•"/>
                </a:pPr>
                <a:r>
                  <a:rPr lang="en-US" sz="2400" dirty="0"/>
                  <a:t>The OLS estimator minimizes the residual sum of squares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400" dirty="0"/>
                  <a:t>The variances of OLS estimators increase with additional covariates in the regression,</a:t>
                </a:r>
              </a:p>
              <a:p>
                <a:r>
                  <a:rPr lang="en-US" sz="2400" dirty="0"/>
                  <a:t>     leading to unnecessarily large estimators by chance</a:t>
                </a:r>
              </a:p>
              <a:p>
                <a:pPr marL="285750" indent="-285750">
                  <a:buFont typeface="Arial" panose="020B0604020202020204" pitchFamily="34" charset="0"/>
                  <a:buChar char="•"/>
                </a:pPr>
                <a:r>
                  <a:rPr lang="en-US" sz="2400" dirty="0"/>
                  <a:t>To avoid large OLS coefficients, we can penalize the residual sum of squares criterion</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742950" lvl="1" indent="-285750">
                  <a:buFont typeface="Arial" panose="020B0604020202020204" pitchFamily="34" charset="0"/>
                  <a:buChar char="•"/>
                </a:pPr>
                <a:r>
                  <a:rPr lang="en-US" sz="2000" dirty="0"/>
                  <a:t>When </a:t>
                </a:r>
                <a14:m>
                  <m:oMath xmlns:m="http://schemas.openxmlformats.org/officeDocument/2006/math">
                    <m:r>
                      <a:rPr lang="en-US" sz="2000" i="1" smtClean="0">
                        <a:latin typeface="Cambria Math" panose="02040503050406030204" pitchFamily="18" charset="0"/>
                        <a:ea typeface="Cambria Math" panose="02040503050406030204" pitchFamily="18" charset="0"/>
                      </a:rPr>
                      <m:t>𝜆</m:t>
                    </m:r>
                    <m:r>
                      <a:rPr lang="en-US" sz="2000" b="0" i="1" smtClean="0">
                        <a:latin typeface="Cambria Math" panose="02040503050406030204" pitchFamily="18" charset="0"/>
                        <a:ea typeface="Cambria Math" panose="02040503050406030204" pitchFamily="18" charset="0"/>
                      </a:rPr>
                      <m:t>=0</m:t>
                    </m:r>
                  </m:oMath>
                </a14:m>
                <a:r>
                  <a:rPr lang="en-US" sz="2000" dirty="0"/>
                  <a:t>, it reduces to OLS; when </a:t>
                </a:r>
                <a14:m>
                  <m:oMath xmlns:m="http://schemas.openxmlformats.org/officeDocument/2006/math">
                    <m:r>
                      <a:rPr lang="en-US" sz="2000" i="1">
                        <a:latin typeface="Cambria Math" panose="02040503050406030204" pitchFamily="18" charset="0"/>
                        <a:ea typeface="Cambria Math" panose="02040503050406030204" pitchFamily="18" charset="0"/>
                      </a:rPr>
                      <m:t>𝜆</m:t>
                    </m:r>
                    <m:r>
                      <a:rPr lang="en-US" sz="2000" b="0" i="1" smtClean="0">
                        <a:latin typeface="Cambria Math" panose="02040503050406030204" pitchFamily="18" charset="0"/>
                        <a:ea typeface="Cambria Math" panose="02040503050406030204" pitchFamily="18" charset="0"/>
                      </a:rPr>
                      <m:t>=∞</m:t>
                    </m:r>
                  </m:oMath>
                </a14:m>
                <a:r>
                  <a:rPr lang="en-US" sz="2000" dirty="0"/>
                  <a:t>, all coefficients must be zero except the intercept</a:t>
                </a:r>
              </a:p>
              <a:p>
                <a:pPr marL="742950" lvl="1" indent="-285750">
                  <a:buFont typeface="Arial" panose="020B0604020202020204" pitchFamily="34" charset="0"/>
                  <a:buChar char="•"/>
                </a:pPr>
                <a:r>
                  <a:rPr lang="en-US" sz="2000" dirty="0"/>
                  <a:t>When </a:t>
                </a:r>
                <a14:m>
                  <m:oMath xmlns:m="http://schemas.openxmlformats.org/officeDocument/2006/math">
                    <m:r>
                      <a:rPr lang="en-US" sz="2000" i="1">
                        <a:latin typeface="Cambria Math" panose="02040503050406030204" pitchFamily="18" charset="0"/>
                        <a:ea typeface="Cambria Math" panose="02040503050406030204" pitchFamily="18" charset="0"/>
                      </a:rPr>
                      <m:t>𝜆</m:t>
                    </m:r>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(0,∞)</m:t>
                    </m:r>
                  </m:oMath>
                </a14:m>
                <a:r>
                  <a:rPr lang="en-US" sz="2000" dirty="0"/>
                  <a:t>, the ridge coefficients are generally smaller than the OLS coefficients, so the penalty</a:t>
                </a:r>
              </a:p>
              <a:p>
                <a:pPr lvl="1"/>
                <a:r>
                  <a:rPr lang="en-US" sz="2000" dirty="0"/>
                  <a:t>    shrinks the OLS coefficients toward zero</a:t>
                </a:r>
              </a:p>
            </p:txBody>
          </p:sp>
        </mc:Choice>
        <mc:Fallback xmlns="">
          <p:sp>
            <p:nvSpPr>
              <p:cNvPr id="2" name="TextBox 1">
                <a:extLst>
                  <a:ext uri="{FF2B5EF4-FFF2-40B4-BE49-F238E27FC236}">
                    <a16:creationId xmlns:a16="http://schemas.microsoft.com/office/drawing/2014/main" id="{76FE264E-4FEB-B846-9E7B-0C1E941E7CDC}"/>
                  </a:ext>
                </a:extLst>
              </p:cNvPr>
              <p:cNvSpPr txBox="1">
                <a:spLocks noRot="1" noChangeAspect="1" noMove="1" noResize="1" noEditPoints="1" noAdjustHandles="1" noChangeArrowheads="1" noChangeShapeType="1" noTextEdit="1"/>
              </p:cNvSpPr>
              <p:nvPr/>
            </p:nvSpPr>
            <p:spPr>
              <a:xfrm>
                <a:off x="838200" y="1858593"/>
                <a:ext cx="11444993" cy="4647426"/>
              </a:xfrm>
              <a:prstGeom prst="rect">
                <a:avLst/>
              </a:prstGeom>
              <a:blipFill>
                <a:blip r:embed="rId3"/>
                <a:stretch>
                  <a:fillRect l="-776" t="-1090" b="-1635"/>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E13655C7-3B7B-6E4A-BE34-A98DC43A18E1}"/>
              </a:ext>
            </a:extLst>
          </p:cNvPr>
          <p:cNvPicPr>
            <a:picLocks noChangeAspect="1"/>
          </p:cNvPicPr>
          <p:nvPr/>
        </p:nvPicPr>
        <p:blipFill>
          <a:blip r:embed="rId4"/>
          <a:stretch>
            <a:fillRect/>
          </a:stretch>
        </p:blipFill>
        <p:spPr>
          <a:xfrm>
            <a:off x="2607128" y="2367429"/>
            <a:ext cx="5715000" cy="698500"/>
          </a:xfrm>
          <a:prstGeom prst="rect">
            <a:avLst/>
          </a:prstGeom>
        </p:spPr>
      </p:pic>
      <p:pic>
        <p:nvPicPr>
          <p:cNvPr id="6" name="Picture 5">
            <a:extLst>
              <a:ext uri="{FF2B5EF4-FFF2-40B4-BE49-F238E27FC236}">
                <a16:creationId xmlns:a16="http://schemas.microsoft.com/office/drawing/2014/main" id="{1670F09C-6990-124C-A4A7-3667EF74F7DC}"/>
              </a:ext>
            </a:extLst>
          </p:cNvPr>
          <p:cNvPicPr>
            <a:picLocks noChangeAspect="1"/>
          </p:cNvPicPr>
          <p:nvPr/>
        </p:nvPicPr>
        <p:blipFill>
          <a:blip r:embed="rId5"/>
          <a:stretch>
            <a:fillRect/>
          </a:stretch>
        </p:blipFill>
        <p:spPr>
          <a:xfrm>
            <a:off x="2814324" y="4382595"/>
            <a:ext cx="5880100" cy="1041400"/>
          </a:xfrm>
          <a:prstGeom prst="rect">
            <a:avLst/>
          </a:prstGeom>
        </p:spPr>
      </p:pic>
    </p:spTree>
    <p:extLst>
      <p:ext uri="{BB962C8B-B14F-4D97-AF65-F5344CB8AC3E}">
        <p14:creationId xmlns:p14="http://schemas.microsoft.com/office/powerpoint/2010/main" val="2391689387"/>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Dual</a:t>
            </a:r>
            <a:r>
              <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 </a:t>
            </a:r>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problem</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4</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6FE264E-4FEB-B846-9E7B-0C1E941E7CDC}"/>
                  </a:ext>
                </a:extLst>
              </p:cNvPr>
              <p:cNvSpPr txBox="1"/>
              <p:nvPr/>
            </p:nvSpPr>
            <p:spPr>
              <a:xfrm>
                <a:off x="838200" y="1858593"/>
                <a:ext cx="7983211" cy="3293209"/>
              </a:xfrm>
              <a:prstGeom prst="rect">
                <a:avLst/>
              </a:prstGeom>
              <a:noFill/>
            </p:spPr>
            <p:txBody>
              <a:bodyPr wrap="none" rtlCol="0">
                <a:spAutoFit/>
              </a:bodyPr>
              <a:lstStyle/>
              <a:p>
                <a:pPr marL="285750" indent="-285750">
                  <a:buFont typeface="Arial" panose="020B0604020202020204" pitchFamily="34" charset="0"/>
                  <a:buChar char="•"/>
                </a:pPr>
                <a:r>
                  <a:rPr lang="en-US" altLang="zh-CN" sz="2400" dirty="0"/>
                  <a:t>A</a:t>
                </a:r>
                <a:r>
                  <a:rPr lang="zh-CN" altLang="en-US" sz="2400" dirty="0"/>
                  <a:t> </a:t>
                </a:r>
                <a:r>
                  <a:rPr lang="en-US" altLang="zh-CN" sz="2400" dirty="0"/>
                  <a:t>dual</a:t>
                </a:r>
                <a:r>
                  <a:rPr lang="zh-CN" altLang="en-US" sz="2400" dirty="0"/>
                  <a:t> </a:t>
                </a:r>
                <a:r>
                  <a:rPr lang="en-US" altLang="zh-CN" sz="2400" dirty="0"/>
                  <a:t>problem in optimization</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altLang="zh-CN" sz="2000" dirty="0"/>
              </a:p>
              <a:p>
                <a:pPr marL="285750" indent="-285750">
                  <a:buFont typeface="Arial" panose="020B0604020202020204" pitchFamily="34" charset="0"/>
                  <a:buChar char="•"/>
                </a:pPr>
                <a:endParaRPr lang="en-US" altLang="zh-CN" sz="2000" dirty="0"/>
              </a:p>
              <a:p>
                <a:pPr marL="285750" indent="-285750">
                  <a:buFont typeface="Arial" panose="020B0604020202020204" pitchFamily="34" charset="0"/>
                  <a:buChar char="•"/>
                </a:pPr>
                <a:r>
                  <a:rPr lang="en-US" altLang="zh-CN" sz="2400" dirty="0"/>
                  <a:t>For</a:t>
                </a:r>
                <a:r>
                  <a:rPr lang="zh-CN" altLang="en-US" sz="2400" dirty="0"/>
                  <a:t> </a:t>
                </a:r>
                <a:r>
                  <a:rPr lang="en-US" altLang="zh-CN" sz="2400" dirty="0"/>
                  <a:t>a given </a:t>
                </a:r>
                <a14:m>
                  <m:oMath xmlns:m="http://schemas.openxmlformats.org/officeDocument/2006/math">
                    <m:r>
                      <a:rPr lang="en-US" altLang="zh-CN" sz="2400" i="1" smtClean="0">
                        <a:latin typeface="Cambria Math" panose="02040503050406030204" pitchFamily="18" charset="0"/>
                        <a:ea typeface="Cambria Math" panose="02040503050406030204" pitchFamily="18" charset="0"/>
                      </a:rPr>
                      <m:t>𝜆</m:t>
                    </m:r>
                  </m:oMath>
                </a14:m>
                <a:r>
                  <a:rPr lang="en-US" sz="2400" dirty="0"/>
                  <a:t>, we can always find a </a:t>
                </a:r>
                <a14:m>
                  <m:oMath xmlns:m="http://schemas.openxmlformats.org/officeDocument/2006/math">
                    <m:r>
                      <a:rPr lang="en-US" sz="2400" i="1" dirty="0" smtClean="0">
                        <a:latin typeface="Cambria Math" panose="02040503050406030204" pitchFamily="18" charset="0"/>
                      </a:rPr>
                      <m:t>𝑡</m:t>
                    </m:r>
                  </m:oMath>
                </a14:m>
                <a:r>
                  <a:rPr lang="en-US" sz="2400" dirty="0"/>
                  <a:t> with the same solution </a:t>
                </a:r>
              </a:p>
            </p:txBody>
          </p:sp>
        </mc:Choice>
        <mc:Fallback xmlns="">
          <p:sp>
            <p:nvSpPr>
              <p:cNvPr id="2" name="TextBox 1">
                <a:extLst>
                  <a:ext uri="{FF2B5EF4-FFF2-40B4-BE49-F238E27FC236}">
                    <a16:creationId xmlns:a16="http://schemas.microsoft.com/office/drawing/2014/main" id="{76FE264E-4FEB-B846-9E7B-0C1E941E7CDC}"/>
                  </a:ext>
                </a:extLst>
              </p:cNvPr>
              <p:cNvSpPr txBox="1">
                <a:spLocks noRot="1" noChangeAspect="1" noMove="1" noResize="1" noEditPoints="1" noAdjustHandles="1" noChangeArrowheads="1" noChangeShapeType="1" noTextEdit="1"/>
              </p:cNvSpPr>
              <p:nvPr/>
            </p:nvSpPr>
            <p:spPr>
              <a:xfrm>
                <a:off x="838200" y="1858593"/>
                <a:ext cx="7983211" cy="3293209"/>
              </a:xfrm>
              <a:prstGeom prst="rect">
                <a:avLst/>
              </a:prstGeom>
              <a:blipFill>
                <a:blip r:embed="rId3"/>
                <a:stretch>
                  <a:fillRect l="-1113" t="-1538" r="-159" b="-3462"/>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E39B6A86-E733-0343-87E3-8E211FB70188}"/>
              </a:ext>
            </a:extLst>
          </p:cNvPr>
          <p:cNvPicPr>
            <a:picLocks noChangeAspect="1"/>
          </p:cNvPicPr>
          <p:nvPr/>
        </p:nvPicPr>
        <p:blipFill>
          <a:blip r:embed="rId4"/>
          <a:stretch>
            <a:fillRect/>
          </a:stretch>
        </p:blipFill>
        <p:spPr>
          <a:xfrm>
            <a:off x="3204028" y="2668942"/>
            <a:ext cx="4826000" cy="1549400"/>
          </a:xfrm>
          <a:prstGeom prst="rect">
            <a:avLst/>
          </a:prstGeom>
        </p:spPr>
      </p:pic>
    </p:spTree>
    <p:extLst>
      <p:ext uri="{BB962C8B-B14F-4D97-AF65-F5344CB8AC3E}">
        <p14:creationId xmlns:p14="http://schemas.microsoft.com/office/powerpoint/2010/main" val="2031173362"/>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DAA3BA4-FA6B-FFB1-9D55-D7FF7CB49C6F}"/>
              </a:ext>
            </a:extLst>
          </p:cNvPr>
          <p:cNvGrpSpPr/>
          <p:nvPr>
            <p:custDataLst>
              <p:tags r:id="rId2"/>
            </p:custDataLst>
          </p:nvPr>
        </p:nvGrpSpPr>
        <p:grpSpPr>
          <a:xfrm>
            <a:off x="0" y="0"/>
            <a:ext cx="12192000" cy="635000"/>
            <a:chOff x="0" y="0"/>
            <a:chExt cx="12192000" cy="635000"/>
          </a:xfrm>
        </p:grpSpPr>
        <p:sp>
          <p:nvSpPr>
            <p:cNvPr id="6" name="TitleBackground">
              <a:extLst>
                <a:ext uri="{FF2B5EF4-FFF2-40B4-BE49-F238E27FC236}">
                  <a16:creationId xmlns:a16="http://schemas.microsoft.com/office/drawing/2014/main" id="{08160459-C856-9EBD-7917-02A3855FBCC5}"/>
                </a:ext>
              </a:extLst>
            </p:cNvPr>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lorBlock">
              <a:extLst>
                <a:ext uri="{FF2B5EF4-FFF2-40B4-BE49-F238E27FC236}">
                  <a16:creationId xmlns:a16="http://schemas.microsoft.com/office/drawing/2014/main" id="{1E4DC6BD-E813-0D40-40B8-086F24AEBB9B}"/>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ypeText">
              <a:extLst>
                <a:ext uri="{FF2B5EF4-FFF2-40B4-BE49-F238E27FC236}">
                  <a16:creationId xmlns:a16="http://schemas.microsoft.com/office/drawing/2014/main" id="{B4E03F88-FAC7-3CE9-7AFD-67813546A88F}"/>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endParaRPr 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TipText">
              <a:extLst>
                <a:ext uri="{FF2B5EF4-FFF2-40B4-BE49-F238E27FC236}">
                  <a16:creationId xmlns:a16="http://schemas.microsoft.com/office/drawing/2014/main" id="{D10FAFF5-CD0F-950B-94B2-DB49CF30B585}"/>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09A3DB6-DCEB-4466-A793-587C68B86F79}"/>
                  </a:ext>
                </a:extLst>
              </p:cNvPr>
              <p:cNvSpPr txBox="1"/>
              <p:nvPr>
                <p:custDataLst>
                  <p:tags r:id="rId3"/>
                </p:custDataLst>
              </p:nvPr>
            </p:nvSpPr>
            <p:spPr>
              <a:xfrm>
                <a:off x="1219200" y="635000"/>
                <a:ext cx="9753600" cy="2143125"/>
              </a:xfrm>
              <a:prstGeom prst="rect">
                <a:avLst/>
              </a:prstGeom>
              <a:noFill/>
            </p:spPr>
            <p:txBody>
              <a:bodyPr vert="horz" wrap="square" rtlCol="0" anchor="ctr" anchorCtr="0">
                <a:noAutofit/>
              </a:bodyPr>
              <a:lstStyle/>
              <a:p>
                <a:pPr/>
                <a14:m>
                  <m:oMathPara xmlns:m="http://schemas.openxmlformats.org/officeDocument/2006/math">
                    <m:oMathParaPr>
                      <m:jc m:val="centerGroup"/>
                    </m:oMathParaPr>
                    <m:oMath xmlns:m="http://schemas.openxmlformats.org/officeDocument/2006/math">
                      <m:sSub>
                        <m:sSubPr>
                          <m:ctrlP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Pr>
                        <m:e>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𝑓</m:t>
                          </m:r>
                        </m:e>
                        <m:sub>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1</m:t>
                          </m:r>
                        </m:sub>
                      </m:sSub>
                      <m:d>
                        <m:dPr>
                          <m:ctrlP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dPr>
                        <m:e>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𝜆</m:t>
                          </m:r>
                        </m:e>
                      </m:d>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func>
                        <m:funcPr>
                          <m:ctrlP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funcPr>
                        <m:fName>
                          <m:r>
                            <m:rPr>
                              <m:sty m:val="p"/>
                            </m:rPr>
                            <a:rPr lang="en-US" sz="2400" b="0" i="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min</m:t>
                          </m:r>
                        </m:fName>
                        <m:e>
                          <m:d>
                            <m:dPr>
                              <m:ctrlP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dPr>
                            <m:e>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sSup>
                                <m:sSupPr>
                                  <m:ctrlP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pPr>
                                <m:e>
                                  <m:d>
                                    <m:dPr>
                                      <m:ctrlP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dPr>
                                    <m:e>
                                      <m:sSub>
                                        <m:sSubPr>
                                          <m:ctrlP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Pr>
                                        <m:e>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𝑦</m:t>
                                          </m:r>
                                        </m:e>
                                        <m:sub>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𝑖</m:t>
                                          </m:r>
                                        </m:sub>
                                      </m:sSub>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sSub>
                                        <m:sSubPr>
                                          <m:ctrlP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Pr>
                                        <m:e>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𝑏</m:t>
                                          </m:r>
                                        </m:e>
                                        <m:sub>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0</m:t>
                                          </m:r>
                                        </m:sub>
                                      </m:sSub>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sSub>
                                        <m:sSubPr>
                                          <m:ctrlP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Pr>
                                        <m:e>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𝑏</m:t>
                                          </m:r>
                                        </m:e>
                                        <m:sub>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1</m:t>
                                          </m:r>
                                        </m:sub>
                                      </m:sSub>
                                      <m:sSub>
                                        <m:sSubPr>
                                          <m:ctrlP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Pr>
                                        <m:e>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𝑥</m:t>
                                          </m:r>
                                        </m:e>
                                        <m:sub>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𝑖</m:t>
                                          </m:r>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1</m:t>
                                          </m:r>
                                        </m:sub>
                                      </m:sSub>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sSub>
                                        <m:sSubPr>
                                          <m:ctrlP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Pr>
                                        <m:e>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𝑏</m:t>
                                          </m:r>
                                        </m:e>
                                        <m:sub>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2</m:t>
                                          </m:r>
                                        </m:sub>
                                      </m:sSub>
                                      <m:sSub>
                                        <m:sSubPr>
                                          <m:ctrlP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Pr>
                                        <m:e>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𝑥</m:t>
                                          </m:r>
                                        </m:e>
                                        <m:sub>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𝑖</m:t>
                                          </m:r>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2</m:t>
                                          </m:r>
                                        </m:sub>
                                      </m:sSub>
                                    </m:e>
                                  </m:d>
                                </m:e>
                                <m:sup>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2</m:t>
                                  </m:r>
                                </m:sup>
                              </m:sSup>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𝜆</m:t>
                              </m:r>
                              <m:d>
                                <m:dPr>
                                  <m:ctrlP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dPr>
                                <m:e>
                                  <m:sSubSup>
                                    <m:sSubSupPr>
                                      <m:ctrlP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SupPr>
                                    <m:e>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𝑏</m:t>
                                      </m:r>
                                    </m:e>
                                    <m:sub>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1</m:t>
                                      </m:r>
                                    </m:sub>
                                    <m:sup>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2</m:t>
                                      </m:r>
                                    </m:sup>
                                  </m:sSubSup>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sSubSup>
                                    <m:sSubSupPr>
                                      <m:ctrlP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SupPr>
                                    <m:e>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𝑏</m:t>
                                      </m:r>
                                    </m:e>
                                    <m:sub>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2</m:t>
                                      </m:r>
                                    </m:sub>
                                    <m:sup>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2</m:t>
                                      </m:r>
                                    </m:sup>
                                  </m:sSubSup>
                                </m:e>
                              </m:d>
                            </m:e>
                          </m:d>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e>
                      </m:func>
                    </m:oMath>
                  </m:oMathPara>
                </a14:m>
                <a:endParaRPr lang="en-US" sz="2400" b="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pPr/>
                <a14:m>
                  <m:oMathPara xmlns:m="http://schemas.openxmlformats.org/officeDocument/2006/math">
                    <m:oMathParaPr>
                      <m:jc m:val="centerGroup"/>
                    </m:oMathParaPr>
                    <m:oMath xmlns:m="http://schemas.openxmlformats.org/officeDocument/2006/math">
                      <m:sSub>
                        <m:sSubPr>
                          <m:ctrlP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Pr>
                        <m:e>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𝑓</m:t>
                          </m:r>
                        </m:e>
                        <m:sub>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2</m:t>
                          </m:r>
                        </m:sub>
                      </m:sSub>
                      <m:d>
                        <m:dPr>
                          <m:ctrlP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dPr>
                        <m:e>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𝜆</m:t>
                          </m:r>
                        </m:e>
                      </m:d>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func>
                        <m:funcPr>
                          <m:ctrlP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funcPr>
                        <m:fName>
                          <m:r>
                            <m:rPr>
                              <m:sty m:val="p"/>
                            </m:rPr>
                            <a:rPr lang="en-US" sz="2400" b="0" i="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min</m:t>
                          </m:r>
                        </m:fName>
                        <m:e>
                          <m:d>
                            <m:dPr>
                              <m:ctrlP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dPr>
                            <m:e>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sSup>
                                <m:sSupPr>
                                  <m:ctrlP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pPr>
                                <m:e>
                                  <m:d>
                                    <m:dPr>
                                      <m:ctrlP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dPr>
                                    <m:e>
                                      <m:sSub>
                                        <m:sSubPr>
                                          <m:ctrlP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Pr>
                                        <m:e>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𝑦</m:t>
                                          </m:r>
                                        </m:e>
                                        <m:sub>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𝑖</m:t>
                                          </m:r>
                                        </m:sub>
                                      </m:sSub>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sSub>
                                        <m:sSubPr>
                                          <m:ctrlP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Pr>
                                        <m:e>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𝑏</m:t>
                                          </m:r>
                                        </m:e>
                                        <m:sub>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0</m:t>
                                          </m:r>
                                        </m:sub>
                                      </m:sSub>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sSub>
                                        <m:sSubPr>
                                          <m:ctrlP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Pr>
                                        <m:e>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𝑏</m:t>
                                          </m:r>
                                        </m:e>
                                        <m:sub>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1</m:t>
                                          </m:r>
                                        </m:sub>
                                      </m:sSub>
                                      <m:sSub>
                                        <m:sSubPr>
                                          <m:ctrlP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Pr>
                                        <m:e>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𝑤</m:t>
                                          </m:r>
                                        </m:e>
                                        <m:sub>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𝑖</m:t>
                                          </m:r>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1</m:t>
                                          </m:r>
                                        </m:sub>
                                      </m:sSub>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sSub>
                                        <m:sSubPr>
                                          <m:ctrlP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Pr>
                                        <m:e>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𝑏</m:t>
                                          </m:r>
                                        </m:e>
                                        <m:sub>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2</m:t>
                                          </m:r>
                                        </m:sub>
                                      </m:sSub>
                                      <m:sSub>
                                        <m:sSubPr>
                                          <m:ctrlP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Pr>
                                        <m:e>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𝑤</m:t>
                                          </m:r>
                                        </m:e>
                                        <m:sub>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𝑖</m:t>
                                          </m:r>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2</m:t>
                                          </m:r>
                                        </m:sub>
                                      </m:sSub>
                                    </m:e>
                                  </m:d>
                                </m:e>
                                <m:sup>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2</m:t>
                                  </m:r>
                                </m:sup>
                              </m:sSup>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𝜆</m:t>
                              </m:r>
                              <m:d>
                                <m:dPr>
                                  <m:ctrlP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dPr>
                                <m:e>
                                  <m:sSubSup>
                                    <m:sSubSupPr>
                                      <m:ctrlP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SupPr>
                                    <m:e>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𝑏</m:t>
                                      </m:r>
                                    </m:e>
                                    <m:sub>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1</m:t>
                                      </m:r>
                                    </m:sub>
                                    <m:sup>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2</m:t>
                                      </m:r>
                                    </m:sup>
                                  </m:sSubSup>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sSubSup>
                                    <m:sSubSupPr>
                                      <m:ctrlP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SupPr>
                                    <m:e>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𝑏</m:t>
                                      </m:r>
                                    </m:e>
                                    <m:sub>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2</m:t>
                                      </m:r>
                                    </m:sub>
                                    <m:sup>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2</m:t>
                                      </m:r>
                                    </m:sup>
                                  </m:sSubSup>
                                </m:e>
                              </m:d>
                            </m:e>
                          </m:d>
                        </m:e>
                      </m:func>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oMath>
                  </m:oMathPara>
                </a14:m>
                <a:endParaRPr lang="en-US" sz="2400" b="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where </a:t>
                </a:r>
                <a14:m>
                  <m:oMath xmlns:m="http://schemas.openxmlformats.org/officeDocument/2006/math">
                    <m:sSub>
                      <m:sSubPr>
                        <m:ctrlP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Pr>
                      <m:e>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𝑤</m:t>
                        </m:r>
                      </m:e>
                      <m:sub>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𝑖</m:t>
                        </m:r>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1</m:t>
                        </m:r>
                      </m:sub>
                    </m:sSub>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=2</m:t>
                    </m:r>
                    <m:sSub>
                      <m:sSubPr>
                        <m:ctrlP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Pr>
                      <m:e>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𝑥</m:t>
                        </m:r>
                      </m:e>
                      <m:sub>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𝑖</m:t>
                        </m:r>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1</m:t>
                        </m:r>
                      </m:sub>
                    </m:sSub>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 </m:t>
                    </m:r>
                    <m:sSub>
                      <m:sSubPr>
                        <m:ctrlP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Pr>
                      <m:e>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𝑤</m:t>
                        </m:r>
                      </m:e>
                      <m:sub>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𝑖</m:t>
                        </m:r>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2</m:t>
                        </m:r>
                      </m:sub>
                    </m:sSub>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=3</m:t>
                    </m:r>
                    <m:sSub>
                      <m:sSubPr>
                        <m:ctrlP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Pr>
                      <m:e>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𝑥</m:t>
                        </m:r>
                      </m:e>
                      <m:sub>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𝑖</m:t>
                        </m:r>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2</m:t>
                        </m:r>
                      </m:sub>
                    </m:sSub>
                    <m:r>
                      <a:rPr lang="en-US" sz="24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oMath>
                </a14:m>
                <a:r>
                  <a:rPr 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Which of the following are correct?</a:t>
                </a:r>
              </a:p>
            </p:txBody>
          </p:sp>
        </mc:Choice>
        <mc:Fallback xmlns="">
          <p:sp>
            <p:nvSpPr>
              <p:cNvPr id="11" name="TextBox 10">
                <a:extLst>
                  <a:ext uri="{FF2B5EF4-FFF2-40B4-BE49-F238E27FC236}">
                    <a16:creationId xmlns:a16="http://schemas.microsoft.com/office/drawing/2014/main" id="{109A3DB6-DCEB-4466-A793-587C68B86F79}"/>
                  </a:ext>
                </a:extLst>
              </p:cNvPr>
              <p:cNvSpPr txBox="1">
                <a:spLocks noRot="1" noChangeAspect="1" noMove="1" noResize="1" noEditPoints="1" noAdjustHandles="1" noChangeArrowheads="1" noChangeShapeType="1" noTextEdit="1"/>
              </p:cNvSpPr>
              <p:nvPr>
                <p:custDataLst>
                  <p:tags r:id="rId19"/>
                </p:custDataLst>
              </p:nvPr>
            </p:nvSpPr>
            <p:spPr>
              <a:xfrm>
                <a:off x="1219200" y="635000"/>
                <a:ext cx="9753600" cy="2143125"/>
              </a:xfrm>
              <a:prstGeom prst="rect">
                <a:avLst/>
              </a:prstGeom>
              <a:blipFill>
                <a:blip r:embed="rId20"/>
                <a:stretch>
                  <a:fillRect l="-104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FA567A9-4EDF-D850-492E-13FBCE3C81B7}"/>
                  </a:ext>
                </a:extLst>
              </p:cNvPr>
              <p:cNvSpPr txBox="1"/>
              <p:nvPr>
                <p:custDataLst>
                  <p:tags r:id="rId4"/>
                </p:custDataLst>
              </p:nvPr>
            </p:nvSpPr>
            <p:spPr>
              <a:xfrm>
                <a:off x="2438400" y="2786063"/>
                <a:ext cx="8534400" cy="642938"/>
              </a:xfrm>
              <a:prstGeom prst="rect">
                <a:avLst/>
              </a:prstGeom>
              <a:noFill/>
            </p:spPr>
            <p:txBody>
              <a:bodyPr vert="horz" rtlCol="0" anchor="ctr" anchorCtr="0">
                <a:noAutofit/>
              </a:bodyPr>
              <a:lstStyle/>
              <a:p>
                <a:pPr/>
                <a14:m>
                  <m:oMathPara xmlns:m="http://schemas.openxmlformats.org/officeDocument/2006/math">
                    <m:oMathParaPr>
                      <m:jc m:val="left"/>
                    </m:oMathParaPr>
                    <m:oMath xmlns:m="http://schemas.openxmlformats.org/officeDocument/2006/math">
                      <m:sSub>
                        <m:sSubPr>
                          <m:ctrlP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Pr>
                        <m:e>
                          <m: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𝑓</m:t>
                          </m:r>
                        </m:e>
                        <m:sub>
                          <m: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1</m:t>
                          </m:r>
                        </m:sub>
                      </m:sSub>
                      <m:d>
                        <m:dPr>
                          <m:ctrlP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dPr>
                        <m:e>
                          <m: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0</m:t>
                          </m:r>
                        </m:e>
                      </m:d>
                      <m: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sSub>
                        <m:sSubPr>
                          <m:ctrlP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Pr>
                        <m:e>
                          <m: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𝑓</m:t>
                          </m:r>
                        </m:e>
                        <m:sub>
                          <m: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2</m:t>
                          </m:r>
                        </m:sub>
                      </m:sSub>
                      <m: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(0)</m:t>
                      </m:r>
                    </m:oMath>
                  </m:oMathPara>
                </a14:m>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12" name="TextBox 11">
                <a:extLst>
                  <a:ext uri="{FF2B5EF4-FFF2-40B4-BE49-F238E27FC236}">
                    <a16:creationId xmlns:a16="http://schemas.microsoft.com/office/drawing/2014/main" id="{CFA567A9-4EDF-D850-492E-13FBCE3C81B7}"/>
                  </a:ext>
                </a:extLst>
              </p:cNvPr>
              <p:cNvSpPr txBox="1">
                <a:spLocks noRot="1" noChangeAspect="1" noMove="1" noResize="1" noEditPoints="1" noAdjustHandles="1" noChangeArrowheads="1" noChangeShapeType="1" noTextEdit="1"/>
              </p:cNvSpPr>
              <p:nvPr>
                <p:custDataLst>
                  <p:tags r:id="rId21"/>
                </p:custDataLst>
              </p:nvPr>
            </p:nvSpPr>
            <p:spPr>
              <a:xfrm>
                <a:off x="2438400" y="2786063"/>
                <a:ext cx="8534400" cy="642938"/>
              </a:xfrm>
              <a:prstGeom prst="rect">
                <a:avLst/>
              </a:prstGeom>
              <a:blipFill>
                <a:blip r:embed="rId22"/>
                <a:stretch>
                  <a:fillRect l="-743" b="-38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FDEFF97-7179-B33A-8192-0A0918B626A5}"/>
                  </a:ext>
                </a:extLst>
              </p:cNvPr>
              <p:cNvSpPr txBox="1"/>
              <p:nvPr>
                <p:custDataLst>
                  <p:tags r:id="rId5"/>
                </p:custDataLst>
              </p:nvPr>
            </p:nvSpPr>
            <p:spPr>
              <a:xfrm>
                <a:off x="2438400" y="3643313"/>
                <a:ext cx="8534400" cy="642938"/>
              </a:xfrm>
              <a:prstGeom prst="rect">
                <a:avLst/>
              </a:prstGeom>
              <a:noFill/>
            </p:spPr>
            <p:txBody>
              <a:bodyPr vert="horz" rtlCol="0" anchor="ctr" anchorCtr="0">
                <a:noAutofit/>
              </a:bodyPr>
              <a:lstStyle/>
              <a:p>
                <a:pPr/>
                <a14:m>
                  <m:oMathPara xmlns:m="http://schemas.openxmlformats.org/officeDocument/2006/math">
                    <m:oMathParaPr>
                      <m:jc m:val="left"/>
                    </m:oMathParaPr>
                    <m:oMath xmlns:m="http://schemas.openxmlformats.org/officeDocument/2006/math">
                      <m:sSub>
                        <m:sSubPr>
                          <m:ctrlP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Pr>
                        <m:e>
                          <m: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𝑓</m:t>
                          </m:r>
                        </m:e>
                        <m:sub>
                          <m: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1</m:t>
                          </m:r>
                        </m:sub>
                      </m:sSub>
                      <m:d>
                        <m:dPr>
                          <m:ctrlP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dPr>
                        <m:e>
                          <m: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0</m:t>
                          </m:r>
                        </m:e>
                      </m:d>
                      <m: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sSub>
                        <m:sSubPr>
                          <m:ctrlP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Pr>
                        <m:e>
                          <m: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𝑓</m:t>
                          </m:r>
                        </m:e>
                        <m:sub>
                          <m: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2</m:t>
                          </m:r>
                        </m:sub>
                      </m:sSub>
                      <m: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(0)</m:t>
                      </m:r>
                    </m:oMath>
                  </m:oMathPara>
                </a14:m>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13" name="TextBox 12">
                <a:extLst>
                  <a:ext uri="{FF2B5EF4-FFF2-40B4-BE49-F238E27FC236}">
                    <a16:creationId xmlns:a16="http://schemas.microsoft.com/office/drawing/2014/main" id="{3FDEFF97-7179-B33A-8192-0A0918B626A5}"/>
                  </a:ext>
                </a:extLst>
              </p:cNvPr>
              <p:cNvSpPr txBox="1">
                <a:spLocks noRot="1" noChangeAspect="1" noMove="1" noResize="1" noEditPoints="1" noAdjustHandles="1" noChangeArrowheads="1" noChangeShapeType="1" noTextEdit="1"/>
              </p:cNvSpPr>
              <p:nvPr>
                <p:custDataLst>
                  <p:tags r:id="rId23"/>
                </p:custDataLst>
              </p:nvPr>
            </p:nvSpPr>
            <p:spPr>
              <a:xfrm>
                <a:off x="2438400" y="3643313"/>
                <a:ext cx="8534400" cy="642938"/>
              </a:xfrm>
              <a:prstGeom prst="rect">
                <a:avLst/>
              </a:prstGeom>
              <a:blipFill>
                <a:blip r:embed="rId24"/>
                <a:stretch>
                  <a:fillRect l="-743" b="-39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6EF6304-8CC1-0A10-5F07-4D4FB8BA5C7F}"/>
                  </a:ext>
                </a:extLst>
              </p:cNvPr>
              <p:cNvSpPr txBox="1"/>
              <p:nvPr>
                <p:custDataLst>
                  <p:tags r:id="rId6"/>
                </p:custDataLst>
              </p:nvPr>
            </p:nvSpPr>
            <p:spPr>
              <a:xfrm>
                <a:off x="2438400" y="4500563"/>
                <a:ext cx="8534400" cy="642938"/>
              </a:xfrm>
              <a:prstGeom prst="rect">
                <a:avLst/>
              </a:prstGeom>
              <a:noFill/>
            </p:spPr>
            <p:txBody>
              <a:bodyPr vert="horz" rtlCol="0" anchor="ctr" anchorCtr="0">
                <a:noAutofit/>
              </a:bodyPr>
              <a:lstStyle/>
              <a:p>
                <a:pPr/>
                <a14:m>
                  <m:oMathPara xmlns:m="http://schemas.openxmlformats.org/officeDocument/2006/math">
                    <m:oMathParaPr>
                      <m:jc m:val="left"/>
                    </m:oMathParaPr>
                    <m:oMath xmlns:m="http://schemas.openxmlformats.org/officeDocument/2006/math">
                      <m:sSub>
                        <m:sSubPr>
                          <m:ctrlP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Pr>
                        <m:e>
                          <m: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𝑓</m:t>
                          </m:r>
                        </m:e>
                        <m:sub>
                          <m: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1</m:t>
                          </m:r>
                        </m:sub>
                      </m:sSub>
                      <m:d>
                        <m:dPr>
                          <m:ctrlP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dPr>
                        <m:e>
                          <m: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1</m:t>
                          </m:r>
                        </m:e>
                      </m:d>
                      <m: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sSub>
                        <m:sSubPr>
                          <m:ctrlP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Pr>
                        <m:e>
                          <m: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𝑓</m:t>
                          </m:r>
                        </m:e>
                        <m:sub>
                          <m: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2</m:t>
                          </m:r>
                        </m:sub>
                      </m:sSub>
                      <m: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(1)</m:t>
                      </m:r>
                    </m:oMath>
                  </m:oMathPara>
                </a14:m>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14" name="TextBox 13">
                <a:extLst>
                  <a:ext uri="{FF2B5EF4-FFF2-40B4-BE49-F238E27FC236}">
                    <a16:creationId xmlns:a16="http://schemas.microsoft.com/office/drawing/2014/main" id="{C6EF6304-8CC1-0A10-5F07-4D4FB8BA5C7F}"/>
                  </a:ext>
                </a:extLst>
              </p:cNvPr>
              <p:cNvSpPr txBox="1">
                <a:spLocks noRot="1" noChangeAspect="1" noMove="1" noResize="1" noEditPoints="1" noAdjustHandles="1" noChangeArrowheads="1" noChangeShapeType="1" noTextEdit="1"/>
              </p:cNvSpPr>
              <p:nvPr>
                <p:custDataLst>
                  <p:tags r:id="rId25"/>
                </p:custDataLst>
              </p:nvPr>
            </p:nvSpPr>
            <p:spPr>
              <a:xfrm>
                <a:off x="2438400" y="4500563"/>
                <a:ext cx="8534400" cy="642938"/>
              </a:xfrm>
              <a:prstGeom prst="rect">
                <a:avLst/>
              </a:prstGeom>
              <a:blipFill>
                <a:blip r:embed="rId26"/>
                <a:stretch>
                  <a:fillRect l="-743" b="-38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B5A4FC4-4EBC-0D04-1995-365514D77267}"/>
                  </a:ext>
                </a:extLst>
              </p:cNvPr>
              <p:cNvSpPr txBox="1"/>
              <p:nvPr>
                <p:custDataLst>
                  <p:tags r:id="rId7"/>
                </p:custDataLst>
              </p:nvPr>
            </p:nvSpPr>
            <p:spPr>
              <a:xfrm>
                <a:off x="2438400" y="5357813"/>
                <a:ext cx="8534400" cy="642938"/>
              </a:xfrm>
              <a:prstGeom prst="rect">
                <a:avLst/>
              </a:prstGeom>
              <a:noFill/>
            </p:spPr>
            <p:txBody>
              <a:bodyPr vert="horz" rtlCol="0" anchor="ctr" anchorCtr="0">
                <a:noAutofit/>
              </a:bodyPr>
              <a:lstStyle/>
              <a:p>
                <a:pPr/>
                <a14:m>
                  <m:oMathPara xmlns:m="http://schemas.openxmlformats.org/officeDocument/2006/math">
                    <m:oMathParaPr>
                      <m:jc m:val="left"/>
                    </m:oMathParaPr>
                    <m:oMath xmlns:m="http://schemas.openxmlformats.org/officeDocument/2006/math">
                      <m:sSub>
                        <m:sSubPr>
                          <m:ctrlP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Pr>
                        <m:e>
                          <m: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𝑓</m:t>
                          </m:r>
                        </m:e>
                        <m:sub>
                          <m: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1</m:t>
                          </m:r>
                        </m:sub>
                      </m:sSub>
                      <m:d>
                        <m:dPr>
                          <m:ctrlP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dPr>
                        <m:e>
                          <m: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1</m:t>
                          </m:r>
                        </m:e>
                      </m:d>
                      <m: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sSub>
                        <m:sSubPr>
                          <m:ctrlP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Pr>
                        <m:e>
                          <m: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𝑓</m:t>
                          </m:r>
                        </m:e>
                        <m:sub>
                          <m: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2</m:t>
                          </m:r>
                        </m:sub>
                      </m:sSub>
                      <m:r>
                        <a:rPr lang="en-US" sz="2600" b="0" i="1"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(1)</m:t>
                      </m:r>
                    </m:oMath>
                  </m:oMathPara>
                </a14:m>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15" name="TextBox 14">
                <a:extLst>
                  <a:ext uri="{FF2B5EF4-FFF2-40B4-BE49-F238E27FC236}">
                    <a16:creationId xmlns:a16="http://schemas.microsoft.com/office/drawing/2014/main" id="{EB5A4FC4-4EBC-0D04-1995-365514D77267}"/>
                  </a:ext>
                </a:extLst>
              </p:cNvPr>
              <p:cNvSpPr txBox="1">
                <a:spLocks noRot="1" noChangeAspect="1" noMove="1" noResize="1" noEditPoints="1" noAdjustHandles="1" noChangeArrowheads="1" noChangeShapeType="1" noTextEdit="1"/>
              </p:cNvSpPr>
              <p:nvPr>
                <p:custDataLst>
                  <p:tags r:id="rId27"/>
                </p:custDataLst>
              </p:nvPr>
            </p:nvSpPr>
            <p:spPr>
              <a:xfrm>
                <a:off x="2438400" y="5357813"/>
                <a:ext cx="8534400" cy="642938"/>
              </a:xfrm>
              <a:prstGeom prst="rect">
                <a:avLst/>
              </a:prstGeom>
              <a:blipFill>
                <a:blip r:embed="rId28"/>
                <a:stretch>
                  <a:fillRect l="-743" b="-3846"/>
                </a:stretch>
              </a:blipFill>
            </p:spPr>
            <p:txBody>
              <a:bodyPr/>
              <a:lstStyle/>
              <a:p>
                <a:r>
                  <a:rPr lang="en-US">
                    <a:noFill/>
                  </a:rPr>
                  <a:t> </a:t>
                </a:r>
              </a:p>
            </p:txBody>
          </p:sp>
        </mc:Fallback>
      </mc:AlternateContent>
      <p:sp>
        <p:nvSpPr>
          <p:cNvPr id="16" name="Rectangle 15">
            <a:extLst>
              <a:ext uri="{FF2B5EF4-FFF2-40B4-BE49-F238E27FC236}">
                <a16:creationId xmlns:a16="http://schemas.microsoft.com/office/drawing/2014/main" id="{FF12B90C-9D5B-BFF0-87ED-BFD7447BB77D}"/>
              </a:ext>
            </a:extLst>
          </p:cNvPr>
          <p:cNvSpPr>
            <a:spLocks noChangeAspect="1"/>
          </p:cNvSpPr>
          <p:nvPr>
            <p:custDataLst>
              <p:tags r:id="rId8"/>
            </p:custDataLst>
          </p:nvPr>
        </p:nvSpPr>
        <p:spPr>
          <a:xfrm>
            <a:off x="1571625" y="2850356"/>
            <a:ext cx="514350" cy="514350"/>
          </a:xfrm>
          <a:prstGeom prst="rect">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p>
        </p:txBody>
      </p:sp>
      <p:sp>
        <p:nvSpPr>
          <p:cNvPr id="17" name="Rectangle 16">
            <a:extLst>
              <a:ext uri="{FF2B5EF4-FFF2-40B4-BE49-F238E27FC236}">
                <a16:creationId xmlns:a16="http://schemas.microsoft.com/office/drawing/2014/main" id="{6E79F693-725C-3864-57B8-54B5D4C32695}"/>
              </a:ext>
            </a:extLst>
          </p:cNvPr>
          <p:cNvSpPr>
            <a:spLocks noChangeAspect="1"/>
          </p:cNvSpPr>
          <p:nvPr>
            <p:custDataLst>
              <p:tags r:id="rId9"/>
            </p:custDataLst>
          </p:nvPr>
        </p:nvSpPr>
        <p:spPr>
          <a:xfrm>
            <a:off x="1571625" y="3707606"/>
            <a:ext cx="514350" cy="514350"/>
          </a:xfrm>
          <a:prstGeom prst="rect">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p>
        </p:txBody>
      </p:sp>
      <p:sp>
        <p:nvSpPr>
          <p:cNvPr id="18" name="Rectangle 17">
            <a:extLst>
              <a:ext uri="{FF2B5EF4-FFF2-40B4-BE49-F238E27FC236}">
                <a16:creationId xmlns:a16="http://schemas.microsoft.com/office/drawing/2014/main" id="{7CE7FBCF-1831-3EDC-8A9E-4CE7869EA9A8}"/>
              </a:ext>
            </a:extLst>
          </p:cNvPr>
          <p:cNvSpPr>
            <a:spLocks noChangeAspect="1"/>
          </p:cNvSpPr>
          <p:nvPr>
            <p:custDataLst>
              <p:tags r:id="rId10"/>
            </p:custDataLst>
          </p:nvPr>
        </p:nvSpPr>
        <p:spPr>
          <a:xfrm>
            <a:off x="1571625" y="4564856"/>
            <a:ext cx="514350" cy="514350"/>
          </a:xfrm>
          <a:prstGeom prst="rect">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p>
        </p:txBody>
      </p:sp>
      <p:sp>
        <p:nvSpPr>
          <p:cNvPr id="19" name="Rectangle 18">
            <a:extLst>
              <a:ext uri="{FF2B5EF4-FFF2-40B4-BE49-F238E27FC236}">
                <a16:creationId xmlns:a16="http://schemas.microsoft.com/office/drawing/2014/main" id="{2AC0A565-C587-17D4-7718-ADA59BC96471}"/>
              </a:ext>
            </a:extLst>
          </p:cNvPr>
          <p:cNvSpPr>
            <a:spLocks noChangeAspect="1"/>
          </p:cNvSpPr>
          <p:nvPr>
            <p:custDataLst>
              <p:tags r:id="rId11"/>
            </p:custDataLst>
          </p:nvPr>
        </p:nvSpPr>
        <p:spPr>
          <a:xfrm>
            <a:off x="1571625" y="5422106"/>
            <a:ext cx="514350" cy="514350"/>
          </a:xfrm>
          <a:prstGeom prst="rect">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p>
        </p:txBody>
      </p:sp>
      <p:sp>
        <p:nvSpPr>
          <p:cNvPr id="20" name="Rounded Rectangle 19">
            <a:extLst>
              <a:ext uri="{FF2B5EF4-FFF2-40B4-BE49-F238E27FC236}">
                <a16:creationId xmlns:a16="http://schemas.microsoft.com/office/drawing/2014/main" id="{7CCCA340-3F46-C864-574B-30609CB52401}"/>
              </a:ext>
            </a:extLst>
          </p:cNvPr>
          <p:cNvSpPr/>
          <p:nvPr>
            <p:custDataLst>
              <p:tags r:id="rId12"/>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pic>
        <p:nvPicPr>
          <p:cNvPr id="5" name="Picture 4">
            <a:extLst>
              <a:ext uri="{FF2B5EF4-FFF2-40B4-BE49-F238E27FC236}">
                <a16:creationId xmlns:a16="http://schemas.microsoft.com/office/drawing/2014/main" id="{587CDB68-D087-0655-A250-FB610B40F485}"/>
              </a:ext>
            </a:extLst>
          </p:cNvPr>
          <p:cNvPicPr>
            <a:picLocks/>
          </p:cNvPicPr>
          <p:nvPr>
            <p:custDataLst>
              <p:tags r:id="rId13"/>
            </p:custDataLst>
          </p:nvPr>
        </p:nvPicPr>
        <p:blipFill>
          <a:blip r:embed="rId29"/>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730190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Ridge estimator</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6</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C18AF04-54CF-3248-A550-14B6CB0B67EF}"/>
                  </a:ext>
                </a:extLst>
              </p:cNvPr>
              <p:cNvSpPr txBox="1"/>
              <p:nvPr/>
            </p:nvSpPr>
            <p:spPr>
              <a:xfrm>
                <a:off x="1001486" y="1926771"/>
                <a:ext cx="8514960" cy="3970318"/>
              </a:xfrm>
              <a:prstGeom prst="rect">
                <a:avLst/>
              </a:prstGeom>
              <a:noFill/>
            </p:spPr>
            <p:txBody>
              <a:bodyPr wrap="none" rtlCol="0">
                <a:spAutoFit/>
              </a:bodyPr>
              <a:lstStyle/>
              <a:p>
                <a:pPr marL="285750" indent="-285750">
                  <a:buFont typeface="Arial" panose="020B0604020202020204" pitchFamily="34" charset="0"/>
                  <a:buChar char="•"/>
                </a:pPr>
                <a:r>
                  <a:rPr lang="en-US" sz="2400" dirty="0"/>
                  <a:t>The ridge estimator is not invariant to linear transformations of </a:t>
                </a:r>
                <a14:m>
                  <m:oMath xmlns:m="http://schemas.openxmlformats.org/officeDocument/2006/math">
                    <m:r>
                      <a:rPr lang="en-US" sz="2400" i="1" dirty="0" smtClean="0">
                        <a:latin typeface="Cambria Math" panose="02040503050406030204" pitchFamily="18" charset="0"/>
                      </a:rPr>
                      <m:t>𝑋</m:t>
                    </m:r>
                  </m:oMath>
                </a14:m>
                <a:endParaRPr lang="en-US" sz="2400" dirty="0"/>
              </a:p>
              <a:p>
                <a:pPr marL="742950" lvl="1" indent="-285750">
                  <a:buFont typeface="Arial" panose="020B0604020202020204" pitchFamily="34" charset="0"/>
                  <a:buChar char="•"/>
                </a:pPr>
                <a:r>
                  <a:rPr lang="en-US" sz="2000" dirty="0"/>
                  <a:t>It is not equivalent under different scaling of </a:t>
                </a:r>
                <a14:m>
                  <m:oMath xmlns:m="http://schemas.openxmlformats.org/officeDocument/2006/math">
                    <m:r>
                      <a:rPr lang="en-US" sz="2000" i="1" dirty="0" smtClean="0">
                        <a:latin typeface="Cambria Math" panose="02040503050406030204" pitchFamily="18" charset="0"/>
                      </a:rPr>
                      <m:t>𝑋</m:t>
                    </m:r>
                  </m:oMath>
                </a14:m>
                <a:endParaRPr lang="en-US" sz="2000" dirty="0"/>
              </a:p>
              <a:p>
                <a:pPr marL="742950" lvl="1" indent="-285750">
                  <a:buFont typeface="Arial" panose="020B0604020202020204" pitchFamily="34" charset="0"/>
                  <a:buChar char="•"/>
                </a:pPr>
                <a:r>
                  <a:rPr lang="en-US" sz="2000" dirty="0"/>
                  <a:t>The coefficients depend on the scale of </a:t>
                </a:r>
                <a14:m>
                  <m:oMath xmlns:m="http://schemas.openxmlformats.org/officeDocument/2006/math">
                    <m:r>
                      <a:rPr lang="en-US" sz="2000" i="1" dirty="0" smtClean="0">
                        <a:latin typeface="Cambria Math" panose="02040503050406030204" pitchFamily="18" charset="0"/>
                      </a:rPr>
                      <m:t>𝑋</m:t>
                    </m:r>
                  </m:oMath>
                </a14:m>
                <a:endParaRPr lang="en-US" sz="2000" dirty="0"/>
              </a:p>
              <a:p>
                <a:pPr marL="742950" lvl="1" indent="-285750">
                  <a:buFont typeface="Arial" panose="020B0604020202020204" pitchFamily="34" charset="0"/>
                  <a:buChar char="•"/>
                </a:pPr>
                <a:r>
                  <a:rPr lang="en-US" sz="2000" dirty="0"/>
                  <a:t>But the penalty puts equal weight on each covariate</a:t>
                </a:r>
              </a:p>
              <a:p>
                <a:pPr marL="742950" lvl="1"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400" dirty="0"/>
                  <a:t>A convention is standardization</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400" dirty="0"/>
                  <a:t>With standardization, we can drop the intercept </a:t>
                </a:r>
              </a:p>
            </p:txBody>
          </p:sp>
        </mc:Choice>
        <mc:Fallback xmlns="">
          <p:sp>
            <p:nvSpPr>
              <p:cNvPr id="3" name="TextBox 2">
                <a:extLst>
                  <a:ext uri="{FF2B5EF4-FFF2-40B4-BE49-F238E27FC236}">
                    <a16:creationId xmlns:a16="http://schemas.microsoft.com/office/drawing/2014/main" id="{FC18AF04-54CF-3248-A550-14B6CB0B67EF}"/>
                  </a:ext>
                </a:extLst>
              </p:cNvPr>
              <p:cNvSpPr txBox="1">
                <a:spLocks noRot="1" noChangeAspect="1" noMove="1" noResize="1" noEditPoints="1" noAdjustHandles="1" noChangeArrowheads="1" noChangeShapeType="1" noTextEdit="1"/>
              </p:cNvSpPr>
              <p:nvPr/>
            </p:nvSpPr>
            <p:spPr>
              <a:xfrm>
                <a:off x="1001486" y="1926771"/>
                <a:ext cx="8514960" cy="3970318"/>
              </a:xfrm>
              <a:prstGeom prst="rect">
                <a:avLst/>
              </a:prstGeom>
              <a:blipFill>
                <a:blip r:embed="rId3"/>
                <a:stretch>
                  <a:fillRect l="-893" t="-1274" b="-2866"/>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AEE61CC7-997F-DB43-B88E-EDB3360AE3AE}"/>
              </a:ext>
            </a:extLst>
          </p:cNvPr>
          <p:cNvPicPr>
            <a:picLocks noChangeAspect="1"/>
          </p:cNvPicPr>
          <p:nvPr/>
        </p:nvPicPr>
        <p:blipFill>
          <a:blip r:embed="rId4"/>
          <a:stretch>
            <a:fillRect/>
          </a:stretch>
        </p:blipFill>
        <p:spPr>
          <a:xfrm>
            <a:off x="2078264" y="4101844"/>
            <a:ext cx="5727700" cy="762000"/>
          </a:xfrm>
          <a:prstGeom prst="rect">
            <a:avLst/>
          </a:prstGeom>
        </p:spPr>
      </p:pic>
      <p:pic>
        <p:nvPicPr>
          <p:cNvPr id="9" name="Picture 8">
            <a:extLst>
              <a:ext uri="{FF2B5EF4-FFF2-40B4-BE49-F238E27FC236}">
                <a16:creationId xmlns:a16="http://schemas.microsoft.com/office/drawing/2014/main" id="{8A623502-F517-B444-98B6-3477C070C2BA}"/>
              </a:ext>
            </a:extLst>
          </p:cNvPr>
          <p:cNvPicPr>
            <a:picLocks noChangeAspect="1"/>
          </p:cNvPicPr>
          <p:nvPr/>
        </p:nvPicPr>
        <p:blipFill>
          <a:blip r:embed="rId5"/>
          <a:stretch>
            <a:fillRect/>
          </a:stretch>
        </p:blipFill>
        <p:spPr>
          <a:xfrm>
            <a:off x="7975600" y="4292344"/>
            <a:ext cx="635000" cy="381000"/>
          </a:xfrm>
          <a:prstGeom prst="rect">
            <a:avLst/>
          </a:prstGeom>
        </p:spPr>
      </p:pic>
    </p:spTree>
    <p:extLst>
      <p:ext uri="{BB962C8B-B14F-4D97-AF65-F5344CB8AC3E}">
        <p14:creationId xmlns:p14="http://schemas.microsoft.com/office/powerpoint/2010/main" val="2254571355"/>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Ridge estimator</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7</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EFD2A68-C690-7740-899A-28E3339884A2}"/>
              </a:ext>
            </a:extLst>
          </p:cNvPr>
          <p:cNvSpPr txBox="1"/>
          <p:nvPr/>
        </p:nvSpPr>
        <p:spPr>
          <a:xfrm>
            <a:off x="947057" y="1817914"/>
            <a:ext cx="7027886" cy="3785652"/>
          </a:xfrm>
          <a:prstGeom prst="rect">
            <a:avLst/>
          </a:prstGeom>
          <a:noFill/>
        </p:spPr>
        <p:txBody>
          <a:bodyPr wrap="none" rtlCol="0">
            <a:spAutoFit/>
          </a:bodyPr>
          <a:lstStyle/>
          <a:p>
            <a:pPr marL="285750" indent="-285750">
              <a:buFont typeface="Arial" panose="020B0604020202020204" pitchFamily="34" charset="0"/>
              <a:buChar char="•"/>
            </a:pPr>
            <a:r>
              <a:rPr lang="en-US" altLang="zh-CN" sz="2400" dirty="0"/>
              <a:t>Using</a:t>
            </a:r>
            <a:r>
              <a:rPr lang="zh-CN" altLang="en-US" sz="2400" dirty="0"/>
              <a:t> </a:t>
            </a:r>
            <a:r>
              <a:rPr lang="en-US" altLang="zh-CN" sz="2400" dirty="0"/>
              <a:t>the matrix form, the ridge estimator minimizes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Predicted vector</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Hat matrix</a:t>
            </a:r>
          </a:p>
        </p:txBody>
      </p:sp>
      <p:pic>
        <p:nvPicPr>
          <p:cNvPr id="6" name="Picture 5">
            <a:extLst>
              <a:ext uri="{FF2B5EF4-FFF2-40B4-BE49-F238E27FC236}">
                <a16:creationId xmlns:a16="http://schemas.microsoft.com/office/drawing/2014/main" id="{FB270D64-D6BB-284A-A1E3-13AF2B40F12B}"/>
              </a:ext>
            </a:extLst>
          </p:cNvPr>
          <p:cNvPicPr>
            <a:picLocks noChangeAspect="1"/>
          </p:cNvPicPr>
          <p:nvPr/>
        </p:nvPicPr>
        <p:blipFill>
          <a:blip r:embed="rId3"/>
          <a:stretch>
            <a:fillRect/>
          </a:stretch>
        </p:blipFill>
        <p:spPr>
          <a:xfrm>
            <a:off x="3739079" y="2427514"/>
            <a:ext cx="2971800" cy="431800"/>
          </a:xfrm>
          <a:prstGeom prst="rect">
            <a:avLst/>
          </a:prstGeom>
        </p:spPr>
      </p:pic>
      <p:pic>
        <p:nvPicPr>
          <p:cNvPr id="8" name="Picture 7">
            <a:extLst>
              <a:ext uri="{FF2B5EF4-FFF2-40B4-BE49-F238E27FC236}">
                <a16:creationId xmlns:a16="http://schemas.microsoft.com/office/drawing/2014/main" id="{263EB6CF-EBC2-EF49-8756-D39897737F04}"/>
              </a:ext>
            </a:extLst>
          </p:cNvPr>
          <p:cNvPicPr>
            <a:picLocks noChangeAspect="1"/>
          </p:cNvPicPr>
          <p:nvPr/>
        </p:nvPicPr>
        <p:blipFill>
          <a:blip r:embed="rId4"/>
          <a:stretch>
            <a:fillRect/>
          </a:stretch>
        </p:blipFill>
        <p:spPr>
          <a:xfrm>
            <a:off x="2993571" y="2925470"/>
            <a:ext cx="5181600" cy="952500"/>
          </a:xfrm>
          <a:prstGeom prst="rect">
            <a:avLst/>
          </a:prstGeom>
        </p:spPr>
      </p:pic>
      <p:pic>
        <p:nvPicPr>
          <p:cNvPr id="10" name="Picture 9">
            <a:extLst>
              <a:ext uri="{FF2B5EF4-FFF2-40B4-BE49-F238E27FC236}">
                <a16:creationId xmlns:a16="http://schemas.microsoft.com/office/drawing/2014/main" id="{15EEC557-9E1B-3E4F-8673-6DC473226AD6}"/>
              </a:ext>
            </a:extLst>
          </p:cNvPr>
          <p:cNvPicPr>
            <a:picLocks noChangeAspect="1"/>
          </p:cNvPicPr>
          <p:nvPr/>
        </p:nvPicPr>
        <p:blipFill>
          <a:blip r:embed="rId5"/>
          <a:stretch>
            <a:fillRect/>
          </a:stretch>
        </p:blipFill>
        <p:spPr>
          <a:xfrm>
            <a:off x="2662571" y="4518220"/>
            <a:ext cx="6108700" cy="482600"/>
          </a:xfrm>
          <a:prstGeom prst="rect">
            <a:avLst/>
          </a:prstGeom>
        </p:spPr>
      </p:pic>
      <p:pic>
        <p:nvPicPr>
          <p:cNvPr id="12" name="Picture 11">
            <a:extLst>
              <a:ext uri="{FF2B5EF4-FFF2-40B4-BE49-F238E27FC236}">
                <a16:creationId xmlns:a16="http://schemas.microsoft.com/office/drawing/2014/main" id="{44617A34-3319-BB49-BBF9-B6BCEBF3EF50}"/>
              </a:ext>
            </a:extLst>
          </p:cNvPr>
          <p:cNvPicPr>
            <a:picLocks noChangeAspect="1"/>
          </p:cNvPicPr>
          <p:nvPr/>
        </p:nvPicPr>
        <p:blipFill>
          <a:blip r:embed="rId6"/>
          <a:stretch>
            <a:fillRect/>
          </a:stretch>
        </p:blipFill>
        <p:spPr>
          <a:xfrm>
            <a:off x="3386095" y="5502694"/>
            <a:ext cx="3086100" cy="368300"/>
          </a:xfrm>
          <a:prstGeom prst="rect">
            <a:avLst/>
          </a:prstGeom>
        </p:spPr>
      </p:pic>
      <p:sp>
        <p:nvSpPr>
          <p:cNvPr id="3" name="Rectangle 2">
            <a:extLst>
              <a:ext uri="{FF2B5EF4-FFF2-40B4-BE49-F238E27FC236}">
                <a16:creationId xmlns:a16="http://schemas.microsoft.com/office/drawing/2014/main" id="{01FC467A-D886-5846-B865-124616334B51}"/>
              </a:ext>
            </a:extLst>
          </p:cNvPr>
          <p:cNvSpPr/>
          <p:nvPr/>
        </p:nvSpPr>
        <p:spPr>
          <a:xfrm>
            <a:off x="4985657" y="3298371"/>
            <a:ext cx="97972" cy="13062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37432279"/>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Ridge estimator</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8</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4313ADEB-4ADE-884F-AF34-EE80A80F7F47}"/>
              </a:ext>
            </a:extLst>
          </p:cNvPr>
          <p:cNvSpPr txBox="1"/>
          <p:nvPr/>
        </p:nvSpPr>
        <p:spPr>
          <a:xfrm>
            <a:off x="979713" y="1557703"/>
            <a:ext cx="9168087" cy="707886"/>
          </a:xfrm>
          <a:prstGeom prst="rect">
            <a:avLst/>
          </a:prstGeom>
          <a:noFill/>
        </p:spPr>
        <p:txBody>
          <a:bodyPr wrap="none" rtlCol="0">
            <a:spAutoFit/>
          </a:bodyPr>
          <a:lstStyle/>
          <a:p>
            <a:pPr marL="285750" indent="-285750">
              <a:buFont typeface="Arial" panose="020B0604020202020204" pitchFamily="34" charset="0"/>
              <a:buChar char="•"/>
            </a:pPr>
            <a:r>
              <a:rPr lang="en-US" altLang="zh-CN" sz="2000" dirty="0"/>
              <a:t>In R, </a:t>
            </a:r>
            <a:r>
              <a:rPr lang="en-US" altLang="zh-CN" sz="2000" i="1" dirty="0" err="1"/>
              <a:t>lm.ridge</a:t>
            </a:r>
            <a:r>
              <a:rPr lang="en-US" altLang="zh-CN" sz="2000" i="1" dirty="0"/>
              <a:t> </a:t>
            </a:r>
            <a:r>
              <a:rPr lang="en-US" altLang="zh-CN" sz="2000" dirty="0"/>
              <a:t>function first computes the ridge coefficient based on the standardized</a:t>
            </a:r>
          </a:p>
          <a:p>
            <a:r>
              <a:rPr lang="en-US" sz="2000" dirty="0"/>
              <a:t>     covariates and outcome, and then transforms them back to the original scale</a:t>
            </a:r>
          </a:p>
        </p:txBody>
      </p:sp>
      <p:sp>
        <p:nvSpPr>
          <p:cNvPr id="14" name="TextBox 13">
            <a:extLst>
              <a:ext uri="{FF2B5EF4-FFF2-40B4-BE49-F238E27FC236}">
                <a16:creationId xmlns:a16="http://schemas.microsoft.com/office/drawing/2014/main" id="{C0DF8431-38B2-E741-A4DB-3245470CEB8A}"/>
              </a:ext>
            </a:extLst>
          </p:cNvPr>
          <p:cNvSpPr txBox="1"/>
          <p:nvPr/>
        </p:nvSpPr>
        <p:spPr>
          <a:xfrm>
            <a:off x="2277189" y="2518250"/>
            <a:ext cx="931665" cy="400110"/>
          </a:xfrm>
          <a:prstGeom prst="rect">
            <a:avLst/>
          </a:prstGeom>
          <a:noFill/>
        </p:spPr>
        <p:txBody>
          <a:bodyPr wrap="none" rtlCol="0">
            <a:spAutoFit/>
          </a:bodyPr>
          <a:lstStyle/>
          <a:p>
            <a:r>
              <a:rPr lang="en-US" sz="2000" dirty="0"/>
              <a:t>Means </a:t>
            </a:r>
          </a:p>
        </p:txBody>
      </p:sp>
      <p:sp>
        <p:nvSpPr>
          <p:cNvPr id="15" name="TextBox 14">
            <a:extLst>
              <a:ext uri="{FF2B5EF4-FFF2-40B4-BE49-F238E27FC236}">
                <a16:creationId xmlns:a16="http://schemas.microsoft.com/office/drawing/2014/main" id="{93048C45-BC74-8B4C-86A6-5C70C65DF156}"/>
              </a:ext>
            </a:extLst>
          </p:cNvPr>
          <p:cNvSpPr txBox="1"/>
          <p:nvPr/>
        </p:nvSpPr>
        <p:spPr>
          <a:xfrm>
            <a:off x="1687285" y="3103206"/>
            <a:ext cx="2111475" cy="400110"/>
          </a:xfrm>
          <a:prstGeom prst="rect">
            <a:avLst/>
          </a:prstGeom>
          <a:noFill/>
        </p:spPr>
        <p:txBody>
          <a:bodyPr wrap="none" rtlCol="0">
            <a:spAutoFit/>
          </a:bodyPr>
          <a:lstStyle/>
          <a:p>
            <a:r>
              <a:rPr lang="en-US" sz="2000" dirty="0"/>
              <a:t>Standard deviation</a:t>
            </a:r>
          </a:p>
        </p:txBody>
      </p:sp>
      <p:pic>
        <p:nvPicPr>
          <p:cNvPr id="16" name="Picture 15">
            <a:extLst>
              <a:ext uri="{FF2B5EF4-FFF2-40B4-BE49-F238E27FC236}">
                <a16:creationId xmlns:a16="http://schemas.microsoft.com/office/drawing/2014/main" id="{1DCA08B1-7D81-8E49-A00B-514D108E8FFC}"/>
              </a:ext>
            </a:extLst>
          </p:cNvPr>
          <p:cNvPicPr>
            <a:picLocks noChangeAspect="1"/>
          </p:cNvPicPr>
          <p:nvPr/>
        </p:nvPicPr>
        <p:blipFill>
          <a:blip r:embed="rId3"/>
          <a:stretch>
            <a:fillRect/>
          </a:stretch>
        </p:blipFill>
        <p:spPr>
          <a:xfrm>
            <a:off x="4617606" y="2515566"/>
            <a:ext cx="1892300" cy="406400"/>
          </a:xfrm>
          <a:prstGeom prst="rect">
            <a:avLst/>
          </a:prstGeom>
        </p:spPr>
      </p:pic>
      <p:pic>
        <p:nvPicPr>
          <p:cNvPr id="20" name="Picture 19">
            <a:extLst>
              <a:ext uri="{FF2B5EF4-FFF2-40B4-BE49-F238E27FC236}">
                <a16:creationId xmlns:a16="http://schemas.microsoft.com/office/drawing/2014/main" id="{D133E43A-5E81-5543-AEE7-E4B581CF4DE7}"/>
              </a:ext>
            </a:extLst>
          </p:cNvPr>
          <p:cNvPicPr>
            <a:picLocks noChangeAspect="1"/>
          </p:cNvPicPr>
          <p:nvPr/>
        </p:nvPicPr>
        <p:blipFill>
          <a:blip r:embed="rId4"/>
          <a:stretch>
            <a:fillRect/>
          </a:stretch>
        </p:blipFill>
        <p:spPr>
          <a:xfrm>
            <a:off x="4184650" y="4078061"/>
            <a:ext cx="3517900" cy="482600"/>
          </a:xfrm>
          <a:prstGeom prst="rect">
            <a:avLst/>
          </a:prstGeom>
        </p:spPr>
      </p:pic>
      <p:sp>
        <p:nvSpPr>
          <p:cNvPr id="21" name="TextBox 20">
            <a:extLst>
              <a:ext uri="{FF2B5EF4-FFF2-40B4-BE49-F238E27FC236}">
                <a16:creationId xmlns:a16="http://schemas.microsoft.com/office/drawing/2014/main" id="{5FD888B7-51FA-2542-9363-CC08869CB1F6}"/>
              </a:ext>
            </a:extLst>
          </p:cNvPr>
          <p:cNvSpPr txBox="1"/>
          <p:nvPr/>
        </p:nvSpPr>
        <p:spPr>
          <a:xfrm>
            <a:off x="1687285" y="3691503"/>
            <a:ext cx="6201378" cy="369332"/>
          </a:xfrm>
          <a:prstGeom prst="rect">
            <a:avLst/>
          </a:prstGeom>
          <a:noFill/>
        </p:spPr>
        <p:txBody>
          <a:bodyPr wrap="none" rtlCol="0">
            <a:spAutoFit/>
          </a:bodyPr>
          <a:lstStyle/>
          <a:p>
            <a:r>
              <a:rPr lang="en-US" dirty="0"/>
              <a:t>Ridge</a:t>
            </a:r>
            <a:r>
              <a:rPr lang="zh-CN" altLang="en-US" dirty="0"/>
              <a:t> </a:t>
            </a:r>
            <a:r>
              <a:rPr lang="en-US" altLang="zh-CN" dirty="0"/>
              <a:t>coefficients based on standardized covariates and outcome</a:t>
            </a:r>
            <a:endParaRPr lang="en-US" dirty="0"/>
          </a:p>
        </p:txBody>
      </p:sp>
      <p:sp>
        <p:nvSpPr>
          <p:cNvPr id="22" name="Rectangle 21">
            <a:extLst>
              <a:ext uri="{FF2B5EF4-FFF2-40B4-BE49-F238E27FC236}">
                <a16:creationId xmlns:a16="http://schemas.microsoft.com/office/drawing/2014/main" id="{0713B015-6734-1C4C-8766-04304FA71954}"/>
              </a:ext>
            </a:extLst>
          </p:cNvPr>
          <p:cNvSpPr/>
          <p:nvPr/>
        </p:nvSpPr>
        <p:spPr>
          <a:xfrm>
            <a:off x="5802086" y="4267152"/>
            <a:ext cx="141514" cy="4571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a:extLst>
              <a:ext uri="{FF2B5EF4-FFF2-40B4-BE49-F238E27FC236}">
                <a16:creationId xmlns:a16="http://schemas.microsoft.com/office/drawing/2014/main" id="{73DC0BB6-A474-EB4C-880C-8BF2A3D009EE}"/>
              </a:ext>
            </a:extLst>
          </p:cNvPr>
          <p:cNvPicPr>
            <a:picLocks noChangeAspect="1"/>
          </p:cNvPicPr>
          <p:nvPr/>
        </p:nvPicPr>
        <p:blipFill>
          <a:blip r:embed="rId5"/>
          <a:stretch>
            <a:fillRect/>
          </a:stretch>
        </p:blipFill>
        <p:spPr>
          <a:xfrm>
            <a:off x="1282700" y="4561026"/>
            <a:ext cx="9626600" cy="571500"/>
          </a:xfrm>
          <a:prstGeom prst="rect">
            <a:avLst/>
          </a:prstGeom>
        </p:spPr>
      </p:pic>
      <p:pic>
        <p:nvPicPr>
          <p:cNvPr id="24" name="Picture 23">
            <a:extLst>
              <a:ext uri="{FF2B5EF4-FFF2-40B4-BE49-F238E27FC236}">
                <a16:creationId xmlns:a16="http://schemas.microsoft.com/office/drawing/2014/main" id="{19DD3CF8-E123-0C4A-830C-64E4C0911925}"/>
              </a:ext>
            </a:extLst>
          </p:cNvPr>
          <p:cNvPicPr>
            <a:picLocks noChangeAspect="1"/>
          </p:cNvPicPr>
          <p:nvPr/>
        </p:nvPicPr>
        <p:blipFill>
          <a:blip r:embed="rId6"/>
          <a:stretch>
            <a:fillRect/>
          </a:stretch>
        </p:blipFill>
        <p:spPr>
          <a:xfrm>
            <a:off x="1282700" y="5036753"/>
            <a:ext cx="9499600" cy="762000"/>
          </a:xfrm>
          <a:prstGeom prst="rect">
            <a:avLst/>
          </a:prstGeom>
        </p:spPr>
      </p:pic>
      <p:pic>
        <p:nvPicPr>
          <p:cNvPr id="25" name="Picture 24">
            <a:extLst>
              <a:ext uri="{FF2B5EF4-FFF2-40B4-BE49-F238E27FC236}">
                <a16:creationId xmlns:a16="http://schemas.microsoft.com/office/drawing/2014/main" id="{6BF21A85-D2FC-3C4B-B2AD-24C276F4DE2B}"/>
              </a:ext>
            </a:extLst>
          </p:cNvPr>
          <p:cNvPicPr>
            <a:picLocks noChangeAspect="1"/>
          </p:cNvPicPr>
          <p:nvPr/>
        </p:nvPicPr>
        <p:blipFill>
          <a:blip r:embed="rId7"/>
          <a:stretch>
            <a:fillRect/>
          </a:stretch>
        </p:blipFill>
        <p:spPr>
          <a:xfrm>
            <a:off x="2393950" y="5780623"/>
            <a:ext cx="7861300" cy="558800"/>
          </a:xfrm>
          <a:prstGeom prst="rect">
            <a:avLst/>
          </a:prstGeom>
        </p:spPr>
      </p:pic>
      <p:pic>
        <p:nvPicPr>
          <p:cNvPr id="4" name="Picture 3">
            <a:extLst>
              <a:ext uri="{FF2B5EF4-FFF2-40B4-BE49-F238E27FC236}">
                <a16:creationId xmlns:a16="http://schemas.microsoft.com/office/drawing/2014/main" id="{AC8CF985-1C0F-A02C-E523-720C1A01DE12}"/>
              </a:ext>
            </a:extLst>
          </p:cNvPr>
          <p:cNvPicPr>
            <a:picLocks noChangeAspect="1"/>
          </p:cNvPicPr>
          <p:nvPr/>
        </p:nvPicPr>
        <p:blipFill>
          <a:blip r:embed="rId8"/>
          <a:stretch>
            <a:fillRect/>
          </a:stretch>
        </p:blipFill>
        <p:spPr>
          <a:xfrm>
            <a:off x="4184650" y="3091126"/>
            <a:ext cx="3915982" cy="399202"/>
          </a:xfrm>
          <a:prstGeom prst="rect">
            <a:avLst/>
          </a:prstGeom>
        </p:spPr>
      </p:pic>
    </p:spTree>
    <p:extLst>
      <p:ext uri="{BB962C8B-B14F-4D97-AF65-F5344CB8AC3E}">
        <p14:creationId xmlns:p14="http://schemas.microsoft.com/office/powerpoint/2010/main" val="1727599560"/>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Computation</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9</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17AD941-55DD-C444-9A0C-18E55F4DDB6D}"/>
              </a:ext>
            </a:extLst>
          </p:cNvPr>
          <p:cNvSpPr txBox="1"/>
          <p:nvPr/>
        </p:nvSpPr>
        <p:spPr>
          <a:xfrm>
            <a:off x="954098" y="1649244"/>
            <a:ext cx="4945585" cy="400110"/>
          </a:xfrm>
          <a:prstGeom prst="rect">
            <a:avLst/>
          </a:prstGeom>
          <a:noFill/>
        </p:spPr>
        <p:txBody>
          <a:bodyPr wrap="none" rtlCol="0">
            <a:spAutoFit/>
          </a:bodyPr>
          <a:lstStyle/>
          <a:p>
            <a:pPr marL="285750" indent="-285750">
              <a:buFont typeface="Arial" panose="020B0604020202020204" pitchFamily="34" charset="0"/>
              <a:buChar char="•"/>
            </a:pPr>
            <a:r>
              <a:rPr lang="en-US" altLang="zh-CN" sz="2000" dirty="0"/>
              <a:t>SVD</a:t>
            </a:r>
            <a:r>
              <a:rPr lang="zh-CN" altLang="en-US" sz="2000" dirty="0"/>
              <a:t> </a:t>
            </a:r>
            <a:r>
              <a:rPr lang="en-US" altLang="zh-CN" sz="2000" dirty="0"/>
              <a:t>decomposition</a:t>
            </a:r>
            <a:r>
              <a:rPr lang="zh-CN" altLang="en-US" sz="2000" dirty="0"/>
              <a:t> </a:t>
            </a:r>
            <a:r>
              <a:rPr lang="en-US" altLang="zh-CN" sz="2000" dirty="0"/>
              <a:t>of the covariate matrix</a:t>
            </a:r>
            <a:endParaRPr lang="en-US" sz="2000" dirty="0"/>
          </a:p>
        </p:txBody>
      </p:sp>
      <p:pic>
        <p:nvPicPr>
          <p:cNvPr id="7" name="Picture 6">
            <a:extLst>
              <a:ext uri="{FF2B5EF4-FFF2-40B4-BE49-F238E27FC236}">
                <a16:creationId xmlns:a16="http://schemas.microsoft.com/office/drawing/2014/main" id="{F1B997E9-B806-1141-91B9-925B38668618}"/>
              </a:ext>
            </a:extLst>
          </p:cNvPr>
          <p:cNvPicPr>
            <a:picLocks noChangeAspect="1"/>
          </p:cNvPicPr>
          <p:nvPr/>
        </p:nvPicPr>
        <p:blipFill>
          <a:blip r:embed="rId3"/>
          <a:stretch>
            <a:fillRect/>
          </a:stretch>
        </p:blipFill>
        <p:spPr>
          <a:xfrm>
            <a:off x="6096000" y="1594792"/>
            <a:ext cx="1409700" cy="482600"/>
          </a:xfrm>
          <a:prstGeom prst="rect">
            <a:avLst/>
          </a:prstGeom>
        </p:spPr>
      </p:pic>
      <p:pic>
        <p:nvPicPr>
          <p:cNvPr id="9" name="Picture 8">
            <a:extLst>
              <a:ext uri="{FF2B5EF4-FFF2-40B4-BE49-F238E27FC236}">
                <a16:creationId xmlns:a16="http://schemas.microsoft.com/office/drawing/2014/main" id="{6C765157-04D9-0C4E-9216-27B84F04B878}"/>
              </a:ext>
            </a:extLst>
          </p:cNvPr>
          <p:cNvPicPr>
            <a:picLocks noChangeAspect="1"/>
          </p:cNvPicPr>
          <p:nvPr/>
        </p:nvPicPr>
        <p:blipFill>
          <a:blip r:embed="rId4"/>
          <a:stretch>
            <a:fillRect/>
          </a:stretch>
        </p:blipFill>
        <p:spPr>
          <a:xfrm>
            <a:off x="2343150" y="2237498"/>
            <a:ext cx="6896100" cy="3530600"/>
          </a:xfrm>
          <a:prstGeom prst="rect">
            <a:avLst/>
          </a:prstGeom>
        </p:spPr>
      </p:pic>
      <p:pic>
        <p:nvPicPr>
          <p:cNvPr id="2" name="Picture 1">
            <a:extLst>
              <a:ext uri="{FF2B5EF4-FFF2-40B4-BE49-F238E27FC236}">
                <a16:creationId xmlns:a16="http://schemas.microsoft.com/office/drawing/2014/main" id="{2E5F12A1-C185-784B-8DE8-F8236E189334}"/>
              </a:ext>
            </a:extLst>
          </p:cNvPr>
          <p:cNvPicPr>
            <a:picLocks noChangeAspect="1"/>
          </p:cNvPicPr>
          <p:nvPr/>
        </p:nvPicPr>
        <p:blipFill>
          <a:blip r:embed="rId5"/>
          <a:stretch>
            <a:fillRect/>
          </a:stretch>
        </p:blipFill>
        <p:spPr>
          <a:xfrm>
            <a:off x="4137056" y="5757212"/>
            <a:ext cx="2260600" cy="495300"/>
          </a:xfrm>
          <a:prstGeom prst="rect">
            <a:avLst/>
          </a:prstGeom>
        </p:spPr>
      </p:pic>
    </p:spTree>
    <p:extLst>
      <p:ext uri="{BB962C8B-B14F-4D97-AF65-F5344CB8AC3E}">
        <p14:creationId xmlns:p14="http://schemas.microsoft.com/office/powerpoint/2010/main" val="3833557591"/>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Computation</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10</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2C24B2BF-C90A-B546-8A9C-AA1D12B171E1}"/>
              </a:ext>
            </a:extLst>
          </p:cNvPr>
          <p:cNvPicPr>
            <a:picLocks noChangeAspect="1"/>
          </p:cNvPicPr>
          <p:nvPr/>
        </p:nvPicPr>
        <p:blipFill>
          <a:blip r:embed="rId3"/>
          <a:stretch>
            <a:fillRect/>
          </a:stretch>
        </p:blipFill>
        <p:spPr>
          <a:xfrm>
            <a:off x="3483006" y="1767523"/>
            <a:ext cx="3568700" cy="838200"/>
          </a:xfrm>
          <a:prstGeom prst="rect">
            <a:avLst/>
          </a:prstGeom>
        </p:spPr>
      </p:pic>
      <p:pic>
        <p:nvPicPr>
          <p:cNvPr id="2" name="Picture 1">
            <a:extLst>
              <a:ext uri="{FF2B5EF4-FFF2-40B4-BE49-F238E27FC236}">
                <a16:creationId xmlns:a16="http://schemas.microsoft.com/office/drawing/2014/main" id="{636B64C0-3DDC-C848-946F-57B49CF10DB8}"/>
              </a:ext>
            </a:extLst>
          </p:cNvPr>
          <p:cNvPicPr>
            <a:picLocks noChangeAspect="1"/>
          </p:cNvPicPr>
          <p:nvPr/>
        </p:nvPicPr>
        <p:blipFill>
          <a:blip r:embed="rId4"/>
          <a:stretch>
            <a:fillRect/>
          </a:stretch>
        </p:blipFill>
        <p:spPr>
          <a:xfrm>
            <a:off x="3483006" y="3266440"/>
            <a:ext cx="4851400" cy="2311400"/>
          </a:xfrm>
          <a:prstGeom prst="rect">
            <a:avLst/>
          </a:prstGeom>
        </p:spPr>
      </p:pic>
      <p:sp>
        <p:nvSpPr>
          <p:cNvPr id="4" name="TextBox 3">
            <a:extLst>
              <a:ext uri="{FF2B5EF4-FFF2-40B4-BE49-F238E27FC236}">
                <a16:creationId xmlns:a16="http://schemas.microsoft.com/office/drawing/2014/main" id="{AFEF1086-2735-C44C-87AA-E67210E07690}"/>
              </a:ext>
            </a:extLst>
          </p:cNvPr>
          <p:cNvSpPr txBox="1"/>
          <p:nvPr/>
        </p:nvSpPr>
        <p:spPr>
          <a:xfrm>
            <a:off x="1545773" y="3331755"/>
            <a:ext cx="778803" cy="369332"/>
          </a:xfrm>
          <a:prstGeom prst="rect">
            <a:avLst/>
          </a:prstGeom>
          <a:noFill/>
        </p:spPr>
        <p:txBody>
          <a:bodyPr wrap="none" rtlCol="0">
            <a:spAutoFit/>
          </a:bodyPr>
          <a:lstStyle/>
          <a:p>
            <a:r>
              <a:rPr lang="en-US" i="1" dirty="0"/>
              <a:t>Proof:</a:t>
            </a:r>
          </a:p>
        </p:txBody>
      </p:sp>
    </p:spTree>
    <p:extLst>
      <p:ext uri="{BB962C8B-B14F-4D97-AF65-F5344CB8AC3E}">
        <p14:creationId xmlns:p14="http://schemas.microsoft.com/office/powerpoint/2010/main" val="3030940598"/>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Statistical properties</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11</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28C9321-0CDD-454D-9B35-E6919378293C}"/>
              </a:ext>
            </a:extLst>
          </p:cNvPr>
          <p:cNvSpPr txBox="1"/>
          <p:nvPr/>
        </p:nvSpPr>
        <p:spPr>
          <a:xfrm>
            <a:off x="936171" y="1738428"/>
            <a:ext cx="7872668" cy="461665"/>
          </a:xfrm>
          <a:prstGeom prst="rect">
            <a:avLst/>
          </a:prstGeom>
          <a:noFill/>
        </p:spPr>
        <p:txBody>
          <a:bodyPr wrap="none" rtlCol="0">
            <a:spAutoFit/>
          </a:bodyPr>
          <a:lstStyle/>
          <a:p>
            <a:pPr marL="285750" indent="-285750">
              <a:buFont typeface="Arial" panose="020B0604020202020204" pitchFamily="34" charset="0"/>
              <a:buChar char="•"/>
            </a:pPr>
            <a:r>
              <a:rPr lang="en-US" sz="2400" dirty="0"/>
              <a:t>Can ridge regression improve OLS? (Gauss-Markov model)</a:t>
            </a:r>
          </a:p>
        </p:txBody>
      </p:sp>
      <p:pic>
        <p:nvPicPr>
          <p:cNvPr id="6" name="Picture 5">
            <a:extLst>
              <a:ext uri="{FF2B5EF4-FFF2-40B4-BE49-F238E27FC236}">
                <a16:creationId xmlns:a16="http://schemas.microsoft.com/office/drawing/2014/main" id="{B396293E-6826-4141-A7DC-FBEBA791B921}"/>
              </a:ext>
            </a:extLst>
          </p:cNvPr>
          <p:cNvPicPr>
            <a:picLocks noChangeAspect="1"/>
          </p:cNvPicPr>
          <p:nvPr/>
        </p:nvPicPr>
        <p:blipFill>
          <a:blip r:embed="rId3"/>
          <a:stretch>
            <a:fillRect/>
          </a:stretch>
        </p:blipFill>
        <p:spPr>
          <a:xfrm>
            <a:off x="2784506" y="2308408"/>
            <a:ext cx="4965700" cy="2349500"/>
          </a:xfrm>
          <a:prstGeom prst="rect">
            <a:avLst/>
          </a:prstGeom>
        </p:spPr>
      </p:pic>
      <p:pic>
        <p:nvPicPr>
          <p:cNvPr id="7" name="Picture 6">
            <a:extLst>
              <a:ext uri="{FF2B5EF4-FFF2-40B4-BE49-F238E27FC236}">
                <a16:creationId xmlns:a16="http://schemas.microsoft.com/office/drawing/2014/main" id="{635D7283-50D8-B44B-911B-E3410C0EE7F6}"/>
              </a:ext>
            </a:extLst>
          </p:cNvPr>
          <p:cNvPicPr>
            <a:picLocks noChangeAspect="1"/>
          </p:cNvPicPr>
          <p:nvPr/>
        </p:nvPicPr>
        <p:blipFill>
          <a:blip r:embed="rId4"/>
          <a:stretch>
            <a:fillRect/>
          </a:stretch>
        </p:blipFill>
        <p:spPr>
          <a:xfrm>
            <a:off x="2575441" y="4657908"/>
            <a:ext cx="6870700" cy="1498600"/>
          </a:xfrm>
          <a:prstGeom prst="rect">
            <a:avLst/>
          </a:prstGeom>
        </p:spPr>
      </p:pic>
    </p:spTree>
    <p:extLst>
      <p:ext uri="{BB962C8B-B14F-4D97-AF65-F5344CB8AC3E}">
        <p14:creationId xmlns:p14="http://schemas.microsoft.com/office/powerpoint/2010/main" val="4015151718"/>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Statistical properties</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12</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17663E13-231C-FC45-A272-E24AE2F3C59A}"/>
              </a:ext>
            </a:extLst>
          </p:cNvPr>
          <p:cNvPicPr>
            <a:picLocks noChangeAspect="1"/>
          </p:cNvPicPr>
          <p:nvPr/>
        </p:nvPicPr>
        <p:blipFill>
          <a:blip r:embed="rId3"/>
          <a:stretch>
            <a:fillRect/>
          </a:stretch>
        </p:blipFill>
        <p:spPr>
          <a:xfrm>
            <a:off x="1796143" y="1605282"/>
            <a:ext cx="5181600" cy="698500"/>
          </a:xfrm>
          <a:prstGeom prst="rect">
            <a:avLst/>
          </a:prstGeom>
        </p:spPr>
      </p:pic>
      <p:pic>
        <p:nvPicPr>
          <p:cNvPr id="4" name="Picture 3">
            <a:extLst>
              <a:ext uri="{FF2B5EF4-FFF2-40B4-BE49-F238E27FC236}">
                <a16:creationId xmlns:a16="http://schemas.microsoft.com/office/drawing/2014/main" id="{A0F4A76D-92B3-1F4F-995A-2438FC5027D0}"/>
              </a:ext>
            </a:extLst>
          </p:cNvPr>
          <p:cNvPicPr>
            <a:picLocks noChangeAspect="1"/>
          </p:cNvPicPr>
          <p:nvPr/>
        </p:nvPicPr>
        <p:blipFill>
          <a:blip r:embed="rId4"/>
          <a:stretch>
            <a:fillRect/>
          </a:stretch>
        </p:blipFill>
        <p:spPr>
          <a:xfrm>
            <a:off x="1796143" y="2336496"/>
            <a:ext cx="7353300" cy="800100"/>
          </a:xfrm>
          <a:prstGeom prst="rect">
            <a:avLst/>
          </a:prstGeom>
        </p:spPr>
      </p:pic>
      <p:pic>
        <p:nvPicPr>
          <p:cNvPr id="9" name="Picture 8">
            <a:extLst>
              <a:ext uri="{FF2B5EF4-FFF2-40B4-BE49-F238E27FC236}">
                <a16:creationId xmlns:a16="http://schemas.microsoft.com/office/drawing/2014/main" id="{B031508C-E3C1-4F45-B022-7AB57E838711}"/>
              </a:ext>
            </a:extLst>
          </p:cNvPr>
          <p:cNvPicPr>
            <a:picLocks noChangeAspect="1"/>
          </p:cNvPicPr>
          <p:nvPr/>
        </p:nvPicPr>
        <p:blipFill>
          <a:blip r:embed="rId5"/>
          <a:stretch>
            <a:fillRect/>
          </a:stretch>
        </p:blipFill>
        <p:spPr>
          <a:xfrm>
            <a:off x="1143000" y="3203573"/>
            <a:ext cx="9906000" cy="3289300"/>
          </a:xfrm>
          <a:prstGeom prst="rect">
            <a:avLst/>
          </a:prstGeom>
        </p:spPr>
      </p:pic>
    </p:spTree>
    <p:extLst>
      <p:ext uri="{BB962C8B-B14F-4D97-AF65-F5344CB8AC3E}">
        <p14:creationId xmlns:p14="http://schemas.microsoft.com/office/powerpoint/2010/main" val="3539856044"/>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Bias-variance tradeoff</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13</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8EE73AB5-7EDB-EF43-BEE0-F36A84C9D154}"/>
              </a:ext>
            </a:extLst>
          </p:cNvPr>
          <p:cNvPicPr>
            <a:picLocks noChangeAspect="1"/>
          </p:cNvPicPr>
          <p:nvPr/>
        </p:nvPicPr>
        <p:blipFill>
          <a:blip r:embed="rId3"/>
          <a:stretch>
            <a:fillRect/>
          </a:stretch>
        </p:blipFill>
        <p:spPr>
          <a:xfrm>
            <a:off x="2558679" y="1868629"/>
            <a:ext cx="6051921" cy="822960"/>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64C074A-25FA-164B-98D9-9E687C8BA293}"/>
                  </a:ext>
                </a:extLst>
              </p:cNvPr>
              <p:cNvSpPr txBox="1"/>
              <p:nvPr/>
            </p:nvSpPr>
            <p:spPr>
              <a:xfrm>
                <a:off x="1085173" y="3626384"/>
                <a:ext cx="10077759" cy="2246769"/>
              </a:xfrm>
              <a:prstGeom prst="rect">
                <a:avLst/>
              </a:prstGeom>
              <a:noFill/>
            </p:spPr>
            <p:txBody>
              <a:bodyPr wrap="none" rtlCol="0">
                <a:spAutoFit/>
              </a:bodyPr>
              <a:lstStyle/>
              <a:p>
                <a:pPr marL="285750" indent="-285750">
                  <a:buFont typeface="Arial" panose="020B0604020202020204" pitchFamily="34" charset="0"/>
                  <a:buChar char="•"/>
                </a:pPr>
                <a:r>
                  <a:rPr lang="en-US" sz="2000" dirty="0"/>
                  <a:t>When </a:t>
                </a:r>
                <a14:m>
                  <m:oMath xmlns:m="http://schemas.openxmlformats.org/officeDocument/2006/math">
                    <m:r>
                      <a:rPr lang="en-US" sz="2000" i="1" smtClean="0">
                        <a:latin typeface="Cambria Math" panose="02040503050406030204" pitchFamily="18" charset="0"/>
                        <a:ea typeface="Cambria Math" panose="02040503050406030204" pitchFamily="18" charset="0"/>
                      </a:rPr>
                      <m:t>𝜆</m:t>
                    </m:r>
                    <m:r>
                      <a:rPr lang="en-US" sz="2000" b="0" i="1" smtClean="0">
                        <a:latin typeface="Cambria Math" panose="02040503050406030204" pitchFamily="18" charset="0"/>
                        <a:ea typeface="Cambria Math" panose="02040503050406030204" pitchFamily="18" charset="0"/>
                      </a:rPr>
                      <m:t>=0</m:t>
                    </m:r>
                  </m:oMath>
                </a14:m>
                <a:r>
                  <a:rPr lang="en-US" sz="2000" dirty="0"/>
                  <a:t>, the ridge estimator reduces to the OLS estimator: the bias is zero and the </a:t>
                </a:r>
              </a:p>
              <a:p>
                <a:r>
                  <a:rPr lang="en-US" sz="2000" dirty="0"/>
                  <a:t>     variance dominates</a:t>
                </a:r>
              </a:p>
              <a:p>
                <a:pPr marL="342900" indent="-342900">
                  <a:buFont typeface="Arial" panose="020B0604020202020204" pitchFamily="34" charset="0"/>
                  <a:buChar char="•"/>
                </a:pPr>
                <a:r>
                  <a:rPr lang="en-US" sz="2000" dirty="0"/>
                  <a:t>When </a:t>
                </a:r>
                <a14:m>
                  <m:oMath xmlns:m="http://schemas.openxmlformats.org/officeDocument/2006/math">
                    <m:r>
                      <a:rPr lang="en-US" sz="2000" i="1">
                        <a:latin typeface="Cambria Math" panose="02040503050406030204" pitchFamily="18" charset="0"/>
                        <a:ea typeface="Cambria Math" panose="02040503050406030204" pitchFamily="18" charset="0"/>
                      </a:rPr>
                      <m:t>𝜆</m:t>
                    </m:r>
                    <m:r>
                      <a:rPr lang="en-US" sz="2000" i="1">
                        <a:latin typeface="Cambria Math" panose="02040503050406030204" pitchFamily="18" charset="0"/>
                        <a:ea typeface="Cambria Math" panose="02040503050406030204" pitchFamily="18" charset="0"/>
                      </a:rPr>
                      <m:t>=∞</m:t>
                    </m:r>
                  </m:oMath>
                </a14:m>
                <a:r>
                  <a:rPr lang="en-US" sz="2000" dirty="0"/>
                  <a:t>, the ridge estimator reduces to zero: the variance is zero and the bias dominates</a:t>
                </a:r>
              </a:p>
              <a:p>
                <a:pPr marL="342900" indent="-342900">
                  <a:buFont typeface="Arial" panose="020B0604020202020204" pitchFamily="34" charset="0"/>
                  <a:buChar char="•"/>
                </a:pPr>
                <a:r>
                  <a:rPr lang="en-US" sz="2000" dirty="0"/>
                  <a:t>As we increase </a:t>
                </a:r>
                <a14:m>
                  <m:oMath xmlns:m="http://schemas.openxmlformats.org/officeDocument/2006/math">
                    <m:r>
                      <a:rPr lang="en-US" sz="2000" i="1" smtClean="0">
                        <a:latin typeface="Cambria Math" panose="02040503050406030204" pitchFamily="18" charset="0"/>
                        <a:ea typeface="Cambria Math" panose="02040503050406030204" pitchFamily="18" charset="0"/>
                      </a:rPr>
                      <m:t>𝜆</m:t>
                    </m:r>
                  </m:oMath>
                </a14:m>
                <a:r>
                  <a:rPr lang="en-US" sz="2000" dirty="0"/>
                  <a:t> from zero, the bias increases and the variance decreases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p:txBody>
          </p:sp>
        </mc:Choice>
        <mc:Fallback xmlns="">
          <p:sp>
            <p:nvSpPr>
              <p:cNvPr id="6" name="TextBox 5">
                <a:extLst>
                  <a:ext uri="{FF2B5EF4-FFF2-40B4-BE49-F238E27FC236}">
                    <a16:creationId xmlns:a16="http://schemas.microsoft.com/office/drawing/2014/main" id="{664C074A-25FA-164B-98D9-9E687C8BA293}"/>
                  </a:ext>
                </a:extLst>
              </p:cNvPr>
              <p:cNvSpPr txBox="1">
                <a:spLocks noRot="1" noChangeAspect="1" noMove="1" noResize="1" noEditPoints="1" noAdjustHandles="1" noChangeArrowheads="1" noChangeShapeType="1" noTextEdit="1"/>
              </p:cNvSpPr>
              <p:nvPr/>
            </p:nvSpPr>
            <p:spPr>
              <a:xfrm>
                <a:off x="1085173" y="3626384"/>
                <a:ext cx="10077759" cy="2246769"/>
              </a:xfrm>
              <a:prstGeom prst="rect">
                <a:avLst/>
              </a:prstGeom>
              <a:blipFill>
                <a:blip r:embed="rId4"/>
                <a:stretch>
                  <a:fillRect l="-377" t="-1695"/>
                </a:stretch>
              </a:blipFill>
            </p:spPr>
            <p:txBody>
              <a:bodyPr/>
              <a:lstStyle/>
              <a:p>
                <a:r>
                  <a:rPr lang="en-US">
                    <a:noFill/>
                  </a:rPr>
                  <a:t> </a:t>
                </a:r>
              </a:p>
            </p:txBody>
          </p:sp>
        </mc:Fallback>
      </mc:AlternateContent>
    </p:spTree>
    <p:extLst>
      <p:ext uri="{BB962C8B-B14F-4D97-AF65-F5344CB8AC3E}">
        <p14:creationId xmlns:p14="http://schemas.microsoft.com/office/powerpoint/2010/main" val="1907935181"/>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Selection of the tuning parameter</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14</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866BFFF1-46F1-4B44-97B9-AA115B2966EE}"/>
              </a:ext>
            </a:extLst>
          </p:cNvPr>
          <p:cNvSpPr txBox="1"/>
          <p:nvPr/>
        </p:nvSpPr>
        <p:spPr>
          <a:xfrm>
            <a:off x="838200" y="1799983"/>
            <a:ext cx="4270721" cy="2308324"/>
          </a:xfrm>
          <a:prstGeom prst="rect">
            <a:avLst/>
          </a:prstGeom>
          <a:noFill/>
        </p:spPr>
        <p:txBody>
          <a:bodyPr wrap="none" rtlCol="0">
            <a:spAutoFit/>
          </a:bodyPr>
          <a:lstStyle/>
          <a:p>
            <a:pPr marL="285750" indent="-285750">
              <a:buFont typeface="Arial" panose="020B0604020202020204" pitchFamily="34" charset="0"/>
              <a:buChar char="•"/>
            </a:pPr>
            <a:r>
              <a:rPr lang="en-US" sz="2400" dirty="0"/>
              <a:t>Based on parameter estimation</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Based on prediction</a:t>
            </a:r>
          </a:p>
        </p:txBody>
      </p:sp>
    </p:spTree>
    <p:extLst>
      <p:ext uri="{BB962C8B-B14F-4D97-AF65-F5344CB8AC3E}">
        <p14:creationId xmlns:p14="http://schemas.microsoft.com/office/powerpoint/2010/main" val="3352153356"/>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Based on parameter estimation</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15</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66BFFF1-46F1-4B44-97B9-AA115B2966EE}"/>
                  </a:ext>
                </a:extLst>
              </p:cNvPr>
              <p:cNvSpPr txBox="1"/>
              <p:nvPr/>
            </p:nvSpPr>
            <p:spPr>
              <a:xfrm>
                <a:off x="838200" y="1799983"/>
                <a:ext cx="5323893" cy="3416320"/>
              </a:xfrm>
              <a:prstGeom prst="rect">
                <a:avLst/>
              </a:prstGeom>
              <a:noFill/>
            </p:spPr>
            <p:txBody>
              <a:bodyPr wrap="none" rtlCol="0">
                <a:spAutoFit/>
              </a:bodyPr>
              <a:lstStyle/>
              <a:p>
                <a:pPr marL="342900" indent="-342900">
                  <a:buFont typeface="Arial" panose="020B0604020202020204" pitchFamily="34" charset="0"/>
                  <a:buChar char="•"/>
                </a:pPr>
                <a:r>
                  <a:rPr lang="en-US" sz="2400" dirty="0"/>
                  <a:t>Choose the </a:t>
                </a:r>
                <a14:m>
                  <m:oMath xmlns:m="http://schemas.openxmlformats.org/officeDocument/2006/math">
                    <m:r>
                      <a:rPr lang="en-US" sz="2400" i="1" smtClean="0">
                        <a:latin typeface="Cambria Math" panose="02040503050406030204" pitchFamily="18" charset="0"/>
                        <a:ea typeface="Cambria Math" panose="02040503050406030204" pitchFamily="18" charset="0"/>
                      </a:rPr>
                      <m:t>𝜆</m:t>
                    </m:r>
                  </m:oMath>
                </a14:m>
                <a:r>
                  <a:rPr lang="en-US" sz="2400" dirty="0"/>
                  <a:t> that minimizes the MSE</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We do not know the values of </a:t>
                </a:r>
                <a14:m>
                  <m:oMath xmlns:m="http://schemas.openxmlformats.org/officeDocument/2006/math">
                    <m:r>
                      <a:rPr lang="en-US" sz="2400" i="1" smtClean="0">
                        <a:latin typeface="Cambria Math" panose="02040503050406030204" pitchFamily="18" charset="0"/>
                        <a:ea typeface="Cambria Math" panose="02040503050406030204" pitchFamily="18" charset="0"/>
                      </a:rPr>
                      <m:t>𝛾</m:t>
                    </m:r>
                  </m:oMath>
                </a14:m>
                <a:r>
                  <a:rPr lang="en-US" sz="2400" dirty="0"/>
                  <a:t> and </a:t>
                </a:r>
                <a14:m>
                  <m:oMath xmlns:m="http://schemas.openxmlformats.org/officeDocument/2006/math">
                    <m:sSup>
                      <m:sSupPr>
                        <m:ctrlPr>
                          <a:rPr lang="en-US" sz="2400" i="1" smtClean="0">
                            <a:latin typeface="Cambria Math" panose="02040503050406030204" pitchFamily="18" charset="0"/>
                          </a:rPr>
                        </m:ctrlPr>
                      </m:sSupPr>
                      <m:e>
                        <m:r>
                          <a:rPr lang="en-US" sz="2400" i="1" smtClean="0">
                            <a:latin typeface="Cambria Math" panose="02040503050406030204" pitchFamily="18" charset="0"/>
                            <a:ea typeface="Cambria Math" panose="02040503050406030204" pitchFamily="18" charset="0"/>
                          </a:rPr>
                          <m:t>𝜎</m:t>
                        </m:r>
                      </m:e>
                      <m:sup>
                        <m:r>
                          <a:rPr lang="en-US" sz="2400" b="0" i="1" smtClean="0">
                            <a:latin typeface="Cambria Math" panose="02040503050406030204" pitchFamily="18" charset="0"/>
                          </a:rPr>
                          <m:t>2</m:t>
                        </m:r>
                      </m:sup>
                    </m:sSup>
                  </m:oMath>
                </a14:m>
                <a:endParaRPr lang="en-US" sz="2400" dirty="0"/>
              </a:p>
            </p:txBody>
          </p:sp>
        </mc:Choice>
        <mc:Fallback xmlns="">
          <p:sp>
            <p:nvSpPr>
              <p:cNvPr id="2" name="TextBox 1">
                <a:extLst>
                  <a:ext uri="{FF2B5EF4-FFF2-40B4-BE49-F238E27FC236}">
                    <a16:creationId xmlns:a16="http://schemas.microsoft.com/office/drawing/2014/main" id="{866BFFF1-46F1-4B44-97B9-AA115B2966EE}"/>
                  </a:ext>
                </a:extLst>
              </p:cNvPr>
              <p:cNvSpPr txBox="1">
                <a:spLocks noRot="1" noChangeAspect="1" noMove="1" noResize="1" noEditPoints="1" noAdjustHandles="1" noChangeArrowheads="1" noChangeShapeType="1" noTextEdit="1"/>
              </p:cNvSpPr>
              <p:nvPr/>
            </p:nvSpPr>
            <p:spPr>
              <a:xfrm>
                <a:off x="838200" y="1799983"/>
                <a:ext cx="5323893" cy="3416320"/>
              </a:xfrm>
              <a:prstGeom prst="rect">
                <a:avLst/>
              </a:prstGeom>
              <a:blipFill>
                <a:blip r:embed="rId3"/>
                <a:stretch>
                  <a:fillRect l="-1667" t="-1481" b="-3704"/>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BD2A49CD-E4AC-734A-9CC7-DBF3834F176B}"/>
              </a:ext>
            </a:extLst>
          </p:cNvPr>
          <p:cNvPicPr>
            <a:picLocks noChangeAspect="1"/>
          </p:cNvPicPr>
          <p:nvPr/>
        </p:nvPicPr>
        <p:blipFill>
          <a:blip r:embed="rId4"/>
          <a:stretch>
            <a:fillRect/>
          </a:stretch>
        </p:blipFill>
        <p:spPr>
          <a:xfrm>
            <a:off x="2111406" y="2605723"/>
            <a:ext cx="6311900" cy="1638300"/>
          </a:xfrm>
          <a:prstGeom prst="rect">
            <a:avLst/>
          </a:prstGeom>
        </p:spPr>
      </p:pic>
    </p:spTree>
    <p:extLst>
      <p:ext uri="{BB962C8B-B14F-4D97-AF65-F5344CB8AC3E}">
        <p14:creationId xmlns:p14="http://schemas.microsoft.com/office/powerpoint/2010/main" val="3290783615"/>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Based on parameter estimation</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16</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66BFFF1-46F1-4B44-97B9-AA115B2966EE}"/>
                  </a:ext>
                </a:extLst>
              </p:cNvPr>
              <p:cNvSpPr txBox="1"/>
              <p:nvPr/>
            </p:nvSpPr>
            <p:spPr>
              <a:xfrm>
                <a:off x="838200" y="1799983"/>
                <a:ext cx="8427179" cy="4587474"/>
              </a:xfrm>
              <a:prstGeom prst="rect">
                <a:avLst/>
              </a:prstGeom>
              <a:noFill/>
            </p:spPr>
            <p:txBody>
              <a:bodyPr wrap="none" rtlCol="0">
                <a:spAutoFit/>
              </a:bodyPr>
              <a:lstStyle/>
              <a:p>
                <a:pPr marL="342900" indent="-342900">
                  <a:buFont typeface="Arial" panose="020B0604020202020204" pitchFamily="34" charset="0"/>
                  <a:buChar char="•"/>
                </a:pPr>
                <a:r>
                  <a:rPr lang="en-US" sz="2400" dirty="0"/>
                  <a:t>Estimating  </a:t>
                </a:r>
                <a14:m>
                  <m:oMath xmlns:m="http://schemas.openxmlformats.org/officeDocument/2006/math">
                    <m:r>
                      <a:rPr lang="en-US" sz="2400" i="1" smtClean="0">
                        <a:latin typeface="Cambria Math" panose="02040503050406030204" pitchFamily="18" charset="0"/>
                        <a:ea typeface="Cambria Math" panose="02040503050406030204" pitchFamily="18" charset="0"/>
                      </a:rPr>
                      <m:t>𝛾</m:t>
                    </m:r>
                  </m:oMath>
                </a14:m>
                <a:r>
                  <a:rPr lang="en-US" sz="2400" dirty="0"/>
                  <a:t> and </a:t>
                </a:r>
                <a14:m>
                  <m:oMath xmlns:m="http://schemas.openxmlformats.org/officeDocument/2006/math">
                    <m:sSup>
                      <m:sSupPr>
                        <m:ctrlPr>
                          <a:rPr lang="en-US" sz="2400" i="1" smtClean="0">
                            <a:latin typeface="Cambria Math" panose="02040503050406030204" pitchFamily="18" charset="0"/>
                          </a:rPr>
                        </m:ctrlPr>
                      </m:sSupPr>
                      <m:e>
                        <m:r>
                          <a:rPr lang="en-US" sz="2400" i="1" smtClean="0">
                            <a:latin typeface="Cambria Math" panose="02040503050406030204" pitchFamily="18" charset="0"/>
                            <a:ea typeface="Cambria Math" panose="02040503050406030204" pitchFamily="18" charset="0"/>
                          </a:rPr>
                          <m:t>𝜎</m:t>
                        </m:r>
                      </m:e>
                      <m:sup>
                        <m:r>
                          <a:rPr lang="en-US" sz="2400" b="0" i="1" smtClean="0">
                            <a:latin typeface="Cambria Math" panose="02040503050406030204" pitchFamily="18" charset="0"/>
                          </a:rPr>
                          <m:t>2</m:t>
                        </m:r>
                      </m:sup>
                    </m:sSup>
                  </m:oMath>
                </a14:m>
                <a:endParaRPr lang="en-US" sz="2400" dirty="0"/>
              </a:p>
              <a:p>
                <a:pPr marL="800100" lvl="1" indent="-342900">
                  <a:buFont typeface="Arial" panose="020B0604020202020204" pitchFamily="34" charset="0"/>
                  <a:buChar char="•"/>
                </a:pPr>
                <a:r>
                  <a:rPr lang="en-US" sz="2000" dirty="0"/>
                  <a:t>Dempster et al. (1977) used OLS estimator </a:t>
                </a:r>
                <a14:m>
                  <m:oMath xmlns:m="http://schemas.openxmlformats.org/officeDocument/2006/math">
                    <m:sSup>
                      <m:sSupPr>
                        <m:ctrlPr>
                          <a:rPr lang="en-US" sz="2000" i="1" smtClean="0">
                            <a:latin typeface="Cambria Math" panose="02040503050406030204" pitchFamily="18" charset="0"/>
                          </a:rPr>
                        </m:ctrlPr>
                      </m:sSup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𝜎</m:t>
                            </m:r>
                          </m:e>
                        </m:acc>
                      </m:e>
                      <m:sup>
                        <m:r>
                          <a:rPr lang="en-US" sz="2000" b="0" i="1" smtClean="0">
                            <a:latin typeface="Cambria Math" panose="02040503050406030204" pitchFamily="18" charset="0"/>
                          </a:rPr>
                          <m:t>2</m:t>
                        </m:r>
                      </m:sup>
                    </m:sSup>
                  </m:oMath>
                </a14:m>
                <a:r>
                  <a:rPr lang="en-US" sz="2000" dirty="0"/>
                  <a:t> and </a:t>
                </a:r>
                <a14:m>
                  <m:oMath xmlns:m="http://schemas.openxmlformats.org/officeDocument/2006/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𝛾</m:t>
                        </m:r>
                      </m:e>
                    </m:acc>
                    <m:r>
                      <a:rPr lang="en-US" sz="2400" b="0" i="1" dirty="0" smtClean="0">
                        <a:latin typeface="Cambria Math" panose="02040503050406030204" pitchFamily="18" charset="0"/>
                      </a:rPr>
                      <m:t>=</m:t>
                    </m:r>
                    <m:sSup>
                      <m:sSupPr>
                        <m:ctrlPr>
                          <a:rPr lang="en-US" sz="2400" b="0" i="1" dirty="0" smtClean="0">
                            <a:latin typeface="Cambria Math" panose="02040503050406030204" pitchFamily="18" charset="0"/>
                          </a:rPr>
                        </m:ctrlPr>
                      </m:sSupPr>
                      <m:e>
                        <m:r>
                          <a:rPr lang="en-US" sz="2400" b="0" i="1" dirty="0" smtClean="0">
                            <a:latin typeface="Cambria Math" panose="02040503050406030204" pitchFamily="18" charset="0"/>
                          </a:rPr>
                          <m:t>𝑉</m:t>
                        </m:r>
                      </m:e>
                      <m:sup>
                        <m:r>
                          <a:rPr lang="en-US" sz="2400" b="0" i="1" dirty="0" smtClean="0">
                            <a:latin typeface="Cambria Math" panose="02040503050406030204" pitchFamily="18" charset="0"/>
                          </a:rPr>
                          <m:t>𝑇</m:t>
                        </m:r>
                      </m:sup>
                    </m:sSup>
                    <m:acc>
                      <m:accPr>
                        <m:chr m:val="̂"/>
                        <m:ctrlPr>
                          <a:rPr lang="en-US" sz="2400" b="0" i="1" dirty="0" smtClean="0">
                            <a:latin typeface="Cambria Math" panose="02040503050406030204" pitchFamily="18" charset="0"/>
                          </a:rPr>
                        </m:ctrlPr>
                      </m:accPr>
                      <m:e>
                        <m:r>
                          <a:rPr lang="en-US" sz="2400" b="0" i="1" dirty="0" smtClean="0">
                            <a:latin typeface="Cambria Math" panose="02040503050406030204" pitchFamily="18" charset="0"/>
                            <a:ea typeface="Cambria Math" panose="02040503050406030204" pitchFamily="18" charset="0"/>
                          </a:rPr>
                          <m:t>𝛽</m:t>
                        </m:r>
                      </m:e>
                    </m:acc>
                  </m:oMath>
                </a14:m>
                <a:r>
                  <a:rPr lang="en-US" sz="2000" dirty="0"/>
                  <a:t>, and solve</a:t>
                </a:r>
              </a:p>
              <a:p>
                <a:pPr marL="800100" lvl="1" indent="-342900">
                  <a:buFont typeface="Arial" panose="020B0604020202020204" pitchFamily="34" charset="0"/>
                  <a:buChar char="•"/>
                </a:pPr>
                <a:endParaRPr lang="en-US" sz="2000" dirty="0"/>
              </a:p>
              <a:p>
                <a:pPr marL="800100" lvl="1" indent="-342900">
                  <a:buFont typeface="Arial" panose="020B0604020202020204" pitchFamily="34" charset="0"/>
                  <a:buChar char="•"/>
                </a:pPr>
                <a:endParaRPr lang="en-US" sz="2000" dirty="0"/>
              </a:p>
              <a:p>
                <a:pPr marL="800100" lvl="1" indent="-342900">
                  <a:buFont typeface="Arial" panose="020B0604020202020204" pitchFamily="34" charset="0"/>
                  <a:buChar char="•"/>
                </a:pPr>
                <a:endParaRPr lang="en-US" sz="2000" dirty="0"/>
              </a:p>
              <a:p>
                <a:pPr marL="800100" lvl="1" indent="-342900">
                  <a:buFont typeface="Arial" panose="020B0604020202020204" pitchFamily="34" charset="0"/>
                  <a:buChar char="•"/>
                </a:pPr>
                <a:endParaRPr lang="en-US" sz="2000" dirty="0"/>
              </a:p>
              <a:p>
                <a:pPr marL="800100" lvl="1" indent="-342900">
                  <a:buFont typeface="Arial" panose="020B0604020202020204" pitchFamily="34" charset="0"/>
                  <a:buChar char="•"/>
                </a:pPr>
                <a:r>
                  <a:rPr lang="en-US" sz="2000" dirty="0" err="1"/>
                  <a:t>Heorl</a:t>
                </a:r>
                <a:r>
                  <a:rPr lang="en-US" sz="2000" dirty="0"/>
                  <a:t> et al. (1975) assumed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𝑋</m:t>
                        </m:r>
                      </m:e>
                      <m:sup>
                        <m:r>
                          <a:rPr lang="en-US" sz="2000" b="0" i="1" smtClean="0">
                            <a:latin typeface="Cambria Math" panose="02040503050406030204" pitchFamily="18" charset="0"/>
                          </a:rPr>
                          <m:t>𝑇</m:t>
                        </m:r>
                      </m:sup>
                    </m:sSup>
                    <m:r>
                      <a:rPr lang="en-US" sz="2000" b="0" i="1" smtClean="0">
                        <a:latin typeface="Cambria Math" panose="02040503050406030204" pitchFamily="18" charset="0"/>
                      </a:rPr>
                      <m:t>𝑋</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𝐼</m:t>
                        </m:r>
                      </m:e>
                      <m:sub>
                        <m:r>
                          <a:rPr lang="en-US" sz="2000" b="0" i="1" smtClean="0">
                            <a:latin typeface="Cambria Math" panose="02040503050406030204" pitchFamily="18" charset="0"/>
                          </a:rPr>
                          <m:t>𝑝</m:t>
                        </m:r>
                      </m:sub>
                    </m:sSub>
                  </m:oMath>
                </a14:m>
                <a:r>
                  <a:rPr lang="en-US" sz="2000" dirty="0"/>
                  <a:t> and solve</a:t>
                </a:r>
              </a:p>
              <a:p>
                <a:pPr marL="800100" lvl="1" indent="-342900">
                  <a:buFont typeface="Arial" panose="020B0604020202020204" pitchFamily="34" charset="0"/>
                  <a:buChar char="•"/>
                </a:pPr>
                <a:endParaRPr lang="en-US" sz="2000" dirty="0"/>
              </a:p>
              <a:p>
                <a:pPr marL="800100" lvl="1" indent="-342900">
                  <a:buFont typeface="Arial" panose="020B0604020202020204" pitchFamily="34" charset="0"/>
                  <a:buChar char="•"/>
                </a:pPr>
                <a:endParaRPr lang="en-US" sz="2000" dirty="0"/>
              </a:p>
              <a:p>
                <a:pPr marL="800100" lvl="1" indent="-342900">
                  <a:buFont typeface="Arial" panose="020B0604020202020204" pitchFamily="34" charset="0"/>
                  <a:buChar char="•"/>
                </a:pPr>
                <a:endParaRPr lang="en-US" sz="2000" dirty="0"/>
              </a:p>
              <a:p>
                <a:pPr marL="800100" lvl="1" indent="-342900">
                  <a:buFont typeface="Arial" panose="020B0604020202020204" pitchFamily="34" charset="0"/>
                  <a:buChar char="•"/>
                </a:pPr>
                <a:endParaRPr lang="en-US" sz="2000" dirty="0"/>
              </a:p>
              <a:p>
                <a:pPr marL="800100" lvl="1" indent="-342900">
                  <a:buFont typeface="Arial" panose="020B0604020202020204" pitchFamily="34" charset="0"/>
                  <a:buChar char="•"/>
                </a:pPr>
                <a:r>
                  <a:rPr lang="en-US" sz="2000" dirty="0"/>
                  <a:t>Lawless (1976) used </a:t>
                </a:r>
              </a:p>
              <a:p>
                <a:pPr marL="800100" lvl="1" indent="-342900">
                  <a:buFont typeface="Arial" panose="020B0604020202020204" pitchFamily="34" charset="0"/>
                  <a:buChar char="•"/>
                </a:pPr>
                <a:endParaRPr lang="en-US" sz="2000" dirty="0"/>
              </a:p>
              <a:p>
                <a:pPr marL="800100" lvl="1" indent="-342900">
                  <a:buFont typeface="Arial" panose="020B0604020202020204" pitchFamily="34" charset="0"/>
                  <a:buChar char="•"/>
                </a:pPr>
                <a:r>
                  <a:rPr lang="en-US" sz="2000" dirty="0"/>
                  <a:t>None of these methods work for the case with </a:t>
                </a:r>
                <a14:m>
                  <m:oMath xmlns:m="http://schemas.openxmlformats.org/officeDocument/2006/math">
                    <m:r>
                      <a:rPr lang="en-US" sz="2000" b="0" i="1" smtClean="0">
                        <a:latin typeface="Cambria Math" panose="02040503050406030204" pitchFamily="18" charset="0"/>
                      </a:rPr>
                      <m:t>𝑝</m:t>
                    </m:r>
                    <m:r>
                      <a:rPr lang="en-US" sz="2000" b="0" i="1" smtClean="0">
                        <a:latin typeface="Cambria Math" panose="02040503050406030204" pitchFamily="18" charset="0"/>
                        <a:ea typeface="Cambria Math" panose="02040503050406030204" pitchFamily="18" charset="0"/>
                      </a:rPr>
                      <m:t>&gt;</m:t>
                    </m:r>
                    <m:r>
                      <a:rPr lang="en-US" sz="2000" b="0" i="1" smtClean="0">
                        <a:latin typeface="Cambria Math" panose="02040503050406030204" pitchFamily="18" charset="0"/>
                        <a:ea typeface="Cambria Math" panose="02040503050406030204" pitchFamily="18" charset="0"/>
                      </a:rPr>
                      <m:t>𝑛</m:t>
                    </m:r>
                  </m:oMath>
                </a14:m>
                <a:endParaRPr lang="en-US" sz="2000" dirty="0"/>
              </a:p>
            </p:txBody>
          </p:sp>
        </mc:Choice>
        <mc:Fallback xmlns="">
          <p:sp>
            <p:nvSpPr>
              <p:cNvPr id="2" name="TextBox 1">
                <a:extLst>
                  <a:ext uri="{FF2B5EF4-FFF2-40B4-BE49-F238E27FC236}">
                    <a16:creationId xmlns:a16="http://schemas.microsoft.com/office/drawing/2014/main" id="{866BFFF1-46F1-4B44-97B9-AA115B2966EE}"/>
                  </a:ext>
                </a:extLst>
              </p:cNvPr>
              <p:cNvSpPr txBox="1">
                <a:spLocks noRot="1" noChangeAspect="1" noMove="1" noResize="1" noEditPoints="1" noAdjustHandles="1" noChangeArrowheads="1" noChangeShapeType="1" noTextEdit="1"/>
              </p:cNvSpPr>
              <p:nvPr/>
            </p:nvSpPr>
            <p:spPr>
              <a:xfrm>
                <a:off x="838200" y="1799983"/>
                <a:ext cx="8427179" cy="4587474"/>
              </a:xfrm>
              <a:prstGeom prst="rect">
                <a:avLst/>
              </a:prstGeom>
              <a:blipFill>
                <a:blip r:embed="rId3"/>
                <a:stretch>
                  <a:fillRect l="-902" t="-1105" b="-1381"/>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96942A5C-0E5A-3B4B-8BAE-3BAF6DF24581}"/>
              </a:ext>
            </a:extLst>
          </p:cNvPr>
          <p:cNvPicPr>
            <a:picLocks noChangeAspect="1"/>
          </p:cNvPicPr>
          <p:nvPr/>
        </p:nvPicPr>
        <p:blipFill>
          <a:blip r:embed="rId4"/>
          <a:stretch>
            <a:fillRect/>
          </a:stretch>
        </p:blipFill>
        <p:spPr>
          <a:xfrm>
            <a:off x="4036785" y="2699403"/>
            <a:ext cx="3683000" cy="863600"/>
          </a:xfrm>
          <a:prstGeom prst="rect">
            <a:avLst/>
          </a:prstGeom>
        </p:spPr>
      </p:pic>
      <p:pic>
        <p:nvPicPr>
          <p:cNvPr id="7" name="Picture 6">
            <a:extLst>
              <a:ext uri="{FF2B5EF4-FFF2-40B4-BE49-F238E27FC236}">
                <a16:creationId xmlns:a16="http://schemas.microsoft.com/office/drawing/2014/main" id="{C125EAE5-BA5A-6C42-A050-CAB74AE6B5D3}"/>
              </a:ext>
            </a:extLst>
          </p:cNvPr>
          <p:cNvPicPr>
            <a:picLocks noChangeAspect="1"/>
          </p:cNvPicPr>
          <p:nvPr/>
        </p:nvPicPr>
        <p:blipFill>
          <a:blip r:embed="rId5"/>
          <a:stretch>
            <a:fillRect/>
          </a:stretch>
        </p:blipFill>
        <p:spPr>
          <a:xfrm>
            <a:off x="3527456" y="4363884"/>
            <a:ext cx="3479800" cy="812800"/>
          </a:xfrm>
          <a:prstGeom prst="rect">
            <a:avLst/>
          </a:prstGeom>
        </p:spPr>
      </p:pic>
      <p:pic>
        <p:nvPicPr>
          <p:cNvPr id="8" name="Picture 7">
            <a:extLst>
              <a:ext uri="{FF2B5EF4-FFF2-40B4-BE49-F238E27FC236}">
                <a16:creationId xmlns:a16="http://schemas.microsoft.com/office/drawing/2014/main" id="{CC76EAE5-4790-4D4D-BF32-005D3BF3D53D}"/>
              </a:ext>
            </a:extLst>
          </p:cNvPr>
          <p:cNvPicPr>
            <a:picLocks noChangeAspect="1"/>
          </p:cNvPicPr>
          <p:nvPr/>
        </p:nvPicPr>
        <p:blipFill>
          <a:blip r:embed="rId6"/>
          <a:stretch>
            <a:fillRect/>
          </a:stretch>
        </p:blipFill>
        <p:spPr>
          <a:xfrm>
            <a:off x="7322279" y="4528984"/>
            <a:ext cx="1943100" cy="482600"/>
          </a:xfrm>
          <a:prstGeom prst="rect">
            <a:avLst/>
          </a:prstGeom>
        </p:spPr>
      </p:pic>
      <p:pic>
        <p:nvPicPr>
          <p:cNvPr id="9" name="Picture 8">
            <a:extLst>
              <a:ext uri="{FF2B5EF4-FFF2-40B4-BE49-F238E27FC236}">
                <a16:creationId xmlns:a16="http://schemas.microsoft.com/office/drawing/2014/main" id="{78915BAE-50D4-4347-840F-32D0848A5733}"/>
              </a:ext>
            </a:extLst>
          </p:cNvPr>
          <p:cNvPicPr>
            <a:picLocks noChangeAspect="1"/>
          </p:cNvPicPr>
          <p:nvPr/>
        </p:nvPicPr>
        <p:blipFill>
          <a:blip r:embed="rId7"/>
          <a:stretch>
            <a:fillRect/>
          </a:stretch>
        </p:blipFill>
        <p:spPr>
          <a:xfrm>
            <a:off x="3972289" y="5350072"/>
            <a:ext cx="2159000" cy="368300"/>
          </a:xfrm>
          <a:prstGeom prst="rect">
            <a:avLst/>
          </a:prstGeom>
        </p:spPr>
      </p:pic>
    </p:spTree>
    <p:extLst>
      <p:ext uri="{BB962C8B-B14F-4D97-AF65-F5344CB8AC3E}">
        <p14:creationId xmlns:p14="http://schemas.microsoft.com/office/powerpoint/2010/main" val="2441408688"/>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Based on prediction</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5" name="内容占位符 2">
            <a:extLst>
              <a:ext uri="{FF2B5EF4-FFF2-40B4-BE49-F238E27FC236}">
                <a16:creationId xmlns:a16="http://schemas.microsoft.com/office/drawing/2014/main" id="{A0293DA8-2870-C84B-90F0-70EC544611AC}"/>
              </a:ext>
            </a:extLst>
          </p:cNvPr>
          <p:cNvSpPr>
            <a:spLocks noGrp="1" noChangeArrowheads="1"/>
          </p:cNvSpPr>
          <p:nvPr>
            <p:ph idx="1"/>
          </p:nvPr>
        </p:nvSpPr>
        <p:spPr>
          <a:xfrm>
            <a:off x="838200" y="1836734"/>
            <a:ext cx="8261351" cy="4656139"/>
          </a:xfrm>
          <a:ln>
            <a:noFill/>
          </a:ln>
        </p:spPr>
        <p:txBody>
          <a:bodyPr>
            <a:normAutofit/>
          </a:bodyPr>
          <a:lstStyle/>
          <a:p>
            <a:r>
              <a:rPr lang="en-US" sz="2400" dirty="0"/>
              <a:t>PRESS statistic for ridge regression based on leave-one-out formula</a:t>
            </a:r>
          </a:p>
          <a:p>
            <a:pPr marL="742950" lvl="1" indent="-285750"/>
            <a:r>
              <a:rPr lang="en-US" sz="2000" dirty="0"/>
              <a:t>Ridge</a:t>
            </a:r>
            <a:r>
              <a:rPr lang="zh-CN" altLang="en-US" sz="2000" dirty="0"/>
              <a:t> </a:t>
            </a:r>
            <a:r>
              <a:rPr lang="en-US" altLang="zh-CN" sz="2000" dirty="0"/>
              <a:t>coefficient</a:t>
            </a:r>
          </a:p>
          <a:p>
            <a:pPr marL="742950" lvl="1" indent="-285750"/>
            <a:r>
              <a:rPr lang="en-US" sz="2000" dirty="0"/>
              <a:t>Residual vector</a:t>
            </a:r>
          </a:p>
          <a:p>
            <a:pPr marL="742950" lvl="1" indent="-285750"/>
            <a:r>
              <a:rPr lang="en-US" sz="2000" dirty="0"/>
              <a:t>Leverage score</a:t>
            </a:r>
          </a:p>
          <a:p>
            <a:pPr marL="742950" lvl="1" indent="-285750"/>
            <a:r>
              <a:rPr lang="en-US" sz="2000" dirty="0"/>
              <a:t>Predicted residual</a:t>
            </a:r>
          </a:p>
          <a:p>
            <a:pPr marL="742950" lvl="1" indent="-285750"/>
            <a:endParaRPr lang="en-US" sz="2000" dirty="0"/>
          </a:p>
          <a:p>
            <a:pPr marL="742950" lvl="1" indent="-285750"/>
            <a:r>
              <a:rPr lang="en-US" sz="2000" dirty="0"/>
              <a:t>Leave-one out formulas</a:t>
            </a:r>
          </a:p>
          <a:p>
            <a:pPr marL="742950" lvl="1" indent="-285750"/>
            <a:endParaRPr lang="en-US" sz="1200" dirty="0"/>
          </a:p>
          <a:p>
            <a:pPr marL="742950" lvl="1" indent="-285750"/>
            <a:endParaRPr lang="en-US" sz="1600" dirty="0"/>
          </a:p>
          <a:p>
            <a:pPr marL="742950" lvl="1" indent="-285750"/>
            <a:endParaRPr lang="en-US" sz="2000" dirty="0"/>
          </a:p>
          <a:p>
            <a:pPr lvl="1">
              <a:lnSpc>
                <a:spcPct val="150000"/>
              </a:lnSpc>
              <a:buClr>
                <a:srgbClr val="FF0000"/>
              </a:buClr>
              <a:buFont typeface="Wingdings" pitchFamily="2" charset="2"/>
              <a:buChar char="v"/>
            </a:pPr>
            <a:endParaRPr lang="en-US" altLang="zh-CN" sz="1800" dirty="0">
              <a:ea typeface="Arial Unicode MS" panose="020B0604020202020204" pitchFamily="34" charset="-128"/>
              <a:cs typeface="Arial Unicode MS" panose="020B0604020202020204" pitchFamily="34" charset="-128"/>
            </a:endParaRPr>
          </a:p>
          <a:p>
            <a:pPr>
              <a:lnSpc>
                <a:spcPct val="150000"/>
              </a:lnSpc>
              <a:buFont typeface="Wingdings" pitchFamily="2" charset="2"/>
              <a:buChar char="u"/>
            </a:pPr>
            <a:endParaRPr lang="en-US" altLang="zh-CN" sz="1800" dirty="0">
              <a:ea typeface="Arial Unicode MS" panose="020B0604020202020204" pitchFamily="34" charset="-128"/>
              <a:cs typeface="Arial Unicode MS" panose="020B0604020202020204" pitchFamily="34" charset="-128"/>
            </a:endParaRPr>
          </a:p>
          <a:p>
            <a:pPr>
              <a:buFont typeface="Wingdings" pitchFamily="2" charset="2"/>
              <a:buNone/>
            </a:pPr>
            <a:endParaRPr lang="en-US" altLang="zh-CN" dirty="0">
              <a:ea typeface="Arial Unicode MS" panose="020B0604020202020204" pitchFamily="34" charset="-128"/>
              <a:cs typeface="Arial Unicode MS" panose="020B0604020202020204" pitchFamily="34" charset="-128"/>
            </a:endParaRPr>
          </a:p>
          <a:p>
            <a:endParaRPr lang="zh-CN" altLang="en-US" dirty="0">
              <a:ea typeface="Arial Unicode MS" panose="020B0604020202020204" pitchFamily="34" charset="-128"/>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17</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1CA46CF-C468-384E-8A62-1696F2B661E7}"/>
              </a:ext>
            </a:extLst>
          </p:cNvPr>
          <p:cNvSpPr txBox="1"/>
          <p:nvPr/>
        </p:nvSpPr>
        <p:spPr>
          <a:xfrm>
            <a:off x="5636794" y="2971800"/>
            <a:ext cx="65" cy="276999"/>
          </a:xfrm>
          <a:prstGeom prst="rect">
            <a:avLst/>
          </a:prstGeom>
          <a:noFill/>
        </p:spPr>
        <p:txBody>
          <a:bodyPr wrap="none" lIns="0" tIns="0" rIns="0" bIns="0" rtlCol="0">
            <a:spAutoFit/>
          </a:bodyPr>
          <a:lstStyle/>
          <a:p>
            <a:endParaRPr lang="en-US" dirty="0"/>
          </a:p>
        </p:txBody>
      </p:sp>
      <p:pic>
        <p:nvPicPr>
          <p:cNvPr id="2" name="Picture 1">
            <a:extLst>
              <a:ext uri="{FF2B5EF4-FFF2-40B4-BE49-F238E27FC236}">
                <a16:creationId xmlns:a16="http://schemas.microsoft.com/office/drawing/2014/main" id="{EBBE2291-6336-6DEC-AFA5-8854094767FA}"/>
              </a:ext>
            </a:extLst>
          </p:cNvPr>
          <p:cNvPicPr>
            <a:picLocks noChangeAspect="1"/>
          </p:cNvPicPr>
          <p:nvPr/>
        </p:nvPicPr>
        <p:blipFill>
          <a:blip r:embed="rId3"/>
          <a:stretch>
            <a:fillRect/>
          </a:stretch>
        </p:blipFill>
        <p:spPr>
          <a:xfrm>
            <a:off x="4064741" y="2509079"/>
            <a:ext cx="2946400" cy="419100"/>
          </a:xfrm>
          <a:prstGeom prst="rect">
            <a:avLst/>
          </a:prstGeom>
        </p:spPr>
      </p:pic>
      <p:pic>
        <p:nvPicPr>
          <p:cNvPr id="3" name="Picture 2">
            <a:extLst>
              <a:ext uri="{FF2B5EF4-FFF2-40B4-BE49-F238E27FC236}">
                <a16:creationId xmlns:a16="http://schemas.microsoft.com/office/drawing/2014/main" id="{A926AFD2-1D0E-377E-5CB4-1B561FBBD8E7}"/>
              </a:ext>
            </a:extLst>
          </p:cNvPr>
          <p:cNvPicPr>
            <a:picLocks noChangeAspect="1"/>
          </p:cNvPicPr>
          <p:nvPr/>
        </p:nvPicPr>
        <p:blipFill>
          <a:blip r:embed="rId4"/>
          <a:stretch>
            <a:fillRect/>
          </a:stretch>
        </p:blipFill>
        <p:spPr>
          <a:xfrm>
            <a:off x="4103945" y="2882798"/>
            <a:ext cx="1968500" cy="317500"/>
          </a:xfrm>
          <a:prstGeom prst="rect">
            <a:avLst/>
          </a:prstGeom>
        </p:spPr>
      </p:pic>
      <p:pic>
        <p:nvPicPr>
          <p:cNvPr id="6" name="Picture 5">
            <a:extLst>
              <a:ext uri="{FF2B5EF4-FFF2-40B4-BE49-F238E27FC236}">
                <a16:creationId xmlns:a16="http://schemas.microsoft.com/office/drawing/2014/main" id="{6D40BE92-7A8A-94C7-48F8-7D5B52DBB286}"/>
              </a:ext>
            </a:extLst>
          </p:cNvPr>
          <p:cNvPicPr>
            <a:picLocks noChangeAspect="1"/>
          </p:cNvPicPr>
          <p:nvPr/>
        </p:nvPicPr>
        <p:blipFill>
          <a:blip r:embed="rId5"/>
          <a:stretch>
            <a:fillRect/>
          </a:stretch>
        </p:blipFill>
        <p:spPr>
          <a:xfrm>
            <a:off x="3940502" y="3217506"/>
            <a:ext cx="2997200" cy="304800"/>
          </a:xfrm>
          <a:prstGeom prst="rect">
            <a:avLst/>
          </a:prstGeom>
        </p:spPr>
      </p:pic>
      <p:pic>
        <p:nvPicPr>
          <p:cNvPr id="7" name="Picture 6">
            <a:extLst>
              <a:ext uri="{FF2B5EF4-FFF2-40B4-BE49-F238E27FC236}">
                <a16:creationId xmlns:a16="http://schemas.microsoft.com/office/drawing/2014/main" id="{DA2A45C9-DD61-DF80-90C9-3852DA3908E1}"/>
              </a:ext>
            </a:extLst>
          </p:cNvPr>
          <p:cNvPicPr>
            <a:picLocks noChangeAspect="1"/>
          </p:cNvPicPr>
          <p:nvPr/>
        </p:nvPicPr>
        <p:blipFill>
          <a:blip r:embed="rId6"/>
          <a:stretch>
            <a:fillRect/>
          </a:stretch>
        </p:blipFill>
        <p:spPr>
          <a:xfrm>
            <a:off x="3818195" y="3576092"/>
            <a:ext cx="2540000" cy="330200"/>
          </a:xfrm>
          <a:prstGeom prst="rect">
            <a:avLst/>
          </a:prstGeom>
        </p:spPr>
      </p:pic>
      <p:pic>
        <p:nvPicPr>
          <p:cNvPr id="8" name="Picture 7">
            <a:extLst>
              <a:ext uri="{FF2B5EF4-FFF2-40B4-BE49-F238E27FC236}">
                <a16:creationId xmlns:a16="http://schemas.microsoft.com/office/drawing/2014/main" id="{07B55816-4601-04A5-7715-FB40D08E46B5}"/>
              </a:ext>
            </a:extLst>
          </p:cNvPr>
          <p:cNvPicPr>
            <a:picLocks noChangeAspect="1"/>
          </p:cNvPicPr>
          <p:nvPr/>
        </p:nvPicPr>
        <p:blipFill>
          <a:blip r:embed="rId7"/>
          <a:stretch>
            <a:fillRect/>
          </a:stretch>
        </p:blipFill>
        <p:spPr>
          <a:xfrm>
            <a:off x="2607002" y="4913832"/>
            <a:ext cx="5664200" cy="571500"/>
          </a:xfrm>
          <a:prstGeom prst="rect">
            <a:avLst/>
          </a:prstGeom>
        </p:spPr>
      </p:pic>
      <p:pic>
        <p:nvPicPr>
          <p:cNvPr id="9" name="Picture 8">
            <a:extLst>
              <a:ext uri="{FF2B5EF4-FFF2-40B4-BE49-F238E27FC236}">
                <a16:creationId xmlns:a16="http://schemas.microsoft.com/office/drawing/2014/main" id="{CE4E385B-434C-144A-1FF7-658B8195411E}"/>
              </a:ext>
            </a:extLst>
          </p:cNvPr>
          <p:cNvPicPr>
            <a:picLocks noChangeAspect="1"/>
          </p:cNvPicPr>
          <p:nvPr/>
        </p:nvPicPr>
        <p:blipFill>
          <a:blip r:embed="rId8"/>
          <a:stretch>
            <a:fillRect/>
          </a:stretch>
        </p:blipFill>
        <p:spPr>
          <a:xfrm>
            <a:off x="2607002" y="5631376"/>
            <a:ext cx="2921000" cy="406400"/>
          </a:xfrm>
          <a:prstGeom prst="rect">
            <a:avLst/>
          </a:prstGeom>
        </p:spPr>
      </p:pic>
    </p:spTree>
    <p:extLst>
      <p:ext uri="{BB962C8B-B14F-4D97-AF65-F5344CB8AC3E}">
        <p14:creationId xmlns:p14="http://schemas.microsoft.com/office/powerpoint/2010/main" val="3315592899"/>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Based on prediction</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18</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CA6EAE02-6E9F-3C43-8038-B4F6F9C986AA}"/>
                  </a:ext>
                </a:extLst>
              </p:cNvPr>
              <p:cNvSpPr/>
              <p:nvPr/>
            </p:nvSpPr>
            <p:spPr>
              <a:xfrm>
                <a:off x="957943" y="1704945"/>
                <a:ext cx="8980714" cy="4893647"/>
              </a:xfrm>
              <a:prstGeom prst="rect">
                <a:avLst/>
              </a:prstGeom>
            </p:spPr>
            <p:txBody>
              <a:bodyPr wrap="square">
                <a:spAutoFit/>
              </a:bodyPr>
              <a:lstStyle/>
              <a:p>
                <a:pPr marL="285750" indent="-285750">
                  <a:buFont typeface="Arial" panose="020B0604020202020204" pitchFamily="34" charset="0"/>
                  <a:buChar char="•"/>
                </a:pPr>
                <a:r>
                  <a:rPr lang="en-US" sz="2400" dirty="0"/>
                  <a:t>PRESS statistic</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Golub et al. (1979) proposed the GCV criterion to simplify the calculation </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In the R package </a:t>
                </a:r>
                <a:r>
                  <a:rPr lang="en-US" sz="2400" i="1" dirty="0"/>
                  <a:t>MASS</a:t>
                </a:r>
                <a:r>
                  <a:rPr lang="en-US" sz="2400" dirty="0"/>
                  <a:t>, </a:t>
                </a:r>
                <a:r>
                  <a:rPr lang="en-US" sz="2400" i="1" dirty="0" err="1"/>
                  <a:t>lm.ridge</a:t>
                </a:r>
                <a:r>
                  <a:rPr lang="en-US" sz="2400" dirty="0"/>
                  <a:t> implements the ridge regression, </a:t>
                </a:r>
                <a:r>
                  <a:rPr lang="en-US" sz="2400" i="1" dirty="0" err="1"/>
                  <a:t>kHKB</a:t>
                </a:r>
                <a:r>
                  <a:rPr lang="en-US" sz="2400" dirty="0"/>
                  <a:t> and </a:t>
                </a:r>
                <a:r>
                  <a:rPr lang="en-US" sz="2400" i="1" dirty="0" err="1"/>
                  <a:t>kLW</a:t>
                </a:r>
                <a:r>
                  <a:rPr lang="en-US" sz="2400" dirty="0"/>
                  <a:t> report two estimators for </a:t>
                </a:r>
                <a14:m>
                  <m:oMath xmlns:m="http://schemas.openxmlformats.org/officeDocument/2006/math">
                    <m:r>
                      <a:rPr lang="en-US" sz="2400" i="1" smtClean="0">
                        <a:latin typeface="Cambria Math" panose="02040503050406030204" pitchFamily="18" charset="0"/>
                        <a:ea typeface="Cambria Math" panose="02040503050406030204" pitchFamily="18" charset="0"/>
                      </a:rPr>
                      <m:t>𝜆</m:t>
                    </m:r>
                  </m:oMath>
                </a14:m>
                <a:r>
                  <a:rPr lang="en-US" sz="2400" dirty="0"/>
                  <a:t>, and </a:t>
                </a:r>
                <a:r>
                  <a:rPr lang="en-US" sz="2400" i="1" dirty="0"/>
                  <a:t>GCV </a:t>
                </a:r>
                <a:r>
                  <a:rPr lang="en-US" sz="2400" dirty="0"/>
                  <a:t>contains the GCV values for a sequence of </a:t>
                </a:r>
                <a14:m>
                  <m:oMath xmlns:m="http://schemas.openxmlformats.org/officeDocument/2006/math">
                    <m:r>
                      <a:rPr lang="en-US" sz="2400" i="1">
                        <a:latin typeface="Cambria Math" panose="02040503050406030204" pitchFamily="18" charset="0"/>
                        <a:ea typeface="Cambria Math" panose="02040503050406030204" pitchFamily="18" charset="0"/>
                      </a:rPr>
                      <m:t>𝜆</m:t>
                    </m:r>
                  </m:oMath>
                </a14:m>
                <a:endParaRPr lang="en-US" sz="2400" dirty="0"/>
              </a:p>
            </p:txBody>
          </p:sp>
        </mc:Choice>
        <mc:Fallback xmlns="">
          <p:sp>
            <p:nvSpPr>
              <p:cNvPr id="4" name="Rectangle 3">
                <a:extLst>
                  <a:ext uri="{FF2B5EF4-FFF2-40B4-BE49-F238E27FC236}">
                    <a16:creationId xmlns:a16="http://schemas.microsoft.com/office/drawing/2014/main" id="{CA6EAE02-6E9F-3C43-8038-B4F6F9C986AA}"/>
                  </a:ext>
                </a:extLst>
              </p:cNvPr>
              <p:cNvSpPr>
                <a:spLocks noRot="1" noChangeAspect="1" noMove="1" noResize="1" noEditPoints="1" noAdjustHandles="1" noChangeArrowheads="1" noChangeShapeType="1" noTextEdit="1"/>
              </p:cNvSpPr>
              <p:nvPr/>
            </p:nvSpPr>
            <p:spPr>
              <a:xfrm>
                <a:off x="957943" y="1704945"/>
                <a:ext cx="8980714" cy="4893647"/>
              </a:xfrm>
              <a:prstGeom prst="rect">
                <a:avLst/>
              </a:prstGeom>
              <a:blipFill>
                <a:blip r:embed="rId3"/>
                <a:stretch>
                  <a:fillRect l="-705" t="-775" b="-1809"/>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4AF2F744-B736-4A42-8451-58325B5517CE}"/>
              </a:ext>
            </a:extLst>
          </p:cNvPr>
          <p:cNvPicPr>
            <a:picLocks noChangeAspect="1"/>
          </p:cNvPicPr>
          <p:nvPr/>
        </p:nvPicPr>
        <p:blipFill>
          <a:blip r:embed="rId4"/>
          <a:stretch>
            <a:fillRect/>
          </a:stretch>
        </p:blipFill>
        <p:spPr>
          <a:xfrm>
            <a:off x="2771806" y="2232750"/>
            <a:ext cx="4991100" cy="800100"/>
          </a:xfrm>
          <a:prstGeom prst="rect">
            <a:avLst/>
          </a:prstGeom>
        </p:spPr>
      </p:pic>
      <p:pic>
        <p:nvPicPr>
          <p:cNvPr id="3" name="Picture 2">
            <a:extLst>
              <a:ext uri="{FF2B5EF4-FFF2-40B4-BE49-F238E27FC236}">
                <a16:creationId xmlns:a16="http://schemas.microsoft.com/office/drawing/2014/main" id="{AFC4BE61-99A6-C543-AE3F-92134A9BCB2A}"/>
              </a:ext>
            </a:extLst>
          </p:cNvPr>
          <p:cNvPicPr>
            <a:picLocks noChangeAspect="1"/>
          </p:cNvPicPr>
          <p:nvPr/>
        </p:nvPicPr>
        <p:blipFill>
          <a:blip r:embed="rId5"/>
          <a:stretch>
            <a:fillRect/>
          </a:stretch>
        </p:blipFill>
        <p:spPr>
          <a:xfrm>
            <a:off x="2907393" y="4256233"/>
            <a:ext cx="3568700" cy="863600"/>
          </a:xfrm>
          <a:prstGeom prst="rect">
            <a:avLst/>
          </a:prstGeom>
        </p:spPr>
      </p:pic>
    </p:spTree>
    <p:extLst>
      <p:ext uri="{BB962C8B-B14F-4D97-AF65-F5344CB8AC3E}">
        <p14:creationId xmlns:p14="http://schemas.microsoft.com/office/powerpoint/2010/main" val="418953016"/>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Simulation</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19</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CA6EAE02-6E9F-3C43-8038-B4F6F9C986AA}"/>
                  </a:ext>
                </a:extLst>
              </p:cNvPr>
              <p:cNvSpPr/>
              <p:nvPr/>
            </p:nvSpPr>
            <p:spPr>
              <a:xfrm>
                <a:off x="838200" y="2200093"/>
                <a:ext cx="8980714" cy="3170099"/>
              </a:xfrm>
              <a:prstGeom prst="rect">
                <a:avLst/>
              </a:prstGeom>
            </p:spPr>
            <p:txBody>
              <a:bodyPr wrap="square">
                <a:spAutoFit/>
              </a:bodyPr>
              <a:lstStyle/>
              <a:p>
                <a:pPr marL="285750" indent="-285750">
                  <a:buFont typeface="Arial" panose="020B0604020202020204" pitchFamily="34" charset="0"/>
                  <a:buChar char="•"/>
                </a:pPr>
                <a14:m>
                  <m:oMath xmlns:m="http://schemas.openxmlformats.org/officeDocument/2006/math">
                    <m:r>
                      <a:rPr lang="en-US" sz="2400" i="1" dirty="0" smtClean="0">
                        <a:latin typeface="Cambria Math" panose="02040503050406030204" pitchFamily="18" charset="0"/>
                      </a:rPr>
                      <m:t>𝑛</m:t>
                    </m:r>
                    <m:r>
                      <a:rPr lang="en-US" sz="2400" i="1" dirty="0" smtClean="0">
                        <a:latin typeface="Cambria Math" panose="02040503050406030204" pitchFamily="18" charset="0"/>
                      </a:rPr>
                      <m:t>=200, </m:t>
                    </m:r>
                    <m:r>
                      <a:rPr lang="en-US" sz="2400" i="1" dirty="0" smtClean="0">
                        <a:latin typeface="Cambria Math" panose="02040503050406030204" pitchFamily="18" charset="0"/>
                      </a:rPr>
                      <m:t>𝑝</m:t>
                    </m:r>
                    <m:r>
                      <a:rPr lang="en-US" sz="2400" i="1" dirty="0" smtClean="0">
                        <a:latin typeface="Cambria Math" panose="02040503050406030204" pitchFamily="18" charset="0"/>
                      </a:rPr>
                      <m:t>=100</m:t>
                    </m:r>
                  </m:oMath>
                </a14:m>
                <a:endParaRPr lang="en-US" sz="2400" dirty="0"/>
              </a:p>
              <a:p>
                <a:pPr marL="285750" indent="-285750">
                  <a:buFont typeface="Arial" panose="020B0604020202020204" pitchFamily="34" charset="0"/>
                  <a:buChar char="•"/>
                </a:pPr>
                <a14:m>
                  <m:oMath xmlns:m="http://schemas.openxmlformats.org/officeDocument/2006/math">
                    <m:r>
                      <a:rPr lang="en-US" sz="2400" i="1" smtClean="0">
                        <a:latin typeface="Cambria Math" panose="02040503050406030204" pitchFamily="18" charset="0"/>
                        <a:ea typeface="Cambria Math" panose="02040503050406030204" pitchFamily="18" charset="0"/>
                      </a:rPr>
                      <m:t>𝜆</m:t>
                    </m:r>
                  </m:oMath>
                </a14:m>
                <a:r>
                  <a:rPr lang="en-US" sz="2400" dirty="0"/>
                  <a:t> from </a:t>
                </a:r>
                <a14:m>
                  <m:oMath xmlns:m="http://schemas.openxmlformats.org/officeDocument/2006/math">
                    <m:r>
                      <a:rPr lang="en-US" sz="2400" i="1" dirty="0" smtClean="0">
                        <a:latin typeface="Cambria Math" panose="02040503050406030204" pitchFamily="18" charset="0"/>
                      </a:rPr>
                      <m:t>0</m:t>
                    </m:r>
                  </m:oMath>
                </a14:m>
                <a:r>
                  <a:rPr lang="en-US" sz="2400" dirty="0"/>
                  <a:t> to </a:t>
                </a:r>
                <a14:m>
                  <m:oMath xmlns:m="http://schemas.openxmlformats.org/officeDocument/2006/math">
                    <m:r>
                      <a:rPr lang="en-US" sz="2400" i="1" dirty="0" smtClean="0">
                        <a:latin typeface="Cambria Math" panose="02040503050406030204" pitchFamily="18" charset="0"/>
                      </a:rPr>
                      <m:t>70</m:t>
                    </m:r>
                  </m:oMath>
                </a14:m>
                <a:r>
                  <a:rPr lang="en-US" sz="2400" dirty="0"/>
                  <a:t> with step size </a:t>
                </a:r>
                <a14:m>
                  <m:oMath xmlns:m="http://schemas.openxmlformats.org/officeDocument/2006/math">
                    <m:r>
                      <a:rPr lang="en-US" sz="2400" i="1" dirty="0" smtClean="0">
                        <a:latin typeface="Cambria Math" panose="02040503050406030204" pitchFamily="18" charset="0"/>
                      </a:rPr>
                      <m:t>0.01</m:t>
                    </m:r>
                  </m:oMath>
                </a14:m>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We calculate</a:t>
                </a:r>
              </a:p>
              <a:p>
                <a:pPr marL="742950" lvl="1" indent="-285750">
                  <a:buFont typeface="Arial" panose="020B0604020202020204" pitchFamily="34" charset="0"/>
                  <a:buChar char="•"/>
                </a:pPr>
                <a:r>
                  <a:rPr lang="en-US" sz="2000" dirty="0"/>
                  <a:t>Theoretical bias, variance, and MSE</a:t>
                </a:r>
              </a:p>
              <a:p>
                <a:pPr marL="742950" lvl="1" indent="-285750">
                  <a:buFont typeface="Arial" panose="020B0604020202020204" pitchFamily="34" charset="0"/>
                  <a:buChar char="•"/>
                </a:pPr>
                <a14:m>
                  <m:oMath xmlns:m="http://schemas.openxmlformats.org/officeDocument/2006/math">
                    <m:r>
                      <a:rPr lang="en-US" sz="2000" i="1" smtClean="0">
                        <a:latin typeface="Cambria Math" panose="02040503050406030204" pitchFamily="18" charset="0"/>
                        <a:ea typeface="Cambria Math" panose="02040503050406030204" pitchFamily="18" charset="0"/>
                      </a:rPr>
                      <m:t>𝜆</m:t>
                    </m:r>
                  </m:oMath>
                </a14:m>
                <a:r>
                  <a:rPr lang="en-US" sz="2000" dirty="0"/>
                  <a:t>’s based on different approaches</a:t>
                </a:r>
              </a:p>
              <a:p>
                <a:pPr marL="742950" lvl="1" indent="-285750">
                  <a:buFont typeface="Arial" panose="020B0604020202020204" pitchFamily="34" charset="0"/>
                  <a:buChar char="•"/>
                </a:pPr>
                <a:r>
                  <a:rPr lang="en-US" sz="2000" dirty="0"/>
                  <a:t>Prediction error in the testing dataset, which follows the same data generating process as the training dataset</a:t>
                </a:r>
              </a:p>
            </p:txBody>
          </p:sp>
        </mc:Choice>
        <mc:Fallback xmlns="">
          <p:sp>
            <p:nvSpPr>
              <p:cNvPr id="4" name="Rectangle 3">
                <a:extLst>
                  <a:ext uri="{FF2B5EF4-FFF2-40B4-BE49-F238E27FC236}">
                    <a16:creationId xmlns:a16="http://schemas.microsoft.com/office/drawing/2014/main" id="{CA6EAE02-6E9F-3C43-8038-B4F6F9C986AA}"/>
                  </a:ext>
                </a:extLst>
              </p:cNvPr>
              <p:cNvSpPr>
                <a:spLocks noRot="1" noChangeAspect="1" noMove="1" noResize="1" noEditPoints="1" noAdjustHandles="1" noChangeArrowheads="1" noChangeShapeType="1" noTextEdit="1"/>
              </p:cNvSpPr>
              <p:nvPr/>
            </p:nvSpPr>
            <p:spPr>
              <a:xfrm>
                <a:off x="838200" y="2200093"/>
                <a:ext cx="8980714" cy="3170099"/>
              </a:xfrm>
              <a:prstGeom prst="rect">
                <a:avLst/>
              </a:prstGeom>
              <a:blipFill>
                <a:blip r:embed="rId3"/>
                <a:stretch>
                  <a:fillRect l="-989" t="-1200" b="-2800"/>
                </a:stretch>
              </a:blipFill>
            </p:spPr>
            <p:txBody>
              <a:bodyPr/>
              <a:lstStyle/>
              <a:p>
                <a:r>
                  <a:rPr lang="en-US">
                    <a:noFill/>
                  </a:rPr>
                  <a:t> </a:t>
                </a:r>
              </a:p>
            </p:txBody>
          </p:sp>
        </mc:Fallback>
      </mc:AlternateContent>
    </p:spTree>
    <p:extLst>
      <p:ext uri="{BB962C8B-B14F-4D97-AF65-F5344CB8AC3E}">
        <p14:creationId xmlns:p14="http://schemas.microsoft.com/office/powerpoint/2010/main" val="2630583927"/>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Simulation</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20</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4F5EA331-AAB8-BD43-8FEA-3FFBB380DA28}"/>
              </a:ext>
            </a:extLst>
          </p:cNvPr>
          <p:cNvPicPr>
            <a:picLocks noChangeAspect="1"/>
          </p:cNvPicPr>
          <p:nvPr/>
        </p:nvPicPr>
        <p:blipFill>
          <a:blip r:embed="rId3"/>
          <a:stretch>
            <a:fillRect/>
          </a:stretch>
        </p:blipFill>
        <p:spPr>
          <a:xfrm>
            <a:off x="1598386" y="1632722"/>
            <a:ext cx="7797800" cy="4318000"/>
          </a:xfrm>
          <a:prstGeom prst="rect">
            <a:avLst/>
          </a:prstGeom>
        </p:spPr>
      </p:pic>
    </p:spTree>
    <p:extLst>
      <p:ext uri="{BB962C8B-B14F-4D97-AF65-F5344CB8AC3E}">
        <p14:creationId xmlns:p14="http://schemas.microsoft.com/office/powerpoint/2010/main" val="2496649906"/>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EEBF282F-030B-264B-922C-B5D0902A1D17}"/>
              </a:ext>
            </a:extLst>
          </p:cNvPr>
          <p:cNvSpPr>
            <a:spLocks noGrp="1" noChangeArrowheads="1"/>
          </p:cNvSpPr>
          <p:nvPr>
            <p:ph type="title"/>
          </p:nvPr>
        </p:nvSpPr>
        <p:spPr/>
        <p:txBody>
          <a:bodyPr/>
          <a:lstStyle/>
          <a:p>
            <a:r>
              <a:rPr lang="en-US" altLang="zh-CN"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rPr>
              <a:t>Simulation</a:t>
            </a:r>
            <a:endParaRPr lang="zh-CN" altLang="en-US" sz="3200" b="1" dirty="0">
              <a:solidFill>
                <a:srgbClr val="005825"/>
              </a:solidFill>
              <a:latin typeface="Microsoft YaHei" panose="020B0503020204020204" pitchFamily="34" charset="-122"/>
              <a:ea typeface="Microsoft YaHei" panose="020B0503020204020204" pitchFamily="34" charset="-122"/>
              <a:cs typeface="Arial Unicode MS" panose="020B0604020202020204" pitchFamily="34" charset="-128"/>
            </a:endParaRPr>
          </a:p>
        </p:txBody>
      </p:sp>
      <p:sp>
        <p:nvSpPr>
          <p:cNvPr id="8196" name="灯片编号占位符 3">
            <a:extLst>
              <a:ext uri="{FF2B5EF4-FFF2-40B4-BE49-F238E27FC236}">
                <a16:creationId xmlns:a16="http://schemas.microsoft.com/office/drawing/2014/main" id="{EE7BDD73-DD09-124F-9C0F-E4524FDFD33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2"/>
                </a:solidFill>
                <a:latin typeface="Verdana" panose="020B0604030504040204" pitchFamily="34" charset="0"/>
                <a:ea typeface="宋体" panose="02010600030101010101" pitchFamily="2" charset="-122"/>
              </a:defRPr>
            </a:lvl1pPr>
            <a:lvl2pPr marL="742932" indent="-285744">
              <a:defRPr>
                <a:solidFill>
                  <a:schemeClr val="tx2"/>
                </a:solidFill>
                <a:latin typeface="Verdana" panose="020B0604030504040204" pitchFamily="34" charset="0"/>
                <a:ea typeface="宋体" panose="02010600030101010101" pitchFamily="2" charset="-122"/>
              </a:defRPr>
            </a:lvl2pPr>
            <a:lvl3pPr marL="1142971" indent="-228594">
              <a:defRPr>
                <a:solidFill>
                  <a:schemeClr val="tx2"/>
                </a:solidFill>
                <a:latin typeface="Verdana" panose="020B0604030504040204" pitchFamily="34" charset="0"/>
                <a:ea typeface="宋体" panose="02010600030101010101" pitchFamily="2" charset="-122"/>
              </a:defRPr>
            </a:lvl3pPr>
            <a:lvl4pPr marL="1600160" indent="-228594">
              <a:defRPr>
                <a:solidFill>
                  <a:schemeClr val="tx2"/>
                </a:solidFill>
                <a:latin typeface="Verdana" panose="020B0604030504040204" pitchFamily="34" charset="0"/>
                <a:ea typeface="宋体" panose="02010600030101010101" pitchFamily="2" charset="-122"/>
              </a:defRPr>
            </a:lvl4pPr>
            <a:lvl5pPr marL="2057349" indent="-228594">
              <a:defRPr>
                <a:solidFill>
                  <a:schemeClr val="tx2"/>
                </a:solidFill>
                <a:latin typeface="Verdana" panose="020B0604030504040204" pitchFamily="34" charset="0"/>
                <a:ea typeface="宋体" panose="02010600030101010101" pitchFamily="2" charset="-122"/>
              </a:defRPr>
            </a:lvl5pPr>
            <a:lvl6pPr marL="2514537"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6pPr>
            <a:lvl7pPr marL="2971726"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7pPr>
            <a:lvl8pPr marL="3428914"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8pPr>
            <a:lvl9pPr marL="3886103" indent="-228594" eaLnBrk="0" fontAlgn="base" hangingPunct="0">
              <a:spcBef>
                <a:spcPct val="0"/>
              </a:spcBef>
              <a:spcAft>
                <a:spcPct val="0"/>
              </a:spcAft>
              <a:defRPr>
                <a:solidFill>
                  <a:schemeClr val="tx2"/>
                </a:solidFill>
                <a:latin typeface="Verdana" panose="020B0604030504040204" pitchFamily="34" charset="0"/>
                <a:ea typeface="宋体" panose="02010600030101010101" pitchFamily="2" charset="-122"/>
              </a:defRPr>
            </a:lvl9pPr>
          </a:lstStyle>
          <a:p>
            <a:fld id="{0588FD2E-32F7-E244-AA23-3ABBFBA339D8}" type="slidenum">
              <a:rPr lang="zh-CN" altLang="en-US" smtClean="0">
                <a:solidFill>
                  <a:schemeClr val="tx1"/>
                </a:solidFill>
                <a:ea typeface="Arial Unicode MS" panose="020B0604020202020204" pitchFamily="34" charset="-128"/>
                <a:cs typeface="Arial Unicode MS" panose="020B0604020202020204" pitchFamily="34" charset="-128"/>
              </a:rPr>
              <a:pPr/>
              <a:t>21</a:t>
            </a:fld>
            <a:endParaRPr lang="en-US" altLang="zh-CN">
              <a:solidFill>
                <a:schemeClr val="tx1"/>
              </a:solidFill>
              <a:ea typeface="Arial Unicode MS" panose="020B0604020202020204" pitchFamily="34" charset="-128"/>
              <a:cs typeface="Arial Unicode MS" panose="020B0604020202020204" pitchFamily="34" charset="-128"/>
            </a:endParaRPr>
          </a:p>
        </p:txBody>
      </p:sp>
      <p:cxnSp>
        <p:nvCxnSpPr>
          <p:cNvPr id="5" name="直接连接符 4">
            <a:extLst>
              <a:ext uri="{FF2B5EF4-FFF2-40B4-BE49-F238E27FC236}">
                <a16:creationId xmlns:a16="http://schemas.microsoft.com/office/drawing/2014/main" id="{3BF993CF-7201-3D4F-B2C9-6665BA768E54}"/>
              </a:ext>
            </a:extLst>
          </p:cNvPr>
          <p:cNvCxnSpPr>
            <a:cxnSpLocks/>
          </p:cNvCxnSpPr>
          <p:nvPr/>
        </p:nvCxnSpPr>
        <p:spPr>
          <a:xfrm>
            <a:off x="838200" y="1280160"/>
            <a:ext cx="8858312" cy="4900"/>
          </a:xfrm>
          <a:prstGeom prst="line">
            <a:avLst/>
          </a:prstGeom>
          <a:ln w="34925">
            <a:solidFill>
              <a:srgbClr val="005825"/>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A4BC977A-C2B9-9646-8A44-C116924F2632}"/>
              </a:ext>
            </a:extLst>
          </p:cNvPr>
          <p:cNvPicPr>
            <a:picLocks noChangeAspect="1"/>
          </p:cNvPicPr>
          <p:nvPr/>
        </p:nvPicPr>
        <p:blipFill>
          <a:blip r:embed="rId3"/>
          <a:stretch>
            <a:fillRect/>
          </a:stretch>
        </p:blipFill>
        <p:spPr>
          <a:xfrm>
            <a:off x="1082706" y="1795578"/>
            <a:ext cx="9149866" cy="4368800"/>
          </a:xfrm>
          <a:prstGeom prst="rect">
            <a:avLst/>
          </a:prstGeom>
        </p:spPr>
      </p:pic>
    </p:spTree>
    <p:extLst>
      <p:ext uri="{BB962C8B-B14F-4D97-AF65-F5344CB8AC3E}">
        <p14:creationId xmlns:p14="http://schemas.microsoft.com/office/powerpoint/2010/main" val="1257184179"/>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
  <p:tag name="PROBLEMSCORE_HALF" val="0"/>
  <p:tag name="PROBLEMHASREMARK" val="False"/>
</p:tagLst>
</file>

<file path=ppt/tags/tag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21611</TotalTime>
  <Words>1118</Words>
  <Application>Microsoft Office PowerPoint</Application>
  <PresentationFormat>宽屏</PresentationFormat>
  <Paragraphs>212</Paragraphs>
  <Slides>21</Slides>
  <Notes>19</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21</vt:i4>
      </vt:variant>
    </vt:vector>
  </HeadingPairs>
  <TitlesOfParts>
    <vt:vector size="31" baseType="lpstr">
      <vt:lpstr>Arial Unicode MS</vt:lpstr>
      <vt:lpstr>Arial</vt:lpstr>
      <vt:lpstr>Calibri</vt:lpstr>
      <vt:lpstr>Cambria Math</vt:lpstr>
      <vt:lpstr>Times New Roman</vt:lpstr>
      <vt:lpstr>Wingdings</vt:lpstr>
      <vt:lpstr>微软雅黑</vt:lpstr>
      <vt:lpstr>微软雅黑</vt:lpstr>
      <vt:lpstr>微软雅黑</vt:lpstr>
      <vt:lpstr>Office Theme</vt:lpstr>
      <vt:lpstr>Ridge regression</vt:lpstr>
      <vt:lpstr>Motivation</vt:lpstr>
      <vt:lpstr>Motivation</vt:lpstr>
      <vt:lpstr>Dual problem</vt:lpstr>
      <vt:lpstr>PowerPoint 演示文稿</vt:lpstr>
      <vt:lpstr>Ridge estimator</vt:lpstr>
      <vt:lpstr>Ridge estimator</vt:lpstr>
      <vt:lpstr>Ridge estimator</vt:lpstr>
      <vt:lpstr>Computation</vt:lpstr>
      <vt:lpstr>Computation</vt:lpstr>
      <vt:lpstr>Statistical properties</vt:lpstr>
      <vt:lpstr>Statistical properties</vt:lpstr>
      <vt:lpstr>Bias-variance tradeoff</vt:lpstr>
      <vt:lpstr>Selection of the tuning parameter</vt:lpstr>
      <vt:lpstr>Based on parameter estimation</vt:lpstr>
      <vt:lpstr>Based on parameter estimation</vt:lpstr>
      <vt:lpstr>Based on prediction</vt:lpstr>
      <vt:lpstr>Based on prediction</vt:lpstr>
      <vt:lpstr>Simulation</vt:lpstr>
      <vt:lpstr>Simulation</vt:lpstr>
      <vt:lpstr>Simulation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求职汇报</dc:title>
  <dc:creator>Microsoft Office User</dc:creator>
  <cp:lastModifiedBy>gl1der easy</cp:lastModifiedBy>
  <cp:revision>185</cp:revision>
  <dcterms:created xsi:type="dcterms:W3CDTF">2022-01-07T20:32:42Z</dcterms:created>
  <dcterms:modified xsi:type="dcterms:W3CDTF">2025-11-05T09:43:25Z</dcterms:modified>
</cp:coreProperties>
</file>