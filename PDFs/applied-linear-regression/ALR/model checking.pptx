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808" r:id="rId3"/>
    <p:sldId id="814" r:id="rId4"/>
    <p:sldId id="751" r:id="rId5"/>
    <p:sldId id="752" r:id="rId6"/>
    <p:sldId id="697" r:id="rId7"/>
    <p:sldId id="707" r:id="rId8"/>
    <p:sldId id="708" r:id="rId9"/>
    <p:sldId id="709" r:id="rId10"/>
    <p:sldId id="809" r:id="rId11"/>
    <p:sldId id="819" r:id="rId12"/>
    <p:sldId id="818" r:id="rId13"/>
    <p:sldId id="816" r:id="rId14"/>
    <p:sldId id="810" r:id="rId15"/>
    <p:sldId id="710" r:id="rId16"/>
    <p:sldId id="711" r:id="rId17"/>
    <p:sldId id="712" r:id="rId18"/>
    <p:sldId id="713" r:id="rId19"/>
    <p:sldId id="714" r:id="rId20"/>
    <p:sldId id="715" r:id="rId21"/>
    <p:sldId id="716" r:id="rId22"/>
    <p:sldId id="717" r:id="rId23"/>
    <p:sldId id="718" r:id="rId24"/>
    <p:sldId id="811" r:id="rId25"/>
    <p:sldId id="719" r:id="rId26"/>
    <p:sldId id="812" r:id="rId27"/>
    <p:sldId id="720" r:id="rId28"/>
    <p:sldId id="721" r:id="rId29"/>
    <p:sldId id="813" r:id="rId30"/>
    <p:sldId id="723" r:id="rId31"/>
    <p:sldId id="724" r:id="rId32"/>
    <p:sldId id="725" r:id="rId33"/>
    <p:sldId id="815" r:id="rId34"/>
    <p:sldId id="817" r:id="rId35"/>
    <p:sldId id="726" r:id="rId36"/>
    <p:sldId id="727" r:id="rId37"/>
    <p:sldId id="72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73"/>
    <p:restoredTop sz="85966"/>
  </p:normalViewPr>
  <p:slideViewPr>
    <p:cSldViewPr snapToGrid="0" snapToObjects="1">
      <p:cViewPr varScale="1">
        <p:scale>
          <a:sx n="177" d="100"/>
          <a:sy n="177" d="100"/>
        </p:scale>
        <p:origin x="30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FD691-5F70-3545-8431-8DFF5A6F81F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F79CE-CD64-3E46-8DDE-E612CD09D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84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56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1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11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Proof of the variance decomposition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6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Proof of the second equality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 between </a:t>
            </a:r>
            <a:r>
              <a:rPr lang="en-US" dirty="0" err="1"/>
              <a:t>chisq</a:t>
            </a:r>
            <a:r>
              <a:rPr lang="en-US" dirty="0"/>
              <a:t>  Gamma and Beta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42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4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35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42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12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 people use sample variance for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6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advanced result on the leverage scores is due to Huber (1973). He proved that in the linear model with non-Normal IID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∼ [0,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σ2]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σ2 &lt; ∞,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linear combinations of the OLS coefficient are asymptotically Normal if and only if the maximum leverage score converges to 0.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9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4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what if h_{ii}=1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52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84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34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82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47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87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54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obtain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n+1) from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n), the adjustment depends on the predicted residual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εˆ[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n+1]. If we have perfect prediction of the 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(n+1)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observation based on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n), then we do not need to make any adjustment to obtain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n+1); if the predicted residual is large, then we need to make a large adjustment.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39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275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Standardized residual is sometimes called internally studentized residual, and the studentized residual is externally studentized residual.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68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Relationship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79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427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the outliers detection methods above are very classic, they are rarely implemented in modern data analyses. They are simple and useful diagnostics. I recommend using them at least as a part of the exploratory data analysis.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59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Jackknife</a:t>
            </a:r>
            <a:r>
              <a:rPr lang="zh-CN" altLang="en-US" dirty="0"/>
              <a:t> </a:t>
            </a:r>
            <a:r>
              <a:rPr lang="en-US" altLang="zh-CN" dirty="0"/>
              <a:t>leads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Bootstrap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848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03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6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10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5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image" Target="../media/image13.png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image" Target="../media/image160.png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34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image" Target="../media/image19.png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5.xml"/><Relationship Id="rId21" Type="http://schemas.openxmlformats.org/officeDocument/2006/relationships/image" Target="../media/image13.pn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image" Target="../media/image66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19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3" Type="http://schemas.openxmlformats.org/officeDocument/2006/relationships/tags" Target="../tags/tag62.xml"/><Relationship Id="rId21" Type="http://schemas.openxmlformats.org/officeDocument/2006/relationships/image" Target="../media/image13.png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Model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fitting and checking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Motivation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568000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have learnt estimation and inference under a specified model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But, does the model fit well for the data?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How robust is the result?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Residual plots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：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heuristic diagnostics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Residual plots: residuals vs. fitted values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Linearity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 violated if residuals show systematic curvature</a:t>
            </a:r>
            <a:endParaRPr lang="en-US" altLang="zh-CN" sz="16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Homoskedasticity: violated if residuals fan out or narrow down with fitted values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Normality: Q-Q plots of residuals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Outliers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 talk about this later 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8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Residual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plots: example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4D1528D-B34B-3C49-BBC2-02FB0169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37853"/>
            <a:ext cx="8435351" cy="384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6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6D837-0DD6-EB4F-AA37-9985A7910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41" y="0"/>
            <a:ext cx="7117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5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Multiple correlation coefficient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Pearson correlation coefficient measures the correlation between two scalars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Multiple correlation coefficient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Measures the correlation between a scalar outcome and a vector covariate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Measures how well multiple covariates can linearly represent an outcome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Equivalent definitions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𝟐</m:t>
                        </m:r>
                      </m:sup>
                    </m:sSup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5E52CFF8-5D91-2F4E-A82F-20B19F1BF71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excludes the column of 1’s in this part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: Percentage  of variance explained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Based on the regression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5E52CFF8-5D91-2F4E-A82F-20B19F1BF7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blipFill>
                <a:blip r:embed="rId4"/>
                <a:stretch>
                  <a:fillRect l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053A684-8D8E-D94D-8936-852A0B464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010" y="2885085"/>
            <a:ext cx="2514600" cy="83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B2714-58EB-E94B-8D79-BC9CEA21BF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716" y="3846889"/>
            <a:ext cx="5918200" cy="88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28B72-FA49-A14A-A0C5-BE724DF17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4766" y="4697019"/>
            <a:ext cx="4864100" cy="901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E69AA8-1BAF-E24F-A4D3-B9158245AC69}"/>
              </a:ext>
            </a:extLst>
          </p:cNvPr>
          <p:cNvSpPr txBox="1"/>
          <p:nvPr/>
        </p:nvSpPr>
        <p:spPr>
          <a:xfrm>
            <a:off x="2316480" y="5755881"/>
            <a:ext cx="709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sum of squares = regression sum of squares + residual sum of squares</a:t>
            </a:r>
          </a:p>
        </p:txBody>
      </p:sp>
    </p:spTree>
    <p:extLst>
      <p:ext uri="{BB962C8B-B14F-4D97-AF65-F5344CB8AC3E}">
        <p14:creationId xmlns:p14="http://schemas.microsoft.com/office/powerpoint/2010/main" val="9615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8AF77E0-C289-6207-F733-6EB32782B94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Residual sum of squares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Based on the regression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Long regression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Short regression 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8AF77E0-C289-6207-F733-6EB32782B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blipFill>
                <a:blip r:embed="rId3"/>
                <a:stretch>
                  <a:fillRect l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Equivalent definitions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𝟐</m:t>
                        </m:r>
                      </m:sup>
                    </m:sSup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6C3FF-7861-FC47-AC7C-EECFF55F3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882" y="1641093"/>
            <a:ext cx="3340100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B2BA16-B766-DA47-94F7-99B216906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728" y="3760752"/>
            <a:ext cx="23749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E535B7-B434-5148-AC7E-8745413865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728" y="4316376"/>
            <a:ext cx="1803400" cy="482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D26045-DFF1-D742-810F-657CCE9045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5360" y="4892953"/>
            <a:ext cx="2717800" cy="749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196E56-EA84-E8EC-2383-92C7F1C8A3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7460" y="2220251"/>
            <a:ext cx="4874736" cy="8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6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5DABAAE-73DF-C613-FCC3-A05ECD9EF96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Normal linear model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RSS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𝑅𝑅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𝑙𝑜𝑛𝑔</m:t>
                            </m:r>
                          </m:sub>
                        </m:s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)/(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𝑅𝑆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𝑙𝑜𝑛𝑔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5DABAAE-73DF-C613-FCC3-A05ECD9EF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blipFill>
                <a:blip r:embed="rId3"/>
                <a:stretch>
                  <a:fillRect l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</a:t>
                </a:r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and</a:t>
                </a:r>
                <a:r>
                  <a:rPr lang="zh-CN" altLang="en-US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</a:t>
                </a:r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the F statistic</a:t>
                </a:r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68E5B9-A4B7-904D-8B44-E32A3DF92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100" y="4354510"/>
            <a:ext cx="32639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D062A82-59CE-5CAF-8F2B-210AEFB67A6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787E28E-85FD-CE62-E534-0919E75C6F8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4DD6F5B2-7F19-6417-10F2-586C072971E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3D4313D-B5AF-6380-61B7-F1126A53DDE1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E4DF8F6-F20D-0D52-3BA8-182F53B13636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3881A87-8CB2-9722-A01E-3516A710E6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are correct?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E587C-840D-D97B-8F59-8BB04136D7B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017521"/>
            <a:ext cx="8534400" cy="41148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CN" sz="2000"/>
              <a:t>R</a:t>
            </a:r>
            <a:r>
              <a:rPr lang="en-CN" sz="2000" baseline="30000"/>
              <a:t>2</a:t>
            </a:r>
            <a:r>
              <a:rPr lang="en-CN" sz="2000"/>
              <a:t> is a measure of the influence of </a:t>
            </a:r>
            <a:r>
              <a:rPr lang="en-US" sz="2000" dirty="0"/>
              <a:t>covariates </a:t>
            </a:r>
            <a:r>
              <a:rPr lang="en-CN" sz="2000"/>
              <a:t>on the resposne variable.</a:t>
            </a:r>
          </a:p>
          <a:p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74A95F-1110-4EB0-666B-160EFF7F5C9C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3357563"/>
                <a:ext cx="88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000" dirty="0"/>
                  <a:t>R</a:t>
                </a:r>
                <a:r>
                  <a:rPr lang="en-CN" sz="2000" baseline="30000" dirty="0"/>
                  <a:t>2 </a:t>
                </a:r>
                <a:r>
                  <a:rPr lang="en-CN" sz="2000" dirty="0"/>
                  <a:t>*100 percent of the variation in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CN" sz="2000" dirty="0"/>
                  <a:t> is reduced by taking into account predictors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N" sz="20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74A95F-1110-4EB0-666B-160EFF7F5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38400" y="3357563"/>
                <a:ext cx="8800800" cy="642938"/>
              </a:xfrm>
              <a:prstGeom prst="rect">
                <a:avLst/>
              </a:prstGeom>
              <a:blipFill>
                <a:blip r:embed="rId24"/>
                <a:stretch>
                  <a:fillRect l="-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64A17F-2690-BA88-0492-ED96F833283D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3929063"/>
                <a:ext cx="9016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000" dirty="0"/>
                  <a:t>R</a:t>
                </a:r>
                <a:r>
                  <a:rPr lang="en-CN" sz="2000" baseline="30000" dirty="0"/>
                  <a:t>2 </a:t>
                </a:r>
                <a:r>
                  <a:rPr lang="en-CN" sz="2000" dirty="0"/>
                  <a:t>*100 percent of the variation in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CN" sz="2000" dirty="0"/>
                  <a:t> is accounted for by the variation in predictors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N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64A17F-2690-BA88-0492-ED96F8332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438400" y="3929063"/>
                <a:ext cx="9016800" cy="642938"/>
              </a:xfrm>
              <a:prstGeom prst="rect">
                <a:avLst/>
              </a:prstGeom>
              <a:blipFill>
                <a:blip r:embed="rId26"/>
                <a:stretch>
                  <a:fillRect l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23E7C04-E054-28B6-C42F-CA078B659A5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903199"/>
            <a:ext cx="8534400" cy="240301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CN" sz="2000"/>
              <a:t>A high R</a:t>
            </a:r>
            <a:r>
              <a:rPr lang="en-CN" sz="2000" baseline="30000"/>
              <a:t>2</a:t>
            </a:r>
            <a:r>
              <a:rPr lang="en-CN" sz="2000"/>
              <a:t> means that the estimated regression line fits the data well. </a:t>
            </a:r>
          </a:p>
          <a:p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F38E17-FC84-7F02-D542-3A6BB2F3D3B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31F3BD-5A18-45A3-569A-A44E915D4F5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4C1E6C-F766-5A95-8DF8-1CE3E84BAA0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11F83-1A82-F017-BAA3-3F95993992DD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BEB9C50-4AE4-A671-39CA-59997C1E2B0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351175-800B-1F30-64B2-586AD9C816C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CN" sz="2000"/>
              <a:t>A high R</a:t>
            </a:r>
            <a:r>
              <a:rPr lang="en-CN" sz="2000" baseline="30000"/>
              <a:t>2</a:t>
            </a:r>
            <a:r>
              <a:rPr lang="en-CN" sz="2000"/>
              <a:t> is a proof that a correct model has been specified</a:t>
            </a:r>
            <a:r>
              <a:rPr lang="en-US" sz="2000" dirty="0"/>
              <a:t>.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2089E2-B766-1F69-B4DD-98DE706ECBAB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995F20-9EDC-020F-15EF-4F9BF544EE7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CN" sz="2000"/>
              <a:t>A model with higher R</a:t>
            </a:r>
            <a:r>
              <a:rPr lang="en-CN" sz="2000" baseline="30000"/>
              <a:t>2</a:t>
            </a:r>
            <a:r>
              <a:rPr lang="en-CN" sz="2000"/>
              <a:t> is better than another model </a:t>
            </a:r>
            <a:r>
              <a:rPr lang="en-US" sz="2000" dirty="0"/>
              <a:t>with</a:t>
            </a:r>
            <a:r>
              <a:rPr lang="en-CN" sz="2000"/>
              <a:t> a lower R</a:t>
            </a:r>
            <a:r>
              <a:rPr lang="en-CN" sz="2000" baseline="30000"/>
              <a:t>2</a:t>
            </a:r>
            <a:r>
              <a:rPr lang="en-CN" sz="2000"/>
              <a:t>.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3EF1F5-A7ED-2ADC-DD87-3D7C5FBBACA6}"/>
              </a:ext>
            </a:extLst>
          </p:cNvPr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EBB04-3AC7-E530-97F6-652481D67E9D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424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Anscombe’s Quartet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80DCA8C-01FA-624F-8551-E0D7956931D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1" y="1554480"/>
            <a:ext cx="9651998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D7103-99C5-6359-296E-24EF5AD43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817" y="1312076"/>
            <a:ext cx="5831789" cy="527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05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Some remarks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𝟐</m:t>
                        </m:r>
                      </m:sup>
                    </m:sSup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510400" cy="5170460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Don't conclude a model is "good" based on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algn="l" rtl="0"/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Plot the data</a:t>
                </a:r>
              </a:p>
              <a:p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Be cautious</a:t>
                </a:r>
                <a:r>
                  <a:rPr lang="zh-CN" alt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if you see a value of 0.9 or more</a:t>
                </a:r>
              </a:p>
              <a:p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Don't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to compare models</a:t>
                </a:r>
              </a:p>
              <a:p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Take context into account</a:t>
                </a: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When your predictor or outcome variables are categorical or counts, the </a:t>
                </a:r>
                <a:r>
                  <a:rPr lang="en-US" sz="16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will typically be lower than with truly numeric data.</a:t>
                </a: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The more true noise in the data, the lower the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. </a:t>
                </a: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When you have more observations, the </a:t>
                </a:r>
                <a:r>
                  <a:rPr lang="en-US" sz="16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 gets lower.</a:t>
                </a: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When you have more predictor variables, the </a:t>
                </a:r>
                <a:r>
                  <a:rPr lang="en-US" sz="16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sz="1600" b="0" i="1" u="none" strike="noStrike" dirty="0">
                    <a:solidFill>
                      <a:srgbClr val="1C283B"/>
                    </a:solidFill>
                    <a:effectLst/>
                  </a:rPr>
                  <a:t> </a:t>
                </a:r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gets higher </a:t>
                </a: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When your model excludes variables that are obviously important, the</a:t>
                </a:r>
                <a:r>
                  <a:rPr lang="en-US" sz="1600" b="0" i="1" u="none" strike="noStrike" dirty="0">
                    <a:solidFill>
                      <a:srgbClr val="1C283B"/>
                    </a:solidFill>
                    <a:effectLst/>
                  </a:rPr>
                  <a:t> </a:t>
                </a:r>
                <a:r>
                  <a:rPr lang="en-US" sz="16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will necessarily be small.</a:t>
                </a:r>
                <a:endParaRPr lang="en-US" sz="1600" dirty="0">
                  <a:solidFill>
                    <a:srgbClr val="1C283B"/>
                  </a:solidFill>
                </a:endParaRPr>
              </a:p>
              <a:p>
                <a:pPr lvl="1"/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Models based on aggregated data have much higher </a:t>
                </a:r>
                <a:r>
                  <a:rPr lang="en-US" sz="16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1C283B"/>
                    </a:solidFill>
                    <a:effectLst/>
                  </a:rPr>
                  <a:t>statistics than those based on case-level data.</a:t>
                </a:r>
              </a:p>
              <a:p>
                <a:r>
                  <a:rPr lang="en-US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Use R-Squared to work out overall fit</a:t>
                </a:r>
              </a:p>
              <a:p>
                <a:endParaRPr lang="en-US" sz="2000" b="0" i="0" u="none" strike="noStrike" dirty="0">
                  <a:solidFill>
                    <a:srgbClr val="1C283B"/>
                  </a:solidFill>
                  <a:effectLst/>
                </a:endParaRPr>
              </a:p>
              <a:p>
                <a:endParaRPr lang="en-US" sz="2000" b="0" i="0" u="none" strike="noStrike" dirty="0">
                  <a:solidFill>
                    <a:srgbClr val="1C283B"/>
                  </a:solidFill>
                  <a:effectLst/>
                </a:endParaRPr>
              </a:p>
              <a:p>
                <a:pPr lvl="1"/>
                <a:endParaRPr lang="en-US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FF0000"/>
                  </a:buClr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510400" cy="5170460"/>
              </a:xfrm>
              <a:blipFill>
                <a:blip r:embed="rId4"/>
                <a:stretch>
                  <a:fillRect l="-1043" t="-1716" r="-596" b="-12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64445CC-1D9A-5854-D835-F06C5686DBE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33E8286-0067-5DD1-ACB1-756A1C83F2E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5F10FEAD-D13A-0B9B-EE2D-CD205BD6167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83DC4217-C400-6FE8-8E24-8F2DE8891AE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0C93E4C1-123A-DEEF-6781-B4DF9918EC94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D7EA246-63D4-FFFC-EF24-4F108BA8E4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we duplicate the data, which of the following will change?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57DE1-BBF0-ED2E-6087-350BBE45730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OLS estimate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4D074-497D-8EAE-2C98-FDD0897203F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Variance estimate under homoskedasticity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26B94-C686-58C2-6F8C-EC9187389A5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EHW variance estimate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EED8B0-DACD-512E-F28E-3545C04459B3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</m:oMath>
                </a14:m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value of each OLS estimate</a:t>
                </a:r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EED8B0-DACD-512E-F28E-3545C0445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>
                <a:blip r:embed="rId23"/>
                <a:stretch>
                  <a:fillRect l="-297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ED1675A-30C8-EA54-542A-9CF779B99DB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344856-D4D1-8D8F-2D17-E0338FD70EF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D8E05C-E022-69C3-8302-F700618C0CA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3D2EE-3011-519A-725A-9A4F6840A31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EADB798-D8B3-785D-9131-5951072D3D1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9E1FA7-268F-AACA-F894-B4433A6C82EF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438400" y="5072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𝑅</m:t>
                          </m:r>
                        </m:e>
                        <m:sup>
                          <m:r>
                            <a:rPr lang="en-US" sz="2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9E1FA7-268F-AACA-F894-B4433A6C8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2438400" y="5072063"/>
                <a:ext cx="8534400" cy="642938"/>
              </a:xfrm>
              <a:prstGeom prst="rect">
                <a:avLst/>
              </a:prstGeom>
              <a:blipFill>
                <a:blip r:embed="rId25"/>
                <a:stretch>
                  <a:fillRect l="-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9A10A773-CDC4-0001-CA28-6CC30C30A075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0D16B5-0C1E-0D30-4B6D-30F961C189D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 statistic reported in the summary 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894129-37DE-2E8C-3443-67041B472662}"/>
              </a:ext>
            </a:extLst>
          </p:cNvPr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D289A0-E73A-3A15-E666-2DF2BA0A5AFF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632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Leverage scores 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1" y="1463040"/>
            <a:ext cx="5181600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More detailed investigation of the OLS 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Measures whether a unit is an outlier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Measures how each unit affect the OLS estimates</a:t>
            </a:r>
          </a:p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1B9A3307-84C6-8F39-F7A1-C041E4B5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0509"/>
            <a:ext cx="4927514" cy="51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2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52B2D2A-30B9-8FB6-BE6D-39FD786CB2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99384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b="0" dirty="0"/>
              <a:t>Hat matrix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sz="2400" b="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Leverage score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Average of leverage scores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sz="20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Range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Leverage scores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9F290FF-45AC-634F-A28E-506DDD571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00" y="1370014"/>
            <a:ext cx="3835400" cy="127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1218D-CFFF-E441-9C86-BE16DC488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000" y="2916991"/>
            <a:ext cx="3784600" cy="520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ACF593-0663-2041-84F2-C2FDF6366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150" y="3875655"/>
            <a:ext cx="5727700" cy="812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18D88E-CDC9-1D41-9A0F-6EC576FB8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200" y="4803140"/>
            <a:ext cx="6362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4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Leverage scores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EF531-A5BE-784A-B134-5FAA90435E81}"/>
                  </a:ext>
                </a:extLst>
              </p:cNvPr>
              <p:cNvSpPr txBox="1"/>
              <p:nvPr/>
            </p:nvSpPr>
            <p:spPr>
              <a:xfrm>
                <a:off x="1116614" y="3164938"/>
                <a:ext cx="9894055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Generally, we do not want the contribution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in predicting itself too large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000" dirty="0"/>
                  <a:t> means we do not borrow enough information from other observations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000" dirty="0"/>
                  <a:t> means noisy predicted value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EF531-A5BE-784A-B134-5FAA90435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14" y="3164938"/>
                <a:ext cx="9894055" cy="1077218"/>
              </a:xfrm>
              <a:prstGeom prst="rect">
                <a:avLst/>
              </a:prstGeom>
              <a:blipFill>
                <a:blip r:embed="rId3"/>
                <a:stretch>
                  <a:fillRect l="-769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4EC1201-67CC-3741-A21A-52A18F971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288" y="4522377"/>
            <a:ext cx="5181600" cy="50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903D3A-2B80-F741-8452-F360D6DB7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788" y="2035763"/>
            <a:ext cx="50927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8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998BC626-64C5-D3D5-A846-6FB3611C321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400" dirty="0"/>
                  <a:t> measures whether observation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is an outlier based on its covariate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Mahalanobis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the center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998BC626-64C5-D3D5-A846-6FB3611C3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384"/>
                <a:ext cx="10515600" cy="4351338"/>
              </a:xfrm>
              <a:blipFill>
                <a:blip r:embed="rId3"/>
                <a:stretch>
                  <a:fillRect l="-844" t="-17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Leverage scores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2C18233-5A60-7F4B-80FD-E0078522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056" y="2385954"/>
            <a:ext cx="1498600" cy="35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16B520-0567-C645-BE8D-6E56DBC2D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075" y="2385954"/>
            <a:ext cx="17907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34CE32-CAFD-A746-9F48-A12AFFFAF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972" y="2447512"/>
            <a:ext cx="1993900" cy="33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E400B0-E724-F943-9BB6-95D19071D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1527" y="3864734"/>
            <a:ext cx="3251200" cy="482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E002E0-12DB-0D4F-AD0C-0A8BFBA0B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427" y="2719085"/>
            <a:ext cx="7505700" cy="927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94927B-DC30-31D7-A2B4-AF9CEE19C8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8056" y="4564077"/>
            <a:ext cx="2458915" cy="101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6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Leverage scores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8E770D-1EBD-AD4E-A5AF-5D69F137B40F}"/>
              </a:ext>
            </a:extLst>
          </p:cNvPr>
          <p:cNvSpPr txBox="1"/>
          <p:nvPr/>
        </p:nvSpPr>
        <p:spPr>
          <a:xfrm>
            <a:off x="1231392" y="1690690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Proof of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97890-7697-3109-C1DD-E2F643AB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85" y="1383863"/>
            <a:ext cx="2458915" cy="1013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70E78-488D-DB79-B460-38413DB9D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299" y="2719250"/>
            <a:ext cx="6972977" cy="28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8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C9D76-DAEE-3146-AB6A-4F582AD7AC5E}"/>
                  </a:ext>
                </a:extLst>
              </p:cNvPr>
              <p:cNvSpPr txBox="1"/>
              <p:nvPr/>
            </p:nvSpPr>
            <p:spPr>
              <a:xfrm>
                <a:off x="945756" y="1711076"/>
                <a:ext cx="864320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To measure the impact of observation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on the final OLS estimator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Delete observation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to see how much the OLS estimator changes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C9D76-DAEE-3146-AB6A-4F582AD7A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56" y="1711076"/>
                <a:ext cx="8643200" cy="830997"/>
              </a:xfrm>
              <a:prstGeom prst="rect">
                <a:avLst/>
              </a:prstGeom>
              <a:blipFill>
                <a:blip r:embed="rId3"/>
                <a:stretch>
                  <a:fillRect l="-733" t="-4545" r="-14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A781D39-BA90-2F4C-BD9E-CBAE02C6E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936" y="2605723"/>
            <a:ext cx="4572000" cy="222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D6CB26-71AE-8C46-A37B-A152928EF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586" y="4873874"/>
            <a:ext cx="3568700" cy="54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DE4B4-F83A-FA45-AA1D-F621AC80F9E0}"/>
              </a:ext>
            </a:extLst>
          </p:cNvPr>
          <p:cNvSpPr txBox="1"/>
          <p:nvPr/>
        </p:nvSpPr>
        <p:spPr>
          <a:xfrm>
            <a:off x="945756" y="5604573"/>
            <a:ext cx="90653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Computational intensive to calculate the leave-one-out OLS estimator</a:t>
            </a:r>
          </a:p>
          <a:p>
            <a:r>
              <a:rPr lang="en-US" sz="2400" dirty="0"/>
              <a:t>    for every observation</a:t>
            </a:r>
          </a:p>
        </p:txBody>
      </p:sp>
    </p:spTree>
    <p:extLst>
      <p:ext uri="{BB962C8B-B14F-4D97-AF65-F5344CB8AC3E}">
        <p14:creationId xmlns:p14="http://schemas.microsoft.com/office/powerpoint/2010/main" val="325309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AE53ED3-6A12-C047-B184-43BDE39A8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972" y="1605469"/>
            <a:ext cx="3835400" cy="53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AA30B-1254-C744-BDDC-66AAE44FC909}"/>
                  </a:ext>
                </a:extLst>
              </p:cNvPr>
              <p:cNvSpPr txBox="1"/>
              <p:nvPr/>
            </p:nvSpPr>
            <p:spPr>
              <a:xfrm>
                <a:off x="1316736" y="1666229"/>
                <a:ext cx="10880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AA30B-1254-C744-BDDC-66AAE44FC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736" y="1666229"/>
                <a:ext cx="1088055" cy="369332"/>
              </a:xfrm>
              <a:prstGeom prst="rect">
                <a:avLst/>
              </a:prstGeom>
              <a:blipFill>
                <a:blip r:embed="rId4"/>
                <a:stretch>
                  <a:fillRect l="-4651" t="-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672EC38-073A-754E-9C53-DD1E45364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8972" y="2372614"/>
            <a:ext cx="4191000" cy="698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70A330-AC77-CB4D-A33A-CED9F5F0DA47}"/>
              </a:ext>
            </a:extLst>
          </p:cNvPr>
          <p:cNvSpPr txBox="1"/>
          <p:nvPr/>
        </p:nvSpPr>
        <p:spPr>
          <a:xfrm>
            <a:off x="1472100" y="2445441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Proof</a:t>
            </a:r>
            <a:endParaRPr lang="en-US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EA0D33-9A8F-FF43-B74E-E44626A33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356" y="3088387"/>
            <a:ext cx="3606800" cy="698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6EF567-3E5D-4049-93C3-1FC49539B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210" y="3753038"/>
            <a:ext cx="529590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65F153-057C-B246-A800-C084F912E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798" y="4338131"/>
            <a:ext cx="79629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D7BF4C-7CE2-E244-8D49-D53A8D308238}"/>
              </a:ext>
            </a:extLst>
          </p:cNvPr>
          <p:cNvSpPr txBox="1"/>
          <p:nvPr/>
        </p:nvSpPr>
        <p:spPr>
          <a:xfrm>
            <a:off x="8572269" y="3838855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Sherman-Morrison Formula</a:t>
            </a:r>
          </a:p>
        </p:txBody>
      </p:sp>
    </p:spTree>
    <p:extLst>
      <p:ext uri="{BB962C8B-B14F-4D97-AF65-F5344CB8AC3E}">
        <p14:creationId xmlns:p14="http://schemas.microsoft.com/office/powerpoint/2010/main" val="262298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7DC9132-BE5B-A749-BA56-5A2AAC8C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1663700"/>
            <a:ext cx="86995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9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1D53DF-8780-184C-A57E-00A6E8D1D686}"/>
                  </a:ext>
                </a:extLst>
              </p:cNvPr>
              <p:cNvSpPr txBox="1"/>
              <p:nvPr/>
            </p:nvSpPr>
            <p:spPr>
              <a:xfrm>
                <a:off x="977900" y="1993900"/>
                <a:ext cx="8718612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Predicted residual based on leave-one-out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Mimics the problem of predicting a future observation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Measure the prediction better than the original 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Under the Gauss-Markov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1D53DF-8780-184C-A57E-00A6E8D1D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" y="1993900"/>
                <a:ext cx="8718612" cy="2616101"/>
              </a:xfrm>
              <a:prstGeom prst="rect">
                <a:avLst/>
              </a:prstGeom>
              <a:blipFill>
                <a:blip r:embed="rId3"/>
                <a:stretch>
                  <a:fillRect l="-872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4D66722-C457-AD4F-82CD-684050D06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2474970"/>
            <a:ext cx="19685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21A7E-147B-FF42-8B45-6947EDBAD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400" y="4464579"/>
            <a:ext cx="2628900" cy="55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1295EA-8809-E942-B2E7-4321560D1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600" y="5064067"/>
            <a:ext cx="6045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30AAB9-1904-CF42-9743-321CA7954776}"/>
              </a:ext>
            </a:extLst>
          </p:cNvPr>
          <p:cNvSpPr txBox="1"/>
          <p:nvPr/>
        </p:nvSpPr>
        <p:spPr>
          <a:xfrm>
            <a:off x="838200" y="26057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 the Gauss-Markov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5E7CD-779F-1944-A402-483A95876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451" y="1906906"/>
            <a:ext cx="1981200" cy="48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69278C-C2E5-1943-9A9A-6983D0828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001" y="3050539"/>
            <a:ext cx="2857500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666E-753A-0745-925B-E6A6F47D3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256" y="4083050"/>
            <a:ext cx="4953000" cy="2120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468F91-A18C-E140-9EBC-A80E85669A19}"/>
              </a:ext>
            </a:extLst>
          </p:cNvPr>
          <p:cNvSpPr txBox="1"/>
          <p:nvPr/>
        </p:nvSpPr>
        <p:spPr>
          <a:xfrm>
            <a:off x="838200" y="4086505"/>
            <a:ext cx="77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Proof:</a:t>
            </a:r>
          </a:p>
        </p:txBody>
      </p:sp>
    </p:spTree>
    <p:extLst>
      <p:ext uri="{BB962C8B-B14F-4D97-AF65-F5344CB8AC3E}">
        <p14:creationId xmlns:p14="http://schemas.microsoft.com/office/powerpoint/2010/main" val="172994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Applications of leave-one-out formulas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Gauss updating formula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Outlier detection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Jackknife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86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 updating formula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915B1C-A683-3545-8E96-5CDE7F389CEC}"/>
              </a:ext>
            </a:extLst>
          </p:cNvPr>
          <p:cNvSpPr txBox="1"/>
          <p:nvPr/>
        </p:nvSpPr>
        <p:spPr>
          <a:xfrm>
            <a:off x="838200" y="1738428"/>
            <a:ext cx="824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Consider an online setting where data points come sequentially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8A2C1-5EEA-E141-ADF3-3CD15C1AC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" y="2474189"/>
            <a:ext cx="7556500" cy="177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C52055-BA20-2B45-9290-5D85DD8F2419}"/>
              </a:ext>
            </a:extLst>
          </p:cNvPr>
          <p:cNvSpPr txBox="1"/>
          <p:nvPr/>
        </p:nvSpPr>
        <p:spPr>
          <a:xfrm>
            <a:off x="1377950" y="4750272"/>
            <a:ext cx="558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OLS estimator with an additional data point</a:t>
            </a:r>
          </a:p>
        </p:txBody>
      </p:sp>
    </p:spTree>
    <p:extLst>
      <p:ext uri="{BB962C8B-B14F-4D97-AF65-F5344CB8AC3E}">
        <p14:creationId xmlns:p14="http://schemas.microsoft.com/office/powerpoint/2010/main" val="315897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 updating formula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/>
                  <a:t>design matrix for the first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observations</a:t>
                </a: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/>
                  <a:t>outcome vector for the first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observations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Gauss updating formula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Predicted residual of the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400" dirty="0"/>
                  <a:t>-th observation based on the first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observations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6F6A27-5665-9F57-4F28-2FC569BE0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119" y="3419948"/>
            <a:ext cx="2908300" cy="622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93DC1B-BEC4-028D-CE26-D9175828A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144" y="3968271"/>
            <a:ext cx="328930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42EA2C-192A-BADE-9BD6-551FB0E2A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050" y="5403206"/>
            <a:ext cx="2628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0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 updating formula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59DD0E2-D1B3-7F40-B2A3-BCED373E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222" y="3078081"/>
            <a:ext cx="5511800" cy="1155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906B2A-5DCF-7541-8793-A2414029C83F}"/>
              </a:ext>
            </a:extLst>
          </p:cNvPr>
          <p:cNvSpPr txBox="1"/>
          <p:nvPr/>
        </p:nvSpPr>
        <p:spPr>
          <a:xfrm>
            <a:off x="783500" y="1812312"/>
            <a:ext cx="77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EDF859-1908-AB47-9EFB-E50A1AFE31F3}"/>
              </a:ext>
            </a:extLst>
          </p:cNvPr>
          <p:cNvSpPr txBox="1"/>
          <p:nvPr/>
        </p:nvSpPr>
        <p:spPr>
          <a:xfrm>
            <a:off x="3126222" y="1925551"/>
            <a:ext cx="36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of the leave-one-out formula</a:t>
            </a:r>
          </a:p>
        </p:txBody>
      </p:sp>
    </p:spTree>
    <p:extLst>
      <p:ext uri="{BB962C8B-B14F-4D97-AF65-F5344CB8AC3E}">
        <p14:creationId xmlns:p14="http://schemas.microsoft.com/office/powerpoint/2010/main" val="98086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Algorithm for sequentially computing the OLS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E4F8B6A-829E-BF45-B6C7-B0B0D985B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3155950"/>
            <a:ext cx="7683500" cy="2628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0EAFE-7B44-6B4B-BE12-F8C1A35D5C62}"/>
                  </a:ext>
                </a:extLst>
              </p:cNvPr>
              <p:cNvSpPr txBox="1"/>
              <p:nvPr/>
            </p:nvSpPr>
            <p:spPr>
              <a:xfrm>
                <a:off x="530694" y="1856562"/>
                <a:ext cx="11130611" cy="459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Use the Sherman-Morrison formula to update the inverse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sz="2000" dirty="0"/>
                  <a:t> based on the inverse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0EAFE-7B44-6B4B-BE12-F8C1A35D5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94" y="1856562"/>
                <a:ext cx="11130611" cy="459485"/>
              </a:xfrm>
              <a:prstGeom prst="rect">
                <a:avLst/>
              </a:prstGeom>
              <a:blipFill>
                <a:blip r:embed="rId4"/>
                <a:stretch>
                  <a:fillRect l="-570" t="-270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41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Outlier detection based on residuals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dirty="0"/>
              <a:t>Assume the Normal linear model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dirty="0"/>
              <a:t>Residual should follow a Normal distribution with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dirty="0"/>
              <a:t>Model checking based on residuals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Standardized residual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sz="20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Studentized residual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sz="20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000" dirty="0"/>
              <a:t>Cook’s distance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407DC9-BEFF-AC27-9A40-B5532EEF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494" y="2673350"/>
            <a:ext cx="37846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1FFE6-15D0-CA06-9919-FA0BEB357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530380"/>
            <a:ext cx="27432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F37A9-69CD-D18D-D9D3-59BB73268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100" y="4371020"/>
            <a:ext cx="4635500" cy="927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90761A-2780-B0FC-2BC3-FC5C02738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701" y="4593605"/>
            <a:ext cx="9525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9F51A8-EED1-74FD-4983-EB53AA5781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1300" y="5457546"/>
            <a:ext cx="45212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6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Outlier detection based on residuals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0DC1E87-9197-A044-BB9A-5C9FC69F3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906" y="1862935"/>
            <a:ext cx="3670300" cy="86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10C1A6-CF30-DD47-8E0F-232836679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006" y="3013871"/>
            <a:ext cx="3162300" cy="67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BC1C3A-F6DC-8D47-A2BE-829B5989AAD8}"/>
              </a:ext>
            </a:extLst>
          </p:cNvPr>
          <p:cNvSpPr txBox="1"/>
          <p:nvPr/>
        </p:nvSpPr>
        <p:spPr>
          <a:xfrm>
            <a:off x="1052799" y="4152900"/>
            <a:ext cx="949651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Rule of thumb for outlier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standardized and studentized residuals should fall between -3 and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 relatively large cook’s distance, on the order of 1, occurs when both </a:t>
            </a:r>
          </a:p>
          <a:p>
            <a:pPr lvl="1"/>
            <a:r>
              <a:rPr lang="en-US" sz="2000" dirty="0"/>
              <a:t>     standardized residual and the leverage are relatively large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Recommend using studentized residual since it has a known distribution </a:t>
            </a:r>
          </a:p>
          <a:p>
            <a:r>
              <a:rPr lang="en-US" sz="2400" dirty="0"/>
              <a:t>     under the Normal linear model</a:t>
            </a:r>
          </a:p>
        </p:txBody>
      </p:sp>
    </p:spTree>
    <p:extLst>
      <p:ext uri="{BB962C8B-B14F-4D97-AF65-F5344CB8AC3E}">
        <p14:creationId xmlns:p14="http://schemas.microsoft.com/office/powerpoint/2010/main" val="425181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Simulation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909BB0-C869-9144-90BD-94CAEF2B6BA3}"/>
                  </a:ext>
                </a:extLst>
              </p:cNvPr>
              <p:cNvSpPr txBox="1"/>
              <p:nvPr/>
            </p:nvSpPr>
            <p:spPr>
              <a:xfrm>
                <a:off x="965200" y="1738428"/>
                <a:ext cx="9800760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Three scenarios (one dimensional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ranging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with step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0.01)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No outliers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50-th observation is an outlier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100-th observation is an outlier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909BB0-C869-9144-90BD-94CAEF2B6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1738428"/>
                <a:ext cx="9800760" cy="1569660"/>
              </a:xfrm>
              <a:prstGeom prst="rect">
                <a:avLst/>
              </a:prstGeom>
              <a:blipFill>
                <a:blip r:embed="rId3"/>
                <a:stretch>
                  <a:fillRect l="-776" t="-3226" r="-388" b="-8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42F1F3-A422-9744-971E-355314A33C5A}"/>
              </a:ext>
            </a:extLst>
          </p:cNvPr>
          <p:cNvSpPr txBox="1"/>
          <p:nvPr/>
        </p:nvSpPr>
        <p:spPr>
          <a:xfrm>
            <a:off x="965200" y="3792688"/>
            <a:ext cx="41697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Measures for outlier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Leverage score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Standardized residual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Studentized residual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Cook’s distance</a:t>
            </a:r>
          </a:p>
        </p:txBody>
      </p:sp>
    </p:spTree>
    <p:extLst>
      <p:ext uri="{BB962C8B-B14F-4D97-AF65-F5344CB8AC3E}">
        <p14:creationId xmlns:p14="http://schemas.microsoft.com/office/powerpoint/2010/main" val="34762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Simulation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1D69E71-0BDF-2947-830F-DCEBA1F9C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326117"/>
            <a:ext cx="6489699" cy="545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3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3A143E9-EBAD-E974-0C90-B703DBC78BE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835D4280-9E64-7F8F-2A57-BE2A883BE3D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6C0C774-2109-69F0-E928-DF1EAC410A5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E24F9CE-4220-84CA-913F-981DB0F674F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52F6FD19-C4A7-AB43-6FCA-B7C6455BD2E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442E0FE-3DB3-1D5D-1A66-780913610A1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of the following are the appropriate ways to handle an outlier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E69A0-6CB6-EC2D-AB62-61509B6A4F6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Remove it to improve the model fit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7CF4D6-24C7-6AB9-3C70-E27DCD52594F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Keep it in the model only if it improves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7CF4D6-24C7-6AB9-3C70-E27DCD525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blipFill>
                <a:blip r:embed="rId20"/>
                <a:stretch>
                  <a:fillRect l="-133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78DC006-A0DD-EEE1-3A00-E59F53141C1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Investigate its cause before deciding whether to keep or remove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6D99D-6520-FFE9-8384-4475627BFE4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Remove it, as outliers violate regression assumptions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CEFD1-8C3B-28D2-3422-EF424410D1A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1462D4-467A-3832-69AD-F20A2992755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1AED12-2882-A32E-A713-4F0F07224BA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7E06F-0747-D12E-C382-7179A9258F51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9ECB524-6A84-A625-621A-1379354F79B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39271-2652-D6CE-58F1-32C8A85C00F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767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E662868-85FE-91B7-CA58-C5E6A796DD3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1A7D76FE-B3BE-8F9E-8958-61E04229556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36778E5E-45BA-C2D5-0707-2D0428640AD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D58A2E7-D925-9E62-0B08-B80773332EE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A3D14826-37F5-191A-0135-97B7E7DF31C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9009F8-EB0D-185C-0E5B-372D5FCD49A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are the possible next step if you find outliers but you cannot or should not remove them?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87373-999D-D520-0E51-184048A4234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60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400" dirty="0"/>
              <a:t>Proceed with the analysis as usual and ignore the outliers, since they are valid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E9C62-B058-B0F3-FBE0-FE058573AA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400" dirty="0"/>
              <a:t>Use robust regression methods that down-weight the influence of outliers.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62588-4DFB-A0C9-F5F0-AA24C4D2313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400" dirty="0"/>
              <a:t>Replace the outlier values with the mean to reduce their impact.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C123F5-4CB1-8D8C-409B-ECEAA1A8D9F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400" dirty="0"/>
              <a:t>Justify their inclusion and report how your conclusions are affected by them.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784D42-F22C-75E4-3D13-296929AAD7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627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20DED5-D6F6-BE88-C1B3-ECD9AB2DAB3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428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8D7A29-9BB5-A9C1-F55E-870E6F77811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178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3ADC2B-8FF8-3F8A-6F3F-B5FAB58ECFD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7BEC98E-570F-7EDB-4556-679D5934C88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8B7CB-F962-906F-D231-6FBE88750AB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Specify</a:t>
            </a:r>
            <a:r>
              <a:rPr lang="zh-CN" altLang="en-US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different</a:t>
            </a:r>
            <a:r>
              <a:rPr lang="zh-CN" altLang="en-US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model.</a:t>
            </a:r>
            <a:endParaRPr lang="en-US" sz="24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10043-6946-EEBE-0CA2-7097F9E8BAFF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607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A8F75-70ED-09AA-6043-BC375BD1E37E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5413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Jackknife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EE9C52-065E-A843-A500-E10D24F78C40}"/>
              </a:ext>
            </a:extLst>
          </p:cNvPr>
          <p:cNvSpPr txBox="1"/>
          <p:nvPr/>
        </p:nvSpPr>
        <p:spPr>
          <a:xfrm>
            <a:off x="838200" y="2938622"/>
            <a:ext cx="96756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general strategy for bias reduction and variance estimation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Proposed by </a:t>
            </a:r>
            <a:r>
              <a:rPr lang="en-US" sz="2400" dirty="0" err="1"/>
              <a:t>Quenouille</a:t>
            </a:r>
            <a:r>
              <a:rPr lang="en-US" sz="2400" dirty="0"/>
              <a:t> (1949,1956) and popularized by Tukey (1958)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18A28-D5F1-C146-A3A8-DF792921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670930"/>
            <a:ext cx="105664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A9E784-013C-D644-83F5-D1BE70B72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250" y="5171377"/>
            <a:ext cx="17399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B089BC-A8C1-2045-970F-6666102B2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5568952"/>
            <a:ext cx="3683000" cy="787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A722B4-1DE4-5A4D-AF88-122F181A3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406" y="4217420"/>
            <a:ext cx="520700" cy="406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4E04BE-A12C-FF49-81C7-A0C07DFF8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4622293"/>
            <a:ext cx="2247900" cy="50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707C2-5EEA-D145-9DFB-9296A07C4B89}"/>
                  </a:ext>
                </a:extLst>
              </p:cNvPr>
              <p:cNvSpPr txBox="1"/>
              <p:nvPr/>
            </p:nvSpPr>
            <p:spPr>
              <a:xfrm>
                <a:off x="952500" y="4235954"/>
                <a:ext cx="3102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Estimator without observation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707C2-5EEA-D145-9DFB-9296A07C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235954"/>
                <a:ext cx="3102131" cy="369332"/>
              </a:xfrm>
              <a:prstGeom prst="rect">
                <a:avLst/>
              </a:prstGeom>
              <a:blipFill>
                <a:blip r:embed="rId8"/>
                <a:stretch>
                  <a:fillRect l="-1224" t="-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DD3282A-0429-764D-8355-9C60545AEAE6}"/>
              </a:ext>
            </a:extLst>
          </p:cNvPr>
          <p:cNvSpPr txBox="1"/>
          <p:nvPr/>
        </p:nvSpPr>
        <p:spPr>
          <a:xfrm>
            <a:off x="952500" y="4691627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Pseudo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A4BC8-C9C5-BC45-A87B-676C9907F71C}"/>
              </a:ext>
            </a:extLst>
          </p:cNvPr>
          <p:cNvSpPr txBox="1"/>
          <p:nvPr/>
        </p:nvSpPr>
        <p:spPr>
          <a:xfrm>
            <a:off x="952500" y="5221661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Jackknife point estimator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4948B-0788-5641-80E1-B9014DEE1C26}"/>
              </a:ext>
            </a:extLst>
          </p:cNvPr>
          <p:cNvSpPr txBox="1"/>
          <p:nvPr/>
        </p:nvSpPr>
        <p:spPr>
          <a:xfrm>
            <a:off x="952500" y="5783447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Jackknife variance estimator</a:t>
            </a:r>
          </a:p>
        </p:txBody>
      </p:sp>
    </p:spTree>
    <p:extLst>
      <p:ext uri="{BB962C8B-B14F-4D97-AF65-F5344CB8AC3E}">
        <p14:creationId xmlns:p14="http://schemas.microsoft.com/office/powerpoint/2010/main" val="199425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Jackknife in OLS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6FB49E7-9F3F-B74E-8B15-1A75C234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1520643"/>
            <a:ext cx="5549900" cy="1358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2AF3A8-714F-4F45-9344-500ACC68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3121821"/>
            <a:ext cx="5575300" cy="90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F6774-24F0-C24D-A8D7-707388F51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200" y="4364436"/>
            <a:ext cx="1104900" cy="355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F29577-43C2-AF45-A0AE-F9637A506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5060952"/>
            <a:ext cx="17018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Jackknife in OLS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831BD02-CB73-A749-97E2-2F8A791E5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2143920"/>
            <a:ext cx="5422900" cy="153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FD2AE-E189-654A-8EA9-5F71F91535DB}"/>
              </a:ext>
            </a:extLst>
          </p:cNvPr>
          <p:cNvSpPr txBox="1"/>
          <p:nvPr/>
        </p:nvSpPr>
        <p:spPr>
          <a:xfrm>
            <a:off x="719498" y="1681081"/>
            <a:ext cx="5913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Approximate jackknife variance estimator by assuming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E8CFA8-556F-BA47-B780-D2A41E34B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596" y="1745855"/>
            <a:ext cx="711200" cy="342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742383-3EF8-DA46-A67B-CC898D54D7BE}"/>
              </a:ext>
            </a:extLst>
          </p:cNvPr>
          <p:cNvSpPr txBox="1"/>
          <p:nvPr/>
        </p:nvSpPr>
        <p:spPr>
          <a:xfrm>
            <a:off x="838200" y="4133850"/>
            <a:ext cx="1034796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Miller (1974) first analyzed Jackknife in 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Hinkley (1977) modified the original Jackknife and proposed a version that is identical to HC1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Wu (1986) made some further modification and proposed a version that is identical to HC2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Weber (1986) made connections between EHW and jackknife standard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Long and Ervin (2000)’s finite-sample simulation seems to favor the original jackknife or HC3</a:t>
            </a:r>
          </a:p>
        </p:txBody>
      </p:sp>
    </p:spTree>
    <p:extLst>
      <p:ext uri="{BB962C8B-B14F-4D97-AF65-F5344CB8AC3E}">
        <p14:creationId xmlns:p14="http://schemas.microsoft.com/office/powerpoint/2010/main" val="321030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43974</TotalTime>
  <Words>1533</Words>
  <Application>Microsoft Macintosh PowerPoint</Application>
  <PresentationFormat>Widescreen</PresentationFormat>
  <Paragraphs>351</Paragraphs>
  <Slides>37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Microsoft Yahei</vt:lpstr>
      <vt:lpstr>Microsoft Yahei</vt:lpstr>
      <vt:lpstr>Microsoft Yahei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Model fitting and checking</vt:lpstr>
      <vt:lpstr>Motivation</vt:lpstr>
      <vt:lpstr>Residual plots：heuristic diagnostics</vt:lpstr>
      <vt:lpstr>Residual plots: example</vt:lpstr>
      <vt:lpstr>PowerPoint Presentation</vt:lpstr>
      <vt:lpstr>Multiple correlation coefficient</vt:lpstr>
      <vt:lpstr>Equivalent definitions of R^2</vt:lpstr>
      <vt:lpstr>Equivalent definitions of R^2</vt:lpstr>
      <vt:lpstr>R^2 and the F statistic</vt:lpstr>
      <vt:lpstr>PowerPoint Presentation</vt:lpstr>
      <vt:lpstr>Anscombe’s Quartet</vt:lpstr>
      <vt:lpstr>Some remarks on R^2</vt:lpstr>
      <vt:lpstr>PowerPoint Presentation</vt:lpstr>
      <vt:lpstr>Leverage scores </vt:lpstr>
      <vt:lpstr>Leverage scores</vt:lpstr>
      <vt:lpstr>Leverage scores</vt:lpstr>
      <vt:lpstr>Leverage scores</vt:lpstr>
      <vt:lpstr>Leverage scores</vt:lpstr>
      <vt:lpstr>Leave-one-out formulas</vt:lpstr>
      <vt:lpstr>Leave-one-out formulas</vt:lpstr>
      <vt:lpstr>Leave-one-out formulas</vt:lpstr>
      <vt:lpstr>Leave-one-out formulas</vt:lpstr>
      <vt:lpstr>Leave-one-out formulas</vt:lpstr>
      <vt:lpstr>Applications of leave-one-out formulas</vt:lpstr>
      <vt:lpstr>Gauss updating formula</vt:lpstr>
      <vt:lpstr>Gauss updating formula</vt:lpstr>
      <vt:lpstr>Gauss updating formula</vt:lpstr>
      <vt:lpstr>Algorithm for sequentially computing the OLS</vt:lpstr>
      <vt:lpstr>Outlier detection based on residuals</vt:lpstr>
      <vt:lpstr>Outlier detection based on residuals</vt:lpstr>
      <vt:lpstr>Simulation</vt:lpstr>
      <vt:lpstr>Simulation</vt:lpstr>
      <vt:lpstr>PowerPoint Presentation</vt:lpstr>
      <vt:lpstr>PowerPoint Presentation</vt:lpstr>
      <vt:lpstr>Jackknife</vt:lpstr>
      <vt:lpstr>Jackknife in OLS</vt:lpstr>
      <vt:lpstr>Jackknife in 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320</cp:revision>
  <dcterms:created xsi:type="dcterms:W3CDTF">2022-01-07T20:32:42Z</dcterms:created>
  <dcterms:modified xsi:type="dcterms:W3CDTF">2025-10-14T05:30:05Z</dcterms:modified>
</cp:coreProperties>
</file>