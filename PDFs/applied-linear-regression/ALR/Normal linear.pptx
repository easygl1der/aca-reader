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710" r:id="rId3"/>
    <p:sldId id="809" r:id="rId4"/>
    <p:sldId id="711" r:id="rId5"/>
    <p:sldId id="712" r:id="rId6"/>
    <p:sldId id="721" r:id="rId7"/>
    <p:sldId id="713" r:id="rId8"/>
    <p:sldId id="805" r:id="rId9"/>
    <p:sldId id="806" r:id="rId10"/>
    <p:sldId id="722" r:id="rId11"/>
    <p:sldId id="723" r:id="rId12"/>
    <p:sldId id="727" r:id="rId13"/>
    <p:sldId id="807" r:id="rId14"/>
    <p:sldId id="724" r:id="rId15"/>
    <p:sldId id="725" r:id="rId16"/>
    <p:sldId id="726" r:id="rId17"/>
    <p:sldId id="810" r:id="rId18"/>
    <p:sldId id="812" r:id="rId19"/>
    <p:sldId id="811" r:id="rId20"/>
    <p:sldId id="813" r:id="rId21"/>
    <p:sldId id="816" r:id="rId22"/>
    <p:sldId id="814" r:id="rId23"/>
    <p:sldId id="81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825"/>
    <a:srgbClr val="A01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79"/>
    <p:restoredTop sz="90000"/>
  </p:normalViewPr>
  <p:slideViewPr>
    <p:cSldViewPr snapToGrid="0" snapToObjects="1">
      <p:cViewPr>
        <p:scale>
          <a:sx n="186" d="100"/>
          <a:sy n="186" d="100"/>
        </p:scale>
        <p:origin x="25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60455-33D2-7848-97B1-BAC894D1A7F7}" type="datetimeFigureOut">
              <a:rPr lang="en-US" smtClean="0"/>
              <a:t>9/7/25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34D25-2405-114F-BF61-E1011635D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93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最小二乘估计不需要任何假设</a:t>
            </a:r>
            <a:endParaRPr lang="en-US" altLang="zh-CN" dirty="0"/>
          </a:p>
          <a:p>
            <a:r>
              <a:rPr lang="zh-CN" altLang="en-US" dirty="0"/>
              <a:t>但是要研究最小二乘的估计量有什么性质，需要一定的模型假设。</a:t>
            </a:r>
            <a:endParaRPr lang="en-US" altLang="zh-CN" dirty="0"/>
          </a:p>
          <a:p>
            <a:r>
              <a:rPr lang="zh-CN" altLang="en-US" dirty="0"/>
              <a:t>问题一：最小二乘估计的均值方差是什么，为什么要用最小二乘估计而不是其他的估计 </a:t>
            </a:r>
            <a:r>
              <a:rPr lang="en-US" altLang="zh-CN" dirty="0"/>
              <a:t>optimality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OLS</a:t>
            </a:r>
          </a:p>
          <a:p>
            <a:r>
              <a:rPr lang="zh-CN" altLang="en-US" dirty="0"/>
              <a:t>问题二：最小二乘估计有什么统计性质，如何做统计推断，即从有限样本得到的</a:t>
            </a:r>
            <a:r>
              <a:rPr lang="en-US" altLang="zh-CN" dirty="0"/>
              <a:t>beta</a:t>
            </a:r>
            <a:r>
              <a:rPr lang="zh-CN" altLang="en-US" dirty="0"/>
              <a:t> </a:t>
            </a:r>
            <a:r>
              <a:rPr lang="en-US" altLang="zh-CN" dirty="0"/>
              <a:t>hat</a:t>
            </a:r>
            <a:r>
              <a:rPr lang="zh-CN" altLang="en-US" dirty="0"/>
              <a:t> 去估计总体中的</a:t>
            </a:r>
            <a:r>
              <a:rPr lang="en-US" altLang="zh-CN" dirty="0"/>
              <a:t>beta</a:t>
            </a:r>
            <a:r>
              <a:rPr lang="zh-CN" altLang="en-US" dirty="0"/>
              <a:t>，有什么样的不确定性  </a:t>
            </a:r>
            <a:endParaRPr lang="en-US" altLang="zh-CN" dirty="0"/>
          </a:p>
          <a:p>
            <a:r>
              <a:rPr lang="zh-CN" altLang="en-US" dirty="0"/>
              <a:t>第一个问题 用</a:t>
            </a:r>
            <a:r>
              <a:rPr lang="en-US" altLang="zh-CN" dirty="0"/>
              <a:t>gauss</a:t>
            </a:r>
            <a:r>
              <a:rPr lang="zh-CN" altLang="en-US" dirty="0"/>
              <a:t> </a:t>
            </a:r>
            <a:r>
              <a:rPr lang="en-US" altLang="zh-CN" dirty="0" err="1"/>
              <a:t>markov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</a:p>
          <a:p>
            <a:r>
              <a:rPr lang="zh-CN" altLang="en-US" dirty="0"/>
              <a:t>第二个用</a:t>
            </a:r>
            <a:r>
              <a:rPr lang="en-US" altLang="zh-CN" dirty="0"/>
              <a:t>Normal</a:t>
            </a:r>
            <a:r>
              <a:rPr lang="zh-CN" altLang="en-US" dirty="0"/>
              <a:t> </a:t>
            </a: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58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relationship between Gauss-Markov and Normal linear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96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normal linear model, </a:t>
            </a:r>
            <a:r>
              <a:rPr lang="en-US" dirty="0" err="1"/>
              <a:t>ols</a:t>
            </a:r>
            <a:r>
              <a:rPr lang="en-US" dirty="0"/>
              <a:t> is the MLE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67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Question: CI</a:t>
            </a:r>
            <a:r>
              <a:rPr lang="zh-CN" altLang="en-US" dirty="0"/>
              <a:t> 定义</a:t>
            </a:r>
            <a:endParaRPr lang="en-US" altLang="zh-CN" dirty="0"/>
          </a:p>
          <a:p>
            <a:r>
              <a:rPr lang="en-US" altLang="zh-CN" dirty="0"/>
              <a:t>Confidence</a:t>
            </a:r>
            <a:r>
              <a:rPr lang="zh-CN" altLang="en-US" dirty="0"/>
              <a:t> </a:t>
            </a:r>
            <a:r>
              <a:rPr lang="en-US" altLang="zh-CN" dirty="0"/>
              <a:t>interval</a:t>
            </a:r>
            <a:r>
              <a:rPr lang="zh-CN" altLang="en-US" dirty="0"/>
              <a:t> </a:t>
            </a:r>
            <a:r>
              <a:rPr lang="en-US" altLang="zh-CN" dirty="0"/>
              <a:t>meaning</a:t>
            </a:r>
            <a:r>
              <a:rPr lang="zh-CN" altLang="en-US" dirty="0"/>
              <a:t>   </a:t>
            </a:r>
            <a:r>
              <a:rPr lang="en-US" altLang="zh-CN" dirty="0"/>
              <a:t>95%</a:t>
            </a:r>
            <a:r>
              <a:rPr lang="zh-CN" altLang="en-US" dirty="0"/>
              <a:t> 置信水平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51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how to calculate p values</a:t>
            </a:r>
          </a:p>
          <a:p>
            <a:endParaRPr lang="en-US" dirty="0"/>
          </a:p>
          <a:p>
            <a:r>
              <a:rPr lang="en-US" dirty="0"/>
              <a:t>Questions</a:t>
            </a:r>
            <a:r>
              <a:rPr lang="zh-CN" altLang="en-US" dirty="0"/>
              <a:t>：</a:t>
            </a:r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1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-value is </a:t>
            </a:r>
            <a:r>
              <a:rPr lang="en-US" sz="1200" b="1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probability that the null hypothesis is true, or the probability that the alternative hypothesis is false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0.05 significance level (alpha level) is often used as the boundary between a statistically significant and a statistically non-significant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-value. However, this does not imply that there is generally a scientific reason to consider results on opposite sides of any threshold as qualitatively different.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1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-value does not indicate the size or importance of the observed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292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497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388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Question: can l be larger than p?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software packages report the test of the joint significance of beta_2 to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beta_p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99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is C(</a:t>
            </a:r>
            <a:r>
              <a:rPr lang="en-US" dirty="0" err="1"/>
              <a:t>X^tX</a:t>
            </a:r>
            <a:r>
              <a:rPr lang="en-US" dirty="0"/>
              <a:t>)^{-1}C^T positive definite?</a:t>
            </a:r>
          </a:p>
          <a:p>
            <a:r>
              <a:rPr lang="en-US" dirty="0"/>
              <a:t>Confidence region for </a:t>
            </a:r>
            <a:r>
              <a:rPr lang="en-US" dirty="0" err="1"/>
              <a:t>Cbeta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303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234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298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Stable</a:t>
            </a:r>
            <a:r>
              <a:rPr lang="zh-CN" altLang="en-US" dirty="0"/>
              <a:t> </a:t>
            </a:r>
            <a:r>
              <a:rPr lang="en-US" altLang="zh-CN" dirty="0"/>
              <a:t>relationship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important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prediction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Prediction interval,    pivotal quantity depend on y_n+1 and data, with its distribution not dependent on the data and parameter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699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Question: </a:t>
            </a:r>
            <a:r>
              <a:rPr lang="en-US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term</a:t>
            </a:r>
            <a:r>
              <a:rPr lang="zh-CN" altLang="en-US" dirty="0"/>
              <a:t> </a:t>
            </a:r>
            <a:r>
              <a:rPr lang="en-US" altLang="zh-CN" dirty="0"/>
              <a:t>dominates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prediction</a:t>
            </a:r>
            <a:r>
              <a:rPr lang="zh-CN" altLang="en-US" dirty="0"/>
              <a:t> </a:t>
            </a:r>
            <a:r>
              <a:rPr lang="en-US" altLang="zh-CN" dirty="0"/>
              <a:t>interval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31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Meaning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 </a:t>
            </a:r>
            <a:r>
              <a:rPr lang="en-US" altLang="zh-CN" dirty="0"/>
              <a:t>summary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 err="1"/>
              <a:t>lm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310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345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065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895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339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7162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34D25-2405-114F-BF61-E1011635D0C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23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FC8A-1FB6-3041-A418-D61E2C3DA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47742-DAB1-C14E-A5BA-70F7F796B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6F0F5-1172-4443-B1D2-5FA4A3CB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B7974-E7D6-B34D-9439-F9FBE61E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9B4C7-B3E7-2249-9AAE-D0EE3D2B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9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B802-5C9D-5D40-9713-8F0AF3E9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E7CEE-95B7-784A-8744-013528B7E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7651F-9F0D-CE47-A7C3-72ADEC6D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9990C-26CF-5340-9185-412EDD20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0482D-EE59-6B44-B09D-54DF378E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3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DE8B-08E4-6746-B7C6-2D6F7D77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837A5-9526-B64C-B0B3-EC555F758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1C4E4-A98D-7F4C-A038-86F2454F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ADB87-08F0-6645-91C0-90A36E9E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DCD8-FACC-EF40-A476-D4C9F098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3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3A11-2C38-6345-9832-CD9E4234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66E1-8E61-EB4F-98F1-2A3FD59E9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BD906-8014-9840-917B-BB1BE8DAF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7BADE-2CE5-5944-BEA5-62B1C3EC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3CA7E-B3F3-234F-8843-CF1B52B7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34860-30EA-0542-8960-CB71E62C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9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88B9-4FB0-594D-A3C8-B920561F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7FA0D-47CF-804B-ADFF-C1FBCED74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A6630-46C1-304B-A31B-F683D3BB0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70E5B-079D-3F45-BA01-C9AD653DD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4FE20-58B7-C04B-89A7-8A255F953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9B889-CD5B-FB44-BD7D-2E3DE550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387C38-F33E-E940-9D72-4F662511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AD557-D134-064A-A446-E4906B19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0F00-4145-DC48-8A29-69BD407C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F20B2-462E-F746-BEE4-DA5D2AEA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A5F02-D3A0-BC45-924B-F537F687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F2EDE-B42D-1C45-90AC-640331E1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AF63A-2A34-9443-B3A1-F7AD5557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C7C21-24A3-624B-A109-AFC30D88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15E5C-B91F-6D4D-8F8C-60C86E7D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29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C247-E86B-7E4B-85FF-22E979058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3CF5-B7AC-6344-BEDE-C1DC558C5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D479-0A31-E74C-8CFF-F83A73719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65952-1887-1242-A818-B48F8B40E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7D4EC-6C26-3343-BE5B-4618E517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067B4-9192-2B4D-B6BA-824E85256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6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4F99-0279-E64B-A930-DD2DFE16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7E41E-F499-FD45-AA09-8683F0D29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69A72-A800-F842-8071-88E5094D6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FD681-5220-164D-B93A-853D489B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4C564-BE03-8440-959E-1F518EC8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254D9-1620-D64C-AF60-D151063F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1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499A-DD86-D24E-A290-0B13D2D7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5DDCF-0EB5-0B42-9F19-70570301C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2CFB8-64A2-6243-A467-76379B3B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25434-A072-D245-8271-A14B1A4D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4B9DA-DDF0-C34D-8AFE-B5CAAEF3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1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15942-F520-8140-82C2-549925B91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EF6AE-3D2E-074D-80D3-C0295DA01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9591-4801-7644-BB66-3C5CEB6B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98A03-9EC2-5942-8AF7-4EE129F9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53ECD-47F7-6640-A418-41363373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6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098E4-3EF4-B940-93C1-1851E23A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D4DF2-BE2A-2040-9A6C-84673A481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1B57D-0C15-8044-9772-0CEEEAA1C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38502-F17E-DC4B-9F41-BAD476EB8CDC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FF6CD-B256-804D-A913-74F1B54B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141D8-076E-4C4E-BD9C-F12DD0F4B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3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0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6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0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38.png"/><Relationship Id="rId3" Type="http://schemas.openxmlformats.org/officeDocument/2006/relationships/tags" Target="../tags/tag20.xml"/><Relationship Id="rId21" Type="http://schemas.openxmlformats.org/officeDocument/2006/relationships/tags" Target="../tags/tag21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5" Type="http://schemas.openxmlformats.org/officeDocument/2006/relationships/tags" Target="../tags/tag23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image" Target="../media/image35.png"/><Relationship Id="rId29" Type="http://schemas.openxmlformats.org/officeDocument/2006/relationships/image" Target="../media/image3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24" Type="http://schemas.openxmlformats.org/officeDocument/2006/relationships/image" Target="../media/image37.png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23" Type="http://schemas.openxmlformats.org/officeDocument/2006/relationships/tags" Target="../tags/tag22.xml"/><Relationship Id="rId28" Type="http://schemas.openxmlformats.org/officeDocument/2006/relationships/image" Target="../media/image39.png"/><Relationship Id="rId10" Type="http://schemas.openxmlformats.org/officeDocument/2006/relationships/tags" Target="../tags/tag27.xml"/><Relationship Id="rId19" Type="http://schemas.openxmlformats.org/officeDocument/2006/relationships/tags" Target="../tags/tag20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Relationship Id="rId22" Type="http://schemas.openxmlformats.org/officeDocument/2006/relationships/image" Target="../media/image36.png"/><Relationship Id="rId27" Type="http://schemas.openxmlformats.org/officeDocument/2006/relationships/tags" Target="../tags/tag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8180ED6-2ACB-A649-8746-79EC78125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8380" y="1260489"/>
            <a:ext cx="8075240" cy="1710011"/>
          </a:xfrm>
          <a:prstGeom prst="roundRect">
            <a:avLst/>
          </a:prstGeom>
          <a:solidFill>
            <a:srgbClr val="005825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Normal linear model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65B63C4A-E74D-EC4E-82DE-0EDC1FB3D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7501"/>
            <a:ext cx="9144000" cy="1373086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蒋智超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endParaRPr lang="en-US" altLang="zh-CN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秋    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862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2"/>
    </mc:Choice>
    <mc:Fallback xmlns="">
      <p:transition spd="slow" advTm="25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Normal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linear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model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D4382DFF-92CE-2D42-8477-6FBD08D6928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677400" cy="493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93885D2B-4DF3-264D-881B-CF8FF60E1AEF}"/>
              </a:ext>
            </a:extLst>
          </p:cNvPr>
          <p:cNvSpPr txBox="1">
            <a:spLocks noChangeArrowheads="1"/>
          </p:cNvSpPr>
          <p:nvPr/>
        </p:nvSpPr>
        <p:spPr>
          <a:xfrm>
            <a:off x="914401" y="1554480"/>
            <a:ext cx="9651998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18" lvl="1" indent="-342900">
              <a:lnSpc>
                <a:spcPct val="150000"/>
              </a:lnSpc>
              <a:buClr>
                <a:srgbClr val="005825"/>
              </a:buClr>
              <a:buSzPct val="125000"/>
            </a:pPr>
            <a:r>
              <a:rPr lang="en-US" altLang="zh-CN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Gauss-Markov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model</a:t>
            </a:r>
          </a:p>
          <a:p>
            <a:pPr marL="800106" lvl="2" indent="-342900">
              <a:lnSpc>
                <a:spcPct val="150000"/>
              </a:lnSpc>
              <a:buClr>
                <a:srgbClr val="005825"/>
              </a:buClr>
              <a:buSzPct val="125000"/>
            </a:pP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Calculate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mean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and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variance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of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OLS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estimator,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obtain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unbiased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variance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estimator</a:t>
            </a:r>
          </a:p>
          <a:p>
            <a:pPr marL="800106" lvl="2" indent="-342900">
              <a:lnSpc>
                <a:spcPct val="150000"/>
              </a:lnSpc>
              <a:buClr>
                <a:srgbClr val="005825"/>
              </a:buClr>
              <a:buSzPct val="125000"/>
            </a:pP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Show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that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OLS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estimator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is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BLUE</a:t>
            </a:r>
          </a:p>
          <a:p>
            <a:pPr marL="800106" lvl="2" indent="-342900">
              <a:lnSpc>
                <a:spcPct val="150000"/>
              </a:lnSpc>
              <a:buClr>
                <a:srgbClr val="005825"/>
              </a:buClr>
              <a:buSzPct val="125000"/>
            </a:pP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Inadequate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for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statistical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inference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without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distribution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of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the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estimator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endParaRPr lang="en-US" altLang="zh-CN" sz="1800" b="0" dirty="0">
              <a:latin typeface="Times New Roman" panose="02020603050405020304" pitchFamily="18" charset="0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  <a:p>
            <a:pPr marL="342918" lvl="1" indent="-342900">
              <a:lnSpc>
                <a:spcPct val="150000"/>
              </a:lnSpc>
              <a:buClr>
                <a:srgbClr val="005825"/>
              </a:buClr>
              <a:buSzPct val="125000"/>
            </a:pPr>
            <a:r>
              <a:rPr lang="en-US" altLang="zh-CN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Normal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linear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model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457206" lvl="2" indent="0">
              <a:lnSpc>
                <a:spcPct val="150000"/>
              </a:lnSpc>
              <a:buClr>
                <a:srgbClr val="005825"/>
              </a:buClr>
              <a:buSzPct val="125000"/>
              <a:buNone/>
            </a:pPr>
            <a:endParaRPr lang="en-US" altLang="zh-CN" sz="18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6D07F4-150C-614B-98BA-4B6914102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08" y="4218933"/>
            <a:ext cx="4229100" cy="850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CE2DC4-17BB-4145-B918-D4533B2A2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6301" y="4966600"/>
            <a:ext cx="6946900" cy="1346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F1637B-C6C1-494E-B29C-A105480BF604}"/>
              </a:ext>
            </a:extLst>
          </p:cNvPr>
          <p:cNvSpPr txBox="1"/>
          <p:nvPr/>
        </p:nvSpPr>
        <p:spPr>
          <a:xfrm>
            <a:off x="1320166" y="5151029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equivalently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04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DE43808-D077-CA6E-C039-92E6F6C60B34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DF0B039-D5EA-0A82-62F5-1F82A4CC4DD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6F89E1F5-B379-F25D-D00A-FC69FDE90C4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D663D615-57EC-65D6-AB14-47F0659B336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66A16142-6C7A-DD4E-0004-91E87850407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B43F38C-E117-088A-536A-B1D5DC641D2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Under the Normal linear model, which of the following statements are correct?</a:t>
            </a:r>
            <a:endParaRPr lang="en-US" sz="2400" dirty="0">
              <a:solidFill>
                <a:srgbClr val="000000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07DE77-E390-4995-10C2-3A7B23162BE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The OLS estimator is unbiased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C49434-DDC3-F9BE-E4B0-1F5BB740999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The OLS estimator is the MLE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030324-FBC1-17BC-12E2-6004AEBD6E9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The OLS estimator is the MVUE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395CD4-F8CA-6B8E-0779-6E1C1EE9909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The OLS is the BLUE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66EAA7-E1F4-52A1-9814-878A60A44AA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82188B-E4EB-904C-4C78-FD76E7C0A764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AA49A0-5C64-CA7A-013E-99DD10A14C6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9EBF45-4A66-BB81-7730-BE3A99F1467D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E28B2F9-D675-8E91-B72F-769F4B9E7901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EE790-2CFA-707F-6274-801BAD414C61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52756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sz="3200" b="1" dirty="0">
                    <a:solidFill>
                      <a:srgbClr val="00582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 Unicode MS" panose="020B0604020202020204" pitchFamily="34" charset="-128"/>
                  </a:rPr>
                  <a:t>Joint</a:t>
                </a:r>
                <a:r>
                  <a:rPr lang="zh-CN" altLang="en-US" sz="3200" b="1" dirty="0">
                    <a:solidFill>
                      <a:srgbClr val="00582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 Unicode MS" panose="020B0604020202020204" pitchFamily="34" charset="-128"/>
                  </a:rPr>
                  <a:t> </a:t>
                </a:r>
                <a:r>
                  <a:rPr lang="en-US" altLang="zh-CN" sz="3200" b="1" dirty="0">
                    <a:solidFill>
                      <a:srgbClr val="00582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 Unicode MS" panose="020B0604020202020204" pitchFamily="34" charset="-128"/>
                  </a:rPr>
                  <a:t>distribution</a:t>
                </a:r>
                <a:r>
                  <a:rPr lang="zh-CN" altLang="en-US" sz="3200" b="1" dirty="0">
                    <a:solidFill>
                      <a:srgbClr val="00582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 Unicode MS" panose="020B0604020202020204" pitchFamily="34" charset="-128"/>
                  </a:rPr>
                  <a:t> </a:t>
                </a:r>
                <a:r>
                  <a:rPr lang="en-US" altLang="zh-CN" sz="3200" b="1" dirty="0">
                    <a:solidFill>
                      <a:srgbClr val="00582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 Unicode MS" panose="020B0604020202020204" pitchFamily="34" charset="-128"/>
                  </a:rPr>
                  <a:t>of</a:t>
                </a:r>
                <a:r>
                  <a:rPr lang="zh-CN" altLang="en-US" sz="3200" b="1" dirty="0">
                    <a:solidFill>
                      <a:srgbClr val="00582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 Unicode MS" panose="020B0604020202020204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3200" b="1" i="1" smtClean="0">
                        <a:solidFill>
                          <a:srgbClr val="005825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Arial Unicode MS" panose="020B0604020202020204" pitchFamily="34" charset="-128"/>
                      </a:rPr>
                      <m:t>（</m:t>
                    </m:r>
                    <m:acc>
                      <m:accPr>
                        <m:chr m:val="̂"/>
                        <m:ctrlPr>
                          <a:rPr lang="en-US" altLang="zh-CN" sz="3200" b="1" i="1" smtClean="0">
                            <a:solidFill>
                              <a:srgbClr val="005825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 Unicode MS" panose="020B0604020202020204" pitchFamily="34" charset="-128"/>
                          </a:rPr>
                        </m:ctrlPr>
                      </m:accPr>
                      <m:e>
                        <m:r>
                          <a:rPr lang="en-US" altLang="zh-CN" sz="3200" b="1" i="1" smtClean="0">
                            <a:solidFill>
                              <a:srgbClr val="00582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 Unicode MS" panose="020B0604020202020204" pitchFamily="34" charset="-128"/>
                          </a:rPr>
                          <m:t>𝜷</m:t>
                        </m:r>
                      </m:e>
                    </m:acc>
                    <m:r>
                      <a:rPr lang="en-US" altLang="zh-CN" sz="3200" b="1" i="1" smtClean="0">
                        <a:solidFill>
                          <a:srgbClr val="005825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Arial Unicode MS" panose="020B0604020202020204" pitchFamily="34" charset="-128"/>
                      </a:rPr>
                      <m:t>,</m:t>
                    </m:r>
                    <m:sSup>
                      <m:sSupPr>
                        <m:ctrlPr>
                          <a:rPr lang="en-US" altLang="zh-CN" sz="3200" b="1" i="1" smtClean="0">
                            <a:solidFill>
                              <a:srgbClr val="005825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sz="3200" b="1" i="1" smtClean="0">
                                <a:solidFill>
                                  <a:srgbClr val="005825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Arial Unicode MS" panose="020B0604020202020204" pitchFamily="34" charset="-128"/>
                              </a:rPr>
                            </m:ctrlPr>
                          </m:accPr>
                          <m:e>
                            <m:r>
                              <a:rPr lang="en-US" altLang="zh-CN" sz="3200" b="1" i="1" smtClean="0">
                                <a:solidFill>
                                  <a:srgbClr val="00582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 Unicode MS" panose="020B0604020202020204" pitchFamily="34" charset="-128"/>
                              </a:rPr>
                              <m:t>𝝈</m:t>
                            </m:r>
                          </m:e>
                        </m:acc>
                      </m:e>
                      <m:sup>
                        <m:r>
                          <a:rPr lang="en-US" altLang="zh-CN" sz="3200" b="1" i="1" smtClean="0">
                            <a:solidFill>
                              <a:srgbClr val="005825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 Unicode MS" panose="020B0604020202020204" pitchFamily="34" charset="-128"/>
                          </a:rPr>
                          <m:t>𝟐</m:t>
                        </m:r>
                      </m:sup>
                    </m:sSup>
                    <m:r>
                      <a:rPr lang="zh-CN" altLang="en-US" sz="3200" b="1" i="1" smtClean="0">
                        <a:solidFill>
                          <a:srgbClr val="005825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Arial Unicode MS" panose="020B0604020202020204" pitchFamily="34" charset="-128"/>
                      </a:rPr>
                      <m:t>）</m:t>
                    </m:r>
                  </m:oMath>
                </a14:m>
                <a:endParaRPr lang="zh-CN" altLang="en-US" sz="3200" dirty="0">
                  <a:solidFill>
                    <a:srgbClr val="00582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4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D4382DFF-92CE-2D42-8477-6FBD08D6928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677400" cy="493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343A29-60A7-5E44-8023-34A3FC86A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399" y="1672272"/>
            <a:ext cx="7840579" cy="21109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A2A018-32A8-A64D-9FA2-0A26801DF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8088" y="4295074"/>
            <a:ext cx="5537200" cy="774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6E0A9C-4FFC-A94C-8AA0-C541304D83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520" y="5091544"/>
            <a:ext cx="7493000" cy="4953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331B6B0-A468-2444-A986-946524A63A35}"/>
              </a:ext>
            </a:extLst>
          </p:cNvPr>
          <p:cNvSpPr txBox="1"/>
          <p:nvPr/>
        </p:nvSpPr>
        <p:spPr>
          <a:xfrm>
            <a:off x="1686424" y="4322036"/>
            <a:ext cx="778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Proof:</a:t>
            </a:r>
            <a:endParaRPr lang="en-US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304714-39F3-D940-B23B-DEC2E3FDCB46}"/>
              </a:ext>
            </a:extLst>
          </p:cNvPr>
          <p:cNvSpPr/>
          <p:nvPr/>
        </p:nvSpPr>
        <p:spPr>
          <a:xfrm>
            <a:off x="914401" y="1463039"/>
            <a:ext cx="8782112" cy="24067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6478AF-E334-E242-BBCD-0761A3B4C754}"/>
              </a:ext>
            </a:extLst>
          </p:cNvPr>
          <p:cNvSpPr/>
          <p:nvPr/>
        </p:nvSpPr>
        <p:spPr>
          <a:xfrm>
            <a:off x="914401" y="3987583"/>
            <a:ext cx="8782112" cy="19631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549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Inference: scalar parameter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5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D4382DFF-92CE-2D42-8477-6FBD08D6928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677400" cy="493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内容占位符 2">
                <a:extLst>
                  <a:ext uri="{FF2B5EF4-FFF2-40B4-BE49-F238E27FC236}">
                    <a16:creationId xmlns:a16="http://schemas.microsoft.com/office/drawing/2014/main" id="{9FBF0AD3-CD04-3543-BC5E-B472D03EA7F4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8782111" cy="465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>
                  <a:lnSpc>
                    <a:spcPct val="150000"/>
                  </a:lnSpc>
                  <a:spcBef>
                    <a:spcPts val="0"/>
                  </a:spcBef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Inference for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̂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is a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-dimensional vector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But this is not useful 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 Unicode MS" panose="020B0604020202020204" pitchFamily="34" charset="-128"/>
                          </a:rPr>
                          <m:t>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is unknown</a:t>
                </a: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Replace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 Unicode MS" panose="020B0604020202020204" pitchFamily="34" charset="-128"/>
                          </a:rPr>
                          <m:t>𝜎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with its unbiased estimator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 Unicode MS" panose="020B0604020202020204" pitchFamily="34" charset="-128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3" name="内容占位符 2">
                <a:extLst>
                  <a:ext uri="{FF2B5EF4-FFF2-40B4-BE49-F238E27FC236}">
                    <a16:creationId xmlns:a16="http://schemas.microsoft.com/office/drawing/2014/main" id="{9FBF0AD3-CD04-3543-BC5E-B472D03EA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8782111" cy="4656139"/>
              </a:xfrm>
              <a:prstGeom prst="rect">
                <a:avLst/>
              </a:prstGeom>
              <a:blipFill>
                <a:blip r:embed="rId3"/>
                <a:stretch>
                  <a:fillRect l="-1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74FC28D-3A85-7D4D-8E87-E7CC0E1AA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880" y="2281447"/>
            <a:ext cx="4207679" cy="6485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43D399-7F76-7245-B0E4-F40A2479B5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8919" y="4641070"/>
            <a:ext cx="26416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35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Inference: scalar parameter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6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D4382DFF-92CE-2D42-8477-6FBD08D6928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677400" cy="493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9FBF0AD3-CD04-3543-BC5E-B472D03EA7F4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lnSpc>
                <a:spcPct val="150000"/>
              </a:lnSpc>
              <a:spcBef>
                <a:spcPts val="0"/>
              </a:spcBef>
              <a:buClr>
                <a:srgbClr val="005825"/>
              </a:buClr>
              <a:buSzPct val="125000"/>
            </a:pPr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FE7C25-47B7-B04D-8E12-2AF3167B2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769" y="1831023"/>
            <a:ext cx="2997200" cy="774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95639A-2051-7647-9AFD-550075A09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983" y="1966413"/>
            <a:ext cx="2324100" cy="5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255CF9-A50E-314F-B436-869025403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962" y="2622346"/>
            <a:ext cx="5588000" cy="2032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42FE53-EA5C-9244-BBC9-BB40A1DB0882}"/>
              </a:ext>
            </a:extLst>
          </p:cNvPr>
          <p:cNvSpPr txBox="1"/>
          <p:nvPr/>
        </p:nvSpPr>
        <p:spPr>
          <a:xfrm>
            <a:off x="1600200" y="4827699"/>
            <a:ext cx="69024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Pivotal quantity</a:t>
            </a:r>
            <a:endParaRPr lang="en-US" i="1" dirty="0">
              <a:latin typeface="Cambria Math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Depends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observed data and the unknown true parameter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Its distribution does not depend on the data and the parameter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Key to hypothesis testing and confidence interval construction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7B37E7-D60A-3D47-AEEA-7B5228322B6B}"/>
              </a:ext>
            </a:extLst>
          </p:cNvPr>
          <p:cNvSpPr/>
          <p:nvPr/>
        </p:nvSpPr>
        <p:spPr>
          <a:xfrm>
            <a:off x="914401" y="1463039"/>
            <a:ext cx="8782112" cy="31913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64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Confidence interval for scale parameter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7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D4382DFF-92CE-2D42-8477-6FBD08D6928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677400" cy="493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77727B-D77E-DD49-86A0-CB4D0F509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926" y="1554418"/>
            <a:ext cx="6997700" cy="1282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8ECF12-0F5D-6E4F-90F4-7570C9C2B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2300" y="3228020"/>
            <a:ext cx="7721600" cy="1765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AED2EB-2F0C-A849-BFCF-9A205BA01716}"/>
              </a:ext>
            </a:extLst>
          </p:cNvPr>
          <p:cNvSpPr txBox="1"/>
          <p:nvPr/>
        </p:nvSpPr>
        <p:spPr>
          <a:xfrm>
            <a:off x="2362523" y="5436118"/>
            <a:ext cx="6269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Hypothesis</a:t>
            </a:r>
            <a:r>
              <a:rPr lang="zh-CN" altLang="en-US" dirty="0"/>
              <a:t> </a:t>
            </a:r>
            <a:r>
              <a:rPr lang="en-US" altLang="zh-CN" dirty="0"/>
              <a:t>testing</a:t>
            </a:r>
            <a:r>
              <a:rPr lang="zh-CN" altLang="en-US" dirty="0"/>
              <a:t>                                            </a:t>
            </a:r>
            <a:r>
              <a:rPr lang="en-US" altLang="zh-CN" dirty="0"/>
              <a:t>confidence</a:t>
            </a:r>
            <a:r>
              <a:rPr lang="zh-CN" altLang="en-US" dirty="0"/>
              <a:t> </a:t>
            </a:r>
            <a:r>
              <a:rPr lang="en-US" altLang="zh-CN" dirty="0"/>
              <a:t>interval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11" name="Left-Right Arrow 10">
            <a:extLst>
              <a:ext uri="{FF2B5EF4-FFF2-40B4-BE49-F238E27FC236}">
                <a16:creationId xmlns:a16="http://schemas.microsoft.com/office/drawing/2014/main" id="{423438F9-C4C5-C74C-B8E4-DE89607AB65B}"/>
              </a:ext>
            </a:extLst>
          </p:cNvPr>
          <p:cNvSpPr/>
          <p:nvPr/>
        </p:nvSpPr>
        <p:spPr>
          <a:xfrm>
            <a:off x="5115859" y="5519472"/>
            <a:ext cx="519833" cy="26527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472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sz="3200" b="1" dirty="0">
                    <a:solidFill>
                      <a:srgbClr val="00582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 Unicode MS" panose="020B0604020202020204" pitchFamily="34" charset="-128"/>
                  </a:rPr>
                  <a:t>Revisit the Student’s </a:t>
                </a:r>
                <a14:m>
                  <m:oMath xmlns:m="http://schemas.openxmlformats.org/officeDocument/2006/math">
                    <m:r>
                      <a:rPr lang="en-US" altLang="zh-CN" sz="3200" b="1" i="1" dirty="0" smtClean="0">
                        <a:solidFill>
                          <a:srgbClr val="005825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Arial Unicode MS" panose="020B0604020202020204" pitchFamily="34" charset="-128"/>
                      </a:rPr>
                      <m:t>𝒕</m:t>
                    </m:r>
                  </m:oMath>
                </a14:m>
                <a:r>
                  <a:rPr lang="en-US" altLang="zh-CN" sz="3200" b="1" dirty="0">
                    <a:solidFill>
                      <a:srgbClr val="00582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 Unicode MS" panose="020B0604020202020204" pitchFamily="34" charset="-128"/>
                  </a:rPr>
                  <a:t> Theorem</a:t>
                </a:r>
                <a:endParaRPr lang="zh-CN" altLang="en-US" sz="3200" dirty="0">
                  <a:solidFill>
                    <a:srgbClr val="00582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8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2" name="直接连接符 4">
            <a:extLst>
              <a:ext uri="{FF2B5EF4-FFF2-40B4-BE49-F238E27FC236}">
                <a16:creationId xmlns:a16="http://schemas.microsoft.com/office/drawing/2014/main" id="{73213F19-706B-4DE8-BD21-B987678BE3F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61DE3B45-FE26-9A4C-8B09-EA25B05DA3C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575800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are </a:t>
                </a:r>
                <a:r>
                  <a:rPr lang="en-US" altLang="zh-CN" dirty="0" err="1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i.i.d.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Sample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∑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rad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𝑆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∼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A regression perspective </a:t>
                </a: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Normal linear 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(0,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OLS estimate: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Inference 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rad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</m:d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𝑆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∼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  <a:blipFill>
                <a:blip r:embed="rId4"/>
                <a:stretch>
                  <a:fillRect l="-1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0665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Revisit the two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sample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comparison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9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2" name="直接连接符 4">
            <a:extLst>
              <a:ext uri="{FF2B5EF4-FFF2-40B4-BE49-F238E27FC236}">
                <a16:creationId xmlns:a16="http://schemas.microsoft.com/office/drawing/2014/main" id="{73213F19-706B-4DE8-BD21-B987678BE3F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61DE3B45-FE26-9A4C-8B09-EA25B05DA3C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575800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are </a:t>
                </a:r>
                <a:r>
                  <a:rPr lang="en-US" altLang="zh-CN" dirty="0" err="1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i.i.d.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with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are </a:t>
                </a:r>
                <a:r>
                  <a:rPr lang="en-US" altLang="zh-CN" dirty="0" err="1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i.i.d.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with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pooled 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𝑝𝑜𝑜𝑙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−2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{∑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+∑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} </a:t>
                </a: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/(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rad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</m:acc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𝑝𝑜𝑜𝑙</m:t>
                            </m:r>
                          </m:sub>
                        </m:sSub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∼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−2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A regression perspective </a:t>
                </a: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Normal linear 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(0,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OLS estimate: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𝑝𝑜𝑜𝑙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Inference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𝜇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−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𝜇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  <a:blipFill>
                <a:blip r:embed="rId3"/>
                <a:stretch>
                  <a:fillRect l="-1184" t="-543" b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9268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Inference: vector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parameters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10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D4382DFF-92CE-2D42-8477-6FBD08D6928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677400" cy="493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013E29-968A-0742-B09A-24987D211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906" y="1499674"/>
            <a:ext cx="8216900" cy="2260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CFC19F-3349-6748-AADA-FD044BF99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07" y="4375875"/>
            <a:ext cx="4775200" cy="1485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D787C0-DC0F-794D-980C-403B4CD27D7B}"/>
              </a:ext>
            </a:extLst>
          </p:cNvPr>
          <p:cNvSpPr txBox="1"/>
          <p:nvPr/>
        </p:nvSpPr>
        <p:spPr>
          <a:xfrm>
            <a:off x="838200" y="395369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Examples: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F319DA-6E11-5440-9432-6A6AF76211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3100" y="4456751"/>
            <a:ext cx="41656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518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Inference: vector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parameters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11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D4382DFF-92CE-2D42-8477-6FBD08D6928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677400" cy="493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D7C479-0DC9-4843-92E4-5DA2FE5D0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612" y="1669825"/>
            <a:ext cx="4432300" cy="660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750341-6F04-6448-92AA-106DA63C5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8156" y="2288495"/>
            <a:ext cx="5575300" cy="622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9DF92C-CF2C-DF4B-AA82-1656A78EFF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8256" y="3609358"/>
            <a:ext cx="6515100" cy="863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893E32-E06C-B049-A4B3-A9FE2B781AFD}"/>
                  </a:ext>
                </a:extLst>
              </p:cNvPr>
              <p:cNvSpPr txBox="1"/>
              <p:nvPr/>
            </p:nvSpPr>
            <p:spPr>
              <a:xfrm>
                <a:off x="2411456" y="3130293"/>
                <a:ext cx="41517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Replace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 Unicode MS" panose="020B0604020202020204" pitchFamily="34" charset="-128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with its unbiased estimator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 Unicode MS" panose="020B0604020202020204" pitchFamily="34" charset="-128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893E32-E06C-B049-A4B3-A9FE2B781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456" y="3130293"/>
                <a:ext cx="4151778" cy="369332"/>
              </a:xfrm>
              <a:prstGeom prst="rect">
                <a:avLst/>
              </a:prstGeom>
              <a:blipFill>
                <a:blip r:embed="rId6"/>
                <a:stretch>
                  <a:fillRect l="-1220" t="-3226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63B2E45-BDFB-ED4D-8E33-B3FFD5930F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1456" y="4487082"/>
            <a:ext cx="58420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40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Real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data analysis and R implementation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12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D4382DFF-92CE-2D42-8477-6FBD08D6928E}"/>
              </a:ext>
            </a:extLst>
          </p:cNvPr>
          <p:cNvSpPr txBox="1">
            <a:spLocks noChangeArrowheads="1"/>
          </p:cNvSpPr>
          <p:nvPr/>
        </p:nvSpPr>
        <p:spPr>
          <a:xfrm>
            <a:off x="788773" y="1629120"/>
            <a:ext cx="9677400" cy="493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651A8D-730B-674E-9868-F9E7EB47E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49084"/>
            <a:ext cx="4478583" cy="53488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09574A-7FB9-1349-9318-EA785664D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7473" y="1566010"/>
            <a:ext cx="6196234" cy="505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305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Revisit the one-way ANOVA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13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2" name="直接连接符 4">
            <a:extLst>
              <a:ext uri="{FF2B5EF4-FFF2-40B4-BE49-F238E27FC236}">
                <a16:creationId xmlns:a16="http://schemas.microsoft.com/office/drawing/2014/main" id="{73213F19-706B-4DE8-BD21-B987678BE3F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61DE3B45-FE26-9A4C-8B09-EA25B05DA3C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575800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are </a:t>
                </a:r>
                <a:r>
                  <a:rPr lang="en-US" altLang="zh-CN" dirty="0" err="1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i.i.d.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with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Normal linear 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(0,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OLS estimate: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𝑆𝑆𝑊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/(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One-way ANOVA: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𝐻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0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: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𝜇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=⋯=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𝜇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𝑏</m:t>
                        </m:r>
                      </m:sub>
                    </m:sSub>
                  </m:oMath>
                </a14:m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Rewrite the null hypothesis: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𝐶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𝑏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=0</m:t>
                    </m:r>
                  </m:oMath>
                </a14:m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F test</a:t>
                </a: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  <a:blipFill>
                <a:blip r:embed="rId3"/>
                <a:stretch>
                  <a:fillRect l="-1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3384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Prediction based on pivotal quantities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14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D4382DFF-92CE-2D42-8477-6FBD08D6928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677400" cy="493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4FB231-22DB-C642-AE07-DBDA15808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54480"/>
            <a:ext cx="7835900" cy="1536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CC0269-622F-E644-AF9A-1CB9FE3E492E}"/>
                  </a:ext>
                </a:extLst>
              </p:cNvPr>
              <p:cNvSpPr txBox="1"/>
              <p:nvPr/>
            </p:nvSpPr>
            <p:spPr>
              <a:xfrm>
                <a:off x="914400" y="3422918"/>
                <a:ext cx="7248779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Predict  mean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, which is a random variable</a:t>
                </a:r>
                <a:r>
                  <a:rPr lang="zh-CN" altLang="en-US" sz="2000" dirty="0"/>
                  <a:t>： </a:t>
                </a:r>
                <a:r>
                  <a:rPr lang="en-US" altLang="zh-CN" sz="2000" dirty="0"/>
                  <a:t>need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to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modify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the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CI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CC0269-622F-E644-AF9A-1CB9FE3E4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422918"/>
                <a:ext cx="7248779" cy="2246769"/>
              </a:xfrm>
              <a:prstGeom prst="rect">
                <a:avLst/>
              </a:prstGeom>
              <a:blipFill>
                <a:blip r:embed="rId4"/>
                <a:stretch>
                  <a:fillRect l="-701" t="-1695" b="-4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4CBC87A-26F6-C147-9786-FFC9B2C8C0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978176"/>
            <a:ext cx="2705100" cy="520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5EB44D-531E-424A-881F-794B287B78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5519" y="4016276"/>
            <a:ext cx="723900" cy="482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810FE2E-3DF7-C44F-B7EF-1ADD345A5543}"/>
              </a:ext>
            </a:extLst>
          </p:cNvPr>
          <p:cNvSpPr txBox="1"/>
          <p:nvPr/>
        </p:nvSpPr>
        <p:spPr>
          <a:xfrm>
            <a:off x="1573802" y="4072910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Unbiased</a:t>
            </a:r>
            <a:r>
              <a:rPr lang="zh-CN" altLang="en-US" dirty="0"/>
              <a:t> </a:t>
            </a:r>
            <a:r>
              <a:rPr lang="en-US" altLang="zh-CN" dirty="0"/>
              <a:t>predictor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B984C4-CA79-714B-9615-5F9F89052DF6}"/>
              </a:ext>
            </a:extLst>
          </p:cNvPr>
          <p:cNvSpPr txBox="1"/>
          <p:nvPr/>
        </p:nvSpPr>
        <p:spPr>
          <a:xfrm>
            <a:off x="5671369" y="409586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6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Prediction based on pivotal quantities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15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D4382DFF-92CE-2D42-8477-6FBD08D6928E}"/>
              </a:ext>
            </a:extLst>
          </p:cNvPr>
          <p:cNvSpPr txBox="1">
            <a:spLocks noChangeArrowheads="1"/>
          </p:cNvSpPr>
          <p:nvPr/>
        </p:nvSpPr>
        <p:spPr>
          <a:xfrm>
            <a:off x="788773" y="1629120"/>
            <a:ext cx="9677400" cy="493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D9A125-8F4F-AF49-A0B3-C62F6E452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973" y="1629120"/>
            <a:ext cx="5207000" cy="584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546BF9-5A9D-8046-A5EB-F887D66C2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812" y="2343266"/>
            <a:ext cx="7378700" cy="2044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C81C75-8654-3646-8795-BA26C08A7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5449" y="4423178"/>
            <a:ext cx="2844800" cy="558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D1DE07-04F5-424F-8861-5074052BC11C}"/>
                  </a:ext>
                </a:extLst>
              </p:cNvPr>
              <p:cNvSpPr txBox="1"/>
              <p:nvPr/>
            </p:nvSpPr>
            <p:spPr>
              <a:xfrm>
                <a:off x="1717706" y="4525608"/>
                <a:ext cx="3227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level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prediction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interval</a:t>
                </a:r>
                <a:r>
                  <a:rPr lang="zh-CN" altLang="en-US" dirty="0"/>
                  <a:t>：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D1DE07-04F5-424F-8861-5074052BC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706" y="4525608"/>
                <a:ext cx="3227743" cy="369332"/>
              </a:xfrm>
              <a:prstGeom prst="rect">
                <a:avLst/>
              </a:prstGeom>
              <a:blipFill>
                <a:blip r:embed="rId6"/>
                <a:stretch>
                  <a:fillRect t="-6667" r="-78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9AFA58A-2E50-504F-884E-B36BEDF564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2362" y="4981978"/>
            <a:ext cx="5689600" cy="14224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D96468-8A8A-BA4D-ADCA-2A327D12910A}"/>
              </a:ext>
            </a:extLst>
          </p:cNvPr>
          <p:cNvSpPr/>
          <p:nvPr/>
        </p:nvSpPr>
        <p:spPr>
          <a:xfrm>
            <a:off x="914401" y="1463039"/>
            <a:ext cx="8782112" cy="2830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7AB7C6-D1BF-8C48-89D1-D35B9F6D4AED}"/>
              </a:ext>
            </a:extLst>
          </p:cNvPr>
          <p:cNvSpPr/>
          <p:nvPr/>
        </p:nvSpPr>
        <p:spPr>
          <a:xfrm>
            <a:off x="914400" y="4289812"/>
            <a:ext cx="8782112" cy="24067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35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Real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data analysis and R implementation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16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D4382DFF-92CE-2D42-8477-6FBD08D6928E}"/>
              </a:ext>
            </a:extLst>
          </p:cNvPr>
          <p:cNvSpPr txBox="1">
            <a:spLocks noChangeArrowheads="1"/>
          </p:cNvSpPr>
          <p:nvPr/>
        </p:nvSpPr>
        <p:spPr>
          <a:xfrm>
            <a:off x="788773" y="1629120"/>
            <a:ext cx="9677400" cy="493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6215E5-8BD7-2D43-A6D9-01634CFF3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29120"/>
            <a:ext cx="68834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571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Anscombe’s Quartet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17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2" name="直接连接符 4">
            <a:extLst>
              <a:ext uri="{FF2B5EF4-FFF2-40B4-BE49-F238E27FC236}">
                <a16:creationId xmlns:a16="http://schemas.microsoft.com/office/drawing/2014/main" id="{73213F19-706B-4DE8-BD21-B987678BE3F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61DE3B45-FE26-9A4C-8B09-EA25B05DA3C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575800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C80DCA8C-01FA-624F-8551-E0D7956931D3}"/>
              </a:ext>
            </a:extLst>
          </p:cNvPr>
          <p:cNvSpPr txBox="1">
            <a:spLocks noChangeArrowheads="1"/>
          </p:cNvSpPr>
          <p:nvPr/>
        </p:nvSpPr>
        <p:spPr>
          <a:xfrm>
            <a:off x="914401" y="1554480"/>
            <a:ext cx="9651998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18" lvl="1" indent="-342900">
              <a:lnSpc>
                <a:spcPct val="150000"/>
              </a:lnSpc>
              <a:buClr>
                <a:srgbClr val="005825"/>
              </a:buClr>
              <a:buSzPct val="125000"/>
            </a:pPr>
            <a:r>
              <a:rPr lang="en-US" altLang="zh-CN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Four data sets with one covariate </a:t>
            </a:r>
          </a:p>
          <a:p>
            <a:pPr marL="800106" lvl="2" indent="-342900">
              <a:lnSpc>
                <a:spcPct val="150000"/>
              </a:lnSpc>
              <a:buClr>
                <a:srgbClr val="005825"/>
              </a:buClr>
              <a:buSzPct val="125000"/>
            </a:pPr>
            <a:r>
              <a:rPr lang="en-US" altLang="zh-CN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similar sample moments</a:t>
            </a:r>
          </a:p>
          <a:p>
            <a:pPr marL="800106" lvl="2" indent="-342900">
              <a:lnSpc>
                <a:spcPct val="150000"/>
              </a:lnSpc>
              <a:buClr>
                <a:srgbClr val="005825"/>
              </a:buClr>
              <a:buSzPct val="125000"/>
            </a:pPr>
            <a:r>
              <a:rPr lang="en-US" altLang="zh-CN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OLS estimates are almost the same</a:t>
            </a:r>
          </a:p>
          <a:p>
            <a:pPr marL="800106" lvl="2" indent="-342900">
              <a:lnSpc>
                <a:spcPct val="150000"/>
              </a:lnSpc>
              <a:buClr>
                <a:srgbClr val="005825"/>
              </a:buClr>
              <a:buSzPct val="125000"/>
            </a:pPr>
            <a:r>
              <a:rPr lang="en-US" altLang="zh-CN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Scatterplots are very different</a:t>
            </a:r>
          </a:p>
          <a:p>
            <a:pPr marL="800106" lvl="2" indent="-342900">
              <a:lnSpc>
                <a:spcPct val="150000"/>
              </a:lnSpc>
              <a:buClr>
                <a:srgbClr val="005825"/>
              </a:buClr>
              <a:buSzPct val="125000"/>
            </a:pPr>
            <a:endParaRPr lang="en-US" altLang="zh-CN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Graphical diagnostics play a critical role in model assessment</a:t>
            </a: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8405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Interpreting coefficients in linear model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18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2" name="直接连接符 4">
            <a:extLst>
              <a:ext uri="{FF2B5EF4-FFF2-40B4-BE49-F238E27FC236}">
                <a16:creationId xmlns:a16="http://schemas.microsoft.com/office/drawing/2014/main" id="{73213F19-706B-4DE8-BD21-B987678BE3F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61DE3B45-FE26-9A4C-8B09-EA25B05DA3C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575800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C80DCA8C-01FA-624F-8551-E0D7956931D3}"/>
              </a:ext>
            </a:extLst>
          </p:cNvPr>
          <p:cNvSpPr txBox="1">
            <a:spLocks noChangeArrowheads="1"/>
          </p:cNvSpPr>
          <p:nvPr/>
        </p:nvSpPr>
        <p:spPr>
          <a:xfrm>
            <a:off x="914401" y="1554480"/>
            <a:ext cx="9651998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18" lvl="1" indent="-342900">
              <a:lnSpc>
                <a:spcPct val="150000"/>
              </a:lnSpc>
              <a:buClr>
                <a:srgbClr val="005825"/>
              </a:buClr>
              <a:buSzPct val="125000"/>
            </a:pPr>
            <a:r>
              <a:rPr lang="en-US" altLang="zh-CN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It is important to correctly explain the results of OLS in plain language</a:t>
            </a:r>
          </a:p>
          <a:p>
            <a:pPr marL="800106" lvl="2" indent="-342900">
              <a:lnSpc>
                <a:spcPct val="150000"/>
              </a:lnSpc>
              <a:buClr>
                <a:srgbClr val="005825"/>
              </a:buClr>
              <a:buSzPct val="125000"/>
            </a:pPr>
            <a:r>
              <a:rPr lang="en-US" altLang="zh-CN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Linear model is commonly used in social sciences</a:t>
            </a:r>
          </a:p>
          <a:p>
            <a:pPr marL="800106" lvl="2" indent="-342900">
              <a:lnSpc>
                <a:spcPct val="150000"/>
              </a:lnSpc>
              <a:buClr>
                <a:srgbClr val="005825"/>
              </a:buClr>
              <a:buSzPct val="125000"/>
            </a:pPr>
            <a:r>
              <a:rPr lang="en-US" altLang="zh-CN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It is easy to get wrong</a:t>
            </a:r>
          </a:p>
          <a:p>
            <a:pPr marL="800106" lvl="2" indent="-342900">
              <a:lnSpc>
                <a:spcPct val="150000"/>
              </a:lnSpc>
              <a:buClr>
                <a:srgbClr val="005825"/>
              </a:buClr>
              <a:buSzPct val="125000"/>
            </a:pPr>
            <a:r>
              <a:rPr lang="en-US" altLang="zh-CN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Interpretations depend on how we model the outcome and the covariates</a:t>
            </a: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3732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8239546-7CA9-0F93-3011-DC85362BA3E8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4EF2002-5313-B754-BD7C-D27A632FBCF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95532801-CC4C-C9C4-6F13-5D39C85D1EE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74B9292B-4241-F431-69CD-925A9129A3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36EF17B3-1CFB-AF04-E93B-31ECA421C21E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723C1B-F277-A8E2-4EBC-CA6602951713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𝑖𝑛𝑐𝑜𝑚𝑒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𝑒𝑑𝑢𝑐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𝑎𝑔𝑒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acc>
                        <m:accPr>
                          <m:chr m:val="̂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𝑜𝑐𝑐𝑢𝑝𝑎𝑡𝑖𝑜𝑛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r>
                  <a:rPr 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Which are correct?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723C1B-F277-A8E2-4EBC-CA6602951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blipFill>
                <a:blip r:embed="rId20"/>
                <a:stretch>
                  <a:fillRect l="-1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A9F21B-27C8-B723-2D9C-4FBBFB6C153D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438400" y="278606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r>
                  <a:rPr lang="en-CN" sz="2800" dirty="0"/>
                  <a:t>Each unit of increase in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𝑒𝑑𝑢𝑐</m:t>
                    </m:r>
                  </m:oMath>
                </a14:m>
                <a:r>
                  <a:rPr lang="en-CN" sz="2800" dirty="0"/>
                  <a:t> is associated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CN" sz="2800" dirty="0"/>
                  <a:t> increase in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𝑖𝑛𝑐𝑜𝑚𝑒</m:t>
                    </m:r>
                  </m:oMath>
                </a14:m>
                <a:r>
                  <a:rPr lang="en-CN" sz="2800" dirty="0"/>
                  <a:t>, keeping others constant.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A9F21B-27C8-B723-2D9C-4FBBFB6C1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2438400" y="2786063"/>
                <a:ext cx="8534400" cy="642938"/>
              </a:xfrm>
              <a:prstGeom prst="rect">
                <a:avLst/>
              </a:prstGeom>
              <a:blipFill>
                <a:blip r:embed="rId22"/>
                <a:stretch>
                  <a:fillRect l="-1634" t="-30769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72CA242-0B22-AF4C-B13D-F7DBFA209B10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438400" y="364331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r>
                  <a:rPr lang="en-CN" sz="2800" dirty="0"/>
                  <a:t>The effect of education on income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72CA242-0B22-AF4C-B13D-F7DBFA209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2438400" y="3643313"/>
                <a:ext cx="8534400" cy="642938"/>
              </a:xfrm>
              <a:prstGeom prst="rect">
                <a:avLst/>
              </a:prstGeom>
              <a:blipFill>
                <a:blip r:embed="rId24"/>
                <a:stretch>
                  <a:fillRect l="-1634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5858E18-EA7D-2D86-C45E-7EC3FD8A544D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438400" y="450056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r>
                  <a:rPr lang="en-CN" sz="2800" dirty="0"/>
                  <a:t>30-years of education is associated with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</m:t>
                    </m:r>
                    <m:acc>
                      <m:accPr>
                        <m:chr m:val="̂"/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CN" sz="2800" dirty="0"/>
                  <a:t> increase in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𝑖𝑛𝑐𝑜𝑚𝑒</m:t>
                    </m:r>
                  </m:oMath>
                </a14:m>
                <a:r>
                  <a:rPr lang="en-CN" sz="2800" dirty="0"/>
                  <a:t>.</a:t>
                </a:r>
                <a:endParaRPr 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5858E18-EA7D-2D86-C45E-7EC3FD8A5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2438400" y="4500563"/>
                <a:ext cx="8534400" cy="642938"/>
              </a:xfrm>
              <a:prstGeom prst="rect">
                <a:avLst/>
              </a:prstGeom>
              <a:blipFill>
                <a:blip r:embed="rId26"/>
                <a:stretch>
                  <a:fillRect l="-1634" t="-30769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1DCE8B-76D4-8B83-8E93-B2FE58046B5C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438400" y="535781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r>
                  <a:rPr lang="en-CN" sz="2800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CN" sz="2800" dirty="0"/>
                  <a:t> is statistically insignificant, then we can say that there is no relationship between </a:t>
                </a:r>
                <a14:m>
                  <m:oMath xmlns:m="http://schemas.openxmlformats.org/officeDocument/2006/math">
                    <m:r>
                      <a:rPr lang="en-CN" sz="2800" i="1" dirty="0" smtClean="0">
                        <a:latin typeface="Cambria Math" panose="02040503050406030204" pitchFamily="18" charset="0"/>
                      </a:rPr>
                      <m:t>𝑎𝑔𝑒</m:t>
                    </m:r>
                  </m:oMath>
                </a14:m>
                <a:r>
                  <a:rPr lang="en-CN" sz="2800" dirty="0"/>
                  <a:t> and </a:t>
                </a:r>
                <a14:m>
                  <m:oMath xmlns:m="http://schemas.openxmlformats.org/officeDocument/2006/math">
                    <m:r>
                      <a:rPr lang="en-CN" sz="2800" i="1" dirty="0" smtClean="0">
                        <a:latin typeface="Cambria Math" panose="02040503050406030204" pitchFamily="18" charset="0"/>
                      </a:rPr>
                      <m:t>𝑖𝑛𝑐𝑜𝑚𝑒</m:t>
                    </m:r>
                  </m:oMath>
                </a14:m>
                <a:r>
                  <a:rPr lang="en-CN" sz="2800" dirty="0"/>
                  <a:t>.</a:t>
                </a:r>
                <a:endParaRPr 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1DCE8B-76D4-8B83-8E93-B2FE58046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2438400" y="5357813"/>
                <a:ext cx="8534400" cy="642938"/>
              </a:xfrm>
              <a:prstGeom prst="rect">
                <a:avLst/>
              </a:prstGeom>
              <a:blipFill>
                <a:blip r:embed="rId28"/>
                <a:stretch>
                  <a:fillRect l="-1634" t="-28846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10C0FBAC-71AF-9191-AD89-BAF581F3092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D1AFD4-DAE5-9FFA-6D11-1DF4DD2AF0F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AC63FD-53A3-6EEB-C289-321613C967C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5686DE-1CA6-B23A-AA8A-95C9DBB5A9C8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E0E767D-85B8-8828-B3E1-FCB2A68E06E5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54EA8D-C0AC-68A0-8638-D6B24A66A33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4449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Quadratic terms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20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2" name="直接连接符 4">
            <a:extLst>
              <a:ext uri="{FF2B5EF4-FFF2-40B4-BE49-F238E27FC236}">
                <a16:creationId xmlns:a16="http://schemas.microsoft.com/office/drawing/2014/main" id="{73213F19-706B-4DE8-BD21-B987678BE3F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61DE3B45-FE26-9A4C-8B09-EA25B05DA3C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575800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1" y="1554480"/>
                <a:ext cx="6877111" cy="465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Sometimes, we include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in the model</a:t>
                </a:r>
              </a:p>
              <a:p>
                <a:pPr marL="18" lvl="1" indent="0">
                  <a:lnSpc>
                    <a:spcPct val="150000"/>
                  </a:lnSpc>
                  <a:buClr>
                    <a:srgbClr val="005825"/>
                  </a:buClr>
                  <a:buSzPct val="125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Significance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indicates the relationship is nonlinear</a:t>
                </a:r>
              </a:p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changes because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also changes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increases by one unit</a:t>
                </a:r>
              </a:p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It usually helps to see the relationship as a graph</a:t>
                </a:r>
              </a:p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1554480"/>
                <a:ext cx="6877111" cy="4656139"/>
              </a:xfrm>
              <a:prstGeom prst="rect">
                <a:avLst/>
              </a:prstGeom>
              <a:blipFill>
                <a:blip r:embed="rId3"/>
                <a:stretch>
                  <a:fillRect l="-2030" r="-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F333D868-79C2-5D3F-972C-BE150D5DA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357" y="2163884"/>
            <a:ext cx="3876688" cy="343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345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Linear model with a categorical covariate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21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2" name="直接连接符 4">
            <a:extLst>
              <a:ext uri="{FF2B5EF4-FFF2-40B4-BE49-F238E27FC236}">
                <a16:creationId xmlns:a16="http://schemas.microsoft.com/office/drawing/2014/main" id="{73213F19-706B-4DE8-BD21-B987678BE3F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61DE3B45-FE26-9A4C-8B09-EA25B05DA3C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575800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One covariate with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𝑘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levels</a:t>
                </a:r>
              </a:p>
              <a:p>
                <a:endParaRPr lang="en-US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sz="2400" dirty="0"/>
                  <a:t>Compare three options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CN" sz="2400"/>
                  <a:t> binary variables with the intercept, one for each category, the omitted category serves as the baseline group</a:t>
                </a:r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CN" sz="2400"/>
                  <a:t> binary variables without the intercept, one for each category</a:t>
                </a:r>
                <a:endParaRPr lang="en-US" sz="2400" dirty="0"/>
              </a:p>
              <a:p>
                <a:pPr lvl="1"/>
                <a:r>
                  <a:rPr lang="en-CN" sz="2400"/>
                  <a:t>One variable as if the categorical variable is continuous</a:t>
                </a: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  <a:blipFill>
                <a:blip r:embed="rId3"/>
                <a:stretch>
                  <a:fillRect l="-921" t="-1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8092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Interaction terms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22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2" name="直接连接符 4">
            <a:extLst>
              <a:ext uri="{FF2B5EF4-FFF2-40B4-BE49-F238E27FC236}">
                <a16:creationId xmlns:a16="http://schemas.microsoft.com/office/drawing/2014/main" id="{73213F19-706B-4DE8-BD21-B987678BE3F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61DE3B45-FE26-9A4C-8B09-EA25B05DA3C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575800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Linear model without interaction term: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Relationship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does not depend on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Relationship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does not depend on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Linear model without interaction term: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CN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Interaction term c</a:t>
                </a:r>
                <a:r>
                  <a:rPr lang="en-US" sz="2000" dirty="0"/>
                  <a:t>aptures interactive effects between two covariates</a:t>
                </a:r>
              </a:p>
              <a:p>
                <a:pPr lvl="1"/>
                <a:r>
                  <a:rPr lang="en-US" altLang="zh-CN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One unit increase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is associated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increase in the average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keeping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constant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Hierarchy principal: include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whenever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is in the model</a:t>
                </a: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  <a:blipFill>
                <a:blip r:embed="rId3"/>
                <a:stretch>
                  <a:fillRect l="-1447" r="-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7808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Interaction terms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23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2" name="直接连接符 4">
            <a:extLst>
              <a:ext uri="{FF2B5EF4-FFF2-40B4-BE49-F238E27FC236}">
                <a16:creationId xmlns:a16="http://schemas.microsoft.com/office/drawing/2014/main" id="{73213F19-706B-4DE8-BD21-B987678BE3F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61DE3B45-FE26-9A4C-8B09-EA25B05DA3C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575800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Question 1: </a:t>
                </a:r>
                <a:r>
                  <a:rPr lang="en-US" sz="2400" dirty="0"/>
                  <a:t>How to add interaction terms for three variables? For example,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is male or female,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is </a:t>
                </a:r>
                <a:r>
                  <a:rPr lang="en-US" sz="2400" i="1" dirty="0"/>
                  <a:t>Han</a:t>
                </a:r>
                <a:r>
                  <a:rPr lang="en-US" sz="2400" dirty="0"/>
                  <a:t> or not </a:t>
                </a:r>
                <a:r>
                  <a:rPr lang="en-US" sz="2400" i="1" dirty="0"/>
                  <a:t>Han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 is urban/rural residence.</a:t>
                </a:r>
              </a:p>
              <a:p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Question 2: </a:t>
                </a:r>
                <a:r>
                  <a:rPr lang="en-US" sz="2400" dirty="0"/>
                  <a:t>How to test whether the relationship between gender and income differ by the type of industry (first/second/tertiary industry)? Compare the three options</a:t>
                </a:r>
              </a:p>
              <a:p>
                <a:pPr lvl="1"/>
                <a:r>
                  <a:rPr lang="en-US" sz="2000" dirty="0"/>
                  <a:t>Two regressions by subgroup, one for men and one for women.</a:t>
                </a:r>
              </a:p>
              <a:p>
                <a:pPr lvl="1"/>
                <a:r>
                  <a:rPr lang="en-US" sz="2000" dirty="0"/>
                  <a:t>One regression with gender and the interaction terms between gender and all other controls.</a:t>
                </a:r>
              </a:p>
              <a:p>
                <a:pPr lvl="1"/>
                <a:r>
                  <a:rPr lang="en-US" sz="2000" dirty="0"/>
                  <a:t>One regression with gender and the interaction terms between gender and income.</a:t>
                </a:r>
                <a:endParaRPr lang="zh-CN" altLang="en-US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C80DCA8C-01FA-624F-8551-E0D795693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1554480"/>
                <a:ext cx="9651998" cy="4656139"/>
              </a:xfrm>
              <a:prstGeom prst="rect">
                <a:avLst/>
              </a:prstGeom>
              <a:blipFill>
                <a:blip r:embed="rId3"/>
                <a:stretch>
                  <a:fillRect l="-921" t="-1902" r="-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6618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"/>
  <p:tag name="PROBLEMSCORE_HALF" val="0"/>
  <p:tag name="PROBLEMHASREMARK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"/>
  <p:tag name="PROBLEMSCORE_HALF" val="0"/>
  <p:tag name="PROBLEMHASREMARK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21775</TotalTime>
  <Words>1346</Words>
  <Application>Microsoft Macintosh PowerPoint</Application>
  <PresentationFormat>Widescreen</PresentationFormat>
  <Paragraphs>230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Microsoft YaHei</vt:lpstr>
      <vt:lpstr>Microsoft YaHei</vt:lpstr>
      <vt:lpstr>Microsoft YaHei</vt:lpstr>
      <vt:lpstr>Arial</vt:lpstr>
      <vt:lpstr>Calibri</vt:lpstr>
      <vt:lpstr>Cambria Math</vt:lpstr>
      <vt:lpstr>Times New Roman</vt:lpstr>
      <vt:lpstr>Verdana</vt:lpstr>
      <vt:lpstr>Wingdings</vt:lpstr>
      <vt:lpstr>Office Theme</vt:lpstr>
      <vt:lpstr>Normal linear model</vt:lpstr>
      <vt:lpstr>Normal linear model</vt:lpstr>
      <vt:lpstr>PowerPoint Presentation</vt:lpstr>
      <vt:lpstr>Joint distribution of （β ̂,σ ̂^2）</vt:lpstr>
      <vt:lpstr>Inference: scalar parameter</vt:lpstr>
      <vt:lpstr>Inference: scalar parameter</vt:lpstr>
      <vt:lpstr>Confidence interval for scale parameter</vt:lpstr>
      <vt:lpstr>Revisit the Student’s t Theorem</vt:lpstr>
      <vt:lpstr>Revisit the two sample comparison</vt:lpstr>
      <vt:lpstr>Inference: vector parameters</vt:lpstr>
      <vt:lpstr>Inference: vector parameters</vt:lpstr>
      <vt:lpstr>Real data analysis and R implementation </vt:lpstr>
      <vt:lpstr>Revisit the one-way ANOVA</vt:lpstr>
      <vt:lpstr>Prediction based on pivotal quantities</vt:lpstr>
      <vt:lpstr>Prediction based on pivotal quantities</vt:lpstr>
      <vt:lpstr>Real data analysis and R implementation </vt:lpstr>
      <vt:lpstr>Anscombe’s Quartet</vt:lpstr>
      <vt:lpstr>Interpreting coefficients in linear model</vt:lpstr>
      <vt:lpstr>PowerPoint Presentation</vt:lpstr>
      <vt:lpstr>Quadratic terms</vt:lpstr>
      <vt:lpstr>Linear model with a categorical covariate</vt:lpstr>
      <vt:lpstr>Interaction terms</vt:lpstr>
      <vt:lpstr>Interaction terms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求职汇报</dc:title>
  <dc:creator>Microsoft Office User</dc:creator>
  <cp:lastModifiedBy>Zhichao Jiang</cp:lastModifiedBy>
  <cp:revision>173</cp:revision>
  <dcterms:created xsi:type="dcterms:W3CDTF">2022-01-07T20:32:42Z</dcterms:created>
  <dcterms:modified xsi:type="dcterms:W3CDTF">2025-09-09T06:16:02Z</dcterms:modified>
</cp:coreProperties>
</file>