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841" r:id="rId3"/>
    <p:sldId id="772" r:id="rId4"/>
    <p:sldId id="770" r:id="rId5"/>
    <p:sldId id="842" r:id="rId6"/>
    <p:sldId id="843" r:id="rId7"/>
    <p:sldId id="844" r:id="rId8"/>
    <p:sldId id="771" r:id="rId9"/>
    <p:sldId id="845" r:id="rId10"/>
    <p:sldId id="846" r:id="rId11"/>
    <p:sldId id="847" r:id="rId12"/>
    <p:sldId id="848" r:id="rId13"/>
    <p:sldId id="850" r:id="rId14"/>
    <p:sldId id="851" r:id="rId15"/>
    <p:sldId id="852" r:id="rId16"/>
    <p:sldId id="855" r:id="rId17"/>
    <p:sldId id="853" r:id="rId18"/>
    <p:sldId id="858" r:id="rId19"/>
    <p:sldId id="859" r:id="rId20"/>
    <p:sldId id="860" r:id="rId21"/>
    <p:sldId id="862" r:id="rId22"/>
    <p:sldId id="849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5825"/>
    <a:srgbClr val="A014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2381"/>
  </p:normalViewPr>
  <p:slideViewPr>
    <p:cSldViewPr snapToGrid="0" snapToObjects="1">
      <p:cViewPr varScale="1">
        <p:scale>
          <a:sx n="146" d="100"/>
          <a:sy n="146" d="100"/>
        </p:scale>
        <p:origin x="510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A4D128-213F-6F4E-ABC7-E697D995B16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8D76FB-495F-DB45-B1C0-BAC6DBEDE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4605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AE535-4897-9F43-9D8C-0D4F33BE6F4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7734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AE535-4897-9F43-9D8C-0D4F33BE6F4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4269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AE535-4897-9F43-9D8C-0D4F33BE6F4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508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AE535-4897-9F43-9D8C-0D4F33BE6F4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9058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AE535-4897-9F43-9D8C-0D4F33BE6F4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2325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AE535-4897-9F43-9D8C-0D4F33BE6F4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4905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AE535-4897-9F43-9D8C-0D4F33BE6F4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9314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AE535-4897-9F43-9D8C-0D4F33BE6F4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3958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AE535-4897-9F43-9D8C-0D4F33BE6F4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6355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AE535-4897-9F43-9D8C-0D4F33BE6F4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363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AE535-4897-9F43-9D8C-0D4F33BE6F4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9903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AE535-4897-9F43-9D8C-0D4F33BE6F4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8076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AE535-4897-9F43-9D8C-0D4F33BE6F4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6653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AE535-4897-9F43-9D8C-0D4F33BE6F4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9578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AE535-4897-9F43-9D8C-0D4F33BE6F4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25583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AE535-4897-9F43-9D8C-0D4F33BE6F4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33956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AE535-4897-9F43-9D8C-0D4F33BE6F4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2760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AE535-4897-9F43-9D8C-0D4F33BE6F4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72510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AE535-4897-9F43-9D8C-0D4F33BE6F42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12725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AE535-4897-9F43-9D8C-0D4F33BE6F42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81654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AE535-4897-9F43-9D8C-0D4F33BE6F42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5264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5FC8A-1FB6-3041-A418-D61E2C3DA4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F47742-DAB1-C14E-A5BA-70F7F796B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6F0F5-1172-4443-B1D2-5FA4A3CBB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38502-F17E-DC4B-9F41-BAD476EB8CDC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EB7974-E7D6-B34D-9439-F9FBE61ED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A9B4C7-B3E7-2249-9AAE-D0EE3D2B7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8990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0B802-5C9D-5D40-9713-8F0AF3E96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FE7CEE-95B7-784A-8744-013528B7E0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87651F-9F0D-CE47-A7C3-72ADEC6D5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38502-F17E-DC4B-9F41-BAD476EB8CDC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39990C-26CF-5340-9185-412EDD20B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80482D-EE59-6B44-B09D-54DF378E2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5302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8DE8B-08E4-6746-B7C6-2D6F7D77D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B837A5-9526-B64C-B0B3-EC555F7584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81C4E4-A98D-7F4C-A038-86F2454F7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38502-F17E-DC4B-9F41-BAD476EB8CDC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3ADB87-08F0-6645-91C0-90A36E9EF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B2DCD8-FACC-EF40-A476-D4C9F098E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738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B3A11-2C38-6345-9832-CD9E4234C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F966E1-8E61-EB4F-98F1-2A3FD59E97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9BD906-8014-9840-917B-BB1BE8DAFC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27BADE-2CE5-5944-BEA5-62B1C3EC9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38502-F17E-DC4B-9F41-BAD476EB8CDC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03CA7E-B3F3-234F-8843-CF1B52B77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134860-30EA-0542-8960-CB71E62C2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890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C88B9-4FB0-594D-A3C8-B920561FA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7FA0D-47CF-804B-ADFF-C1FBCED749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8A6630-46C1-304B-A31B-F683D3BB03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370E5B-079D-3F45-BA01-C9AD653DD8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44FE20-58B7-C04B-89A7-8A255F953D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F9B889-CD5B-FB44-BD7D-2E3DE5505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38502-F17E-DC4B-9F41-BAD476EB8CDC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387C38-F33E-E940-9D72-4F6625110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7AD557-D134-064A-A446-E4906B196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858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40F00-4145-DC48-8A29-69BD407CC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1F20B2-462E-F746-BEE4-DA5D2AEAF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38502-F17E-DC4B-9F41-BAD476EB8CDC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4A5F02-D3A0-BC45-924B-F537F6879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CF2EDE-B42D-1C45-90AC-640331E15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854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6AF63A-2A34-9443-B3A1-F7AD55578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38502-F17E-DC4B-9F41-BAD476EB8CDC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3C7C21-24A3-624B-A109-AFC30D880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615E5C-B91F-6D4D-8F8C-60C86E7D4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7293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9C247-E86B-7E4B-85FF-22E979058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D83CF5-B7AC-6344-BEDE-C1DC558C5D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1ED479-0A31-E74C-8CFF-F83A737191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865952-1887-1242-A818-B48F8B40E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38502-F17E-DC4B-9F41-BAD476EB8CDC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17D4EC-6C26-3343-BE5B-4618E517A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A067B4-9192-2B4D-B6BA-824E85256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1640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44F99-0279-E64B-A930-DD2DFE162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C7E41E-F499-FD45-AA09-8683F0D29C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769A72-A800-F842-8071-88E5094D6D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4FD681-5220-164D-B93A-853D489B8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38502-F17E-DC4B-9F41-BAD476EB8CDC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E4C564-BE03-8440-959E-1F518EC84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C254D9-1620-D64C-AF60-D151063F3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7190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C499A-DD86-D24E-A290-0B13D2D72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35DDCF-0EB5-0B42-9F19-70570301C1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52CFB8-64A2-6243-A467-76379B3B6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38502-F17E-DC4B-9F41-BAD476EB8CDC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925434-A072-D245-8271-A14B1A4D6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54B9DA-DDF0-C34D-8AFE-B5CAAEF3A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313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D15942-F520-8140-82C2-549925B917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1EF6AE-3D2E-074D-80D3-C0295DA011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509591-4801-7644-BB66-3C5CEB6BF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38502-F17E-DC4B-9F41-BAD476EB8CDC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498A03-9EC2-5942-8AF7-4EE129F90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D53ECD-47F7-6640-A418-41363373A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868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D098E4-3EF4-B940-93C1-1851E23AD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1D4DF2-BE2A-2040-9A6C-84673A4812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C1B57D-0C15-8044-9772-0CEEEAA1C9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338502-F17E-DC4B-9F41-BAD476EB8CDC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1FF6CD-B256-804D-A913-74F1B54B8A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6141D8-076E-4C4E-BD9C-F12DD0F4B4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29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C8180ED6-2ACB-A649-8746-79EC781250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58380" y="1260489"/>
            <a:ext cx="8075240" cy="1710011"/>
          </a:xfrm>
          <a:prstGeom prst="roundRect">
            <a:avLst/>
          </a:prstGeom>
          <a:solidFill>
            <a:srgbClr val="005825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/>
          <a:p>
            <a:r>
              <a:rPr lang="en-US" altLang="zh-CN" sz="4000" b="1" dirty="0">
                <a:latin typeface="微软雅黑" pitchFamily="34" charset="-122"/>
                <a:ea typeface="微软雅黑" pitchFamily="34" charset="-122"/>
              </a:rPr>
              <a:t>Applied linear regression</a:t>
            </a:r>
            <a:endParaRPr lang="zh-CN" altLang="en-US" sz="40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副标题 2">
            <a:extLst>
              <a:ext uri="{FF2B5EF4-FFF2-40B4-BE49-F238E27FC236}">
                <a16:creationId xmlns:a16="http://schemas.microsoft.com/office/drawing/2014/main" id="{65B63C4A-E74D-EC4E-82DE-0EDC1FB3D0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87501"/>
            <a:ext cx="9144000" cy="1373086"/>
          </a:xfrm>
        </p:spPr>
        <p:txBody>
          <a:bodyPr>
            <a:normAutofit/>
          </a:bodyPr>
          <a:lstStyle/>
          <a:p>
            <a:r>
              <a:rPr lang="zh-CN" altLang="en-US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蒋智超</a:t>
            </a:r>
            <a:endParaRPr lang="en-US" altLang="zh-CN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zh-CN" altLang="en-US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  </a:t>
            </a:r>
            <a:endParaRPr lang="en-US" altLang="zh-CN" b="1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altLang="zh-CN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2025</a:t>
            </a:r>
            <a:r>
              <a:rPr lang="zh-CN" altLang="en-US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年 秋</a:t>
            </a: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</a:t>
            </a:r>
            <a:endParaRPr lang="en-US" altLang="zh-CN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68624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72"/>
    </mc:Choice>
    <mc:Fallback xmlns="">
      <p:transition spd="slow" advTm="2572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28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Main topics</a:t>
            </a:r>
            <a:endParaRPr lang="zh-CN" altLang="en-US" sz="2800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2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23" name="直接连接符 4">
            <a:extLst>
              <a:ext uri="{FF2B5EF4-FFF2-40B4-BE49-F238E27FC236}">
                <a16:creationId xmlns:a16="http://schemas.microsoft.com/office/drawing/2014/main" id="{DC5045C3-EB69-4BE9-B5C4-BAFB879F4F0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内容占位符 2">
            <a:extLst>
              <a:ext uri="{FF2B5EF4-FFF2-40B4-BE49-F238E27FC236}">
                <a16:creationId xmlns:a16="http://schemas.microsoft.com/office/drawing/2014/main" id="{16771C40-93E8-9146-9362-82870BFE9A5A}"/>
              </a:ext>
            </a:extLst>
          </p:cNvPr>
          <p:cNvSpPr txBox="1">
            <a:spLocks noChangeArrowheads="1"/>
          </p:cNvSpPr>
          <p:nvPr/>
        </p:nvSpPr>
        <p:spPr>
          <a:xfrm>
            <a:off x="914400" y="1554480"/>
            <a:ext cx="8782111" cy="51620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 sz="24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32DCA2E-DEE5-955D-6DA9-EA0CDBE200A9}"/>
              </a:ext>
            </a:extLst>
          </p:cNvPr>
          <p:cNvSpPr txBox="1">
            <a:spLocks noChangeArrowheads="1"/>
          </p:cNvSpPr>
          <p:nvPr/>
        </p:nvSpPr>
        <p:spPr>
          <a:xfrm>
            <a:off x="1066800" y="1706880"/>
            <a:ext cx="8782111" cy="51620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b="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Linear models</a:t>
            </a:r>
          </a:p>
          <a:p>
            <a:endParaRPr lang="en-US" altLang="zh-CN" sz="24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r>
              <a:rPr lang="en-US" altLang="zh-CN" sz="2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Generalized linear models</a:t>
            </a:r>
          </a:p>
          <a:p>
            <a:endParaRPr lang="en-US" altLang="zh-CN" sz="20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r>
              <a:rPr lang="en-US" altLang="zh-CN" sz="2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For each model, we focus on</a:t>
            </a:r>
          </a:p>
          <a:p>
            <a:pPr lvl="1"/>
            <a:r>
              <a:rPr lang="en-US" altLang="zh-CN" sz="20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Model formulation</a:t>
            </a:r>
          </a:p>
          <a:p>
            <a:pPr lvl="1"/>
            <a:r>
              <a:rPr lang="en-US" altLang="zh-CN" sz="20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Interpretation</a:t>
            </a:r>
          </a:p>
          <a:p>
            <a:pPr lvl="1"/>
            <a:r>
              <a:rPr lang="en-US" altLang="zh-CN" sz="20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Point estimation</a:t>
            </a:r>
          </a:p>
          <a:p>
            <a:pPr lvl="1"/>
            <a:r>
              <a:rPr lang="en-US" altLang="zh-CN" sz="20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Statistical inference</a:t>
            </a:r>
          </a:p>
          <a:p>
            <a:pPr lvl="1"/>
            <a:r>
              <a:rPr lang="en-US" altLang="zh-CN" sz="20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Prediction</a:t>
            </a:r>
          </a:p>
          <a:p>
            <a:pPr lvl="1"/>
            <a:r>
              <a:rPr lang="en-US" altLang="zh-CN" sz="20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Model checking and selection</a:t>
            </a:r>
          </a:p>
          <a:p>
            <a:pPr lvl="1"/>
            <a:r>
              <a:rPr lang="en-US" altLang="zh-CN" sz="20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Implementation in R</a:t>
            </a:r>
          </a:p>
          <a:p>
            <a:endParaRPr lang="en-US" altLang="zh-CN" sz="24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457189" lvl="1" indent="0">
              <a:buNone/>
            </a:pPr>
            <a:endParaRPr lang="en-US" altLang="zh-CN" sz="20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457189" lvl="1" indent="0">
              <a:buNone/>
            </a:pPr>
            <a:endParaRPr lang="en-US" altLang="zh-CN" sz="20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indent="0">
              <a:buNone/>
            </a:pPr>
            <a:endParaRPr lang="en-US" altLang="zh-CN" sz="24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785584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Linear models</a:t>
            </a:r>
            <a:endParaRPr lang="zh-CN" altLang="en-US" sz="3200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3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23" name="直接连接符 4">
            <a:extLst>
              <a:ext uri="{FF2B5EF4-FFF2-40B4-BE49-F238E27FC236}">
                <a16:creationId xmlns:a16="http://schemas.microsoft.com/office/drawing/2014/main" id="{DC5045C3-EB69-4BE9-B5C4-BAFB879F4F0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内容占位符 2">
            <a:extLst>
              <a:ext uri="{FF2B5EF4-FFF2-40B4-BE49-F238E27FC236}">
                <a16:creationId xmlns:a16="http://schemas.microsoft.com/office/drawing/2014/main" id="{16771C40-93E8-9146-9362-82870BFE9A5A}"/>
              </a:ext>
            </a:extLst>
          </p:cNvPr>
          <p:cNvSpPr txBox="1">
            <a:spLocks noChangeArrowheads="1"/>
          </p:cNvSpPr>
          <p:nvPr/>
        </p:nvSpPr>
        <p:spPr>
          <a:xfrm>
            <a:off x="914400" y="1554480"/>
            <a:ext cx="8782111" cy="51620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We study linear models with different sets of assumptions</a:t>
            </a:r>
          </a:p>
          <a:p>
            <a:pPr lvl="1"/>
            <a:r>
              <a:rPr lang="en-US" sz="2000" dirty="0"/>
              <a:t>Purely algebraic linear model</a:t>
            </a:r>
          </a:p>
          <a:p>
            <a:pPr lvl="1"/>
            <a:r>
              <a:rPr lang="en-US" altLang="zh-CN" sz="20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Heteroskedastic linear model</a:t>
            </a:r>
          </a:p>
          <a:p>
            <a:pPr lvl="1"/>
            <a:r>
              <a:rPr lang="en-US" altLang="zh-CN" sz="20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Gauss-Markov model</a:t>
            </a:r>
          </a:p>
          <a:p>
            <a:pPr lvl="1"/>
            <a:r>
              <a:rPr lang="en-US" altLang="zh-CN" sz="20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Generalized Gauss-Markov model</a:t>
            </a:r>
          </a:p>
          <a:p>
            <a:pPr lvl="1"/>
            <a:r>
              <a:rPr lang="en-US" altLang="zh-CN" sz="20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Normal linear model</a:t>
            </a:r>
          </a:p>
          <a:p>
            <a:pPr lvl="1"/>
            <a:endParaRPr lang="en-US" altLang="zh-CN" sz="20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r>
              <a:rPr lang="en-US" altLang="zh-CN" sz="2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We use the OLS as the common estimator across these models </a:t>
            </a:r>
          </a:p>
          <a:p>
            <a:endParaRPr lang="en-US" altLang="zh-CN" sz="24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r>
              <a:rPr lang="en-US" altLang="zh-CN" sz="2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This part is organized around the properties of the OLS under different models</a:t>
            </a:r>
            <a:endParaRPr lang="en-US" altLang="zh-CN" sz="20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lvl="1"/>
            <a:endParaRPr lang="en-US" altLang="zh-CN" sz="20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endParaRPr lang="en-US" altLang="zh-CN" sz="24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lvl="1"/>
            <a:endParaRPr lang="en-US" altLang="zh-CN" sz="20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endParaRPr lang="en-US" altLang="zh-CN" sz="24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457189" lvl="1" indent="0">
              <a:buNone/>
            </a:pPr>
            <a:endParaRPr lang="en-US" altLang="zh-CN" sz="20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457189" lvl="1" indent="0">
              <a:buNone/>
            </a:pPr>
            <a:endParaRPr lang="en-US" altLang="zh-CN" sz="20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indent="0">
              <a:buNone/>
            </a:pPr>
            <a:endParaRPr lang="en-US" altLang="zh-CN" sz="24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590248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Algebraic properties of OLS</a:t>
            </a:r>
            <a:endParaRPr lang="zh-CN" altLang="en-US" sz="3200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4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23" name="直接连接符 4">
            <a:extLst>
              <a:ext uri="{FF2B5EF4-FFF2-40B4-BE49-F238E27FC236}">
                <a16:creationId xmlns:a16="http://schemas.microsoft.com/office/drawing/2014/main" id="{DC5045C3-EB69-4BE9-B5C4-BAFB879F4F0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内容占位符 2">
                <a:extLst>
                  <a:ext uri="{FF2B5EF4-FFF2-40B4-BE49-F238E27FC236}">
                    <a16:creationId xmlns:a16="http://schemas.microsoft.com/office/drawing/2014/main" id="{16771C40-93E8-9146-9362-82870BFE9A5A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914400" y="1554480"/>
                <a:ext cx="9982200" cy="516209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594" indent="-228594" algn="l" defTabSz="914377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783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71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160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349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537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726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914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103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zh-CN" sz="2400" b="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No probabilistic assumptions</a:t>
                </a:r>
              </a:p>
              <a:p>
                <a:r>
                  <a:rPr lang="en-US" altLang="zh-CN" sz="24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All properties follow from solving </a:t>
                </a:r>
              </a:p>
              <a:p>
                <a:pPr marL="0" indent="0" algn="ctr">
                  <a:buNone/>
                </a:pPr>
                <a:r>
                  <a:rPr lang="en-US" altLang="zh-CN" sz="2400" b="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min</m:t>
                        </m:r>
                      </m:fName>
                      <m:e>
                        <m:nary>
                          <m:naryPr>
                            <m:chr m:val="∑"/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Arial Unicode MS" panose="020B0604020202020204" pitchFamily="34" charset="-128"/>
                                <a:cs typeface="Arial Unicode MS" panose="020B0604020202020204" pitchFamily="34" charset="-128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Arial Unicode MS" panose="020B0604020202020204" pitchFamily="34" charset="-128"/>
                                <a:cs typeface="Arial Unicode MS" panose="020B0604020202020204" pitchFamily="34" charset="-128"/>
                              </a:rPr>
                              <m:t>𝑖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Arial Unicode MS" panose="020B0604020202020204" pitchFamily="34" charset="-128"/>
                                <a:cs typeface="Arial Unicode MS" panose="020B0604020202020204" pitchFamily="34" charset="-128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Arial Unicode MS" panose="020B0604020202020204" pitchFamily="34" charset="-128"/>
                                <a:cs typeface="Arial Unicode MS" panose="020B0604020202020204" pitchFamily="34" charset="-128"/>
                              </a:rPr>
                              <m:t>𝑛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Arial Unicode MS" panose="020B0604020202020204" pitchFamily="34" charset="-128"/>
                                    <a:cs typeface="Arial Unicode MS" panose="020B0604020202020204" pitchFamily="34" charset="-128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  <a:ea typeface="Arial Unicode MS" panose="020B0604020202020204" pitchFamily="34" charset="-128"/>
                                        <a:cs typeface="Arial Unicode MS" panose="020B0604020202020204" pitchFamily="34" charset="-128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sz="2400" b="0" i="1" smtClean="0">
                                            <a:latin typeface="Cambria Math" panose="02040503050406030204" pitchFamily="18" charset="0"/>
                                            <a:ea typeface="Arial Unicode MS" panose="020B0604020202020204" pitchFamily="34" charset="-128"/>
                                            <a:cs typeface="Arial Unicode MS" panose="020B0604020202020204" pitchFamily="34" charset="-128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400" b="0" i="1" smtClean="0">
                                            <a:latin typeface="Cambria Math" panose="02040503050406030204" pitchFamily="18" charset="0"/>
                                            <a:ea typeface="Arial Unicode MS" panose="020B0604020202020204" pitchFamily="34" charset="-128"/>
                                            <a:cs typeface="Arial Unicode MS" panose="020B0604020202020204" pitchFamily="34" charset="-128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zh-CN" sz="2400" b="0" i="1" smtClean="0">
                                            <a:latin typeface="Cambria Math" panose="02040503050406030204" pitchFamily="18" charset="0"/>
                                            <a:ea typeface="Arial Unicode MS" panose="020B0604020202020204" pitchFamily="34" charset="-128"/>
                                            <a:cs typeface="Arial Unicode MS" panose="020B0604020202020204" pitchFamily="34" charset="-128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  <a:ea typeface="Arial Unicode MS" panose="020B0604020202020204" pitchFamily="34" charset="-128"/>
                                        <a:cs typeface="Arial Unicode MS" panose="020B0604020202020204" pitchFamily="34" charset="-128"/>
                                      </a:rPr>
                                      <m:t>−</m:t>
                                    </m:r>
                                    <m:sSubSup>
                                      <m:sSubSupPr>
                                        <m:ctrlPr>
                                          <a:rPr lang="en-US" altLang="zh-CN" sz="2400" b="0" i="1" smtClean="0">
                                            <a:latin typeface="Cambria Math" panose="02040503050406030204" pitchFamily="18" charset="0"/>
                                            <a:ea typeface="Arial Unicode MS" panose="020B0604020202020204" pitchFamily="34" charset="-128"/>
                                            <a:cs typeface="Arial Unicode MS" panose="020B0604020202020204" pitchFamily="34" charset="-128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zh-CN" sz="2400" b="0" i="1" smtClean="0">
                                            <a:latin typeface="Cambria Math" panose="02040503050406030204" pitchFamily="18" charset="0"/>
                                            <a:ea typeface="Arial Unicode MS" panose="020B0604020202020204" pitchFamily="34" charset="-128"/>
                                            <a:cs typeface="Arial Unicode MS" panose="020B0604020202020204" pitchFamily="34" charset="-128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sz="2400" b="0" i="1" smtClean="0">
                                            <a:latin typeface="Cambria Math" panose="02040503050406030204" pitchFamily="18" charset="0"/>
                                            <a:ea typeface="Arial Unicode MS" panose="020B0604020202020204" pitchFamily="34" charset="-128"/>
                                            <a:cs typeface="Arial Unicode MS" panose="020B0604020202020204" pitchFamily="34" charset="-128"/>
                                          </a:rPr>
                                          <m:t>𝑖</m:t>
                                        </m:r>
                                      </m:sub>
                                      <m:sup>
                                        <m:r>
                                          <a:rPr lang="en-US" altLang="zh-CN" sz="2400" b="0" i="1" smtClean="0">
                                            <a:latin typeface="Cambria Math" panose="02040503050406030204" pitchFamily="18" charset="0"/>
                                            <a:ea typeface="Arial Unicode MS" panose="020B0604020202020204" pitchFamily="34" charset="-128"/>
                                            <a:cs typeface="Arial Unicode MS" panose="020B0604020202020204" pitchFamily="34" charset="-128"/>
                                          </a:rPr>
                                          <m:t>𝑇</m:t>
                                        </m:r>
                                      </m:sup>
                                    </m:sSubSup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  <a:ea typeface="Arial Unicode MS" panose="020B0604020202020204" pitchFamily="34" charset="-128"/>
                                        <a:cs typeface="Arial Unicode MS" panose="020B0604020202020204" pitchFamily="34" charset="-128"/>
                                      </a:rPr>
                                      <m:t>𝛽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Arial Unicode MS" panose="020B0604020202020204" pitchFamily="34" charset="-128"/>
                                    <a:cs typeface="Arial Unicode MS" panose="020B0604020202020204" pitchFamily="34" charset="-128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e>
                    </m:func>
                  </m:oMath>
                </a14:m>
                <a:r>
                  <a:rPr lang="en-US" altLang="zh-CN" sz="2400" b="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 </a:t>
                </a:r>
              </a:p>
              <a:p>
                <a:pPr lvl="1"/>
                <a:endParaRPr lang="en-US" altLang="zh-CN" sz="20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r>
                  <a:rPr lang="en-US" altLang="zh-CN" sz="24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OLS estimator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</m:ctrlPr>
                      </m:acc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𝛽</m:t>
                        </m:r>
                      </m:e>
                    </m:acc>
                  </m:oMath>
                </a14:m>
                <a:endParaRPr lang="en-US" altLang="zh-CN" sz="24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 lvl="1"/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sz="200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0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𝑖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=1</m:t>
                        </m:r>
                      </m:sub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ea typeface="Arial Unicode MS" panose="020B0604020202020204" pitchFamily="34" charset="-128"/>
                                <a:cs typeface="Arial Unicode MS" panose="020B0604020202020204" pitchFamily="34" charset="-128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Arial Unicode MS" panose="020B0604020202020204" pitchFamily="34" charset="-128"/>
                                <a:cs typeface="Arial Unicode MS" panose="020B0604020202020204" pitchFamily="34" charset="-128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Arial Unicode MS" panose="020B0604020202020204" pitchFamily="34" charset="-128"/>
                                <a:cs typeface="Arial Unicode MS" panose="020B0604020202020204" pitchFamily="34" charset="-128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ea typeface="Arial Unicode MS" panose="020B0604020202020204" pitchFamily="34" charset="-128"/>
                                <a:cs typeface="Arial Unicode MS" panose="020B0604020202020204" pitchFamily="34" charset="-128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Arial Unicode MS" panose="020B0604020202020204" pitchFamily="34" charset="-128"/>
                                <a:cs typeface="Arial Unicode MS" panose="020B0604020202020204" pitchFamily="34" charset="-128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Arial Unicode MS" panose="020B0604020202020204" pitchFamily="34" charset="-128"/>
                                <a:cs typeface="Arial Unicode MS" panose="020B0604020202020204" pitchFamily="34" charset="-128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ea typeface="Arial Unicode MS" panose="020B0604020202020204" pitchFamily="34" charset="-128"/>
                                <a:cs typeface="Arial Unicode MS" panose="020B0604020202020204" pitchFamily="34" charset="-128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Arial Unicode MS" panose="020B0604020202020204" pitchFamily="34" charset="-128"/>
                                    <a:cs typeface="Arial Unicode MS" panose="020B0604020202020204" pitchFamily="34" charset="-128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Arial Unicode MS" panose="020B0604020202020204" pitchFamily="34" charset="-128"/>
                                    <a:cs typeface="Arial Unicode MS" panose="020B0604020202020204" pitchFamily="34" charset="-128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Arial Unicode MS" panose="020B0604020202020204" pitchFamily="34" charset="-128"/>
                                <a:cs typeface="Arial Unicode MS" panose="020B0604020202020204" pitchFamily="34" charset="-128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)</m:t>
                        </m:r>
                      </m:e>
                    </m:nary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000" i="1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𝑖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=1</m:t>
                        </m:r>
                      </m:sub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Arial Unicode MS" panose="020B0604020202020204" pitchFamily="34" charset="-128"/>
                                <a:cs typeface="Arial Unicode MS" panose="020B0604020202020204" pitchFamily="34" charset="-128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Arial Unicode MS" panose="020B0604020202020204" pitchFamily="34" charset="-128"/>
                                <a:cs typeface="Arial Unicode MS" panose="020B0604020202020204" pitchFamily="34" charset="-128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Arial Unicode MS" panose="020B0604020202020204" pitchFamily="34" charset="-128"/>
                                <a:cs typeface="Arial Unicode MS" panose="020B0604020202020204" pitchFamily="34" charset="-128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Arial Unicode MS" panose="020B0604020202020204" pitchFamily="34" charset="-128"/>
                                <a:cs typeface="Arial Unicode MS" panose="020B0604020202020204" pitchFamily="34" charset="-128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  <a:ea typeface="Arial Unicode MS" panose="020B0604020202020204" pitchFamily="34" charset="-128"/>
                                    <a:cs typeface="Arial Unicode MS" panose="020B0604020202020204" pitchFamily="34" charset="-128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Arial Unicode MS" panose="020B0604020202020204" pitchFamily="34" charset="-128"/>
                                    <a:cs typeface="Arial Unicode MS" panose="020B0604020202020204" pitchFamily="34" charset="-128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Arial Unicode MS" panose="020B0604020202020204" pitchFamily="34" charset="-128"/>
                                    <a:cs typeface="Arial Unicode MS" panose="020B0604020202020204" pitchFamily="34" charset="-128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Arial Unicode MS" panose="020B0604020202020204" pitchFamily="34" charset="-128"/>
                                <a:cs typeface="Arial Unicode MS" panose="020B0604020202020204" pitchFamily="34" charset="-128"/>
                              </a:rPr>
                              <m:t>−</m:t>
                            </m:r>
                            <m:sSubSup>
                              <m:sSubSupPr>
                                <m:ctrlP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Arial Unicode MS" panose="020B0604020202020204" pitchFamily="34" charset="-128"/>
                                    <a:cs typeface="Arial Unicode MS" panose="020B0604020202020204" pitchFamily="34" charset="-128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Arial Unicode MS" panose="020B0604020202020204" pitchFamily="34" charset="-128"/>
                                    <a:cs typeface="Arial Unicode MS" panose="020B0604020202020204" pitchFamily="34" charset="-128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Arial Unicode MS" panose="020B0604020202020204" pitchFamily="34" charset="-128"/>
                                    <a:cs typeface="Arial Unicode MS" panose="020B0604020202020204" pitchFamily="34" charset="-128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Arial Unicode MS" panose="020B0604020202020204" pitchFamily="34" charset="-128"/>
                                    <a:cs typeface="Arial Unicode MS" panose="020B0604020202020204" pitchFamily="34" charset="-128"/>
                                  </a:rPr>
                                  <m:t>𝑇</m:t>
                                </m:r>
                              </m:sup>
                            </m:sSubSup>
                            <m:acc>
                              <m:accPr>
                                <m:chr m:val="̂"/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  <a:ea typeface="Arial Unicode MS" panose="020B0604020202020204" pitchFamily="34" charset="-128"/>
                                    <a:cs typeface="Arial Unicode MS" panose="020B0604020202020204" pitchFamily="34" charset="-128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Arial Unicode MS" panose="020B0604020202020204" pitchFamily="34" charset="-128"/>
                                    <a:cs typeface="Arial Unicode MS" panose="020B0604020202020204" pitchFamily="34" charset="-128"/>
                                  </a:rPr>
                                  <m:t>𝛽</m:t>
                                </m:r>
                              </m:e>
                            </m:acc>
                          </m:e>
                        </m:d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=0</m:t>
                        </m:r>
                      </m:e>
                    </m:nary>
                  </m:oMath>
                </a14:m>
                <a:endParaRPr lang="en-US" altLang="zh-CN" sz="20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 lvl="1"/>
                <a:r>
                  <a:rPr lang="en-US" altLang="zh-CN" sz="20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Geometric interpretation (orthogonal projection)</a:t>
                </a:r>
              </a:p>
              <a:p>
                <a:pPr lvl="1"/>
                <a:r>
                  <a:rPr lang="en-US" altLang="zh-CN" sz="20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Projection matrix: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𝐻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=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𝑋</m:t>
                    </m:r>
                    <m:sSup>
                      <m:s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ea typeface="Arial Unicode MS" panose="020B0604020202020204" pitchFamily="34" charset="-128"/>
                                <a:cs typeface="Arial Unicode MS" panose="020B0604020202020204" pitchFamily="34" charset="-128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Arial Unicode MS" panose="020B0604020202020204" pitchFamily="34" charset="-128"/>
                                    <a:cs typeface="Arial Unicode MS" panose="020B0604020202020204" pitchFamily="34" charset="-128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Arial Unicode MS" panose="020B0604020202020204" pitchFamily="34" charset="-128"/>
                                    <a:cs typeface="Arial Unicode MS" panose="020B0604020202020204" pitchFamily="34" charset="-128"/>
                                  </a:rPr>
                                  <m:t>𝑋</m:t>
                                </m:r>
                              </m:e>
                              <m:sup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Arial Unicode MS" panose="020B0604020202020204" pitchFamily="34" charset="-128"/>
                                    <a:cs typeface="Arial Unicode MS" panose="020B0604020202020204" pitchFamily="34" charset="-128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Arial Unicode MS" panose="020B0604020202020204" pitchFamily="34" charset="-128"/>
                                <a:cs typeface="Arial Unicode MS" panose="020B0604020202020204" pitchFamily="34" charset="-128"/>
                              </a:rPr>
                              <m:t>𝑋</m:t>
                            </m:r>
                          </m:e>
                        </m:d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−1</m:t>
                        </m:r>
                      </m:sup>
                    </m:sSup>
                    <m:sSup>
                      <m:s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𝑋</m:t>
                        </m:r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𝑇</m:t>
                        </m:r>
                      </m:sup>
                    </m:sSup>
                  </m:oMath>
                </a14:m>
                <a:endParaRPr lang="en-US" altLang="zh-CN" sz="20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 lvl="1"/>
                <a:endParaRPr lang="en-US" altLang="zh-CN" sz="20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r>
                  <a:rPr lang="en-US" altLang="zh-CN" sz="24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FWL theorem</a:t>
                </a:r>
              </a:p>
              <a:p>
                <a:pPr lvl="1"/>
                <a:r>
                  <a:rPr lang="en-US" altLang="zh-CN" sz="20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Point estimator</a:t>
                </a:r>
              </a:p>
              <a:p>
                <a:pPr lvl="1"/>
                <a:r>
                  <a:rPr lang="en-US" altLang="zh-CN" sz="20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Corresponding variance estimators</a:t>
                </a:r>
              </a:p>
              <a:p>
                <a:pPr marL="457189" lvl="1" indent="0">
                  <a:buNone/>
                </a:pPr>
                <a:endParaRPr lang="en-US" altLang="zh-CN" sz="20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 marL="457189" lvl="1" indent="0">
                  <a:buNone/>
                </a:pPr>
                <a:endParaRPr lang="en-US" altLang="zh-CN" sz="20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 marL="0" indent="0">
                  <a:buNone/>
                </a:pPr>
                <a:endParaRPr lang="en-US" altLang="zh-CN" sz="24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</p:txBody>
          </p:sp>
        </mc:Choice>
        <mc:Fallback xmlns="">
          <p:sp>
            <p:nvSpPr>
              <p:cNvPr id="20" name="内容占位符 2">
                <a:extLst>
                  <a:ext uri="{FF2B5EF4-FFF2-40B4-BE49-F238E27FC236}">
                    <a16:creationId xmlns:a16="http://schemas.microsoft.com/office/drawing/2014/main" id="{16771C40-93E8-9146-9362-82870BFE9A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554480"/>
                <a:ext cx="9982200" cy="5162097"/>
              </a:xfrm>
              <a:prstGeom prst="rect">
                <a:avLst/>
              </a:prstGeom>
              <a:blipFill>
                <a:blip r:embed="rId3"/>
                <a:stretch>
                  <a:fillRect l="-889" t="-17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792984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Statistical properties under Gauss-Markov model</a:t>
            </a:r>
            <a:endParaRPr lang="zh-CN" altLang="en-US" sz="3200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5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23" name="直接连接符 4">
            <a:extLst>
              <a:ext uri="{FF2B5EF4-FFF2-40B4-BE49-F238E27FC236}">
                <a16:creationId xmlns:a16="http://schemas.microsoft.com/office/drawing/2014/main" id="{DC5045C3-EB69-4BE9-B5C4-BAFB879F4F0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内容占位符 2">
                <a:extLst>
                  <a:ext uri="{FF2B5EF4-FFF2-40B4-BE49-F238E27FC236}">
                    <a16:creationId xmlns:a16="http://schemas.microsoft.com/office/drawing/2014/main" id="{16771C40-93E8-9146-9362-82870BFE9A5A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914400" y="1554480"/>
                <a:ext cx="9982200" cy="516209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594" indent="-228594" algn="l" defTabSz="914377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783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71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160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349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537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726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914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103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𝑌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𝑋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𝛽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+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𝜖</m:t>
                    </m:r>
                  </m:oMath>
                </a14:m>
                <a:r>
                  <a:rPr lang="en-US" altLang="zh-CN" sz="24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𝐸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𝜖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=0, 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𝑣𝑎𝑟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𝜖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=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𝜎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2</m:t>
                        </m:r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𝐼</m:t>
                    </m:r>
                  </m:oMath>
                </a14:m>
                <a:r>
                  <a:rPr lang="en-US" altLang="zh-CN" sz="24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  (fixed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24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)</a:t>
                </a:r>
              </a:p>
              <a:p>
                <a:endParaRPr lang="en-US" altLang="zh-CN" sz="24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</m:ctrlPr>
                      </m:acc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𝛽</m:t>
                        </m:r>
                      </m:e>
                    </m:acc>
                  </m:oMath>
                </a14:m>
                <a:r>
                  <a:rPr lang="en-US" altLang="zh-CN" sz="24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 is the BLUE;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𝐸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Arial Unicode MS" panose="020B0604020202020204" pitchFamily="34" charset="-128"/>
                                <a:cs typeface="Arial Unicode MS" panose="020B0604020202020204" pitchFamily="34" charset="-128"/>
                              </a:rPr>
                            </m:ctrlPr>
                          </m:acc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Arial Unicode MS" panose="020B0604020202020204" pitchFamily="34" charset="-128"/>
                                <a:cs typeface="Arial Unicode MS" panose="020B0604020202020204" pitchFamily="34" charset="-128"/>
                              </a:rPr>
                              <m:t>𝛽</m:t>
                            </m:r>
                          </m:e>
                        </m:acc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𝛽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, 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𝑣𝑎𝑟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Arial Unicode MS" panose="020B0604020202020204" pitchFamily="34" charset="-128"/>
                                <a:cs typeface="Arial Unicode MS" panose="020B0604020202020204" pitchFamily="34" charset="-128"/>
                              </a:rPr>
                            </m:ctrlPr>
                          </m:acc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Arial Unicode MS" panose="020B0604020202020204" pitchFamily="34" charset="-128"/>
                                <a:cs typeface="Arial Unicode MS" panose="020B0604020202020204" pitchFamily="34" charset="-128"/>
                              </a:rPr>
                              <m:t>𝛽</m:t>
                            </m:r>
                          </m:e>
                        </m:acc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=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𝜎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Arial Unicode MS" panose="020B0604020202020204" pitchFamily="34" charset="-128"/>
                                <a:cs typeface="Arial Unicode MS" panose="020B0604020202020204" pitchFamily="34" charset="-128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Arial Unicode MS" panose="020B0604020202020204" pitchFamily="34" charset="-128"/>
                                    <a:cs typeface="Arial Unicode MS" panose="020B0604020202020204" pitchFamily="34" charset="-128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Arial Unicode MS" panose="020B0604020202020204" pitchFamily="34" charset="-128"/>
                                    <a:cs typeface="Arial Unicode MS" panose="020B0604020202020204" pitchFamily="34" charset="-128"/>
                                  </a:rPr>
                                  <m:t>𝑋</m:t>
                                </m:r>
                              </m:e>
                              <m:sup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Arial Unicode MS" panose="020B0604020202020204" pitchFamily="34" charset="-128"/>
                                    <a:cs typeface="Arial Unicode MS" panose="020B0604020202020204" pitchFamily="34" charset="-128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Arial Unicode MS" panose="020B0604020202020204" pitchFamily="34" charset="-128"/>
                                <a:cs typeface="Arial Unicode MS" panose="020B0604020202020204" pitchFamily="34" charset="-128"/>
                              </a:rPr>
                              <m:t>𝑋</m:t>
                            </m:r>
                          </m:e>
                        </m:d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altLang="zh-CN" sz="24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 </a:t>
                </a:r>
              </a:p>
              <a:p>
                <a:pPr marL="0" indent="0" algn="ctr">
                  <a:buNone/>
                </a:pPr>
                <a:r>
                  <a:rPr lang="en-US" altLang="zh-CN" sz="2400" b="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 </a:t>
                </a:r>
                <a:endParaRPr lang="en-US" altLang="zh-CN" sz="20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r>
                  <a:rPr lang="en-US" altLang="zh-CN" sz="24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Unbiased variance estimator: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</m:ctrlPr>
                      </m:fPr>
                      <m:num>
                        <m:r>
                          <a:rPr lang="en-US" altLang="zh-CN" sz="2400" b="0" i="0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𝑛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−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𝑝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𝑖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=1</m:t>
                        </m:r>
                      </m:sub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𝑛</m:t>
                        </m:r>
                      </m:sup>
                      <m:e>
                        <m:sSubSup>
                          <m:sSubSup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Arial Unicode MS" panose="020B0604020202020204" pitchFamily="34" charset="-128"/>
                                <a:cs typeface="Arial Unicode MS" panose="020B0604020202020204" pitchFamily="34" charset="-128"/>
                              </a:rPr>
                            </m:ctrlPr>
                          </m:sSubSupPr>
                          <m:e>
                            <m:acc>
                              <m:accPr>
                                <m:chr m:val="̂"/>
                                <m:ctrlP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Arial Unicode MS" panose="020B0604020202020204" pitchFamily="34" charset="-128"/>
                                    <a:cs typeface="Arial Unicode MS" panose="020B0604020202020204" pitchFamily="34" charset="-128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Arial Unicode MS" panose="020B0604020202020204" pitchFamily="34" charset="-128"/>
                                    <a:cs typeface="Arial Unicode MS" panose="020B0604020202020204" pitchFamily="34" charset="-128"/>
                                  </a:rPr>
                                  <m:t>𝜖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Arial Unicode MS" panose="020B0604020202020204" pitchFamily="34" charset="-128"/>
                                <a:cs typeface="Arial Unicode MS" panose="020B0604020202020204" pitchFamily="34" charset="-128"/>
                              </a:rPr>
                              <m:t>𝑖</m:t>
                            </m:r>
                          </m:sub>
                          <m:sup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Arial Unicode MS" panose="020B0604020202020204" pitchFamily="34" charset="-128"/>
                                <a:cs typeface="Arial Unicode MS" panose="020B0604020202020204" pitchFamily="34" charset="-128"/>
                              </a:rPr>
                              <m:t>2</m:t>
                            </m:r>
                          </m:sup>
                        </m:sSubSup>
                      </m:e>
                    </m:nary>
                  </m:oMath>
                </a14:m>
                <a:endParaRPr lang="en-US" altLang="zh-CN" sz="24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 marL="0" indent="0">
                  <a:buNone/>
                </a:pPr>
                <a:endParaRPr lang="en-US" altLang="zh-CN" sz="24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r>
                  <a:rPr lang="en-US" altLang="zh-CN" sz="24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No exact inference possible</a:t>
                </a:r>
              </a:p>
              <a:p>
                <a:pPr marL="0" indent="0">
                  <a:buNone/>
                </a:pPr>
                <a:endParaRPr lang="en-US" altLang="zh-CN" sz="24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r>
                  <a:rPr lang="en-US" altLang="zh-CN" sz="24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Extensions to the generalized Gauss-Markov model</a:t>
                </a:r>
                <a:endParaRPr lang="en-US" altLang="zh-CN" sz="20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endParaRPr lang="en-US" altLang="zh-CN" sz="20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 lvl="1"/>
                <a:endParaRPr lang="en-US" altLang="zh-CN" sz="20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 marL="457189" lvl="1" indent="0">
                  <a:buNone/>
                </a:pPr>
                <a:endParaRPr lang="en-US" altLang="zh-CN" sz="20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 marL="457189" lvl="1" indent="0">
                  <a:buNone/>
                </a:pPr>
                <a:endParaRPr lang="en-US" altLang="zh-CN" sz="20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 marL="0" indent="0">
                  <a:buNone/>
                </a:pPr>
                <a:endParaRPr lang="en-US" altLang="zh-CN" sz="24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</p:txBody>
          </p:sp>
        </mc:Choice>
        <mc:Fallback xmlns="">
          <p:sp>
            <p:nvSpPr>
              <p:cNvPr id="20" name="内容占位符 2">
                <a:extLst>
                  <a:ext uri="{FF2B5EF4-FFF2-40B4-BE49-F238E27FC236}">
                    <a16:creationId xmlns:a16="http://schemas.microsoft.com/office/drawing/2014/main" id="{16771C40-93E8-9146-9362-82870BFE9A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554480"/>
                <a:ext cx="9982200" cy="5162097"/>
              </a:xfrm>
              <a:prstGeom prst="rect">
                <a:avLst/>
              </a:prstGeom>
              <a:blipFill>
                <a:blip r:embed="rId3"/>
                <a:stretch>
                  <a:fillRect l="-889" t="-17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176125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Statistical properties under Normal linear model</a:t>
            </a:r>
            <a:endParaRPr lang="zh-CN" altLang="en-US" sz="3200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6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23" name="直接连接符 4">
            <a:extLst>
              <a:ext uri="{FF2B5EF4-FFF2-40B4-BE49-F238E27FC236}">
                <a16:creationId xmlns:a16="http://schemas.microsoft.com/office/drawing/2014/main" id="{DC5045C3-EB69-4BE9-B5C4-BAFB879F4F0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内容占位符 2">
                <a:extLst>
                  <a:ext uri="{FF2B5EF4-FFF2-40B4-BE49-F238E27FC236}">
                    <a16:creationId xmlns:a16="http://schemas.microsoft.com/office/drawing/2014/main" id="{16771C40-93E8-9146-9362-82870BFE9A5A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914400" y="1554480"/>
                <a:ext cx="9982200" cy="516209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594" indent="-228594" algn="l" defTabSz="914377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783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71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160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349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537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726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914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103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𝑌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𝑋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𝛽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+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𝜖</m:t>
                    </m:r>
                  </m:oMath>
                </a14:m>
                <a:r>
                  <a:rPr lang="en-US" altLang="zh-CN" sz="24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𝜖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∼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𝑁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(0,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𝜎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2</m:t>
                        </m:r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𝐼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)</m:t>
                    </m:r>
                  </m:oMath>
                </a14:m>
                <a:r>
                  <a:rPr lang="en-US" altLang="zh-CN" sz="24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  (fixed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24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)</a:t>
                </a:r>
              </a:p>
              <a:p>
                <a:endParaRPr lang="en-US" altLang="zh-CN" sz="24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endParaRPr lang="en-US" altLang="zh-CN" sz="24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 marL="0" indent="0">
                  <a:buNone/>
                </a:pPr>
                <a:endParaRPr lang="en-US" altLang="zh-CN" sz="24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endParaRPr lang="en-US" altLang="zh-CN" sz="24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endParaRPr lang="en-US" altLang="zh-CN" sz="24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endParaRPr lang="en-US" altLang="zh-CN" sz="24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r>
                  <a:rPr lang="en-US" altLang="zh-CN" sz="24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Exact inference: scalar (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𝑡</m:t>
                    </m:r>
                  </m:oMath>
                </a14:m>
                <a:r>
                  <a:rPr lang="en-US" altLang="zh-CN" sz="24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), vector (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𝐹</m:t>
                    </m:r>
                  </m:oMath>
                </a14:m>
                <a:r>
                  <a:rPr lang="en-US" altLang="zh-CN" sz="24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)</a:t>
                </a:r>
              </a:p>
              <a:p>
                <a:pPr lvl="1"/>
                <a:r>
                  <a:rPr lang="en-US" altLang="zh-CN" sz="20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Equivalence between Wald tests and F test  (ANOVA)</a:t>
                </a:r>
              </a:p>
              <a:p>
                <a:r>
                  <a:rPr lang="en-US" altLang="zh-CN" sz="24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Prediction: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𝐸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(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𝑦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𝑛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+1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)</m:t>
                    </m:r>
                  </m:oMath>
                </a14:m>
                <a:r>
                  <a:rPr lang="en-US" altLang="zh-CN" sz="24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𝑦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𝑛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+1</m:t>
                        </m:r>
                      </m:sub>
                    </m:sSub>
                  </m:oMath>
                </a14:m>
                <a:endParaRPr lang="en-US" altLang="zh-CN" sz="24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endParaRPr lang="en-US" altLang="zh-CN" sz="20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 lvl="1"/>
                <a:endParaRPr lang="en-US" altLang="zh-CN" sz="20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 marL="457189" lvl="1" indent="0">
                  <a:buNone/>
                </a:pPr>
                <a:endParaRPr lang="en-US" altLang="zh-CN" sz="20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 marL="457189" lvl="1" indent="0">
                  <a:buNone/>
                </a:pPr>
                <a:endParaRPr lang="en-US" altLang="zh-CN" sz="20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 marL="0" indent="0">
                  <a:buNone/>
                </a:pPr>
                <a:endParaRPr lang="en-US" altLang="zh-CN" sz="24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</p:txBody>
          </p:sp>
        </mc:Choice>
        <mc:Fallback xmlns="">
          <p:sp>
            <p:nvSpPr>
              <p:cNvPr id="20" name="内容占位符 2">
                <a:extLst>
                  <a:ext uri="{FF2B5EF4-FFF2-40B4-BE49-F238E27FC236}">
                    <a16:creationId xmlns:a16="http://schemas.microsoft.com/office/drawing/2014/main" id="{16771C40-93E8-9146-9362-82870BFE9A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554480"/>
                <a:ext cx="9982200" cy="5162097"/>
              </a:xfrm>
              <a:prstGeom prst="rect">
                <a:avLst/>
              </a:prstGeom>
              <a:blipFill>
                <a:blip r:embed="rId3"/>
                <a:stretch>
                  <a:fillRect l="-889" t="-17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EF0B7D22-3159-88C4-8FF4-BA68004FA4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6399" y="2200093"/>
            <a:ext cx="7840579" cy="2110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3778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Asymptotic inference</a:t>
            </a:r>
            <a:endParaRPr lang="zh-CN" altLang="en-US" sz="3200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7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23" name="直接连接符 4">
            <a:extLst>
              <a:ext uri="{FF2B5EF4-FFF2-40B4-BE49-F238E27FC236}">
                <a16:creationId xmlns:a16="http://schemas.microsoft.com/office/drawing/2014/main" id="{DC5045C3-EB69-4BE9-B5C4-BAFB879F4F0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内容占位符 2">
                <a:extLst>
                  <a:ext uri="{FF2B5EF4-FFF2-40B4-BE49-F238E27FC236}">
                    <a16:creationId xmlns:a16="http://schemas.microsoft.com/office/drawing/2014/main" id="{16771C40-93E8-9146-9362-82870BFE9A5A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914400" y="1554480"/>
                <a:ext cx="9982200" cy="516209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594" indent="-228594" algn="l" defTabSz="914377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783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71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160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349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537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726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914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103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r>
                      <a:rPr lang="en-US" altLang="zh-CN" sz="2400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𝑌</m:t>
                    </m:r>
                    <m:r>
                      <a:rPr lang="en-US" altLang="zh-CN" sz="2400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=</m:t>
                    </m:r>
                    <m:r>
                      <a:rPr lang="en-US" altLang="zh-CN" sz="2400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𝑋</m:t>
                    </m:r>
                    <m:r>
                      <a:rPr lang="en-US" altLang="zh-CN" sz="2400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𝛽</m:t>
                    </m:r>
                    <m:r>
                      <a:rPr lang="en-US" altLang="zh-CN" sz="2400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+</m:t>
                    </m:r>
                    <m:r>
                      <a:rPr lang="en-US" altLang="zh-CN" sz="2400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𝜖</m:t>
                    </m:r>
                  </m:oMath>
                </a14:m>
                <a:r>
                  <a:rPr lang="en-US" altLang="zh-CN" sz="24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𝐸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𝜖</m:t>
                        </m:r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=0</m:t>
                    </m:r>
                  </m:oMath>
                </a14:m>
                <a:r>
                  <a:rPr lang="en-US" altLang="zh-CN" sz="24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(fixed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𝑥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24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)</a:t>
                </a:r>
              </a:p>
              <a:p>
                <a:endParaRPr lang="en-US" altLang="zh-CN" sz="24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</m:ctrlPr>
                      </m:acc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𝛽</m:t>
                        </m:r>
                      </m:e>
                    </m:acc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→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𝛽</m:t>
                    </m:r>
                  </m:oMath>
                </a14:m>
                <a:r>
                  <a:rPr lang="en-US" altLang="zh-CN" sz="24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 in probability</a:t>
                </a:r>
              </a:p>
              <a:p>
                <a:pPr marL="0" indent="0">
                  <a:buNone/>
                </a:pPr>
                <a:endParaRPr lang="en-US" altLang="zh-CN" sz="24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</m:ctrlPr>
                      </m:radPr>
                      <m:deg/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𝑛</m:t>
                        </m:r>
                      </m:e>
                    </m:rad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Arial Unicode MS" panose="020B0604020202020204" pitchFamily="34" charset="-128"/>
                                <a:cs typeface="Arial Unicode MS" panose="020B0604020202020204" pitchFamily="34" charset="-128"/>
                              </a:rPr>
                            </m:ctrlPr>
                          </m:acc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Arial Unicode MS" panose="020B0604020202020204" pitchFamily="34" charset="-128"/>
                                <a:cs typeface="Arial Unicode MS" panose="020B0604020202020204" pitchFamily="34" charset="-128"/>
                              </a:rPr>
                              <m:t>𝛽</m:t>
                            </m:r>
                          </m:e>
                        </m:acc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−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𝛽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→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𝑁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(0, 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𝐵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−1</m:t>
                        </m:r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𝑀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𝐵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−1</m:t>
                        </m:r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)</m:t>
                    </m:r>
                  </m:oMath>
                </a14:m>
                <a:endParaRPr lang="en-US" altLang="zh-CN" sz="24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r>
                  <a:rPr lang="en-US" altLang="zh-CN" sz="24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EHW variance estimator</a:t>
                </a:r>
              </a:p>
              <a:p>
                <a:endParaRPr lang="en-US" altLang="zh-CN" sz="24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r>
                  <a:rPr lang="en-US" altLang="zh-CN" sz="24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Asymptotic inference: scalar (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𝑧</m:t>
                    </m:r>
                  </m:oMath>
                </a14:m>
                <a:r>
                  <a:rPr lang="en-US" altLang="zh-CN" sz="24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), vector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𝜒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24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)</a:t>
                </a:r>
              </a:p>
              <a:p>
                <a:endParaRPr lang="en-US" altLang="zh-CN" sz="24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r>
                  <a:rPr lang="en-US" altLang="zh-CN" sz="24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Prediction: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𝐸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(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𝑦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𝑛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+1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)</m:t>
                    </m:r>
                  </m:oMath>
                </a14:m>
                <a:endParaRPr lang="en-US" altLang="zh-CN" sz="24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endParaRPr lang="en-US" altLang="zh-CN" sz="20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 lvl="1"/>
                <a:endParaRPr lang="en-US" altLang="zh-CN" sz="20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 marL="457189" lvl="1" indent="0">
                  <a:buNone/>
                </a:pPr>
                <a:endParaRPr lang="en-US" altLang="zh-CN" sz="20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 marL="457189" lvl="1" indent="0">
                  <a:buNone/>
                </a:pPr>
                <a:endParaRPr lang="en-US" altLang="zh-CN" sz="20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 marL="0" indent="0">
                  <a:buNone/>
                </a:pPr>
                <a:endParaRPr lang="en-US" altLang="zh-CN" sz="24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</p:txBody>
          </p:sp>
        </mc:Choice>
        <mc:Fallback xmlns="">
          <p:sp>
            <p:nvSpPr>
              <p:cNvPr id="20" name="内容占位符 2">
                <a:extLst>
                  <a:ext uri="{FF2B5EF4-FFF2-40B4-BE49-F238E27FC236}">
                    <a16:creationId xmlns:a16="http://schemas.microsoft.com/office/drawing/2014/main" id="{16771C40-93E8-9146-9362-82870BFE9A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554480"/>
                <a:ext cx="9982200" cy="5162097"/>
              </a:xfrm>
              <a:prstGeom prst="rect">
                <a:avLst/>
              </a:prstGeom>
              <a:blipFill>
                <a:blip r:embed="rId3"/>
                <a:stretch>
                  <a:fillRect l="-889" t="-17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335610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Model fitting</a:t>
            </a:r>
            <a:endParaRPr lang="zh-CN" altLang="en-US" sz="3200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8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23" name="直接连接符 4">
            <a:extLst>
              <a:ext uri="{FF2B5EF4-FFF2-40B4-BE49-F238E27FC236}">
                <a16:creationId xmlns:a16="http://schemas.microsoft.com/office/drawing/2014/main" id="{DC5045C3-EB69-4BE9-B5C4-BAFB879F4F0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内容占位符 2">
                <a:extLst>
                  <a:ext uri="{FF2B5EF4-FFF2-40B4-BE49-F238E27FC236}">
                    <a16:creationId xmlns:a16="http://schemas.microsoft.com/office/drawing/2014/main" id="{16771C40-93E8-9146-9362-82870BFE9A5A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914400" y="1554480"/>
                <a:ext cx="8782111" cy="516209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594" indent="-228594" algn="l" defTabSz="914377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783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71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160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349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537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726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914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103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zh-CN" sz="24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Coefficient of determination: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𝑅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2</m:t>
                        </m:r>
                      </m:sup>
                    </m:sSup>
                  </m:oMath>
                </a14:m>
                <a:endParaRPr lang="en-US" altLang="zh-CN" sz="24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endParaRPr lang="en-US" altLang="zh-CN" sz="2400" b="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r>
                  <a:rPr lang="en-US" altLang="zh-CN" sz="2400" b="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Equivalent definitions </a:t>
                </a:r>
              </a:p>
              <a:p>
                <a:endParaRPr lang="en-US" altLang="zh-CN" sz="24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r>
                  <a:rPr lang="en-US" altLang="zh-CN" sz="24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Relationship between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𝑅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24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 and the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𝐹</m:t>
                    </m:r>
                  </m:oMath>
                </a14:m>
                <a:r>
                  <a:rPr lang="en-US" altLang="zh-CN" sz="24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 test</a:t>
                </a:r>
              </a:p>
              <a:p>
                <a:endParaRPr lang="en-US" altLang="zh-CN" sz="24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r>
                  <a:rPr lang="en-US" altLang="zh-CN" sz="24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Interpretations and limitations</a:t>
                </a:r>
              </a:p>
              <a:p>
                <a:pPr lvl="1"/>
                <a:endParaRPr lang="en-US" altLang="zh-CN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endParaRPr lang="en-US" altLang="zh-CN" sz="24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 marL="457189" lvl="1" indent="0">
                  <a:buNone/>
                </a:pPr>
                <a:endParaRPr lang="en-US" altLang="zh-CN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 marL="457189" lvl="1" indent="0">
                  <a:buNone/>
                </a:pPr>
                <a:endParaRPr lang="en-US" altLang="zh-CN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 marL="0" indent="0">
                  <a:buNone/>
                </a:pPr>
                <a:endParaRPr lang="en-US" altLang="zh-CN" sz="24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</p:txBody>
          </p:sp>
        </mc:Choice>
        <mc:Fallback xmlns="">
          <p:sp>
            <p:nvSpPr>
              <p:cNvPr id="20" name="内容占位符 2">
                <a:extLst>
                  <a:ext uri="{FF2B5EF4-FFF2-40B4-BE49-F238E27FC236}">
                    <a16:creationId xmlns:a16="http://schemas.microsoft.com/office/drawing/2014/main" id="{16771C40-93E8-9146-9362-82870BFE9A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554480"/>
                <a:ext cx="8782111" cy="5162097"/>
              </a:xfrm>
              <a:prstGeom prst="rect">
                <a:avLst/>
              </a:prstGeom>
              <a:blipFill>
                <a:blip r:embed="rId3"/>
                <a:stretch>
                  <a:fillRect l="-1012" t="-17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818153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Model checking</a:t>
            </a:r>
            <a:endParaRPr lang="zh-CN" altLang="en-US" sz="3200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9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23" name="直接连接符 4">
            <a:extLst>
              <a:ext uri="{FF2B5EF4-FFF2-40B4-BE49-F238E27FC236}">
                <a16:creationId xmlns:a16="http://schemas.microsoft.com/office/drawing/2014/main" id="{DC5045C3-EB69-4BE9-B5C4-BAFB879F4F0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内容占位符 2">
            <a:extLst>
              <a:ext uri="{FF2B5EF4-FFF2-40B4-BE49-F238E27FC236}">
                <a16:creationId xmlns:a16="http://schemas.microsoft.com/office/drawing/2014/main" id="{16771C40-93E8-9146-9362-82870BFE9A5A}"/>
              </a:ext>
            </a:extLst>
          </p:cNvPr>
          <p:cNvSpPr txBox="1">
            <a:spLocks noChangeArrowheads="1"/>
          </p:cNvSpPr>
          <p:nvPr/>
        </p:nvSpPr>
        <p:spPr>
          <a:xfrm>
            <a:off x="914400" y="1554480"/>
            <a:ext cx="8782111" cy="51620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Checking whether the assumptions hold </a:t>
            </a:r>
          </a:p>
          <a:p>
            <a:pPr lvl="1"/>
            <a:r>
              <a:rPr lang="en-US" altLang="zh-CN" sz="2000" b="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We check the assumptions indirectly through their implications</a:t>
            </a:r>
          </a:p>
          <a:p>
            <a:pPr lvl="1"/>
            <a:r>
              <a:rPr lang="en-US" altLang="zh-CN" sz="20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If the implications do not hold, then the assumptions may be implausible</a:t>
            </a:r>
          </a:p>
          <a:p>
            <a:pPr lvl="1"/>
            <a:endParaRPr lang="en-US" altLang="zh-CN" sz="2000" b="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r>
              <a:rPr lang="en-US" altLang="zh-CN" sz="2400" b="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Visual diagnostics: residual plot</a:t>
            </a:r>
          </a:p>
          <a:p>
            <a:pPr lvl="1"/>
            <a:r>
              <a:rPr lang="en-US" altLang="zh-CN" sz="20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Nonlinearity, heteroskedasticity</a:t>
            </a:r>
            <a:endParaRPr lang="en-US" altLang="zh-CN" sz="2000" b="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endParaRPr lang="en-US" altLang="zh-CN" sz="24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r>
              <a:rPr lang="en-US" altLang="zh-CN" sz="2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Leverage scores</a:t>
            </a:r>
          </a:p>
          <a:p>
            <a:pPr lvl="1"/>
            <a:r>
              <a:rPr lang="en-US" altLang="zh-CN" sz="20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Leave-one-out formula</a:t>
            </a:r>
          </a:p>
          <a:p>
            <a:pPr lvl="1"/>
            <a:r>
              <a:rPr lang="en-US" altLang="zh-CN" sz="20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Outlier detection</a:t>
            </a:r>
          </a:p>
          <a:p>
            <a:pPr marL="457189" lvl="1" indent="0">
              <a:buNone/>
            </a:pPr>
            <a:endParaRPr lang="en-US" altLang="zh-CN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457189" lvl="1" indent="0">
              <a:buNone/>
            </a:pPr>
            <a:endParaRPr lang="en-US" altLang="zh-CN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indent="0">
              <a:buNone/>
            </a:pPr>
            <a:endParaRPr lang="en-US" altLang="zh-CN" sz="24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380847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Overfitting</a:t>
            </a:r>
            <a:endParaRPr lang="zh-CN" altLang="en-US" sz="3200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10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23" name="直接连接符 4">
            <a:extLst>
              <a:ext uri="{FF2B5EF4-FFF2-40B4-BE49-F238E27FC236}">
                <a16:creationId xmlns:a16="http://schemas.microsoft.com/office/drawing/2014/main" id="{DC5045C3-EB69-4BE9-B5C4-BAFB879F4F0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内容占位符 2">
                <a:extLst>
                  <a:ext uri="{FF2B5EF4-FFF2-40B4-BE49-F238E27FC236}">
                    <a16:creationId xmlns:a16="http://schemas.microsoft.com/office/drawing/2014/main" id="{16771C40-93E8-9146-9362-82870BFE9A5A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914400" y="1554480"/>
                <a:ext cx="8782111" cy="516209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594" indent="-228594" algn="l" defTabSz="914377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783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71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160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349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537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726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914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103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50000"/>
                  </a:lnSpc>
                  <a:buClr>
                    <a:schemeClr val="tx1"/>
                  </a:buClr>
                </a:pPr>
                <a:r>
                  <a:rPr lang="en-US" altLang="zh-CN" sz="24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When the goal is inference</a:t>
                </a:r>
              </a:p>
              <a:p>
                <a:pPr lvl="1">
                  <a:buClr>
                    <a:schemeClr val="tx1"/>
                  </a:buClr>
                </a:pPr>
                <a:r>
                  <a:rPr lang="en-US" altLang="zh-CN" sz="20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Variance inflation (</a:t>
                </a:r>
                <a:r>
                  <a:rPr lang="en-US" sz="20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multicollinearity</a:t>
                </a:r>
                <a:r>
                  <a:rPr lang="en-US" altLang="zh-CN" sz="20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), bias variance tradeoff</a:t>
                </a:r>
              </a:p>
              <a:p>
                <a:pPr lvl="1">
                  <a:buClr>
                    <a:schemeClr val="tx1"/>
                  </a:buClr>
                </a:pPr>
                <a:r>
                  <a:rPr lang="en-US" altLang="zh-CN" sz="20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Interpretation depends on which covariates are included</a:t>
                </a:r>
                <a:endParaRPr lang="en-US" altLang="zh-CN" sz="24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>
                  <a:buClr>
                    <a:schemeClr val="tx1"/>
                  </a:buClr>
                </a:pPr>
                <a:endParaRPr lang="en-US" altLang="zh-CN" sz="24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>
                  <a:buClr>
                    <a:schemeClr val="tx1"/>
                  </a:buClr>
                </a:pPr>
                <a:r>
                  <a:rPr lang="en-US" altLang="zh-CN" sz="24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When the goal is prediction</a:t>
                </a:r>
              </a:p>
              <a:p>
                <a:pPr lvl="1">
                  <a:buClr>
                    <a:schemeClr val="tx1"/>
                  </a:buClr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</m:ctrlPr>
                      </m:sSupPr>
                      <m:e>
                        <m:r>
                          <a:rPr lang="en-US" altLang="zh-CN" sz="2000" dirty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𝑅</m:t>
                        </m:r>
                      </m:e>
                      <m:sup>
                        <m:r>
                          <a:rPr lang="en-US" altLang="zh-CN" sz="2000" dirty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20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 may be inflated</a:t>
                </a:r>
                <a14:m>
                  <m:oMath xmlns:m="http://schemas.openxmlformats.org/officeDocument/2006/math">
                    <m:r>
                      <a:rPr lang="en-US" altLang="zh-CN" sz="200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→</m:t>
                    </m:r>
                  </m:oMath>
                </a14:m>
                <a:r>
                  <a:rPr lang="en-US" altLang="zh-CN" sz="20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adjusted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</m:ctrlPr>
                      </m:sSupPr>
                      <m:e>
                        <m:r>
                          <a:rPr lang="en-US" altLang="zh-CN" sz="2000" dirty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𝑅</m:t>
                        </m:r>
                      </m:e>
                      <m:sup>
                        <m:r>
                          <a:rPr lang="en-US" altLang="zh-CN" sz="2000" dirty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20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 </a:t>
                </a:r>
              </a:p>
              <a:p>
                <a:pPr lvl="1">
                  <a:buClr>
                    <a:schemeClr val="tx1"/>
                  </a:buClr>
                </a:pPr>
                <a:r>
                  <a:rPr lang="en-US" altLang="zh-CN" sz="20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Poor out of sample performance</a:t>
                </a:r>
              </a:p>
              <a:p>
                <a:endParaRPr lang="en-US" altLang="zh-CN" sz="24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r>
                  <a:rPr lang="en-US" altLang="zh-CN" sz="24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Model selection</a:t>
                </a:r>
              </a:p>
              <a:p>
                <a:pPr lvl="1"/>
                <a:r>
                  <a:rPr lang="en-US" altLang="zh-CN" sz="20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adjusted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</m:ctrlPr>
                      </m:sSupPr>
                      <m:e>
                        <m:r>
                          <a:rPr lang="en-US" altLang="zh-CN" sz="2000" i="1" dirty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𝑅</m:t>
                        </m:r>
                      </m:e>
                      <m:sup>
                        <m:r>
                          <a:rPr lang="en-US" altLang="zh-CN" sz="2000" i="1" dirty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20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, AIC/BIC, CV</a:t>
                </a:r>
              </a:p>
              <a:p>
                <a:pPr lvl="1"/>
                <a:r>
                  <a:rPr lang="en-US" altLang="zh-CN" sz="20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Procedures: best subset, forward/backward</a:t>
                </a:r>
              </a:p>
              <a:p>
                <a:endParaRPr lang="en-US" altLang="zh-CN" sz="24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 marL="457189" lvl="1" indent="0">
                  <a:buNone/>
                </a:pPr>
                <a:endParaRPr lang="en-US" altLang="zh-CN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 marL="0" indent="0">
                  <a:buNone/>
                </a:pPr>
                <a:endParaRPr lang="en-US" altLang="zh-CN" sz="24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</p:txBody>
          </p:sp>
        </mc:Choice>
        <mc:Fallback xmlns="">
          <p:sp>
            <p:nvSpPr>
              <p:cNvPr id="20" name="内容占位符 2">
                <a:extLst>
                  <a:ext uri="{FF2B5EF4-FFF2-40B4-BE49-F238E27FC236}">
                    <a16:creationId xmlns:a16="http://schemas.microsoft.com/office/drawing/2014/main" id="{16771C40-93E8-9146-9362-82870BFE9A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554480"/>
                <a:ext cx="8782111" cy="5162097"/>
              </a:xfrm>
              <a:prstGeom prst="rect">
                <a:avLst/>
              </a:prstGeom>
              <a:blipFill>
                <a:blip r:embed="rId3"/>
                <a:stretch>
                  <a:fillRect l="-10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72999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Regularization</a:t>
            </a:r>
            <a:endParaRPr lang="zh-CN" altLang="en-US" sz="3200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11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23" name="直接连接符 4">
            <a:extLst>
              <a:ext uri="{FF2B5EF4-FFF2-40B4-BE49-F238E27FC236}">
                <a16:creationId xmlns:a16="http://schemas.microsoft.com/office/drawing/2014/main" id="{DC5045C3-EB69-4BE9-B5C4-BAFB879F4F0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内容占位符 2">
            <a:extLst>
              <a:ext uri="{FF2B5EF4-FFF2-40B4-BE49-F238E27FC236}">
                <a16:creationId xmlns:a16="http://schemas.microsoft.com/office/drawing/2014/main" id="{16771C40-93E8-9146-9362-82870BFE9A5A}"/>
              </a:ext>
            </a:extLst>
          </p:cNvPr>
          <p:cNvSpPr txBox="1">
            <a:spLocks noChangeArrowheads="1"/>
          </p:cNvSpPr>
          <p:nvPr/>
        </p:nvSpPr>
        <p:spPr>
          <a:xfrm>
            <a:off x="914400" y="1554480"/>
            <a:ext cx="8782111" cy="51620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Clr>
                <a:schemeClr val="tx1"/>
              </a:buClr>
            </a:pPr>
            <a:r>
              <a:rPr lang="en-US" altLang="zh-CN" sz="2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A systematic response to overfitting</a:t>
            </a:r>
          </a:p>
          <a:p>
            <a:pPr>
              <a:lnSpc>
                <a:spcPct val="150000"/>
              </a:lnSpc>
              <a:buClr>
                <a:schemeClr val="tx1"/>
              </a:buClr>
            </a:pPr>
            <a:r>
              <a:rPr lang="en-US" altLang="zh-CN" sz="2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Ridge regression</a:t>
            </a:r>
          </a:p>
          <a:p>
            <a:pPr>
              <a:lnSpc>
                <a:spcPct val="150000"/>
              </a:lnSpc>
              <a:buClr>
                <a:schemeClr val="tx1"/>
              </a:buClr>
            </a:pPr>
            <a:r>
              <a:rPr lang="en-US" altLang="zh-CN" sz="2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Lasso</a:t>
            </a:r>
          </a:p>
          <a:p>
            <a:pPr>
              <a:buClr>
                <a:schemeClr val="tx1"/>
              </a:buClr>
            </a:pPr>
            <a:endParaRPr lang="en-US" altLang="zh-CN" sz="24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buClr>
                <a:schemeClr val="tx1"/>
              </a:buClr>
            </a:pPr>
            <a:r>
              <a:rPr lang="en-US" altLang="zh-CN" sz="2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For both approaches</a:t>
            </a:r>
          </a:p>
          <a:p>
            <a:pPr lvl="1">
              <a:buClr>
                <a:schemeClr val="tx1"/>
              </a:buClr>
            </a:pPr>
            <a:r>
              <a:rPr lang="en-US" altLang="zh-CN" sz="20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Motivation</a:t>
            </a:r>
          </a:p>
          <a:p>
            <a:pPr lvl="1">
              <a:buClr>
                <a:schemeClr val="tx1"/>
              </a:buClr>
            </a:pPr>
            <a:r>
              <a:rPr lang="en-US" altLang="zh-CN" sz="20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Optimization formulation</a:t>
            </a:r>
          </a:p>
          <a:p>
            <a:pPr lvl="1">
              <a:buClr>
                <a:schemeClr val="tx1"/>
              </a:buClr>
            </a:pPr>
            <a:r>
              <a:rPr lang="en-US" altLang="zh-CN" sz="20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Computation </a:t>
            </a:r>
          </a:p>
          <a:p>
            <a:pPr lvl="1">
              <a:buClr>
                <a:schemeClr val="tx1"/>
              </a:buClr>
            </a:pPr>
            <a:r>
              <a:rPr lang="en-US" altLang="zh-CN" sz="20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Tuning parameter selection</a:t>
            </a:r>
          </a:p>
          <a:p>
            <a:endParaRPr lang="en-US" altLang="zh-CN" sz="24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457189" lvl="1" indent="0">
              <a:buNone/>
            </a:pPr>
            <a:endParaRPr lang="en-US" altLang="zh-CN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indent="0">
              <a:buNone/>
            </a:pPr>
            <a:endParaRPr lang="en-US" altLang="zh-CN" sz="24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463541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Generalized linear models</a:t>
            </a:r>
            <a:endParaRPr lang="zh-CN" altLang="en-US" sz="3200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12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23" name="直接连接符 4">
            <a:extLst>
              <a:ext uri="{FF2B5EF4-FFF2-40B4-BE49-F238E27FC236}">
                <a16:creationId xmlns:a16="http://schemas.microsoft.com/office/drawing/2014/main" id="{DC5045C3-EB69-4BE9-B5C4-BAFB879F4F0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内容占位符 2">
            <a:extLst>
              <a:ext uri="{FF2B5EF4-FFF2-40B4-BE49-F238E27FC236}">
                <a16:creationId xmlns:a16="http://schemas.microsoft.com/office/drawing/2014/main" id="{16771C40-93E8-9146-9362-82870BFE9A5A}"/>
              </a:ext>
            </a:extLst>
          </p:cNvPr>
          <p:cNvSpPr txBox="1">
            <a:spLocks noChangeArrowheads="1"/>
          </p:cNvSpPr>
          <p:nvPr/>
        </p:nvSpPr>
        <p:spPr>
          <a:xfrm>
            <a:off x="914400" y="1554480"/>
            <a:ext cx="8782111" cy="51620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Clr>
                <a:schemeClr val="tx1"/>
              </a:buClr>
            </a:pPr>
            <a:r>
              <a:rPr lang="en-US" altLang="zh-CN" sz="2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Binary outcomes</a:t>
            </a:r>
          </a:p>
          <a:p>
            <a:pPr>
              <a:lnSpc>
                <a:spcPct val="150000"/>
              </a:lnSpc>
              <a:buClr>
                <a:schemeClr val="tx1"/>
              </a:buClr>
            </a:pPr>
            <a:r>
              <a:rPr lang="en-US" altLang="zh-CN" sz="2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Categorical outcomes: nominal, ordinal</a:t>
            </a:r>
          </a:p>
          <a:p>
            <a:pPr>
              <a:lnSpc>
                <a:spcPct val="150000"/>
              </a:lnSpc>
              <a:buClr>
                <a:schemeClr val="tx1"/>
              </a:buClr>
            </a:pPr>
            <a:r>
              <a:rPr lang="en-US" altLang="zh-CN" sz="2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Count outcomes</a:t>
            </a:r>
          </a:p>
          <a:p>
            <a:pPr>
              <a:buClr>
                <a:schemeClr val="tx1"/>
              </a:buClr>
            </a:pPr>
            <a:endParaRPr lang="en-US" altLang="zh-CN" sz="24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buClr>
                <a:schemeClr val="tx1"/>
              </a:buClr>
            </a:pPr>
            <a:r>
              <a:rPr lang="en-US" altLang="zh-CN" sz="2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For each scenario</a:t>
            </a:r>
          </a:p>
          <a:p>
            <a:pPr lvl="1">
              <a:buClr>
                <a:schemeClr val="tx1"/>
              </a:buClr>
            </a:pPr>
            <a:r>
              <a:rPr lang="en-US" altLang="zh-CN" sz="20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Model formulation: GLM unification</a:t>
            </a:r>
          </a:p>
          <a:p>
            <a:pPr lvl="1">
              <a:buClr>
                <a:schemeClr val="tx1"/>
              </a:buClr>
            </a:pPr>
            <a:r>
              <a:rPr lang="en-US" altLang="zh-CN" sz="20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Interpretation of the parameters</a:t>
            </a:r>
          </a:p>
          <a:p>
            <a:pPr lvl="1">
              <a:buClr>
                <a:schemeClr val="tx1"/>
              </a:buClr>
            </a:pPr>
            <a:r>
              <a:rPr lang="en-US" altLang="zh-CN" sz="20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Computation: Newton’s method through </a:t>
            </a:r>
            <a:r>
              <a:rPr lang="en-US" altLang="zh-CN" sz="2000" dirty="0" err="1">
                <a:ea typeface="Arial Unicode MS" panose="020B0604020202020204" pitchFamily="34" charset="-128"/>
                <a:cs typeface="Arial Unicode MS" panose="020B0604020202020204" pitchFamily="34" charset="-128"/>
              </a:rPr>
              <a:t>irls</a:t>
            </a:r>
            <a:endParaRPr lang="en-US" altLang="zh-CN" sz="20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lvl="1">
              <a:buClr>
                <a:schemeClr val="tx1"/>
              </a:buClr>
            </a:pPr>
            <a:r>
              <a:rPr lang="en-US" altLang="zh-CN" sz="20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Inference: MLE</a:t>
            </a:r>
          </a:p>
          <a:p>
            <a:pPr lvl="1">
              <a:buClr>
                <a:schemeClr val="tx1"/>
              </a:buClr>
            </a:pPr>
            <a:r>
              <a:rPr lang="en-US" altLang="zh-CN" sz="20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Prediction</a:t>
            </a:r>
          </a:p>
          <a:p>
            <a:endParaRPr lang="en-US" altLang="zh-CN" sz="24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457189" lvl="1" indent="0">
              <a:buNone/>
            </a:pPr>
            <a:endParaRPr lang="en-US" altLang="zh-CN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indent="0">
              <a:buNone/>
            </a:pPr>
            <a:endParaRPr lang="en-US" altLang="zh-CN" sz="24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201626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Understanding the code output</a:t>
            </a:r>
            <a:endParaRPr lang="zh-CN" altLang="en-US" sz="3200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13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23" name="直接连接符 4">
            <a:extLst>
              <a:ext uri="{FF2B5EF4-FFF2-40B4-BE49-F238E27FC236}">
                <a16:creationId xmlns:a16="http://schemas.microsoft.com/office/drawing/2014/main" id="{DC5045C3-EB69-4BE9-B5C4-BAFB879F4F0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内容占位符 2">
            <a:extLst>
              <a:ext uri="{FF2B5EF4-FFF2-40B4-BE49-F238E27FC236}">
                <a16:creationId xmlns:a16="http://schemas.microsoft.com/office/drawing/2014/main" id="{16771C40-93E8-9146-9362-82870BFE9A5A}"/>
              </a:ext>
            </a:extLst>
          </p:cNvPr>
          <p:cNvSpPr txBox="1">
            <a:spLocks noChangeArrowheads="1"/>
          </p:cNvSpPr>
          <p:nvPr/>
        </p:nvSpPr>
        <p:spPr>
          <a:xfrm>
            <a:off x="914400" y="1554480"/>
            <a:ext cx="8782111" cy="51620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Clr>
                <a:schemeClr val="tx1"/>
              </a:buClr>
            </a:pPr>
            <a:r>
              <a:rPr lang="en-US" altLang="zh-CN" sz="2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Summary of linear regression</a:t>
            </a:r>
          </a:p>
          <a:p>
            <a:endParaRPr lang="en-US" altLang="zh-CN" sz="24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457189" lvl="1" indent="0">
              <a:buNone/>
            </a:pPr>
            <a:endParaRPr lang="en-US" altLang="zh-CN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indent="0">
              <a:buNone/>
            </a:pPr>
            <a:endParaRPr lang="en-US" altLang="zh-CN" sz="24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8F8426F-1A07-2FD5-9BAE-57038FE19B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4570" y="2157498"/>
            <a:ext cx="7565571" cy="4700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7894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Understanding the code output</a:t>
            </a:r>
            <a:endParaRPr lang="zh-CN" altLang="en-US" sz="3200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14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23" name="直接连接符 4">
            <a:extLst>
              <a:ext uri="{FF2B5EF4-FFF2-40B4-BE49-F238E27FC236}">
                <a16:creationId xmlns:a16="http://schemas.microsoft.com/office/drawing/2014/main" id="{DC5045C3-EB69-4BE9-B5C4-BAFB879F4F0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内容占位符 2">
            <a:extLst>
              <a:ext uri="{FF2B5EF4-FFF2-40B4-BE49-F238E27FC236}">
                <a16:creationId xmlns:a16="http://schemas.microsoft.com/office/drawing/2014/main" id="{16771C40-93E8-9146-9362-82870BFE9A5A}"/>
              </a:ext>
            </a:extLst>
          </p:cNvPr>
          <p:cNvSpPr txBox="1">
            <a:spLocks noChangeArrowheads="1"/>
          </p:cNvSpPr>
          <p:nvPr/>
        </p:nvSpPr>
        <p:spPr>
          <a:xfrm>
            <a:off x="914400" y="1554480"/>
            <a:ext cx="8782111" cy="51620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Clr>
                <a:schemeClr val="tx1"/>
              </a:buClr>
            </a:pPr>
            <a:r>
              <a:rPr lang="en-US" altLang="zh-CN" sz="2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ANOVA</a:t>
            </a:r>
          </a:p>
          <a:p>
            <a:endParaRPr lang="en-US" altLang="zh-CN" sz="24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457189" lvl="1" indent="0">
              <a:buNone/>
            </a:pPr>
            <a:endParaRPr lang="en-US" altLang="zh-CN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indent="0">
              <a:buNone/>
            </a:pPr>
            <a:endParaRPr lang="en-US" altLang="zh-CN" sz="24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ED144DB-995E-51D0-F98F-AE1D1DAFD3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2743" y="2200093"/>
            <a:ext cx="7772400" cy="21423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1E852D0-D092-AFC7-B0BC-4AC3DB852D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2743" y="4387663"/>
            <a:ext cx="7772400" cy="2105210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BA98FBB4-6AB1-F216-7BCE-44B46F5054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287" y="0"/>
            <a:ext cx="2177970" cy="68580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1CFB55CD-32BA-2F52-6685-F9665A7FBA7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1603" y="3581350"/>
            <a:ext cx="2295141" cy="1728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0449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Understanding the code output</a:t>
            </a:r>
            <a:endParaRPr lang="zh-CN" altLang="en-US" sz="3200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15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23" name="直接连接符 4">
            <a:extLst>
              <a:ext uri="{FF2B5EF4-FFF2-40B4-BE49-F238E27FC236}">
                <a16:creationId xmlns:a16="http://schemas.microsoft.com/office/drawing/2014/main" id="{DC5045C3-EB69-4BE9-B5C4-BAFB879F4F0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内容占位符 2">
            <a:extLst>
              <a:ext uri="{FF2B5EF4-FFF2-40B4-BE49-F238E27FC236}">
                <a16:creationId xmlns:a16="http://schemas.microsoft.com/office/drawing/2014/main" id="{16771C40-93E8-9146-9362-82870BFE9A5A}"/>
              </a:ext>
            </a:extLst>
          </p:cNvPr>
          <p:cNvSpPr txBox="1">
            <a:spLocks noChangeArrowheads="1"/>
          </p:cNvSpPr>
          <p:nvPr/>
        </p:nvSpPr>
        <p:spPr>
          <a:xfrm>
            <a:off x="914400" y="1554480"/>
            <a:ext cx="8782111" cy="51620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Clr>
                <a:schemeClr val="tx1"/>
              </a:buClr>
            </a:pPr>
            <a:r>
              <a:rPr lang="en-US" altLang="zh-CN" sz="2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EHW variances</a:t>
            </a:r>
          </a:p>
          <a:p>
            <a:endParaRPr lang="en-US" altLang="zh-CN" sz="24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457189" lvl="1" indent="0">
              <a:buNone/>
            </a:pPr>
            <a:endParaRPr lang="en-US" altLang="zh-CN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indent="0">
              <a:buNone/>
            </a:pPr>
            <a:endParaRPr lang="en-US" altLang="zh-CN" sz="24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ED2D372-CB55-5615-FCC2-6FA093B947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3300" y="2538642"/>
            <a:ext cx="6337300" cy="368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5583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Understanding the code output</a:t>
            </a:r>
            <a:endParaRPr lang="zh-CN" altLang="en-US" sz="3200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16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23" name="直接连接符 4">
            <a:extLst>
              <a:ext uri="{FF2B5EF4-FFF2-40B4-BE49-F238E27FC236}">
                <a16:creationId xmlns:a16="http://schemas.microsoft.com/office/drawing/2014/main" id="{DC5045C3-EB69-4BE9-B5C4-BAFB879F4F0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内容占位符 2">
            <a:extLst>
              <a:ext uri="{FF2B5EF4-FFF2-40B4-BE49-F238E27FC236}">
                <a16:creationId xmlns:a16="http://schemas.microsoft.com/office/drawing/2014/main" id="{16771C40-93E8-9146-9362-82870BFE9A5A}"/>
              </a:ext>
            </a:extLst>
          </p:cNvPr>
          <p:cNvSpPr txBox="1">
            <a:spLocks noChangeArrowheads="1"/>
          </p:cNvSpPr>
          <p:nvPr/>
        </p:nvSpPr>
        <p:spPr>
          <a:xfrm>
            <a:off x="914400" y="1554480"/>
            <a:ext cx="8782111" cy="51620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Clr>
                <a:schemeClr val="tx1"/>
              </a:buClr>
            </a:pPr>
            <a:r>
              <a:rPr lang="en-US" altLang="zh-CN" sz="2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Residual plot</a:t>
            </a:r>
          </a:p>
          <a:p>
            <a:endParaRPr lang="en-US" altLang="zh-CN" sz="24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457189" lvl="1" indent="0">
              <a:buNone/>
            </a:pPr>
            <a:endParaRPr lang="en-US" altLang="zh-CN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indent="0">
              <a:buNone/>
            </a:pPr>
            <a:endParaRPr lang="en-US" altLang="zh-CN" sz="24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18E5C53-FBDC-E85B-FEEB-7C9E7936DF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3601" y="1552050"/>
            <a:ext cx="5506999" cy="5305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3807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Understanding the code output</a:t>
            </a:r>
            <a:endParaRPr lang="zh-CN" altLang="en-US" sz="3200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17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23" name="直接连接符 4">
            <a:extLst>
              <a:ext uri="{FF2B5EF4-FFF2-40B4-BE49-F238E27FC236}">
                <a16:creationId xmlns:a16="http://schemas.microsoft.com/office/drawing/2014/main" id="{DC5045C3-EB69-4BE9-B5C4-BAFB879F4F0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内容占位符 2">
            <a:extLst>
              <a:ext uri="{FF2B5EF4-FFF2-40B4-BE49-F238E27FC236}">
                <a16:creationId xmlns:a16="http://schemas.microsoft.com/office/drawing/2014/main" id="{16771C40-93E8-9146-9362-82870BFE9A5A}"/>
              </a:ext>
            </a:extLst>
          </p:cNvPr>
          <p:cNvSpPr txBox="1">
            <a:spLocks noChangeArrowheads="1"/>
          </p:cNvSpPr>
          <p:nvPr/>
        </p:nvSpPr>
        <p:spPr>
          <a:xfrm>
            <a:off x="914400" y="1554480"/>
            <a:ext cx="8782111" cy="51620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Clr>
                <a:schemeClr val="tx1"/>
              </a:buClr>
            </a:pPr>
            <a:r>
              <a:rPr lang="en-US" altLang="zh-CN" sz="2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Outlier detection</a:t>
            </a:r>
          </a:p>
          <a:p>
            <a:endParaRPr lang="en-US" altLang="zh-CN" sz="24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457189" lvl="1" indent="0">
              <a:buNone/>
            </a:pPr>
            <a:endParaRPr lang="en-US" altLang="zh-CN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indent="0">
              <a:buNone/>
            </a:pPr>
            <a:endParaRPr lang="en-US" altLang="zh-CN" sz="24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DAAC1D6-13E7-3186-F128-0D21B62093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1925" y="2072096"/>
            <a:ext cx="5600332" cy="4785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8860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Understanding the code output</a:t>
            </a:r>
            <a:endParaRPr lang="zh-CN" altLang="en-US" sz="3200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18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23" name="直接连接符 4">
            <a:extLst>
              <a:ext uri="{FF2B5EF4-FFF2-40B4-BE49-F238E27FC236}">
                <a16:creationId xmlns:a16="http://schemas.microsoft.com/office/drawing/2014/main" id="{DC5045C3-EB69-4BE9-B5C4-BAFB879F4F0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内容占位符 2">
            <a:extLst>
              <a:ext uri="{FF2B5EF4-FFF2-40B4-BE49-F238E27FC236}">
                <a16:creationId xmlns:a16="http://schemas.microsoft.com/office/drawing/2014/main" id="{16771C40-93E8-9146-9362-82870BFE9A5A}"/>
              </a:ext>
            </a:extLst>
          </p:cNvPr>
          <p:cNvSpPr txBox="1">
            <a:spLocks noChangeArrowheads="1"/>
          </p:cNvSpPr>
          <p:nvPr/>
        </p:nvSpPr>
        <p:spPr>
          <a:xfrm>
            <a:off x="914400" y="1554480"/>
            <a:ext cx="8782111" cy="51620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Clr>
                <a:schemeClr val="tx1"/>
              </a:buClr>
            </a:pPr>
            <a:r>
              <a:rPr lang="en-US" altLang="zh-CN" sz="2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Logistic</a:t>
            </a:r>
            <a:r>
              <a:rPr lang="zh-CN" altLang="en-US" sz="2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lang="en-US" altLang="zh-CN" sz="2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(binary outcome)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E724F3B-0A20-90EF-BC37-9B452BCB10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9094" y="2157368"/>
            <a:ext cx="6071506" cy="4335505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0815B40A-BD81-18CF-A440-54811E3392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4383" y="0"/>
            <a:ext cx="194508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0017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Understanding the code output</a:t>
            </a:r>
            <a:endParaRPr lang="zh-CN" altLang="en-US" sz="3200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19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23" name="直接连接符 4">
            <a:extLst>
              <a:ext uri="{FF2B5EF4-FFF2-40B4-BE49-F238E27FC236}">
                <a16:creationId xmlns:a16="http://schemas.microsoft.com/office/drawing/2014/main" id="{DC5045C3-EB69-4BE9-B5C4-BAFB879F4F0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内容占位符 2">
            <a:extLst>
              <a:ext uri="{FF2B5EF4-FFF2-40B4-BE49-F238E27FC236}">
                <a16:creationId xmlns:a16="http://schemas.microsoft.com/office/drawing/2014/main" id="{16771C40-93E8-9146-9362-82870BFE9A5A}"/>
              </a:ext>
            </a:extLst>
          </p:cNvPr>
          <p:cNvSpPr txBox="1">
            <a:spLocks noChangeArrowheads="1"/>
          </p:cNvSpPr>
          <p:nvPr/>
        </p:nvSpPr>
        <p:spPr>
          <a:xfrm>
            <a:off x="914400" y="1554480"/>
            <a:ext cx="8782111" cy="51620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Clr>
                <a:schemeClr val="tx1"/>
              </a:buClr>
            </a:pPr>
            <a:r>
              <a:rPr lang="en-US" altLang="zh-CN" sz="2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Logistic</a:t>
            </a:r>
            <a:r>
              <a:rPr lang="zh-CN" altLang="en-US" sz="2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lang="en-US" altLang="zh-CN" sz="2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(nominal outcome)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628FDCD-C947-C005-4924-6014E6D787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5489" y="2285362"/>
            <a:ext cx="7024552" cy="4404899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06D00FA5-0209-78E9-5B27-21E2E7E368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6845" y="70711"/>
            <a:ext cx="1495355" cy="6716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47412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Understanding the code output</a:t>
            </a:r>
            <a:endParaRPr lang="zh-CN" altLang="en-US" sz="3200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20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23" name="直接连接符 4">
            <a:extLst>
              <a:ext uri="{FF2B5EF4-FFF2-40B4-BE49-F238E27FC236}">
                <a16:creationId xmlns:a16="http://schemas.microsoft.com/office/drawing/2014/main" id="{DC5045C3-EB69-4BE9-B5C4-BAFB879F4F0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内容占位符 2">
            <a:extLst>
              <a:ext uri="{FF2B5EF4-FFF2-40B4-BE49-F238E27FC236}">
                <a16:creationId xmlns:a16="http://schemas.microsoft.com/office/drawing/2014/main" id="{16771C40-93E8-9146-9362-82870BFE9A5A}"/>
              </a:ext>
            </a:extLst>
          </p:cNvPr>
          <p:cNvSpPr txBox="1">
            <a:spLocks noChangeArrowheads="1"/>
          </p:cNvSpPr>
          <p:nvPr/>
        </p:nvSpPr>
        <p:spPr>
          <a:xfrm>
            <a:off x="914400" y="1554480"/>
            <a:ext cx="8782111" cy="51620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Clr>
                <a:schemeClr val="tx1"/>
              </a:buClr>
            </a:pPr>
            <a:r>
              <a:rPr lang="en-US" altLang="zh-CN" sz="2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Logistic</a:t>
            </a:r>
            <a:r>
              <a:rPr lang="zh-CN" altLang="en-US" sz="2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lang="en-US" altLang="zh-CN" sz="2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(ordinal outcome)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5BB0876-14A3-4CF8-A706-4490EC9D8F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4742" y="2203102"/>
            <a:ext cx="7157357" cy="4335811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8C09CFF3-CCF3-7F74-F0A3-D101DE727D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3589" y="7362"/>
            <a:ext cx="4429539" cy="6714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5371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Understanding the code output</a:t>
            </a:r>
            <a:endParaRPr lang="zh-CN" altLang="en-US" sz="3200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21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23" name="直接连接符 4">
            <a:extLst>
              <a:ext uri="{FF2B5EF4-FFF2-40B4-BE49-F238E27FC236}">
                <a16:creationId xmlns:a16="http://schemas.microsoft.com/office/drawing/2014/main" id="{DC5045C3-EB69-4BE9-B5C4-BAFB879F4F0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内容占位符 2">
            <a:extLst>
              <a:ext uri="{FF2B5EF4-FFF2-40B4-BE49-F238E27FC236}">
                <a16:creationId xmlns:a16="http://schemas.microsoft.com/office/drawing/2014/main" id="{16771C40-93E8-9146-9362-82870BFE9A5A}"/>
              </a:ext>
            </a:extLst>
          </p:cNvPr>
          <p:cNvSpPr txBox="1">
            <a:spLocks noChangeArrowheads="1"/>
          </p:cNvSpPr>
          <p:nvPr/>
        </p:nvSpPr>
        <p:spPr>
          <a:xfrm>
            <a:off x="914400" y="1554480"/>
            <a:ext cx="8782111" cy="51620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Clr>
                <a:schemeClr val="tx1"/>
              </a:buClr>
            </a:pPr>
            <a:r>
              <a:rPr lang="en-US" altLang="zh-CN" sz="2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Poisson regression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0562B4-64C2-AD4B-47CC-58728C1594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7885" y="2064101"/>
            <a:ext cx="7094825" cy="4603331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2D006C28-65F3-EE50-06B6-1E05B9B2E2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9955" y="2683259"/>
            <a:ext cx="2710041" cy="3673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6511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What you are expected to understand</a:t>
            </a:r>
            <a:endParaRPr lang="zh-CN" altLang="en-US" sz="3200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22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23" name="直接连接符 4">
            <a:extLst>
              <a:ext uri="{FF2B5EF4-FFF2-40B4-BE49-F238E27FC236}">
                <a16:creationId xmlns:a16="http://schemas.microsoft.com/office/drawing/2014/main" id="{DC5045C3-EB69-4BE9-B5C4-BAFB879F4F0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内容占位符 2">
            <a:extLst>
              <a:ext uri="{FF2B5EF4-FFF2-40B4-BE49-F238E27FC236}">
                <a16:creationId xmlns:a16="http://schemas.microsoft.com/office/drawing/2014/main" id="{16771C40-93E8-9146-9362-82870BFE9A5A}"/>
              </a:ext>
            </a:extLst>
          </p:cNvPr>
          <p:cNvSpPr txBox="1">
            <a:spLocks noChangeArrowheads="1"/>
          </p:cNvSpPr>
          <p:nvPr/>
        </p:nvSpPr>
        <p:spPr>
          <a:xfrm>
            <a:off x="914400" y="1554480"/>
            <a:ext cx="8782111" cy="51620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Technical details</a:t>
            </a:r>
          </a:p>
          <a:p>
            <a:pPr lvl="1"/>
            <a:r>
              <a:rPr lang="en-US" altLang="zh-CN" sz="20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Model formulation, estimation, inference, prediction, checking</a:t>
            </a:r>
          </a:p>
          <a:p>
            <a:pPr lvl="1">
              <a:buClr>
                <a:schemeClr val="tx1"/>
              </a:buClr>
            </a:pPr>
            <a:r>
              <a:rPr lang="en-US" altLang="zh-CN" sz="20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Key</a:t>
            </a:r>
            <a:r>
              <a:rPr lang="zh-CN" altLang="en-US" sz="20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lang="en-US" altLang="zh-CN" sz="20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computational ideas</a:t>
            </a:r>
          </a:p>
          <a:p>
            <a:pPr lvl="1">
              <a:buClr>
                <a:schemeClr val="tx1"/>
              </a:buClr>
            </a:pPr>
            <a:r>
              <a:rPr lang="en-US" altLang="zh-CN" sz="20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Derivations</a:t>
            </a:r>
            <a:r>
              <a:rPr lang="zh-CN" altLang="en-US" sz="20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lang="en-US" altLang="zh-CN" sz="20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of the asymptotic results are not required</a:t>
            </a:r>
          </a:p>
          <a:p>
            <a:pPr>
              <a:lnSpc>
                <a:spcPct val="150000"/>
              </a:lnSpc>
              <a:buClr>
                <a:schemeClr val="tx1"/>
              </a:buClr>
            </a:pPr>
            <a:r>
              <a:rPr lang="en-US" altLang="zh-CN" sz="2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Interpretation</a:t>
            </a:r>
          </a:p>
          <a:p>
            <a:pPr lvl="1">
              <a:buClr>
                <a:schemeClr val="tx1"/>
              </a:buClr>
            </a:pPr>
            <a:r>
              <a:rPr lang="en-US" altLang="zh-CN" sz="20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Meaning of the assumptions</a:t>
            </a:r>
          </a:p>
          <a:p>
            <a:pPr lvl="1">
              <a:buClr>
                <a:schemeClr val="tx1"/>
              </a:buClr>
            </a:pPr>
            <a:r>
              <a:rPr lang="en-US" altLang="zh-CN" sz="20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Choosing appropriate models for a given problem</a:t>
            </a:r>
          </a:p>
          <a:p>
            <a:pPr lvl="1">
              <a:buClr>
                <a:schemeClr val="tx1"/>
              </a:buClr>
            </a:pPr>
            <a:r>
              <a:rPr lang="en-US" altLang="zh-CN" sz="20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Interpretation of parameters and fitted results</a:t>
            </a:r>
          </a:p>
          <a:p>
            <a:pPr lvl="1">
              <a:buClr>
                <a:schemeClr val="tx1"/>
              </a:buClr>
            </a:pPr>
            <a:endParaRPr lang="en-US" altLang="zh-CN" dirty="0"/>
          </a:p>
          <a:p>
            <a:pPr>
              <a:buClr>
                <a:schemeClr val="tx1"/>
              </a:buClr>
            </a:pPr>
            <a:r>
              <a:rPr lang="en-US" altLang="zh-CN" sz="2400" dirty="0"/>
              <a:t>R implementation</a:t>
            </a:r>
          </a:p>
          <a:p>
            <a:pPr lvl="1">
              <a:buClr>
                <a:schemeClr val="tx1"/>
              </a:buClr>
            </a:pPr>
            <a:r>
              <a:rPr lang="en-US" altLang="zh-CN" sz="20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Understand what the code is doing</a:t>
            </a:r>
          </a:p>
          <a:p>
            <a:pPr lvl="1">
              <a:buClr>
                <a:schemeClr val="tx1"/>
              </a:buClr>
            </a:pPr>
            <a:r>
              <a:rPr lang="en-US" altLang="zh-CN" sz="20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Correct interpretation of the output</a:t>
            </a:r>
          </a:p>
          <a:p>
            <a:endParaRPr lang="en-US" altLang="zh-CN" sz="24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457189" lvl="1" indent="0">
              <a:buNone/>
            </a:pPr>
            <a:endParaRPr lang="en-US" altLang="zh-CN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indent="0">
              <a:buNone/>
            </a:pPr>
            <a:endParaRPr lang="en-US" altLang="zh-CN" sz="24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464667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-Times New Roman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33505</TotalTime>
  <Words>628</Words>
  <Application>Microsoft Office PowerPoint</Application>
  <PresentationFormat>宽屏</PresentationFormat>
  <Paragraphs>228</Paragraphs>
  <Slides>22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0" baseType="lpstr">
      <vt:lpstr>Arial Unicode MS</vt:lpstr>
      <vt:lpstr>Microsoft YaHei</vt:lpstr>
      <vt:lpstr>Microsoft YaHei</vt:lpstr>
      <vt:lpstr>Arial</vt:lpstr>
      <vt:lpstr>Calibri</vt:lpstr>
      <vt:lpstr>Cambria Math</vt:lpstr>
      <vt:lpstr>Times New Roman</vt:lpstr>
      <vt:lpstr>Office Theme</vt:lpstr>
      <vt:lpstr>Applied linear regression</vt:lpstr>
      <vt:lpstr>Main topics</vt:lpstr>
      <vt:lpstr>Linear models</vt:lpstr>
      <vt:lpstr>Algebraic properties of OLS</vt:lpstr>
      <vt:lpstr>Statistical properties under Gauss-Markov model</vt:lpstr>
      <vt:lpstr>Statistical properties under Normal linear model</vt:lpstr>
      <vt:lpstr>Asymptotic inference</vt:lpstr>
      <vt:lpstr>Model fitting</vt:lpstr>
      <vt:lpstr>Model checking</vt:lpstr>
      <vt:lpstr>Overfitting</vt:lpstr>
      <vt:lpstr>Regularization</vt:lpstr>
      <vt:lpstr>Generalized linear models</vt:lpstr>
      <vt:lpstr>Understanding the code output</vt:lpstr>
      <vt:lpstr>Understanding the code output</vt:lpstr>
      <vt:lpstr>Understanding the code output</vt:lpstr>
      <vt:lpstr>Understanding the code output</vt:lpstr>
      <vt:lpstr>Understanding the code output</vt:lpstr>
      <vt:lpstr>Understanding the code output</vt:lpstr>
      <vt:lpstr>Understanding the code output</vt:lpstr>
      <vt:lpstr>Understanding the code output</vt:lpstr>
      <vt:lpstr>Understanding the code output</vt:lpstr>
      <vt:lpstr>What you are expected to understand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求职汇报</dc:title>
  <dc:creator>Microsoft Office User</dc:creator>
  <cp:lastModifiedBy>gl1der easy</cp:lastModifiedBy>
  <cp:revision>218</cp:revision>
  <dcterms:created xsi:type="dcterms:W3CDTF">2022-01-07T20:32:42Z</dcterms:created>
  <dcterms:modified xsi:type="dcterms:W3CDTF">2026-01-07T14:41:35Z</dcterms:modified>
</cp:coreProperties>
</file>