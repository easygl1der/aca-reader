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760" r:id="rId3"/>
    <p:sldId id="697" r:id="rId4"/>
    <p:sldId id="698" r:id="rId5"/>
    <p:sldId id="699" r:id="rId6"/>
    <p:sldId id="700" r:id="rId7"/>
    <p:sldId id="701" r:id="rId8"/>
    <p:sldId id="759" r:id="rId9"/>
    <p:sldId id="702" r:id="rId10"/>
    <p:sldId id="713" r:id="rId11"/>
    <p:sldId id="761" r:id="rId12"/>
    <p:sldId id="703" r:id="rId13"/>
    <p:sldId id="704" r:id="rId14"/>
    <p:sldId id="705" r:id="rId15"/>
    <p:sldId id="706" r:id="rId16"/>
    <p:sldId id="707" r:id="rId17"/>
    <p:sldId id="708" r:id="rId18"/>
    <p:sldId id="709" r:id="rId19"/>
    <p:sldId id="710" r:id="rId20"/>
    <p:sldId id="711" r:id="rId21"/>
    <p:sldId id="712" r:id="rId22"/>
    <p:sldId id="762" r:id="rId23"/>
    <p:sldId id="714" r:id="rId24"/>
    <p:sldId id="715" r:id="rId25"/>
    <p:sldId id="716" r:id="rId26"/>
    <p:sldId id="717" r:id="rId27"/>
    <p:sldId id="718" r:id="rId28"/>
    <p:sldId id="719" r:id="rId29"/>
    <p:sldId id="720" r:id="rId30"/>
    <p:sldId id="72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2381"/>
  </p:normalViewPr>
  <p:slideViewPr>
    <p:cSldViewPr snapToGrid="0" snapToObjects="1">
      <p:cViewPr varScale="1">
        <p:scale>
          <a:sx n="90" d="100"/>
          <a:sy n="90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92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59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06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76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distribution functions are quite similar for all links, but the density for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cloglog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asymmetric although all other three densities are symmetric.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46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80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55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4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45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70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37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31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2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38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85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61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92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6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97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75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32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592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coefficients are quite different because the coefficients measure the association between x and y on difference scales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363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patterns are quite similar although the linear probability model can give fitted probabilities outside [0, 1]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70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39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一个灌水重灾区是把惩罚项改了，另一个是把前面的</a:t>
            </a:r>
            <a:r>
              <a:rPr lang="en-US" altLang="zh-CN" dirty="0"/>
              <a:t>MSE</a:t>
            </a:r>
            <a:r>
              <a:rPr lang="zh-CN" altLang="en-US" dirty="0"/>
              <a:t>改了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70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ohort studies recruit and follow participants who share a common characteristic, such as a particular occupation or demographic similarity.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Kagan (2001) showed that the logistic link is the only one that enjoys this property.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54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06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1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6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Logistic regression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binary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outcomes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Binary outcome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6594E3-7E8F-E048-8A2C-DFFA3212C37D}"/>
                  </a:ext>
                </a:extLst>
              </p:cNvPr>
              <p:cNvSpPr txBox="1"/>
              <p:nvPr/>
            </p:nvSpPr>
            <p:spPr>
              <a:xfrm>
                <a:off x="838200" y="1828274"/>
                <a:ext cx="7229415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Variable that can take only two values,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1/0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Success/Fail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Yes/No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Survive/Die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Democrat/Republic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6594E3-7E8F-E048-8A2C-DFFA3212C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274"/>
                <a:ext cx="7229415" cy="1938992"/>
              </a:xfrm>
              <a:prstGeom prst="rect">
                <a:avLst/>
              </a:prstGeom>
              <a:blipFill>
                <a:blip r:embed="rId3"/>
                <a:stretch>
                  <a:fillRect l="-1228" t="-2614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14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Binary outcome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6594E3-7E8F-E048-8A2C-DFFA3212C37D}"/>
              </a:ext>
            </a:extLst>
          </p:cNvPr>
          <p:cNvSpPr txBox="1"/>
          <p:nvPr/>
        </p:nvSpPr>
        <p:spPr>
          <a:xfrm>
            <a:off x="838200" y="1828274"/>
            <a:ext cx="929292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simplicity, we can still use the linear model for a binary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Linear probability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Easy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Heteroskedasticity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 natural for binary outcome because probability is bounded between</a:t>
            </a:r>
          </a:p>
          <a:p>
            <a:r>
              <a:rPr lang="en-US" sz="2400" dirty="0"/>
              <a:t>    zero and one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5CD708-D4C2-6F41-8C4B-10AD91D98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50" y="2584103"/>
            <a:ext cx="3632200" cy="44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F324C1-73FE-3347-A8BB-5D8F8C749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450" y="3189016"/>
            <a:ext cx="36068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F5E946-370A-3D42-A16A-112662C34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756" y="3904343"/>
            <a:ext cx="2235200" cy="76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EFF1D3-98E0-804F-89B9-6E0CCC1E7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957" y="4770412"/>
            <a:ext cx="2971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Link functions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F67015-D445-4344-ABB8-5BDA3F649924}"/>
                  </a:ext>
                </a:extLst>
              </p:cNvPr>
              <p:cNvSpPr txBox="1"/>
              <p:nvPr/>
            </p:nvSpPr>
            <p:spPr>
              <a:xfrm>
                <a:off x="957943" y="1796143"/>
                <a:ext cx="9773638" cy="1959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a monotone transformation to force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to lie within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inverse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en-US" sz="2400" dirty="0"/>
                  <a:t>is often called the link function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Four canonical choices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F67015-D445-4344-ABB8-5BDA3F649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3" y="1796143"/>
                <a:ext cx="9773638" cy="1959191"/>
              </a:xfrm>
              <a:prstGeom prst="rect">
                <a:avLst/>
              </a:prstGeom>
              <a:blipFill>
                <a:blip r:embed="rId3"/>
                <a:stretch>
                  <a:fillRect l="-779" t="-1935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D25066-F9C7-674E-B29C-A450BA05B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163" y="2377123"/>
            <a:ext cx="24257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725003-EA29-B946-A09D-C812E0319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433" y="3798381"/>
            <a:ext cx="6295160" cy="266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Link functions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EF26AA-60F9-5F48-9500-98A56CCC2C73}"/>
                  </a:ext>
                </a:extLst>
              </p:cNvPr>
              <p:cNvSpPr txBox="1"/>
              <p:nvPr/>
            </p:nvSpPr>
            <p:spPr>
              <a:xfrm>
                <a:off x="903514" y="1690690"/>
                <a:ext cx="10384971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Logit model: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distribution function of the standard logistic distribution with density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Probit</a:t>
                </a:r>
                <a:r>
                  <a:rPr lang="en-US" sz="2400" dirty="0"/>
                  <a:t> model: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distribution of the Normal distribution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Cauchit</a:t>
                </a:r>
                <a:r>
                  <a:rPr lang="en-US" sz="2400" dirty="0"/>
                  <a:t> model: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distribution function of the standard Cauchy distribution with density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cloglog</a:t>
                </a:r>
                <a:r>
                  <a:rPr lang="en-US" sz="2400" dirty="0"/>
                  <a:t> model: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distribution function of the standard log-</a:t>
                </a:r>
                <a:r>
                  <a:rPr lang="en-US" sz="2400" dirty="0" err="1"/>
                  <a:t>Weilbull</a:t>
                </a:r>
                <a:r>
                  <a:rPr lang="en-US" sz="2400" dirty="0"/>
                  <a:t> distribution with density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EF26AA-60F9-5F48-9500-98A56CCC2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14" y="1690690"/>
                <a:ext cx="10384971" cy="4524315"/>
              </a:xfrm>
              <a:prstGeom prst="rect">
                <a:avLst/>
              </a:prstGeom>
              <a:blipFill>
                <a:blip r:embed="rId3"/>
                <a:stretch>
                  <a:fillRect l="-856" t="-838" r="-1467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FF59C7-3C47-8241-B6C3-675D7D14F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650" y="2475878"/>
            <a:ext cx="4330700" cy="81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23463A-83F0-2A41-B302-82E525353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521" y="4313468"/>
            <a:ext cx="2184400" cy="86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FEBBA3-50A1-4B41-BBE9-12716A2AE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9405" y="5715232"/>
            <a:ext cx="1988457" cy="4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3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Link functions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4E55ED9-8936-D146-ACE7-ADF3EC21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67" y="1333841"/>
            <a:ext cx="90043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1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Logit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E8EA18-C38F-7D45-BF40-E5A85786C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93" y="1585686"/>
            <a:ext cx="4406900" cy="81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9B77C9-03AD-BF42-84D4-B855BF4CD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221" y="2398486"/>
            <a:ext cx="6311900" cy="86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D129E0-8427-3C44-8E58-92DEFD928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64" y="3296782"/>
            <a:ext cx="2425700" cy="67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490FD7-8194-A64B-828E-512CAFAAE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864" y="3948111"/>
            <a:ext cx="3683000" cy="1054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275BD4-4D63-0641-9C75-F9279C307D33}"/>
                  </a:ext>
                </a:extLst>
              </p:cNvPr>
              <p:cNvSpPr txBox="1"/>
              <p:nvPr/>
            </p:nvSpPr>
            <p:spPr>
              <a:xfrm>
                <a:off x="1368276" y="4275106"/>
                <a:ext cx="9533404" cy="159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Binary outcome: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Interpretation: each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measures the impact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on the log odds of the outcome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275BD4-4D63-0641-9C75-F9279C307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276" y="4275106"/>
                <a:ext cx="9533404" cy="1599412"/>
              </a:xfrm>
              <a:prstGeom prst="rect">
                <a:avLst/>
              </a:prstGeom>
              <a:blipFill>
                <a:blip r:embed="rId7"/>
                <a:stretch>
                  <a:fillRect l="-798" t="-3150" b="-7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9D3867D-63B3-C346-8FF7-F35BBC49FB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864" y="5536565"/>
            <a:ext cx="37719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1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Risk ratio, odds, odds ratio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3">
                <a:extLst>
                  <a:ext uri="{FF2B5EF4-FFF2-40B4-BE49-F238E27FC236}">
                    <a16:creationId xmlns:a16="http://schemas.microsoft.com/office/drawing/2014/main" id="{D2CB3501-071D-E995-D8B2-855FCC388B2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67828966"/>
                  </p:ext>
                </p:extLst>
              </p:nvPr>
            </p:nvGraphicFramePr>
            <p:xfrm>
              <a:off x="772731" y="1989785"/>
              <a:ext cx="10809669" cy="43693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2344">
                      <a:extLst>
                        <a:ext uri="{9D8B030D-6E8A-4147-A177-3AD203B41FA5}">
                          <a16:colId xmlns:a16="http://schemas.microsoft.com/office/drawing/2014/main" val="3071553019"/>
                        </a:ext>
                      </a:extLst>
                    </a:gridCol>
                    <a:gridCol w="3099455">
                      <a:extLst>
                        <a:ext uri="{9D8B030D-6E8A-4147-A177-3AD203B41FA5}">
                          <a16:colId xmlns:a16="http://schemas.microsoft.com/office/drawing/2014/main" val="1273917913"/>
                        </a:ext>
                      </a:extLst>
                    </a:gridCol>
                    <a:gridCol w="1844304">
                      <a:extLst>
                        <a:ext uri="{9D8B030D-6E8A-4147-A177-3AD203B41FA5}">
                          <a16:colId xmlns:a16="http://schemas.microsoft.com/office/drawing/2014/main" val="3344493924"/>
                        </a:ext>
                      </a:extLst>
                    </a:gridCol>
                    <a:gridCol w="1063037">
                      <a:extLst>
                        <a:ext uri="{9D8B030D-6E8A-4147-A177-3AD203B41FA5}">
                          <a16:colId xmlns:a16="http://schemas.microsoft.com/office/drawing/2014/main" val="2532538960"/>
                        </a:ext>
                      </a:extLst>
                    </a:gridCol>
                    <a:gridCol w="3560529">
                      <a:extLst>
                        <a:ext uri="{9D8B030D-6E8A-4147-A177-3AD203B41FA5}">
                          <a16:colId xmlns:a16="http://schemas.microsoft.com/office/drawing/2014/main" val="166436256"/>
                        </a:ext>
                      </a:extLst>
                    </a:gridCol>
                  </a:tblGrid>
                  <a:tr h="518230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919949"/>
                      </a:ext>
                    </a:extLst>
                  </a:tr>
                  <a:tr h="904272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probability</a:t>
                          </a:r>
                        </a:p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(risk)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Chance of an event happening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𝑒𝑣𝑒𝑛𝑡𝑠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𝑡𝑜𝑡𝑎𝑙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𝑡𝑟𝑖𝑎𝑙𝑠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[0,1]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P=0.25 means 25% chance of success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8148912"/>
                      </a:ext>
                    </a:extLst>
                  </a:tr>
                  <a:tr h="1185903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Ratio of probability of event to probability of no event. (number of success for every failure)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𝑜𝑑𝑑𝑠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N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[0, </a:t>
                          </a:r>
                          <a14:m>
                            <m:oMath xmlns:m="http://schemas.openxmlformats.org/officeDocument/2006/math">
                              <m:r>
                                <a:rPr lang="en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 = 0.25 means P = 0.2 (0.25=0.2/(1-0.2))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4885194"/>
                      </a:ext>
                    </a:extLst>
                  </a:tr>
                  <a:tr h="904272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Ratio of odds in one group to odds in another (ratio of ratio)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𝑜𝑑𝑑𝑠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𝑜𝑑𝑑𝑠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CN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[0, </a:t>
                          </a:r>
                          <a14:m>
                            <m:oMath xmlns:m="http://schemas.openxmlformats.org/officeDocument/2006/math">
                              <m:r>
                                <a:rPr lang="en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OR = 0.2 means odds in the second group are five times as high in the first group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353268"/>
                      </a:ext>
                    </a:extLst>
                  </a:tr>
                  <a:tr h="853891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risk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Ratio of probabilities (risks) between two groups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CN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[0, </a:t>
                          </a:r>
                          <a14:m>
                            <m:oMath xmlns:m="http://schemas.openxmlformats.org/officeDocument/2006/math">
                              <m:r>
                                <a:rPr lang="en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RR = 0.2 means risk in the second group are five times as high in the first group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94345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3">
                <a:extLst>
                  <a:ext uri="{FF2B5EF4-FFF2-40B4-BE49-F238E27FC236}">
                    <a16:creationId xmlns:a16="http://schemas.microsoft.com/office/drawing/2014/main" id="{D2CB3501-071D-E995-D8B2-855FCC388B2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67828966"/>
                  </p:ext>
                </p:extLst>
              </p:nvPr>
            </p:nvGraphicFramePr>
            <p:xfrm>
              <a:off x="772731" y="1989785"/>
              <a:ext cx="10809669" cy="43693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2344">
                      <a:extLst>
                        <a:ext uri="{9D8B030D-6E8A-4147-A177-3AD203B41FA5}">
                          <a16:colId xmlns:a16="http://schemas.microsoft.com/office/drawing/2014/main" val="3071553019"/>
                        </a:ext>
                      </a:extLst>
                    </a:gridCol>
                    <a:gridCol w="3099455">
                      <a:extLst>
                        <a:ext uri="{9D8B030D-6E8A-4147-A177-3AD203B41FA5}">
                          <a16:colId xmlns:a16="http://schemas.microsoft.com/office/drawing/2014/main" val="1273917913"/>
                        </a:ext>
                      </a:extLst>
                    </a:gridCol>
                    <a:gridCol w="1844304">
                      <a:extLst>
                        <a:ext uri="{9D8B030D-6E8A-4147-A177-3AD203B41FA5}">
                          <a16:colId xmlns:a16="http://schemas.microsoft.com/office/drawing/2014/main" val="3344493924"/>
                        </a:ext>
                      </a:extLst>
                    </a:gridCol>
                    <a:gridCol w="1063037">
                      <a:extLst>
                        <a:ext uri="{9D8B030D-6E8A-4147-A177-3AD203B41FA5}">
                          <a16:colId xmlns:a16="http://schemas.microsoft.com/office/drawing/2014/main" val="2532538960"/>
                        </a:ext>
                      </a:extLst>
                    </a:gridCol>
                    <a:gridCol w="3560529">
                      <a:extLst>
                        <a:ext uri="{9D8B030D-6E8A-4147-A177-3AD203B41FA5}">
                          <a16:colId xmlns:a16="http://schemas.microsoft.com/office/drawing/2014/main" val="166436256"/>
                        </a:ext>
                      </a:extLst>
                    </a:gridCol>
                  </a:tblGrid>
                  <a:tr h="518230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919949"/>
                      </a:ext>
                    </a:extLst>
                  </a:tr>
                  <a:tr h="904272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probability</a:t>
                          </a:r>
                        </a:p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(risk)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Chance of an event happening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247" t="-60563" r="-251370" b="-330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[0,1]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P=0.25 means 25% chance of success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814891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Ratio of probability of event to probability of no event. (number of success for every failure)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247" t="-121277" r="-251370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7952" t="-121277" r="-342169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 = 0.25 means P = 0.2 (0.25=0.2/(1-0.2))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4885194"/>
                      </a:ext>
                    </a:extLst>
                  </a:tr>
                  <a:tr h="904272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Ratio of odds in one group to odds in another (ratio of ratio)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247" t="-288889" r="-251370" b="-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7952" t="-288889" r="-342169" b="-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OR = 0.2 means odds in the second group are five times as high in the first group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353268"/>
                      </a:ext>
                    </a:extLst>
                  </a:tr>
                  <a:tr h="853891"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risk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CN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Ratio of probabilities (risks) between two groups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247" t="-417910" r="-251370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7952" t="-417910" r="-342169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N" sz="16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RR = 0.2 means risk in the second group are five times as high in the first group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94345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672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Odds ratio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85D563-D7B5-474A-A6AB-D2D4D3E086B1}"/>
                  </a:ext>
                </a:extLst>
              </p:cNvPr>
              <p:cNvSpPr txBox="1"/>
              <p:nvPr/>
            </p:nvSpPr>
            <p:spPr>
              <a:xfrm>
                <a:off x="881743" y="1926771"/>
                <a:ext cx="9269910" cy="42442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Epidemiologists also 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the conditional log odds ratio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then larger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lead to larger probability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larger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lead to smaller probability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85D563-D7B5-474A-A6AB-D2D4D3E08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3" y="1926771"/>
                <a:ext cx="9269910" cy="4244239"/>
              </a:xfrm>
              <a:prstGeom prst="rect">
                <a:avLst/>
              </a:prstGeom>
              <a:blipFill>
                <a:blip r:embed="rId3"/>
                <a:stretch>
                  <a:fillRect l="-958" t="-1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3057691D-25AC-8E42-9A92-8276CCDAC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2605723"/>
            <a:ext cx="85217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0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Average marginal effect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/>
              <p:nvPr/>
            </p:nvSpPr>
            <p:spPr>
              <a:xfrm>
                <a:off x="838200" y="1892239"/>
                <a:ext cx="10910744" cy="3835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Many practitioners find the coefficients in the logit model difficult to interpret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Another measure of the impact of the covariate on the outcome is the average marginal (partial) effect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a continuous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a binary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92239"/>
                <a:ext cx="10910744" cy="3835024"/>
              </a:xfrm>
              <a:prstGeom prst="rect">
                <a:avLst/>
              </a:prstGeom>
              <a:blipFill>
                <a:blip r:embed="rId3"/>
                <a:stretch>
                  <a:fillRect l="-582" t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03C77AF-699C-1045-B790-005F5EDB9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2997902"/>
            <a:ext cx="5511800" cy="73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A7570A-F311-4B4F-AAC9-61E2B4EE7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315" y="3734502"/>
            <a:ext cx="4379686" cy="808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4463B2-2CB3-1A48-AC4C-375E2738B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700" y="4796159"/>
            <a:ext cx="75946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9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Interpretation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6A3588A-9806-6600-C9BC-EFAB36E62B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8659192"/>
                  </p:ext>
                </p:extLst>
              </p:nvPr>
            </p:nvGraphicFramePr>
            <p:xfrm>
              <a:off x="702564" y="2189087"/>
              <a:ext cx="10786872" cy="36688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278">
                      <a:extLst>
                        <a:ext uri="{9D8B030D-6E8A-4147-A177-3AD203B41FA5}">
                          <a16:colId xmlns:a16="http://schemas.microsoft.com/office/drawing/2014/main" val="993088374"/>
                        </a:ext>
                      </a:extLst>
                    </a:gridCol>
                    <a:gridCol w="1595206">
                      <a:extLst>
                        <a:ext uri="{9D8B030D-6E8A-4147-A177-3AD203B41FA5}">
                          <a16:colId xmlns:a16="http://schemas.microsoft.com/office/drawing/2014/main" val="1318850718"/>
                        </a:ext>
                      </a:extLst>
                    </a:gridCol>
                    <a:gridCol w="7921388">
                      <a:extLst>
                        <a:ext uri="{9D8B030D-6E8A-4147-A177-3AD203B41FA5}">
                          <a16:colId xmlns:a16="http://schemas.microsoft.com/office/drawing/2014/main" val="3403428823"/>
                        </a:ext>
                      </a:extLst>
                    </a:gridCol>
                  </a:tblGrid>
                  <a:tr h="397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Scale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Coefficient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0463488"/>
                      </a:ext>
                    </a:extLst>
                  </a:tr>
                  <a:tr h="979859"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 (log)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C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oMath>
                            </m:oMathPara>
                          </a14:m>
                          <a:endParaRPr lang="en-CN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&gt;0, increase]</a:t>
                          </a:r>
                        </a:p>
                        <a:p>
                          <a:endParaRPr lang="en-CN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(Additive)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 unit increase in x </a:t>
                          </a:r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is associated with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CN" b="0" i="0" u="sng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change in the log-odds of (success).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 unit increase in x increases/decreases </a:t>
                          </a:r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the log-odds of (success) by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CN" b="0" i="0" u="sng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2776105"/>
                      </a:ext>
                    </a:extLst>
                  </a:tr>
                  <a:tr h="1288082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</a:t>
                          </a:r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ratio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CN" b="0" i="0" dirty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CN" b="0" i="0" dirty="0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m:rPr>
                                    <m:sty m:val="p"/>
                                  </m:rPr>
                                  <a:rPr lang="en-C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m:rPr>
                                  <m:sty m:val="p"/>
                                </m:rPr>
                                <a:rPr lang="el-G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l-G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&gt;1, increase]</a:t>
                          </a:r>
                          <a:endParaRPr lang="el-GR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baseline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(Multiplicative)</a:t>
                          </a:r>
                          <a:endParaRPr lang="en-CN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b="0" i="0" u="none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 unit increase in x </a:t>
                          </a:r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changes(increases) the odds of (success) by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u="sng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func>
                                <m:funcPr>
                                  <m:ctrlPr>
                                    <a:rPr lang="en-US" b="0" i="1" u="sng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u="sng" dirty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u="sng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u="sng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0" u="sng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]%.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b="0" i="0" u="none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 unit increase in x </a:t>
                          </a:r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changes(decreases) the odds of (success) by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u="sng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func>
                                <m:funcPr>
                                  <m:ctrlPr>
                                    <a:rPr lang="en-US" b="0" i="1" u="sng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b="0" i="0" u="sng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u="sng" dirty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u="sng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u="sng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β</m:t>
                                      </m:r>
                                    </m:e>
                                  </m:d>
                                </m:e>
                              </m:func>
                            </m:oMath>
                          </a14:m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]%.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N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The odds of (success) are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u="sng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b="0" i="0" u="sng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m:rPr>
                                  <m:sty m:val="p"/>
                                </m:rPr>
                                <a:rPr lang="el-GR" b="0" i="0" u="sng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l-GR" b="0" i="0" u="sng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="0" i="0" u="sng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times</a:t>
                          </a:r>
                          <a:r>
                            <a:rPr lang="en-US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higher/lower</a:t>
                          </a:r>
                          <a:r>
                            <a:rPr lang="en-US" b="0" i="0" baseline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n-US" b="0" i="0" u="sng" baseline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for one-unit increase in x</a:t>
                          </a:r>
                          <a:r>
                            <a:rPr lang="en-US" b="0" i="0" baseline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9791457"/>
                      </a:ext>
                    </a:extLst>
                  </a:tr>
                  <a:tr h="1003539"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marginal effect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N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CN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(Additive, not constant)</a:t>
                          </a:r>
                        </a:p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 unit increase in x is associated with (margin) changes in the probability of success, holding other variables at (…specific) values.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581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6A3588A-9806-6600-C9BC-EFAB36E62B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8659192"/>
                  </p:ext>
                </p:extLst>
              </p:nvPr>
            </p:nvGraphicFramePr>
            <p:xfrm>
              <a:off x="702564" y="2189087"/>
              <a:ext cx="10786872" cy="36688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278">
                      <a:extLst>
                        <a:ext uri="{9D8B030D-6E8A-4147-A177-3AD203B41FA5}">
                          <a16:colId xmlns:a16="http://schemas.microsoft.com/office/drawing/2014/main" val="993088374"/>
                        </a:ext>
                      </a:extLst>
                    </a:gridCol>
                    <a:gridCol w="1595206">
                      <a:extLst>
                        <a:ext uri="{9D8B030D-6E8A-4147-A177-3AD203B41FA5}">
                          <a16:colId xmlns:a16="http://schemas.microsoft.com/office/drawing/2014/main" val="1318850718"/>
                        </a:ext>
                      </a:extLst>
                    </a:gridCol>
                    <a:gridCol w="7921388">
                      <a:extLst>
                        <a:ext uri="{9D8B030D-6E8A-4147-A177-3AD203B41FA5}">
                          <a16:colId xmlns:a16="http://schemas.microsoft.com/office/drawing/2014/main" val="3403428823"/>
                        </a:ext>
                      </a:extLst>
                    </a:gridCol>
                  </a:tblGrid>
                  <a:tr h="397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Scale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Coefficient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0463488"/>
                      </a:ext>
                    </a:extLst>
                  </a:tr>
                  <a:tr h="979859"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 (log)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159" t="-42308" r="-496825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378" t="-42308" r="-321" b="-2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2776105"/>
                      </a:ext>
                    </a:extLst>
                  </a:tr>
                  <a:tr h="1288082">
                    <a:tc>
                      <a:txBody>
                        <a:bodyPr/>
                        <a:lstStyle/>
                        <a:p>
                          <a:r>
                            <a:rPr lang="en-US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odds</a:t>
                          </a:r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ratio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159" t="-108824" r="-496825" b="-784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378" t="-108824" r="-321" b="-784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791457"/>
                      </a:ext>
                    </a:extLst>
                  </a:tr>
                  <a:tr h="1003539"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159" t="-269620" r="-496825" b="-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(Additive, not constant)</a:t>
                          </a:r>
                        </a:p>
                        <a:p>
                          <a:r>
                            <a:rPr lang="en-CN" b="0" i="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one unit increase in x is associated with (margin) changes in the probability of success, holding other variables at (…specific) values.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581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0455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Maximum likelihood estimation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4013FCD-8B4C-CD4D-B159-266902673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207" y="1385571"/>
            <a:ext cx="6541776" cy="2551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859F01-6B7E-5344-9DC7-F85B38D50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479" y="3936747"/>
            <a:ext cx="52959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2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Maximum likelihood estimation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1FBC617-454B-7847-9CBC-BA4E706C3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85" y="1506155"/>
            <a:ext cx="3987800" cy="77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7B8597-3C6D-B645-B39A-9184BC00E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2200093"/>
            <a:ext cx="3886200" cy="321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61CAFA-B29D-5044-B81C-2564718CB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0" y="1506155"/>
            <a:ext cx="5003800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4BA2A9-7DB3-3C49-9F18-113FACD5E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342" y="4523103"/>
            <a:ext cx="5867400" cy="76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10B5B8-5D2D-1E47-BC73-E3CD81CF5821}"/>
              </a:ext>
            </a:extLst>
          </p:cNvPr>
          <p:cNvSpPr/>
          <p:nvPr/>
        </p:nvSpPr>
        <p:spPr>
          <a:xfrm>
            <a:off x="7598229" y="3156857"/>
            <a:ext cx="544285" cy="1959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3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Maximum likelihood estimation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/>
              <p:nvPr/>
            </p:nvSpPr>
            <p:spPr>
              <a:xfrm>
                <a:off x="914400" y="1872343"/>
                <a:ext cx="10583859" cy="4174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MLE must satisfy the following score equation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we view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as the fitted probability,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residual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contains 1, then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Score function is nonlinear, so there is no explicit formula for the MLE in general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872343"/>
                <a:ext cx="10583859" cy="4174989"/>
              </a:xfrm>
              <a:prstGeom prst="rect">
                <a:avLst/>
              </a:prstGeom>
              <a:blipFill>
                <a:blip r:embed="rId3"/>
                <a:stretch>
                  <a:fillRect l="-839" t="-1212" b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A1C81A5-E8B0-6744-8D55-7F110CFBF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0" y="2552700"/>
            <a:ext cx="5359400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C8134A-00E6-194E-AA36-64A81E265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278" y="4502873"/>
            <a:ext cx="5753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4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Maximum likelihood estimation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ED9A357-0694-8448-B7C6-48F64AEAAB57}"/>
              </a:ext>
            </a:extLst>
          </p:cNvPr>
          <p:cNvSpPr txBox="1"/>
          <p:nvPr/>
        </p:nvSpPr>
        <p:spPr>
          <a:xfrm>
            <a:off x="838200" y="1564342"/>
            <a:ext cx="10845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usually use Newton’s method to solve for it based on the linearization of the score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Matrix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Define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E0E67C-4280-894E-97E3-98611B004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077580"/>
            <a:ext cx="5753100" cy="73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691344-D135-0348-B5DC-10131314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350" y="2756570"/>
            <a:ext cx="4851400" cy="88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468249-1B4F-CF43-8E42-2B4A9B467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586" y="3622794"/>
            <a:ext cx="3187700" cy="1193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E07FD4-9F42-FA43-988E-B9F4F4089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900" y="4904084"/>
            <a:ext cx="73660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3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B9DC67-06F0-A94B-A32E-487CC345F90D}"/>
                  </a:ext>
                </a:extLst>
              </p:cNvPr>
              <p:cNvSpPr txBox="1"/>
              <p:nvPr/>
            </p:nvSpPr>
            <p:spPr>
              <a:xfrm>
                <a:off x="838200" y="2265522"/>
                <a:ext cx="10988040" cy="3798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Newton’s method simplifies to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p>
                  </m:oMath>
                </a14:m>
                <a:r>
                  <a:rPr lang="en-US" sz="2400" dirty="0"/>
                  <a:t> based on the WLS fit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with weights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400" dirty="0"/>
                  <a:t>, which are the  conditional 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𝑜𝑙𝑑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:r>
                  <a:rPr lang="en-US" sz="2400" i="1" dirty="0" err="1"/>
                  <a:t>glm</a:t>
                </a:r>
                <a:r>
                  <a:rPr lang="en-US" sz="2400" dirty="0"/>
                  <a:t> function in R uses the Fisher scoring algorithm, which is identical to Newton’s method for the logit model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B9DC67-06F0-A94B-A32E-487CC345F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5522"/>
                <a:ext cx="10988040" cy="3798732"/>
              </a:xfrm>
              <a:prstGeom prst="rect">
                <a:avLst/>
              </a:prstGeom>
              <a:blipFill>
                <a:blip r:embed="rId3"/>
                <a:stretch>
                  <a:fillRect l="-808" t="-1333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2B00F51-ED89-9445-B617-C1678BBEE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965" y="1647713"/>
            <a:ext cx="3162300" cy="685800"/>
          </a:xfrm>
          <a:prstGeom prst="rect">
            <a:avLst/>
          </a:prstGeom>
        </p:spPr>
      </p:pic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Iteratively reweighted least squares algorithm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448848-1E36-284C-8FF2-4D2AE609C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1" y="2709672"/>
            <a:ext cx="5740400" cy="1231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E36402-3ACF-7142-86C2-B258ACD26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647713"/>
            <a:ext cx="3136900" cy="68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11253B-D29A-404A-AE71-6043D17FDE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7513" y="3747064"/>
            <a:ext cx="3978725" cy="668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282227-60FD-AE45-801D-3A05FD69D8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9301" y="6184131"/>
            <a:ext cx="58039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6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/>
              <p:nvPr/>
            </p:nvSpPr>
            <p:spPr>
              <a:xfrm>
                <a:off x="838200" y="1690690"/>
                <a:ext cx="10876280" cy="4544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Based on the general theory of MLE,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dirty="0"/>
                  <a:t> is consistent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and is asymptotically Normal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Based on this, the </a:t>
                </a:r>
                <a:r>
                  <a:rPr lang="en-US" sz="2400" i="1" dirty="0" err="1"/>
                  <a:t>glm</a:t>
                </a:r>
                <a:r>
                  <a:rPr lang="en-US" sz="2400" dirty="0"/>
                  <a:t> function reports the point estimate, standard error, z-value, and p-value for each coordinate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Similar to the output of the </a:t>
                </a:r>
                <a:r>
                  <a:rPr lang="en-US" sz="2400" i="1" dirty="0" err="1"/>
                  <a:t>lm</a:t>
                </a:r>
                <a:r>
                  <a:rPr lang="en-US" sz="2400" dirty="0"/>
                  <a:t> function, except that the interpretation of the coefficient becomes the conditional log odds ratio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90"/>
                <a:ext cx="10876280" cy="4544321"/>
              </a:xfrm>
              <a:prstGeom prst="rect">
                <a:avLst/>
              </a:prstGeom>
              <a:blipFill>
                <a:blip r:embed="rId3"/>
                <a:stretch>
                  <a:fillRect l="-817" t="-556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CB5123E-E44F-7340-BAC1-83AB46BCB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786" y="2459736"/>
            <a:ext cx="5611528" cy="969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1068BB-55D7-7047-A954-0887BA951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3700" y="3459930"/>
            <a:ext cx="3949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6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79A1EDF-42F5-1942-998B-8E9F36ECA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885" y="1340583"/>
            <a:ext cx="7279821" cy="519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9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Inference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ED9A357-0694-8448-B7C6-48F64AEAAB57}"/>
              </a:ext>
            </a:extLst>
          </p:cNvPr>
          <p:cNvSpPr txBox="1"/>
          <p:nvPr/>
        </p:nvSpPr>
        <p:spPr>
          <a:xfrm>
            <a:off x="838200" y="1968439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A0BBFE-1495-7A47-A1DD-848C186599AC}"/>
                  </a:ext>
                </a:extLst>
              </p:cNvPr>
              <p:cNvSpPr txBox="1"/>
              <p:nvPr/>
            </p:nvSpPr>
            <p:spPr>
              <a:xfrm>
                <a:off x="914400" y="1850571"/>
                <a:ext cx="10698480" cy="4950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Null deviance: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𝑙𝑜𝑔𝐿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dirty="0"/>
                  <a:t> is the MLE assuming all coefficients are zero except the intercept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Residual deviance: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𝑙𝑜𝑔𝐿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Wilk’s theorem ensures that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Likelihood ratio test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AIC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𝑙𝑜𝑔𝐿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, where p is the number of parameters in the logit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A0BBFE-1495-7A47-A1DD-848C1865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850571"/>
                <a:ext cx="10698480" cy="4950201"/>
              </a:xfrm>
              <a:prstGeom prst="rect">
                <a:avLst/>
              </a:prstGeom>
              <a:blipFill>
                <a:blip r:embed="rId3"/>
                <a:stretch>
                  <a:fillRect l="-830" t="-256" r="-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F5EFB96-0A83-3B4F-9D7B-064F3C10F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580" y="3248343"/>
            <a:ext cx="5410200" cy="73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A9F45-85EE-B74C-9189-392486CE1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250" y="4733362"/>
            <a:ext cx="7988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0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Prediction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ED9A357-0694-8448-B7C6-48F64AEAAB57}"/>
              </a:ext>
            </a:extLst>
          </p:cNvPr>
          <p:cNvSpPr txBox="1"/>
          <p:nvPr/>
        </p:nvSpPr>
        <p:spPr>
          <a:xfrm>
            <a:off x="838200" y="1968439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3A4D61-B711-B24E-9978-9A23C022D7AA}"/>
                  </a:ext>
                </a:extLst>
              </p:cNvPr>
              <p:cNvSpPr txBox="1"/>
              <p:nvPr/>
            </p:nvSpPr>
            <p:spPr>
              <a:xfrm>
                <a:off x="903514" y="1807029"/>
                <a:ext cx="11147026" cy="43396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logit model is often used for classification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predict the probability of being one as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then dichotomize the fitted probability to predict the outcome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/>
                  <a:t>,</a:t>
                </a:r>
              </a:p>
              <a:p>
                <a:pPr lvl="1"/>
                <a:r>
                  <a:rPr lang="en-US" sz="2000" dirty="0"/>
                  <a:t>     for example,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b="0" dirty="0"/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dirty="0"/>
                  <a:t>We can quantify the uncertaint</a:t>
                </a:r>
                <a:r>
                  <a:rPr lang="en-US" sz="2400" dirty="0"/>
                  <a:t>y in the predicted probability based on the delta method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0" dirty="0"/>
              </a:p>
              <a:p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approximate the asymptotic variance of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400" b="0" dirty="0"/>
                  <a:t> </a:t>
                </a:r>
                <a:r>
                  <a:rPr lang="en-US" altLang="zh-CN" sz="2400" b="0" dirty="0"/>
                  <a:t>by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use the </a:t>
                </a:r>
                <a:r>
                  <a:rPr lang="en-US" sz="2400" i="1" dirty="0"/>
                  <a:t>predict</a:t>
                </a:r>
                <a:r>
                  <a:rPr lang="en-US" sz="2400" dirty="0"/>
                  <a:t> function to calculate the predicted values</a:t>
                </a:r>
                <a:endParaRPr lang="en-US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3A4D61-B711-B24E-9978-9A23C022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14" y="1807029"/>
                <a:ext cx="11147026" cy="4339650"/>
              </a:xfrm>
              <a:prstGeom prst="rect">
                <a:avLst/>
              </a:prstGeom>
              <a:blipFill>
                <a:blip r:embed="rId3"/>
                <a:stretch>
                  <a:fillRect l="-797" t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2266B79-4C2A-814A-8DD7-AEDB9F7A9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533" y="2221525"/>
            <a:ext cx="1905000" cy="30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7CBB6B-20B1-8A47-95A3-EED2F77AF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986" y="3806148"/>
            <a:ext cx="10223500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588376-9855-8242-9747-F34F2482A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4832283"/>
            <a:ext cx="5003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9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Prediction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ED9A357-0694-8448-B7C6-48F64AEAAB57}"/>
              </a:ext>
            </a:extLst>
          </p:cNvPr>
          <p:cNvSpPr txBox="1"/>
          <p:nvPr/>
        </p:nvSpPr>
        <p:spPr>
          <a:xfrm>
            <a:off x="838200" y="1968439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2EE75-94C8-D54B-A449-84033361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68439"/>
            <a:ext cx="8369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Average marginal effects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/>
              <p:nvPr/>
            </p:nvSpPr>
            <p:spPr>
              <a:xfrm>
                <a:off x="838200" y="1892239"/>
                <a:ext cx="10840212" cy="4450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Many practitioners find the coefficients in the logit model difficult to interpret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Another measure of the impact of the covariate on the outcome is the average marginal (partial) effect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a continuous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a binary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</a:t>
                </a:r>
                <a:r>
                  <a:rPr lang="en-US" sz="2000" i="1" dirty="0"/>
                  <a:t>margins</a:t>
                </a:r>
                <a:r>
                  <a:rPr lang="en-US" sz="2000" dirty="0"/>
                  <a:t> function in the </a:t>
                </a:r>
                <a:r>
                  <a:rPr lang="en-US" sz="2000" i="1" dirty="0"/>
                  <a:t>margins</a:t>
                </a:r>
                <a:r>
                  <a:rPr lang="en-US" sz="2000" dirty="0"/>
                  <a:t> package can compute average marginal effects and the </a:t>
                </a:r>
              </a:p>
              <a:p>
                <a:r>
                  <a:rPr lang="en-US" sz="2000" dirty="0"/>
                  <a:t>     corresponding standard errors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D9A357-0694-8448-B7C6-48F64AEAA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92239"/>
                <a:ext cx="10840212" cy="4450577"/>
              </a:xfrm>
              <a:prstGeom prst="rect">
                <a:avLst/>
              </a:prstGeom>
              <a:blipFill>
                <a:blip r:embed="rId3"/>
                <a:stretch>
                  <a:fillRect l="-468" t="-570" r="-234" b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03C77AF-699C-1045-B790-005F5EDB9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2997902"/>
            <a:ext cx="5511800" cy="73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A7570A-F311-4B4F-AAC9-61E2B4EE7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315" y="3734502"/>
            <a:ext cx="4379686" cy="808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4463B2-2CB3-1A48-AC4C-375E2738B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700" y="4796159"/>
            <a:ext cx="75946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0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Average partial effects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763D6C0-BD25-874A-A478-6405B696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82" y="2045788"/>
            <a:ext cx="10807265" cy="29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6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Does the link function matter?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8339E3-CE94-D04C-BEA4-3EFEB3DBD232}"/>
              </a:ext>
            </a:extLst>
          </p:cNvPr>
          <p:cNvSpPr txBox="1"/>
          <p:nvPr/>
        </p:nvSpPr>
        <p:spPr>
          <a:xfrm>
            <a:off x="936171" y="1981200"/>
            <a:ext cx="949971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Generate data from a logistic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Fit the data with the linear probability model and binary models with four link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Estimated coefficients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D16AB-9B2F-9541-B50F-48FF32B0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815" y="2369457"/>
            <a:ext cx="5054600" cy="101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D1F499-0364-3947-9C64-1ADFC69FE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479" y="4578605"/>
            <a:ext cx="50419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Does the link function matter?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A3261C4-A6AD-AF42-80FA-17402192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2" y="1508086"/>
            <a:ext cx="9673726" cy="44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8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Logit and </a:t>
            </a:r>
            <a:r>
              <a:rPr lang="en-US" altLang="zh-CN" sz="3200" b="1" dirty="0" err="1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probit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8339E3-CE94-D04C-BEA4-3EFEB3DBD232}"/>
              </a:ext>
            </a:extLst>
          </p:cNvPr>
          <p:cNvSpPr txBox="1"/>
          <p:nvPr/>
        </p:nvSpPr>
        <p:spPr>
          <a:xfrm>
            <a:off x="936171" y="1981200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19E83-A52D-3440-B9A4-73D48217B7F4}"/>
              </a:ext>
            </a:extLst>
          </p:cNvPr>
          <p:cNvSpPr txBox="1"/>
          <p:nvPr/>
        </p:nvSpPr>
        <p:spPr>
          <a:xfrm>
            <a:off x="979714" y="1861457"/>
            <a:ext cx="9379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coefficient from the logit model approximately equals those from the </a:t>
            </a:r>
            <a:r>
              <a:rPr lang="en-US" sz="2000" dirty="0" err="1"/>
              <a:t>probit</a:t>
            </a:r>
            <a:r>
              <a:rPr lang="en-US" sz="2000" dirty="0"/>
              <a:t> model</a:t>
            </a:r>
          </a:p>
          <a:p>
            <a:r>
              <a:rPr lang="en-US" sz="2000" dirty="0"/>
              <a:t>     multiplied by 1.7, a constant that minimizes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EB7D5-95F7-A544-A9E2-D39A8C53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757" y="2230089"/>
            <a:ext cx="2870200" cy="33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D782F2-79FD-644D-B592-0F83D6C9C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656" y="2689086"/>
            <a:ext cx="78994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5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Penalized logistic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8339E3-CE94-D04C-BEA4-3EFEB3DBD232}"/>
              </a:ext>
            </a:extLst>
          </p:cNvPr>
          <p:cNvSpPr txBox="1"/>
          <p:nvPr/>
        </p:nvSpPr>
        <p:spPr>
          <a:xfrm>
            <a:off x="936171" y="1981200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B19E83-A52D-3440-B9A4-73D48217B7F4}"/>
                  </a:ext>
                </a:extLst>
              </p:cNvPr>
              <p:cNvSpPr txBox="1"/>
              <p:nvPr/>
            </p:nvSpPr>
            <p:spPr>
              <a:xfrm>
                <a:off x="936171" y="1777887"/>
                <a:ext cx="1065638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objective function for the original logit model is the logit model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When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it gives the ridge analogue of the logistic regression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it gives the lasso analogue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/>
                  <a:t>, it gives the elastic net analogue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:r>
                  <a:rPr lang="en-US" sz="2400" dirty="0" err="1"/>
                  <a:t>glmpath</a:t>
                </a:r>
                <a:r>
                  <a:rPr lang="en-US" sz="2400" dirty="0"/>
                  <a:t> package uses the coordinate descent algorithm based on quadratic approximation</a:t>
                </a:r>
                <a:r>
                  <a:rPr lang="zh-CN" altLang="en-US" sz="2400" dirty="0"/>
                  <a:t> </a:t>
                </a:r>
                <a:r>
                  <a:rPr lang="en-US" sz="2400" dirty="0"/>
                  <a:t>of the log-likelihood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select the tuning parameter based on cross-validation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B19E83-A52D-3440-B9A4-73D48217B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777887"/>
                <a:ext cx="10656389" cy="4524315"/>
              </a:xfrm>
              <a:prstGeom prst="rect">
                <a:avLst/>
              </a:prstGeom>
              <a:blipFill>
                <a:blip r:embed="rId3"/>
                <a:stretch>
                  <a:fillRect l="-714" t="-1120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CA8CE9D-6B2B-3E4D-A3AE-8963BB7E4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765" y="2222702"/>
            <a:ext cx="5600700" cy="83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827555-FDE8-9042-AF2E-2BA9FD96E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193" y="2988826"/>
            <a:ext cx="67691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3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Case-control study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8339E3-CE94-D04C-BEA4-3EFEB3DBD232}"/>
              </a:ext>
            </a:extLst>
          </p:cNvPr>
          <p:cNvSpPr txBox="1"/>
          <p:nvPr/>
        </p:nvSpPr>
        <p:spPr>
          <a:xfrm>
            <a:off x="936171" y="1981200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B19E83-A52D-3440-B9A4-73D48217B7F4}"/>
                  </a:ext>
                </a:extLst>
              </p:cNvPr>
              <p:cNvSpPr txBox="1"/>
              <p:nvPr/>
            </p:nvSpPr>
            <p:spPr>
              <a:xfrm>
                <a:off x="936171" y="1777887"/>
                <a:ext cx="11062789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logit model works not only for the cohort study with data from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but also for the case-control study with data from conditional distribution 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lvl="1"/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We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only have the data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with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unknown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have 					        where</a:t>
                </a:r>
              </a:p>
              <a:p>
                <a:pPr lvl="1"/>
                <a:r>
                  <a:rPr lang="en-US" sz="2000" dirty="0"/>
                  <a:t>	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model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conditional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is still the logit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can estimate the slope, but not the intercept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B19E83-A52D-3440-B9A4-73D48217B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777887"/>
                <a:ext cx="11062789" cy="4893647"/>
              </a:xfrm>
              <a:prstGeom prst="rect">
                <a:avLst/>
              </a:prstGeom>
              <a:blipFill>
                <a:blip r:embed="rId3"/>
                <a:stretch>
                  <a:fillRect l="-688" t="-1036" b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A46CF6B-8B26-884F-8D48-F247628AA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1" y="2706624"/>
            <a:ext cx="6184900" cy="1193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A386E-B014-E54D-A37B-1215E5425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300" y="3791118"/>
            <a:ext cx="5448300" cy="74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CB4B12-EA0D-DB46-BC4D-CBDE21CE4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8796" y="5101346"/>
            <a:ext cx="4203700" cy="80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72086F-2A74-B845-B4A1-9D258AEC20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0" y="5373458"/>
            <a:ext cx="14732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8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Case-control study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8339E3-CE94-D04C-BEA4-3EFEB3DBD232}"/>
              </a:ext>
            </a:extLst>
          </p:cNvPr>
          <p:cNvSpPr txBox="1"/>
          <p:nvPr/>
        </p:nvSpPr>
        <p:spPr>
          <a:xfrm>
            <a:off x="936171" y="1981200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49A8C-4697-7144-852D-FAFAC0FD908F}"/>
              </a:ext>
            </a:extLst>
          </p:cNvPr>
          <p:cNvSpPr txBox="1"/>
          <p:nvPr/>
        </p:nvSpPr>
        <p:spPr>
          <a:xfrm>
            <a:off x="838200" y="1566778"/>
            <a:ext cx="309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Proof:          </a:t>
            </a:r>
            <a:r>
              <a:rPr lang="en-US" dirty="0"/>
              <a:t>By Bayes’ formula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B771E-5D68-BD46-89D5-0C75564A6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00" y="1972408"/>
            <a:ext cx="78613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B6085-C6AD-AE47-8516-A63D895AB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679" y="3148380"/>
            <a:ext cx="54991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0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Latent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8339E3-CE94-D04C-BEA4-3EFEB3DBD232}"/>
              </a:ext>
            </a:extLst>
          </p:cNvPr>
          <p:cNvSpPr txBox="1"/>
          <p:nvPr/>
        </p:nvSpPr>
        <p:spPr>
          <a:xfrm>
            <a:off x="936171" y="1981200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A66D5-B26F-7143-9FBB-874CC5DA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65" y="1720210"/>
            <a:ext cx="2832100" cy="43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F5271B-70A4-9C44-954D-77A0117D2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377" y="2190750"/>
            <a:ext cx="1701800" cy="44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0E69F8-7673-C74E-AC9B-C3C9CD9F9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177" y="2313623"/>
            <a:ext cx="6642100" cy="29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E53A0-FC24-2749-B4E4-E18A78CA4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3171" y="2728596"/>
            <a:ext cx="3962400" cy="1549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D61983-F92B-4E4E-A7A5-190D6813EA07}"/>
              </a:ext>
            </a:extLst>
          </p:cNvPr>
          <p:cNvSpPr txBox="1"/>
          <p:nvPr/>
        </p:nvSpPr>
        <p:spPr>
          <a:xfrm>
            <a:off x="1112580" y="4476691"/>
            <a:ext cx="103653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link function can be interpreted as the distribution function of the error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a powerful way to generate models for more complex data</a:t>
            </a:r>
          </a:p>
        </p:txBody>
      </p:sp>
    </p:spTree>
    <p:extLst>
      <p:ext uri="{BB962C8B-B14F-4D97-AF65-F5344CB8AC3E}">
        <p14:creationId xmlns:p14="http://schemas.microsoft.com/office/powerpoint/2010/main" val="411787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37680</TotalTime>
  <Words>1471</Words>
  <Application>Microsoft Office PowerPoint</Application>
  <PresentationFormat>宽屏</PresentationFormat>
  <Paragraphs>312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 Unicode MS</vt:lpstr>
      <vt:lpstr>微软雅黑</vt:lpstr>
      <vt:lpstr>微软雅黑</vt:lpstr>
      <vt:lpstr>Arial</vt:lpstr>
      <vt:lpstr>Calibri</vt:lpstr>
      <vt:lpstr>Cambria Math</vt:lpstr>
      <vt:lpstr>Times New Roman</vt:lpstr>
      <vt:lpstr>Office Theme</vt:lpstr>
      <vt:lpstr>Logistic regression for binary outcomes</vt:lpstr>
      <vt:lpstr>Binary outcome</vt:lpstr>
      <vt:lpstr>Binary outcome</vt:lpstr>
      <vt:lpstr>Link functions</vt:lpstr>
      <vt:lpstr>Link functions</vt:lpstr>
      <vt:lpstr>Link functions</vt:lpstr>
      <vt:lpstr>Logit model</vt:lpstr>
      <vt:lpstr>Risk ratio, odds, odds ratio</vt:lpstr>
      <vt:lpstr>Odds ratio</vt:lpstr>
      <vt:lpstr>Average marginal effect</vt:lpstr>
      <vt:lpstr>Interpretation</vt:lpstr>
      <vt:lpstr>Maximum likelihood estimation</vt:lpstr>
      <vt:lpstr>Maximum likelihood estimation</vt:lpstr>
      <vt:lpstr>Maximum likelihood estimation</vt:lpstr>
      <vt:lpstr>Maximum likelihood estimation</vt:lpstr>
      <vt:lpstr>Iteratively reweighted least squares algorithm</vt:lpstr>
      <vt:lpstr>Inference</vt:lpstr>
      <vt:lpstr>Inference</vt:lpstr>
      <vt:lpstr>Inference</vt:lpstr>
      <vt:lpstr>Prediction</vt:lpstr>
      <vt:lpstr>Prediction</vt:lpstr>
      <vt:lpstr>Average marginal effects</vt:lpstr>
      <vt:lpstr>Average partial effects</vt:lpstr>
      <vt:lpstr>Does the link function matter?</vt:lpstr>
      <vt:lpstr>Does the link function matter?</vt:lpstr>
      <vt:lpstr>Logit and probit </vt:lpstr>
      <vt:lpstr>Penalized logistic regression</vt:lpstr>
      <vt:lpstr>Case-control study</vt:lpstr>
      <vt:lpstr>Case-control study</vt:lpstr>
      <vt:lpstr>Latent linear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gl1der easy</cp:lastModifiedBy>
  <cp:revision>263</cp:revision>
  <dcterms:created xsi:type="dcterms:W3CDTF">2022-01-07T20:32:42Z</dcterms:created>
  <dcterms:modified xsi:type="dcterms:W3CDTF">2025-12-19T15:27:18Z</dcterms:modified>
</cp:coreProperties>
</file>