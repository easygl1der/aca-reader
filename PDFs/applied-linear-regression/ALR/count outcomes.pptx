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808" r:id="rId3"/>
    <p:sldId id="809" r:id="rId4"/>
    <p:sldId id="810" r:id="rId5"/>
    <p:sldId id="811" r:id="rId6"/>
    <p:sldId id="700" r:id="rId7"/>
    <p:sldId id="701" r:id="rId8"/>
    <p:sldId id="812" r:id="rId9"/>
    <p:sldId id="813" r:id="rId10"/>
    <p:sldId id="703" r:id="rId11"/>
    <p:sldId id="704" r:id="rId12"/>
    <p:sldId id="705" r:id="rId13"/>
    <p:sldId id="706" r:id="rId14"/>
    <p:sldId id="707" r:id="rId15"/>
    <p:sldId id="814" r:id="rId16"/>
    <p:sldId id="815" r:id="rId17"/>
    <p:sldId id="816" r:id="rId18"/>
    <p:sldId id="711" r:id="rId19"/>
    <p:sldId id="712" r:id="rId20"/>
    <p:sldId id="713" r:id="rId21"/>
    <p:sldId id="714" r:id="rId22"/>
    <p:sldId id="715" r:id="rId23"/>
    <p:sldId id="71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825"/>
    <a:srgbClr val="A0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58"/>
    <p:restoredTop sz="92329"/>
  </p:normalViewPr>
  <p:slideViewPr>
    <p:cSldViewPr snapToGrid="0" snapToObjects="1">
      <p:cViewPr varScale="1">
        <p:scale>
          <a:sx n="81" d="100"/>
          <a:sy n="81" d="100"/>
        </p:scale>
        <p:origin x="58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4D128-213F-6F4E-ABC7-E697D995B16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76FB-495F-DB45-B1C0-BAC6DBED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6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00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E5177-7DA1-5FD3-45FC-C5670025E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42D17-5FC6-67BC-938B-2D730F861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DE0A0-D542-2094-692A-E1CDABCC9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6EA3A-D324-4AF4-B4CA-759382CAE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41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0A319-70A7-FB3A-D1A6-F1AD75BD8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2F40D-68F8-5603-18D9-AD5F5E804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3CE18-BFCD-00A7-8C8B-66578586E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sum of IID Bernoulli random variables is approximately Poisson if the probability has order 1/n.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called the law of rare events or Poisson limit theorem or Le Cam’s theorem. 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D2DE1-BAE0-7596-5C50-E3A1AB720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78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8777F-352F-2528-817A-1CF8CD8D8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0AD570-9F21-9A19-DFD2-7A8F1E0D2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B2FF5-8455-5A84-53A7-BE50FF367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sum of IID Bernoulli random variables is approximately Poisson if the probability has order 1/n.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called the law of rare events or Poisson limit theorem or Le Cam’s theorem. 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5C3B1-D162-A9D9-780E-A3BBA6F0C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56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97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44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3FABD-99BA-974F-0D2D-A4A1145F7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4769C-01D5-47D9-90A1-72C7C2570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071AD-6EE4-7D76-75A2-CA02FEBD7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D72B4-A18C-B8BA-3D51-DF7E64840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58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FAD1F-9ABB-DB93-6A6A-E1E21E19D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3F397-CAC8-6C0D-BE5F-74E283DE0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6842FA-42DF-D56E-E07F-FC90F5BC5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DD478-F142-C2A0-8DB4-92F1E3449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05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08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04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78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68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37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C9594-6322-1F46-693C-3DF146664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678609-1FF6-D241-20BF-28633B89A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8C8A0-2E4E-48BD-A812-3A28E140E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4F2BD-28C5-0924-28B7-D546180F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71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AFFD9-5080-D395-C0D7-36C3039F8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C14107-04CB-6BA3-D6FA-E3D60EA16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D87E2A-AC68-F59F-4C41-C025D6322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9082C-76CE-C208-39D7-9A209CA6B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33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5A34A-4F89-FF33-558F-64F96302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86D70-AACC-0C53-6EE0-5B5D11EF9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11BBE-E0D0-94E7-8DFB-C8978367F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3B179-DFB0-B0EF-73E7-375CB144F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686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regressions give very similar patterns: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incentive_commit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both short-term and long-term effects, but incentive only has short-term effect.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03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327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29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649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340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16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C8A-1FB6-3041-A418-D61E2C3DA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7742-DAB1-C14E-A5BA-70F7F796B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F0F5-1172-4443-B1D2-5FA4A3CB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7974-E7D6-B34D-9439-F9FBE61E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B4C7-B3E7-2249-9AAE-D0EE3D2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B802-5C9D-5D40-9713-8F0AF3E9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7CEE-95B7-784A-8744-013528B7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651F-9F0D-CE47-A7C3-72ADEC6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990C-26CF-5340-9185-412EDD20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482D-EE59-6B44-B09D-54DF378E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DE8B-08E4-6746-B7C6-2D6F7D77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7A5-9526-B64C-B0B3-EC555F75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C4E4-A98D-7F4C-A038-86F2454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DB87-08F0-6645-91C0-90A36E9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DCD8-FACC-EF40-A476-D4C9F098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3A11-2C38-6345-9832-CD9E4234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6E1-8E61-EB4F-98F1-2A3FD59E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D906-8014-9840-917B-BB1BE8DA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7BADE-2CE5-5944-BEA5-62B1C3E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CA7E-B3F3-234F-8843-CF1B52B7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4860-30EA-0542-8960-CB71E62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8B9-4FB0-594D-A3C8-B920561F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FA0D-47CF-804B-ADFF-C1FBCED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A6630-46C1-304B-A31B-F683D3BB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0E5B-079D-3F45-BA01-C9AD653DD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4FE20-58B7-C04B-89A7-8A255F953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9B889-CD5B-FB44-BD7D-2E3DE55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87C38-F33E-E940-9D72-4F66251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D557-D134-064A-A446-E4906B1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0F00-4145-DC48-8A29-69BD407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F20B2-462E-F746-BEE4-DA5D2AE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A5F02-D3A0-BC45-924B-F537F68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F2EDE-B42D-1C45-90AC-640331E1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AF63A-2A34-9443-B3A1-F7AD555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C7C21-24A3-624B-A109-AFC30D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5E5C-B91F-6D4D-8F8C-60C86E7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C247-E86B-7E4B-85FF-22E97905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CF5-B7AC-6344-BEDE-C1DC558C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479-0A31-E74C-8CFF-F83A737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65952-1887-1242-A818-B48F8B40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7D4EC-6C26-3343-BE5B-4618E517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67B4-9192-2B4D-B6BA-824E8525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6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4F99-0279-E64B-A930-DD2DFE1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E41E-F499-FD45-AA09-8683F0D2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9A72-A800-F842-8071-88E5094D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FD681-5220-164D-B93A-853D489B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C564-BE03-8440-959E-1F518EC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54D9-1620-D64C-AF60-D151063F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499A-DD86-D24E-A290-0B13D2D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5DDCF-0EB5-0B42-9F19-70570301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2CFB8-64A2-6243-A467-76379B3B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5434-A072-D245-8271-A14B1A4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9DA-DDF0-C34D-8AFE-B5CAAEF3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15942-F520-8140-82C2-549925B91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F6AE-3D2E-074D-80D3-C0295DA0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591-4801-7644-BB66-3C5CEB6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8A03-9EC2-5942-8AF7-4EE129F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3ECD-47F7-6640-A418-41363373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98E4-3EF4-B940-93C1-1851E23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4DF2-BE2A-2040-9A6C-84673A48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B57D-0C15-8044-9772-0CEEEAA1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8502-F17E-DC4B-9F41-BAD476EB8CDC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F6CD-B256-804D-A913-74F1B54B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41D8-076E-4C4E-BD9C-F12DD0F4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8180ED6-2ACB-A649-8746-79EC7812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8380" y="1260489"/>
            <a:ext cx="8075240" cy="1710011"/>
          </a:xfrm>
          <a:prstGeom prst="roundRect">
            <a:avLst/>
          </a:prstGeom>
          <a:solidFill>
            <a:srgbClr val="005825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Regression</a:t>
            </a: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models for count outcomes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5B63C4A-E74D-EC4E-82DE-0EDC1FB3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7501"/>
            <a:ext cx="9144000" cy="1373086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蒋智超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秋   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62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"/>
    </mc:Choice>
    <mc:Fallback xmlns="">
      <p:transition spd="slow" advTm="25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Count outcomes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Variables taking values in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{0,1,2,…}</m:t>
                    </m:r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Examples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How many lectures you have missed in the course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Number of traffic accidents 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Main idea for modeling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Assume the outcome follows a distribution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Link the parameter of the distribution with covariates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blipFill>
                <a:blip r:embed="rId3"/>
                <a:stretch>
                  <a:fillRect l="-10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9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1539C-9599-84C4-83D6-09382C97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2383651E-3D70-2A7A-9E6D-27B8FF3AE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Random variables for count outcomes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F0451588-C236-78B7-6CDB-B3E67D2BE24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285750" indent="-285750"/>
                <a:r>
                  <a:rPr lang="en-US" altLang="zh-CN" sz="2400" dirty="0"/>
                  <a:t>Poisson random variable</a:t>
                </a: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800089" lvl="1" indent="-342900"/>
                <a:endParaRPr lang="en-US" sz="1600" dirty="0"/>
              </a:p>
              <a:p>
                <a:pPr marL="800089" lvl="1" indent="-342900"/>
                <a:r>
                  <a:rPr lang="en-US" sz="1600" dirty="0"/>
                  <a:t>If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𝑃𝑜𝑖𝑠𝑠𝑜𝑛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, then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n-US" sz="1600" dirty="0"/>
              </a:p>
              <a:p>
                <a:pPr marL="800089" lvl="1" indent="-342900"/>
                <a:r>
                  <a:rPr lang="en-US" sz="16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1600" dirty="0"/>
                  <a:t> are mutually independent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𝑃𝑜𝑖𝑠𝑠𝑜𝑛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lvl="2"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16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2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6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6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F0451588-C236-78B7-6CDB-B3E67D2BE2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blipFill>
                <a:blip r:embed="rId3"/>
                <a:stretch>
                  <a:fillRect l="-1075" t="-19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3C744B96-4440-FFDD-8C5A-17788891F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82D7F5C-6254-C4ED-52D8-D9412BCBB227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360566C-4348-B33C-865F-CD7144CA251D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5F2D87-0249-9D18-94F2-45F5DCE1E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606" y="2067699"/>
            <a:ext cx="7175500" cy="1181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3A6001-0BE4-75D1-3DC3-B911F71DD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9606" y="4574540"/>
            <a:ext cx="74295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2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4CAE2-28A6-E42E-7296-92DAFF080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0060C38-45A3-F281-973D-25DB1B19B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Poisson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8FF46A49-3F4F-9F36-D40A-AB117D5C46C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342900" indent="-342900"/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𝑃𝑜𝑖𝑠𝑠𝑜𝑛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𝑀𝑢𝑙𝑡𝑖𝑛𝑜𝑚𝑖𝑎𝑙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,(</m:t>
                        </m:r>
                        <m:f>
                          <m:f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</m:t>
                        </m:r>
                        <m:f>
                          <m:f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400" dirty="0"/>
                  <a:t>, then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2400" dirty="0"/>
                  <a:t> are mutually independent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𝑃𝑜𝑖𝑠𝑠𝑜𝑛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Law of rare events</a:t>
                </a: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8FF46A49-3F4F-9F36-D40A-AB117D5C4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blipFill>
                <a:blip r:embed="rId3"/>
                <a:stretch>
                  <a:fillRect l="-1075" t="-1907" r="-15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91D05237-E607-135B-4119-F6CA14DE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FE3583E-CF2E-A017-BB6D-385417B44CEC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15310DD-77BC-7692-157B-AD9ABB4CFE4F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868032-35B2-0C20-A09D-9B87A0CBA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795" y="3426779"/>
            <a:ext cx="7521122" cy="260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3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AF79A-3392-E270-1B8D-FF30A9896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BE97ED25-B21E-0B04-E662-CEE4DC479D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Negative-binomial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5D04F4DD-FB6F-DBD7-7214-B14C6DC450F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9742714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342900" indent="-342900"/>
                <a:r>
                  <a:rPr lang="en-US" altLang="zh-CN" sz="2400" dirty="0"/>
                  <a:t>The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Poisson distribution restricts that the mean must be the same as the variance</a:t>
                </a:r>
              </a:p>
              <a:p>
                <a:pPr marL="342900" indent="-342900"/>
                <a:r>
                  <a:rPr lang="en-US" sz="2400" dirty="0"/>
                  <a:t>Negative-Binomial  distribution,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𝑁𝐵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dirty="0"/>
                  <a:t>  the number of success before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 err="1"/>
                  <a:t>th</a:t>
                </a:r>
                <a:r>
                  <a:rPr lang="en-US" sz="2400" dirty="0"/>
                  <a:t> failure with IID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𝐵𝑒𝑟𝑛𝑜𝑢𝑙𝑙𝑖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trials</a:t>
                </a:r>
              </a:p>
              <a:p>
                <a:pPr marL="342900" indent="-342900"/>
                <a:endParaRPr lang="en-US" sz="2400" dirty="0"/>
              </a:p>
              <a:p>
                <a:pPr marL="342900" indent="-342900"/>
                <a:endParaRPr lang="en-US" sz="2400" dirty="0"/>
              </a:p>
              <a:p>
                <a:pPr marL="342900" indent="-342900"/>
                <a:r>
                  <a:rPr lang="en-US" sz="2400" dirty="0"/>
                  <a:t>An alternative and more general definition: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𝑁𝐵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with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, if</a:t>
                </a: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, then the two definitions coincide</a:t>
                </a: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5D04F4DD-FB6F-DBD7-7214-B14C6DC450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9742714" cy="4656139"/>
              </a:xfrm>
              <a:blipFill>
                <a:blip r:embed="rId3"/>
                <a:stretch>
                  <a:fillRect l="-911" t="-1907" b="-27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5CA921A5-8260-5331-BF7D-8DF9BD9D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2AC607E-45F4-D120-7C97-C7F8A888FB31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DFD028-FBC9-AE94-965A-F8D3539A794A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550712-8F2C-0128-4132-E4C505549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502" y="3096241"/>
            <a:ext cx="7087657" cy="779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9B3033-5348-ACDA-2FBE-A1D73F223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3580" y="4481153"/>
            <a:ext cx="28575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0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Negative-Binomial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0BAC90-EDB7-C847-BF19-0E30F595BE59}"/>
                  </a:ext>
                </a:extLst>
              </p:cNvPr>
              <p:cNvSpPr txBox="1"/>
              <p:nvPr/>
            </p:nvSpPr>
            <p:spPr>
              <a:xfrm>
                <a:off x="936171" y="1559275"/>
                <a:ext cx="102022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Negative binomial distribution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𝑁𝐵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has probability mass function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0BAC90-EDB7-C847-BF19-0E30F595B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1559275"/>
                <a:ext cx="10202216" cy="461665"/>
              </a:xfrm>
              <a:prstGeom prst="rect">
                <a:avLst/>
              </a:prstGeom>
              <a:blipFill>
                <a:blip r:embed="rId3"/>
                <a:stretch>
                  <a:fillRect l="-746" t="-7895" b="-263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D63BED0-6A8F-7D4E-97D7-FBD2F1792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50" y="1991823"/>
            <a:ext cx="66675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BBB35C-2E2D-454C-800D-1E4A05EE882E}"/>
              </a:ext>
            </a:extLst>
          </p:cNvPr>
          <p:cNvSpPr txBox="1"/>
          <p:nvPr/>
        </p:nvSpPr>
        <p:spPr>
          <a:xfrm>
            <a:off x="1505878" y="2836872"/>
            <a:ext cx="843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Proof: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9591F0-3C82-8C4D-B287-172F11E14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3664" y="2737460"/>
            <a:ext cx="4965700" cy="1955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49D0F7-38DC-774E-AA64-3C8055006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7692" y="5976288"/>
            <a:ext cx="6908800" cy="66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7831AC-11EE-1B47-A455-983B1533FD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450" y="4630088"/>
            <a:ext cx="77343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78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Negative-Binomial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6E6DA69-4E98-A34F-86FB-8B772581853B}"/>
              </a:ext>
            </a:extLst>
          </p:cNvPr>
          <p:cNvSpPr/>
          <p:nvPr/>
        </p:nvSpPr>
        <p:spPr>
          <a:xfrm flipH="1">
            <a:off x="5886995" y="3702451"/>
            <a:ext cx="45719" cy="158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2FA77-E0D3-0D49-8337-3DCC2F6F4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1" y="1428566"/>
            <a:ext cx="3886200" cy="63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C56BE2-67DF-DA4F-94AA-B8A3DB99C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951" y="2008652"/>
            <a:ext cx="4051300" cy="55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D262E1-FB28-3744-A052-099E3E2ABBC3}"/>
              </a:ext>
            </a:extLst>
          </p:cNvPr>
          <p:cNvSpPr txBox="1"/>
          <p:nvPr/>
        </p:nvSpPr>
        <p:spPr>
          <a:xfrm>
            <a:off x="1632857" y="2062655"/>
            <a:ext cx="843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Proof: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FBE937-5B5F-7648-8178-9372633C9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8935" y="2512538"/>
            <a:ext cx="7988300" cy="635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6E280B-5D34-584F-B158-1B6B53523B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5198" y="3359008"/>
            <a:ext cx="5899604" cy="336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A4A94-B21A-0972-ECE1-874599AF9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D9C2483-C275-8007-F445-58D5ACBB38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Zero-inflated count distributions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316C8E8A-51B0-DEDA-782C-741054B1EF4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985157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285750" indent="-285750"/>
                <a:r>
                  <a:rPr lang="en-US" sz="2400" dirty="0"/>
                  <a:t>Many count distributions have larger masses at zero compared to Poisson and Negative-Binomial</a:t>
                </a:r>
              </a:p>
              <a:p>
                <a:pPr marL="285750" indent="-285750"/>
                <a:r>
                  <a:rPr lang="en-US" sz="2400" dirty="0"/>
                  <a:t>A zero-inflated Poisson random variable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a mixture of two components: a point mass at zero and  a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𝑃𝑜𝑖𝑠𝑠𝑜𝑛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2400" dirty="0"/>
                  <a:t> random variable, with probabilities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, respectively</a:t>
                </a:r>
              </a:p>
              <a:p>
                <a:pPr marL="285750" indent="-285750"/>
                <a:endParaRPr lang="en-US" sz="2400" dirty="0"/>
              </a:p>
              <a:p>
                <a:pPr marL="285750" indent="-285750"/>
                <a:endParaRPr lang="en-US" sz="2400" dirty="0"/>
              </a:p>
              <a:p>
                <a:pPr marL="285750" indent="-285750"/>
                <a:endParaRPr lang="en-US" sz="2400" dirty="0"/>
              </a:p>
              <a:p>
                <a:pPr marL="285750" indent="-285750"/>
                <a:r>
                  <a:rPr lang="en-US" sz="2400" dirty="0"/>
                  <a:t>A zero-inflated Negative-Binomial random variable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400" dirty="0"/>
              </a:p>
              <a:p>
                <a:pPr marL="285750" indent="-285750"/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316C8E8A-51B0-DEDA-782C-741054B1EF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9851571" cy="4656139"/>
              </a:xfrm>
              <a:blipFill>
                <a:blip r:embed="rId3"/>
                <a:stretch>
                  <a:fillRect l="-902" t="-1907" r="-16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B36C081B-1A13-823A-4D8B-18C1F010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50BB1D0-C4B4-DB2D-10B1-907CAF5083A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405E3E8-CBA5-CB5B-6C11-AB80F95D8A85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BD068A-EA11-E931-5784-2C91F98AF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485" y="3315973"/>
            <a:ext cx="4851400" cy="825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9D4F3C-CCF0-B042-8AE6-92950835F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7900" y="4228626"/>
            <a:ext cx="4864100" cy="393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5169FD-9D00-6BB3-6FB6-441622997A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4800" y="5103179"/>
            <a:ext cx="6502400" cy="101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011C3B-B22E-C151-4216-3A5675F5BE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4500" y="6186353"/>
            <a:ext cx="53975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013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0D3A-7BF0-D53C-6361-4BDF0C32C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9BF78AB7-DBFB-3079-D55F-20CD65272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Regression models for count outcomes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5FCA779-33F3-8C18-81A8-7074E5220B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Poisson regression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Negative-binomial regression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Zero-inflated regressions</a:t>
            </a: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3AE93B37-6209-AD04-9EEA-181EAF22B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47C0344-A553-DAB4-6F70-EE5880203667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48A07AB-8F97-4942-B7CE-3B697FDC55BA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725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Poisson regression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2694919-3B52-FE4E-9F78-960CB94E1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228" y="1614490"/>
            <a:ext cx="2997200" cy="850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C3861B-FD27-8D4A-B26E-4D4F4F392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728" y="2605723"/>
            <a:ext cx="3378200" cy="457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FFD933-7EC5-A446-A6BC-9833D303152B}"/>
              </a:ext>
            </a:extLst>
          </p:cNvPr>
          <p:cNvSpPr txBox="1"/>
          <p:nvPr/>
        </p:nvSpPr>
        <p:spPr>
          <a:xfrm>
            <a:off x="1219200" y="3254829"/>
            <a:ext cx="84773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model is also called log-linear model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Interpretation: conditional log mean ratio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6AF6F6-18D3-C24D-B632-5E3D7C93A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100" y="3804354"/>
            <a:ext cx="2120900" cy="368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101D8A-F6E9-AF4D-A4BD-3664604EF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1228" y="5156326"/>
            <a:ext cx="3276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05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MLE for Poisson regression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A4A1CB8-6677-F04C-BD31-C6B097F71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120" y="1720513"/>
            <a:ext cx="3302000" cy="800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75E179-5D1D-3244-92AE-0377D8457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277" y="2529793"/>
            <a:ext cx="5626100" cy="723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0B2B68-66A0-4643-984A-49F419294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2" y="3201650"/>
            <a:ext cx="7810500" cy="812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0D81D0-4794-8041-9E85-5909DBBFDA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9364" y="3995001"/>
            <a:ext cx="5118100" cy="723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5F59C0-8735-2042-8420-089E3298B7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0814" y="4847715"/>
            <a:ext cx="47752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24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Newton’s method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ACA8178-638B-C344-94B2-AFD59B5E8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300" y="3936899"/>
            <a:ext cx="4965700" cy="1117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78F7AE-7FD3-BA47-AAB7-5DF4D87FF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0806" y="1410075"/>
            <a:ext cx="3216235" cy="10424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C334B3-80F8-3C4E-A269-1A5534D51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100" y="2668117"/>
            <a:ext cx="5880100" cy="1054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6B893B-B342-BE4F-8558-D35FDAEF8D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8148" y="5206625"/>
            <a:ext cx="3517900" cy="482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E9A3DE-9710-FE4A-A799-D279BF775A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7450" y="5793466"/>
            <a:ext cx="35814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2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Statistical inference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2D35EDA-7878-D94C-AB4A-ACD13C0CD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630" y="1918012"/>
            <a:ext cx="5613400" cy="977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7BA12F-B2D9-7D48-8088-34AB2564E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888" y="3155950"/>
            <a:ext cx="2565400" cy="546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B445A8-5F77-184D-B4C4-D05235E13C5B}"/>
                  </a:ext>
                </a:extLst>
              </p:cNvPr>
              <p:cNvSpPr txBox="1"/>
              <p:nvPr/>
            </p:nvSpPr>
            <p:spPr>
              <a:xfrm>
                <a:off x="1164771" y="3929743"/>
                <a:ext cx="10265229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After obtaining the MLE, we can predict the mean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by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 can also predict probability quantities involving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for example, we can predict                                and</a:t>
                </a:r>
              </a:p>
              <a:p>
                <a:r>
                  <a:rPr lang="en-US" sz="2400" dirty="0"/>
                  <a:t>     		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B445A8-5F77-184D-B4C4-D05235E13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771" y="3929743"/>
                <a:ext cx="10265229" cy="1877437"/>
              </a:xfrm>
              <a:prstGeom prst="rect">
                <a:avLst/>
              </a:prstGeom>
              <a:blipFill>
                <a:blip r:embed="rId5"/>
                <a:stretch>
                  <a:fillRect l="-864" t="-2685" r="-2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8CBC59E-6141-F742-8BF2-3EA20AD719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170" y="3951997"/>
            <a:ext cx="1071721" cy="4001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452224-4284-CC41-B8F6-C147C0EEB6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2417" y="5040294"/>
            <a:ext cx="2235200" cy="29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8D11E5-9939-BC47-9BF6-C5F7A5F343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6312" y="5029408"/>
            <a:ext cx="41402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6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Negative-Binomial regression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3245D6F-46DA-7C46-955D-C3CC89174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0" y="1690690"/>
            <a:ext cx="2311400" cy="800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0D9CE5-21C8-294C-9AC8-E461C1284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622" y="2636070"/>
            <a:ext cx="4991100" cy="520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B9D053-9EB4-9B47-8BD0-4A6A2D31E2B3}"/>
                  </a:ext>
                </a:extLst>
              </p:cNvPr>
              <p:cNvSpPr txBox="1"/>
              <p:nvPr/>
            </p:nvSpPr>
            <p:spPr>
              <a:xfrm>
                <a:off x="1045029" y="3526971"/>
                <a:ext cx="7607339" cy="4629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Log likelihood function: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/>
                  <a:t> with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B9D053-9EB4-9B47-8BD0-4A6A2D31E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3526971"/>
                <a:ext cx="7607339" cy="462947"/>
              </a:xfrm>
              <a:prstGeom prst="rect">
                <a:avLst/>
              </a:prstGeom>
              <a:blipFill>
                <a:blip r:embed="rId5"/>
                <a:stretch>
                  <a:fillRect l="-1167" t="-123684" r="-333" b="-18684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280080BF-872A-CD40-9F5D-9C9532CAEE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3622" y="4102150"/>
            <a:ext cx="5628948" cy="10469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844E4C-BB83-FF44-A75D-CB134F3AFD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0055" y="5228742"/>
            <a:ext cx="7656437" cy="46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2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ADDBF-06D3-63B8-B5AE-DCC73A440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F16FBB70-5544-451C-4251-6458E793C2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MLE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98011CF2-14E2-D231-3ED8-3441C8A6F978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10439400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285750" indent="-285750"/>
                <a:r>
                  <a:rPr lang="en-US" sz="2400" dirty="0"/>
                  <a:t>We can use Newton’s algorithm or Fisher scoring algorithm to compute the MLE</a:t>
                </a:r>
              </a:p>
              <a:p>
                <a:pPr marL="285750" indent="-285750"/>
                <a:endParaRPr lang="en-US" sz="2400" dirty="0"/>
              </a:p>
              <a:p>
                <a:pPr marL="285750" indent="-285750"/>
                <a:endParaRPr lang="en-US" sz="2400" dirty="0"/>
              </a:p>
              <a:p>
                <a:pPr marL="285750" indent="-285750"/>
                <a:r>
                  <a:rPr lang="en-US" sz="2400" dirty="0"/>
                  <a:t>Hessian matrix</a:t>
                </a:r>
              </a:p>
              <a:p>
                <a:pPr marL="285750" indent="-285750"/>
                <a:endParaRPr lang="en-US" sz="2400" dirty="0"/>
              </a:p>
              <a:p>
                <a:pPr marL="742939" lvl="1" indent="-285750"/>
                <a:r>
                  <a:rPr lang="en-US" sz="2000" dirty="0"/>
                  <a:t>Fisher information matrix is diagonal, so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2000" dirty="0"/>
                  <a:t> are asymptotically independent</a:t>
                </a:r>
              </a:p>
              <a:p>
                <a:pPr marL="800089" lvl="1" indent="-342900"/>
                <a:r>
                  <a:rPr lang="en-US" sz="2000" dirty="0"/>
                  <a:t>The </a:t>
                </a:r>
                <a:r>
                  <a:rPr lang="en-US" sz="2000" i="1" dirty="0" err="1"/>
                  <a:t>glm.nb</a:t>
                </a:r>
                <a:r>
                  <a:rPr lang="en-US" sz="2000" i="1" dirty="0"/>
                  <a:t> </a:t>
                </a:r>
                <a:r>
                  <a:rPr lang="en-US" sz="2000" dirty="0"/>
                  <a:t>in the </a:t>
                </a:r>
                <a:r>
                  <a:rPr lang="en-US" sz="2000" i="1" dirty="0"/>
                  <a:t>MASS</a:t>
                </a:r>
                <a:r>
                  <a:rPr lang="en-US" sz="2000" dirty="0"/>
                  <a:t> package iterate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: given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, update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 based on the Fisher scoring; given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, update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based on Newton’s algorithm. It reports standard errors based on the  inverse of the Fisher information matrix</a:t>
                </a:r>
              </a:p>
              <a:p>
                <a:pPr marL="742939" lvl="1" indent="-285750"/>
                <a:endParaRPr lang="en-US" sz="2000" dirty="0"/>
              </a:p>
              <a:p>
                <a:pPr marL="285750" indent="-285750"/>
                <a:endParaRPr lang="en-US" sz="24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98011CF2-14E2-D231-3ED8-3441C8A6F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10439400" cy="4656139"/>
              </a:xfrm>
              <a:blipFill>
                <a:blip r:embed="rId3"/>
                <a:stretch>
                  <a:fillRect l="-851" t="-19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8052F8F6-C939-E468-C5A0-9E14341BA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58B7B25-F2B3-3037-7257-962DCCB5CB8F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F9A42C-D99F-7577-B3D9-724A442532D4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80596A-9BD5-E7C2-7ABD-CC04FE414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4815" y="2009050"/>
            <a:ext cx="4343400" cy="711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47C16E-DD0B-2AC7-19E1-C08C2541A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1577" y="2720250"/>
            <a:ext cx="4127500" cy="749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ECFAB9-82FD-6713-6661-36C07B58D5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2169" y="2720250"/>
            <a:ext cx="28194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8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94D4-49EF-5C1F-FAB9-6AB0245F8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A29EF633-8D0F-40D5-6C0B-F901FFC1D4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Zero-inflated regressions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4480FC57-6576-9C27-279A-870F4C0AB6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10439400" cy="4656139"/>
          </a:xfrm>
          <a:ln>
            <a:noFill/>
          </a:ln>
        </p:spPr>
        <p:txBody>
          <a:bodyPr>
            <a:normAutofit/>
          </a:bodyPr>
          <a:lstStyle/>
          <a:p>
            <a:pPr marL="285750" indent="-285750"/>
            <a:r>
              <a:rPr lang="en-US" sz="2400" dirty="0"/>
              <a:t>Zero-inflated Poisson regression</a:t>
            </a:r>
          </a:p>
          <a:p>
            <a:pPr marL="285750" indent="-285750"/>
            <a:endParaRPr lang="en-US" sz="2400" dirty="0"/>
          </a:p>
          <a:p>
            <a:pPr marL="285750" indent="-285750"/>
            <a:endParaRPr lang="en-US" sz="2400" dirty="0"/>
          </a:p>
          <a:p>
            <a:pPr marL="285750" indent="-285750"/>
            <a:endParaRPr lang="en-US" sz="2400" dirty="0"/>
          </a:p>
          <a:p>
            <a:pPr marL="285750" indent="-285750"/>
            <a:r>
              <a:rPr lang="en-US" sz="2400" dirty="0"/>
              <a:t>Zero-inflated Negative-Binomial regression</a:t>
            </a:r>
          </a:p>
          <a:p>
            <a:pPr marL="285750" indent="-285750"/>
            <a:endParaRPr lang="en-US" sz="2400" dirty="0"/>
          </a:p>
          <a:p>
            <a:pPr marL="742939" lvl="1" indent="-285750"/>
            <a:endParaRPr lang="en-US" sz="2000" dirty="0"/>
          </a:p>
          <a:p>
            <a:pPr marL="285750" indent="-285750"/>
            <a:endParaRPr lang="en-US" sz="2400" dirty="0"/>
          </a:p>
          <a:p>
            <a:pPr marL="285750" indent="-285750"/>
            <a:r>
              <a:rPr lang="en-US" sz="2400" dirty="0"/>
              <a:t>The </a:t>
            </a:r>
            <a:r>
              <a:rPr lang="en-US" sz="2400" i="1" dirty="0" err="1"/>
              <a:t>zeroinfl</a:t>
            </a:r>
            <a:r>
              <a:rPr lang="en-US" sz="2400" dirty="0"/>
              <a:t> function in the</a:t>
            </a:r>
            <a:r>
              <a:rPr lang="en-US" sz="2400" i="1" dirty="0"/>
              <a:t> </a:t>
            </a:r>
            <a:r>
              <a:rPr lang="en-US" sz="2400" i="1" dirty="0" err="1"/>
              <a:t>pscl</a:t>
            </a:r>
            <a:r>
              <a:rPr lang="en-US" sz="2400" i="1" dirty="0"/>
              <a:t> </a:t>
            </a:r>
            <a:r>
              <a:rPr lang="en-US" sz="2400" dirty="0"/>
              <a:t>package can fit the zero-inflated Poisson and Negative-Binomial regressions</a:t>
            </a:r>
          </a:p>
          <a:p>
            <a:pPr marL="285750" indent="-285750"/>
            <a:endParaRPr lang="en-US" sz="2400" dirty="0"/>
          </a:p>
          <a:p>
            <a:pPr lvl="1">
              <a:lnSpc>
                <a:spcPct val="150000"/>
              </a:lnSpc>
              <a:buClr>
                <a:schemeClr val="tx1"/>
              </a:buClr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sz="2400" dirty="0"/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D292093A-67F8-3F97-FCE5-F9C8705CA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6DACF68-A0B3-0A5F-7582-F314C4A5FDA2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D6DBF77-E040-5826-1D87-2A64EB73162A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C4D55F-1228-85A4-9F96-DCB4820E1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044" y="1950245"/>
            <a:ext cx="4889500" cy="76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E61796-C3F5-DF9A-3870-0B3DFA4EE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892" y="2663183"/>
            <a:ext cx="2832100" cy="66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758BB-8A09-EF26-99D4-4CB0B790A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2044" y="3735393"/>
            <a:ext cx="4686300" cy="749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C59951-A592-DE10-FF39-345B00D0AB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5980" y="4421496"/>
            <a:ext cx="27305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9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EA00-CEDB-C17C-8593-22D82276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D6D86658-A2C5-9C25-713D-5401286366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 real data analysis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30E1AC5C-DC21-18D9-4CF8-099FC4D3EB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9013371" cy="4656139"/>
          </a:xfrm>
          <a:ln>
            <a:noFill/>
          </a:ln>
        </p:spPr>
        <p:txBody>
          <a:bodyPr>
            <a:normAutofit/>
          </a:bodyPr>
          <a:lstStyle/>
          <a:p>
            <a:pPr marL="342900" indent="-342900"/>
            <a:r>
              <a:rPr lang="en-US" sz="2400" dirty="0"/>
              <a:t>Dataset from Royer et al. (2015)</a:t>
            </a:r>
            <a:endParaRPr lang="en-US" sz="2000" dirty="0"/>
          </a:p>
          <a:p>
            <a:pPr marL="800100" lvl="1" indent="-342900"/>
            <a:r>
              <a:rPr lang="en-US" sz="2000" dirty="0"/>
              <a:t>Outcome: number of visits to the gym</a:t>
            </a:r>
          </a:p>
          <a:p>
            <a:pPr marL="800100" lvl="1" indent="-342900"/>
            <a:r>
              <a:rPr lang="en-US" sz="2000" dirty="0"/>
              <a:t>Treatment: </a:t>
            </a:r>
            <a:r>
              <a:rPr lang="en-US" sz="2000" i="1" dirty="0" err="1"/>
              <a:t>incentive_commit</a:t>
            </a:r>
            <a:r>
              <a:rPr lang="en-US" sz="2000" i="1" dirty="0"/>
              <a:t> </a:t>
            </a:r>
            <a:r>
              <a:rPr lang="en-US" sz="2000" dirty="0"/>
              <a:t>and</a:t>
            </a:r>
            <a:r>
              <a:rPr lang="en-US" sz="2000" i="1" dirty="0"/>
              <a:t> incentive</a:t>
            </a:r>
          </a:p>
          <a:p>
            <a:pPr marL="800100" lvl="1" indent="-342900"/>
            <a:r>
              <a:rPr lang="en-US" sz="2000" dirty="0"/>
              <a:t>Covariates: </a:t>
            </a:r>
            <a:r>
              <a:rPr lang="en-US" sz="2000" i="1" dirty="0"/>
              <a:t>target</a:t>
            </a:r>
            <a:r>
              <a:rPr lang="en-US" sz="2000" dirty="0"/>
              <a:t> and </a:t>
            </a:r>
            <a:r>
              <a:rPr lang="en-US" sz="2000" i="1" dirty="0" err="1"/>
              <a:t>member_gym_pre</a:t>
            </a:r>
            <a:endParaRPr lang="en-US" sz="2000" i="1" dirty="0"/>
          </a:p>
          <a:p>
            <a:pPr marL="800100" lvl="1" indent="-342900"/>
            <a:endParaRPr lang="en-US" sz="2000" i="1" dirty="0"/>
          </a:p>
          <a:p>
            <a:pPr marL="342900" indent="-342900"/>
            <a:r>
              <a:rPr lang="en-US" sz="2400" dirty="0"/>
              <a:t>Each worker was observed over time, so we run regressions with the data observed in each week</a:t>
            </a:r>
          </a:p>
          <a:p>
            <a:pPr marL="342900" indent="-342900"/>
            <a:endParaRPr lang="en-US" sz="2400" dirty="0"/>
          </a:p>
          <a:p>
            <a:pPr marL="342900" indent="-342900"/>
            <a:r>
              <a:rPr lang="en-US" sz="2400" dirty="0"/>
              <a:t>We compute the regression coefficients, standard errors, and AICs</a:t>
            </a:r>
          </a:p>
          <a:p>
            <a:pPr marL="342900" indent="-342900"/>
            <a:endParaRPr lang="en-US" sz="24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7D1F0B62-0A53-04CA-B925-F4E57556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38A88B6-5450-1542-D125-B00342D64BA7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CF7AC5-510C-D23D-5315-C7933D52B3B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41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Linear, Poisson, and Negative-Binomial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FB0F608-AD01-3C4E-BC94-423307DD6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228" y="1376682"/>
            <a:ext cx="6810829" cy="54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5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Overdispersion of the data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3A8224A-85DC-6047-AE53-6B82AA370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577" y="1401853"/>
            <a:ext cx="6362700" cy="3352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8B527-9CFE-B346-A5AC-435AEF981A2D}"/>
                  </a:ext>
                </a:extLst>
              </p:cNvPr>
              <p:cNvSpPr txBox="1"/>
              <p:nvPr/>
            </p:nvSpPr>
            <p:spPr>
              <a:xfrm>
                <a:off x="1548845" y="4916120"/>
                <a:ext cx="809016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Left panel shows the variance and means for outcomes from all weeks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Right panel shows the point estimates and confidence intervals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from </a:t>
                </a:r>
              </a:p>
              <a:p>
                <a:r>
                  <a:rPr lang="en-US" sz="2000" dirty="0"/>
                  <a:t>      Negative-Binomial regressions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Overdispersion is an important feature of the data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8B527-9CFE-B346-A5AC-435AEF981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845" y="4916120"/>
                <a:ext cx="8090163" cy="1323439"/>
              </a:xfrm>
              <a:prstGeom prst="rect">
                <a:avLst/>
              </a:prstGeom>
              <a:blipFill>
                <a:blip r:embed="rId4"/>
                <a:stretch>
                  <a:fillRect l="-470" t="-190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317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Zero-inflated regressions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F554C02-2EDB-E44C-B4B5-2B60548A9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285" y="1690690"/>
            <a:ext cx="6400800" cy="466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3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Zero-inflated regressions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91609E7-56C2-EF48-BBEC-8387A9DA1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08" y="1655900"/>
            <a:ext cx="9139680" cy="44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1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Zero-inflated regressions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D504E72-0D93-504A-BE5C-FBAF70CA9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90"/>
            <a:ext cx="9126626" cy="445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10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Zero-inflated regressions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76C88C-9795-BC41-AAB9-32B6FC222E32}"/>
                  </a:ext>
                </a:extLst>
              </p:cNvPr>
              <p:cNvSpPr txBox="1"/>
              <p:nvPr/>
            </p:nvSpPr>
            <p:spPr>
              <a:xfrm>
                <a:off x="913070" y="1490635"/>
                <a:ext cx="61328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from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the zero-inflated Negative-Binomial regression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76C88C-9795-BC41-AAB9-32B6FC222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70" y="1490635"/>
                <a:ext cx="6132897" cy="400110"/>
              </a:xfrm>
              <a:prstGeom prst="rect">
                <a:avLst/>
              </a:prstGeom>
              <a:blipFill>
                <a:blip r:embed="rId3"/>
                <a:stretch>
                  <a:fillRect l="-1035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F414A90-80CA-BF4A-B74E-52C18493B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322" y="2096320"/>
            <a:ext cx="7099300" cy="66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7AF81F-CE35-8C45-B7E3-268847399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4135" y="3089686"/>
            <a:ext cx="76835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2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28923</TotalTime>
  <Words>739</Words>
  <Application>Microsoft Office PowerPoint</Application>
  <PresentationFormat>宽屏</PresentationFormat>
  <Paragraphs>187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 Unicode MS</vt:lpstr>
      <vt:lpstr>微软雅黑</vt:lpstr>
      <vt:lpstr>微软雅黑</vt:lpstr>
      <vt:lpstr>Arial</vt:lpstr>
      <vt:lpstr>Calibri</vt:lpstr>
      <vt:lpstr>Cambria Math</vt:lpstr>
      <vt:lpstr>Times New Roman</vt:lpstr>
      <vt:lpstr>Wingdings</vt:lpstr>
      <vt:lpstr>Office Theme</vt:lpstr>
      <vt:lpstr>Regression models for count outcomes</vt:lpstr>
      <vt:lpstr>Count outcomes</vt:lpstr>
      <vt:lpstr>Random variables for count outcomes</vt:lpstr>
      <vt:lpstr>Poisson</vt:lpstr>
      <vt:lpstr>Negative-binomial</vt:lpstr>
      <vt:lpstr>Negative-Binomial</vt:lpstr>
      <vt:lpstr>Negative-Binomial</vt:lpstr>
      <vt:lpstr>Zero-inflated count distributions</vt:lpstr>
      <vt:lpstr>Regression models for count outcomes</vt:lpstr>
      <vt:lpstr>Poisson regression</vt:lpstr>
      <vt:lpstr>MLE for Poisson regression</vt:lpstr>
      <vt:lpstr>Newton’s method</vt:lpstr>
      <vt:lpstr>Statistical inference</vt:lpstr>
      <vt:lpstr>Negative-Binomial regression</vt:lpstr>
      <vt:lpstr>MLE</vt:lpstr>
      <vt:lpstr>Zero-inflated regressions</vt:lpstr>
      <vt:lpstr>A real data analysis</vt:lpstr>
      <vt:lpstr>Linear, Poisson, and Negative-Binomial</vt:lpstr>
      <vt:lpstr>Overdispersion of the data</vt:lpstr>
      <vt:lpstr>Zero-inflated regressions</vt:lpstr>
      <vt:lpstr>Zero-inflated regressions</vt:lpstr>
      <vt:lpstr>Zero-inflated regressions</vt:lpstr>
      <vt:lpstr>Zero-inflated regressions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求职汇报</dc:title>
  <dc:creator>Microsoft Office User</dc:creator>
  <cp:lastModifiedBy>gl1der easy</cp:lastModifiedBy>
  <cp:revision>218</cp:revision>
  <dcterms:created xsi:type="dcterms:W3CDTF">2022-01-07T20:32:42Z</dcterms:created>
  <dcterms:modified xsi:type="dcterms:W3CDTF">2025-12-01T10:14:46Z</dcterms:modified>
</cp:coreProperties>
</file>