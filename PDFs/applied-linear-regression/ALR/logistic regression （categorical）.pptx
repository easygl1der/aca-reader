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760" r:id="rId3"/>
    <p:sldId id="761" r:id="rId4"/>
    <p:sldId id="762" r:id="rId5"/>
    <p:sldId id="763" r:id="rId6"/>
    <p:sldId id="764" r:id="rId7"/>
    <p:sldId id="738" r:id="rId8"/>
    <p:sldId id="740" r:id="rId9"/>
    <p:sldId id="741" r:id="rId10"/>
    <p:sldId id="765" r:id="rId11"/>
    <p:sldId id="766" r:id="rId12"/>
    <p:sldId id="731" r:id="rId13"/>
    <p:sldId id="732" r:id="rId14"/>
    <p:sldId id="733" r:id="rId15"/>
    <p:sldId id="734" r:id="rId16"/>
    <p:sldId id="735" r:id="rId17"/>
    <p:sldId id="736" r:id="rId18"/>
    <p:sldId id="767" r:id="rId19"/>
    <p:sldId id="737" r:id="rId20"/>
    <p:sldId id="768" r:id="rId21"/>
    <p:sldId id="742" r:id="rId22"/>
    <p:sldId id="769" r:id="rId23"/>
    <p:sldId id="770" r:id="rId24"/>
    <p:sldId id="743" r:id="rId25"/>
    <p:sldId id="744" r:id="rId26"/>
    <p:sldId id="745" r:id="rId27"/>
    <p:sldId id="746" r:id="rId28"/>
    <p:sldId id="747" r:id="rId29"/>
    <p:sldId id="748" r:id="rId30"/>
    <p:sldId id="749" r:id="rId31"/>
    <p:sldId id="750" r:id="rId32"/>
    <p:sldId id="75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3"/>
    <p:restoredTop sz="92367"/>
  </p:normalViewPr>
  <p:slideViewPr>
    <p:cSldViewPr snapToGrid="0" snapToObjects="1">
      <p:cViewPr varScale="1">
        <p:scale>
          <a:sx n="192" d="100"/>
          <a:sy n="192" d="100"/>
        </p:scale>
        <p:origin x="1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71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1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06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56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0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69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0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62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87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04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05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6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69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sign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xi^t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negative due to the latent variable representation. Some textbooks and software packages use a positive sign, but the function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package MASS of R uses a negative sign.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1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04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69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13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820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66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and catch denote the price and catching rates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749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6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30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13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48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1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image" Target="../media/image18.pn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52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image" Target="../media/image18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53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Logistic regression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categorical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outcomes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Categorical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98A42-F125-B9C8-9D3A-503EDD6BE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568000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Binary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Nominal: unordered categories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Marital status: single/married/divorced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Sector: service/agricultural/industrial 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Ordinal: ordered categories but non-uniform interval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Service responses: strongly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argree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/agree/neutral/disagree/strongly disagree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Income: low/medium/high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714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Multinomial distribution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Multinomial distribution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takes values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{1,…,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000" dirty="0"/>
                  <a:t>with probabilities pr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742939" lvl="1" indent="-285750"/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=1) ,…,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−1))</m:t>
                    </m:r>
                  </m:oMath>
                </a14:m>
                <a:r>
                  <a:rPr lang="en-US" altLang="zh-CN" sz="2000" dirty="0"/>
                  <a:t> has 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000" dirty="0"/>
                  <a:t>) and covariance matrix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  </a:t>
                </a: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blipFill>
                <a:blip r:embed="rId3"/>
                <a:stretch>
                  <a:fillRect l="-1037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6D66852-94FE-8A78-3C06-A7885F800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363" y="1868670"/>
            <a:ext cx="5080000" cy="81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7E0DC2-A295-DE28-ECF8-F9F745AD8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600" y="3973989"/>
            <a:ext cx="6014441" cy="160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6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Multinomial distribution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want to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based on covariates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will discuss canonical choices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nominal and ordinal outcomes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blipFill>
                <a:blip r:embed="rId3"/>
                <a:stretch>
                  <a:fillRect l="-1037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544E3F7-F953-683B-C983-F64212CF6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00" y="2083208"/>
            <a:ext cx="7607300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CD4189-3B05-19E3-7710-95279CB06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322" y="2965609"/>
            <a:ext cx="55372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9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Multinomial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logistic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for nominal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/>
                <a:r>
                  <a:rPr lang="en-US" altLang="zh-CN" sz="2400" dirty="0"/>
                  <a:t>View category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/>
                  <a:t> as the reference level, we model the ratios of the probabilities of category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285750" indent="-285750"/>
                <a:r>
                  <a:rPr lang="en-US" sz="2400" dirty="0"/>
                  <a:t>Due to the normalization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F98A42-F125-B9C8-9D3A-503EDD6BE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568000" cy="4656139"/>
              </a:xfrm>
              <a:blipFill>
                <a:blip r:embed="rId3"/>
                <a:stretch>
                  <a:fillRect l="-1037" t="-1907" r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A3B64B4-10A9-E9BF-BE52-B766ED8C9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886" y="2340608"/>
            <a:ext cx="43434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86CE6-14A5-FA39-B5DE-389F32910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886" y="2969438"/>
            <a:ext cx="24130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E219B-3245-2D37-1FA7-66F137F3C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2886" y="4176667"/>
            <a:ext cx="73914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1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Multinomial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logistic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model for nominal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98A42-F125-B9C8-9D3A-503EDD6BE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568000" cy="4656139"/>
          </a:xfrm>
          <a:ln>
            <a:noFill/>
          </a:ln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Interpretation: Conditional odds ratio compared to the reference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881BA-D250-36E3-80E0-163267CD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78" y="1633039"/>
            <a:ext cx="56515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45667F-3AD7-118D-3CF1-B7C8A912F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500" y="2647406"/>
            <a:ext cx="1993900" cy="36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F681B-BC43-7863-5013-53A20EAF1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950" y="2666456"/>
            <a:ext cx="80010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AD4945-43FB-6B39-BC40-50E68CAF6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9600" y="4130040"/>
            <a:ext cx="5486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1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case study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A454B-4339-1143-897D-265F58ED31D8}"/>
              </a:ext>
            </a:extLst>
          </p:cNvPr>
          <p:cNvSpPr txBox="1"/>
          <p:nvPr/>
        </p:nvSpPr>
        <p:spPr>
          <a:xfrm>
            <a:off x="925286" y="2035629"/>
            <a:ext cx="885050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small observational dataset from the Karolinska Institute in Stockholm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Question of interest: whether it is better for cardia cancer patients to be treated in </a:t>
            </a:r>
          </a:p>
          <a:p>
            <a:r>
              <a:rPr lang="en-US" sz="2000" dirty="0"/>
              <a:t>     high or small volume hospital, where volume is defined as the number of patients</a:t>
            </a:r>
          </a:p>
          <a:p>
            <a:r>
              <a:rPr lang="en-US" sz="2000" dirty="0"/>
              <a:t>     with cardia cancer treated in recent years</a:t>
            </a:r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Hightreat</a:t>
            </a:r>
            <a:r>
              <a:rPr lang="en-US" sz="2000" dirty="0"/>
              <a:t>: whether a patient is treated at a high volume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Age, rural, male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Survival: years of survival after diagnosis with </a:t>
            </a:r>
            <a:r>
              <a:rPr lang="en-US" sz="2000"/>
              <a:t>three categories </a:t>
            </a:r>
            <a:r>
              <a:rPr lang="en-US" sz="2000" dirty="0"/>
              <a:t>(1,2-4,5+)</a:t>
            </a:r>
          </a:p>
        </p:txBody>
      </p:sp>
    </p:spTree>
    <p:extLst>
      <p:ext uri="{BB962C8B-B14F-4D97-AF65-F5344CB8AC3E}">
        <p14:creationId xmlns:p14="http://schemas.microsoft.com/office/powerpoint/2010/main" val="331824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Binary logistic regression for the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9E152E-2A53-BC48-9BC5-C1503420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54" y="1312548"/>
            <a:ext cx="8994322" cy="52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2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Multinomial logistic regression for the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AF478-2EE9-B44D-B3CE-BE7612DD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0" y="1356782"/>
            <a:ext cx="8505371" cy="533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7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6E7448-3052-D33E-DA5E-9F9C8F0F815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2A079DA0-60A3-8AF3-685F-205C935EAA9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5DFDF6E-428A-14AC-654D-00D11B5FFD0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08030AC-AE60-C234-1C2F-5D47A223065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C0A4E099-ADB9-3C25-D4F2-EAB3008FA09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4748E78-E383-8F1B-E560-63D31354A64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For the coefficient of </a:t>
            </a:r>
            <a:r>
              <a:rPr lang="en-US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hightreat</a:t>
            </a:r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for the category 5+, which of the following interpretations are correct?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80FA77-D6A5-F3F4-050F-640A5BB2EFD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High-threat patients have a 1.6277 higher probability of surviving 5+ years.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F3FB8-F617-BCEC-07F9-16EE2A51624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probability of 5+ year survival increases by 1.6277 when a tumor is high-threat rather than low-threat.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C8D0B9-9C35-B32F-2B06-7E34928CD5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coefficient shows that high-threat tumors significantly decrease the likelihood of short-term survival (0–1 years)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974B4-0459-CBAD-0CAF-637D9AC941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399" y="5357813"/>
            <a:ext cx="934278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 High-treat individuals are more likely to survive 5+ years than 0–1 years, with odds increased by a factor of exp(1.6277) compared to low-threat individuals.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13BA6-1132-DD09-22EE-1F0A8DCA37D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30F4F2-2CE7-E22F-A561-1A07DF90716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A4B63-51A0-2482-8EAA-C0F6C01AA41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8D0F7-63BB-56B8-734D-C5F9B7A5A76A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0CC9BD5-B590-9CDA-0A52-2C2B52D3054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764D22-3B1D-C51B-1823-E33A5B3FCB2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11218" y="2086916"/>
            <a:ext cx="4592844" cy="798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710B2C-F649-E59B-9AC6-FB384A3CD17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390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98A42-F125-B9C8-9D3A-503EDD6BE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568000" cy="4656139"/>
          </a:xfrm>
          <a:ln>
            <a:noFill/>
          </a:ln>
        </p:spPr>
        <p:txBody>
          <a:bodyPr>
            <a:normAutofit/>
          </a:bodyPr>
          <a:lstStyle/>
          <a:p>
            <a:pPr marL="285750" indent="-285750"/>
            <a:r>
              <a:rPr lang="en-US" altLang="zh-CN" sz="2400" dirty="0"/>
              <a:t>Likelihood function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Log likelihood 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CBF4E6-C2F6-BC31-0415-1D43F93A4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310" y="1790172"/>
            <a:ext cx="3994550" cy="2114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78E735-E11B-CCC5-3FF3-A7664A590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960" y="4712723"/>
            <a:ext cx="5142640" cy="86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6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94676B-E820-AA40-B04E-D92EFF589392}"/>
                  </a:ext>
                </a:extLst>
              </p:cNvPr>
              <p:cNvSpPr txBox="1"/>
              <p:nvPr/>
            </p:nvSpPr>
            <p:spPr>
              <a:xfrm>
                <a:off x="906236" y="1488893"/>
                <a:ext cx="10511339" cy="4708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Score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verify that the Hessian matrix is negative semi-definite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function </a:t>
                </a:r>
                <a:r>
                  <a:rPr lang="en-US" sz="2000" i="1" dirty="0" err="1"/>
                  <a:t>multinom</a:t>
                </a:r>
                <a:r>
                  <a:rPr lang="en-US" sz="2000" dirty="0"/>
                  <a:t> in the </a:t>
                </a:r>
                <a:r>
                  <a:rPr lang="en-US" sz="2000" i="1" dirty="0" err="1"/>
                  <a:t>nnet</a:t>
                </a:r>
                <a:r>
                  <a:rPr lang="en-US" sz="2000" dirty="0"/>
                  <a:t> package uses Newton’s method to fit the multinomial</a:t>
                </a:r>
              </a:p>
              <a:p>
                <a:r>
                  <a:rPr lang="en-US" sz="2000" dirty="0"/>
                  <a:t>     logistic model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a new observation with covariate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we can make prediction based on the fitted probabilities</a:t>
                </a:r>
              </a:p>
              <a:p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and further classify it into the K categories based on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94676B-E820-AA40-B04E-D92EFF589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36" y="1488893"/>
                <a:ext cx="10511339" cy="4708981"/>
              </a:xfrm>
              <a:prstGeom prst="rect">
                <a:avLst/>
              </a:prstGeom>
              <a:blipFill>
                <a:blip r:embed="rId3"/>
                <a:stretch>
                  <a:fillRect l="-362" t="-538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FAAA80D-D7D8-BC47-B860-6E9B960B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843" y="1392056"/>
            <a:ext cx="3233443" cy="1223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EE51D7-E61F-A94B-BD69-2C6838E82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158" y="2578441"/>
            <a:ext cx="5796642" cy="202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CB8498-D68C-AC43-B179-9698FB186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378" y="5770927"/>
            <a:ext cx="25781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D6F25F-1AD1-CE49-9452-BD27421DA11C}"/>
                  </a:ext>
                </a:extLst>
              </p:cNvPr>
              <p:cNvSpPr txBox="1"/>
              <p:nvPr/>
            </p:nvSpPr>
            <p:spPr>
              <a:xfrm>
                <a:off x="1113656" y="1607475"/>
                <a:ext cx="9845892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Assume	</a:t>
                </a:r>
                <a:r>
                  <a:rPr lang="en-US" sz="2000" dirty="0"/>
                  <a:t>		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𝑖𝐾</m:t>
                        </m:r>
                      </m:sub>
                    </m:sSub>
                  </m:oMath>
                </a14:m>
                <a:r>
                  <a:rPr lang="en-US" sz="2000" dirty="0"/>
                  <a:t> are IID standard Gumbel random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Gumbel distribution has CDF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⁡(−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density f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⁡(−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Using the language of economics,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are the utilities associated with the choices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(1,…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Unit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chooses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has the highest utility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This model implies the multinomial logistic model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, this gives another representation for the binary logistic regression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D6F25F-1AD1-CE49-9452-BD27421DA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56" y="1607475"/>
                <a:ext cx="9845892" cy="4278094"/>
              </a:xfrm>
              <a:prstGeom prst="rect">
                <a:avLst/>
              </a:prstGeom>
              <a:blipFill>
                <a:blip r:embed="rId3"/>
                <a:stretch>
                  <a:fillRect l="-772" t="-1183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latent variable representation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7B2F07-6409-304A-A3BA-83F50ECBB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120" y="1325565"/>
            <a:ext cx="25908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9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latent variable representation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8D21D0-B158-3C41-B60F-2486F591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092" y="1399223"/>
            <a:ext cx="2019300" cy="1206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BEB5F2-D48F-4549-944F-D7A7F0564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221" y="1900556"/>
            <a:ext cx="1993900" cy="495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F20AA-EAE0-9445-81DD-5BA800456260}"/>
              </a:ext>
            </a:extLst>
          </p:cNvPr>
          <p:cNvSpPr txBox="1"/>
          <p:nvPr/>
        </p:nvSpPr>
        <p:spPr>
          <a:xfrm>
            <a:off x="1001486" y="1850571"/>
            <a:ext cx="77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95C6D8-A8C1-BE49-B06A-9ABE20DB1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150" y="2749550"/>
            <a:ext cx="7505700" cy="1358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FEF70F-C865-3449-A43B-54AF406CE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6972" y="4090759"/>
            <a:ext cx="6070600" cy="22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3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latent variable representation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63EE46-9F55-B94C-A58F-2A92BB3A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165" y="1690690"/>
            <a:ext cx="8191500" cy="2324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F4547D-CD5B-A541-BA6A-222043C1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749" y="4420420"/>
            <a:ext cx="63373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9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 odds model for ordinal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64104-8938-C34A-B264-7012C85F73B2}"/>
              </a:ext>
            </a:extLst>
          </p:cNvPr>
          <p:cNvSpPr txBox="1"/>
          <p:nvPr/>
        </p:nvSpPr>
        <p:spPr>
          <a:xfrm>
            <a:off x="838200" y="1492125"/>
            <a:ext cx="1032013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ordinal outcomes, we can still use the multinomial logistic model, but by doing this,</a:t>
            </a:r>
            <a:r>
              <a:rPr lang="zh-CN" altLang="en-US" sz="2400" dirty="0"/>
              <a:t> </a:t>
            </a:r>
            <a:r>
              <a:rPr lang="en-US" sz="2400" dirty="0"/>
              <a:t>we discard the ordering information in the outcome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We assume that the ordinal outcome arises from discretizing a continuous latent 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4F805-F192-4B43-A1B3-461D50690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695" y="3563419"/>
            <a:ext cx="4808572" cy="292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 odds model for ordinal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0295D5-A82A-B741-B892-322BB0FB5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381" y="1510788"/>
            <a:ext cx="41783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5A4833-C0C4-0042-A410-26ECEE15E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365" y="2099728"/>
            <a:ext cx="4686300" cy="40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B8F67D-083B-824E-A6C5-2920F8242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1309" y="2586322"/>
            <a:ext cx="4406900" cy="406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BA4C5FD-E7D1-7E46-8D0E-F262ECE6CC54}"/>
                  </a:ext>
                </a:extLst>
              </p:cNvPr>
              <p:cNvSpPr/>
              <p:nvPr/>
            </p:nvSpPr>
            <p:spPr>
              <a:xfrm>
                <a:off x="1196190" y="3248395"/>
                <a:ext cx="7441461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Parameters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distribution function g() is known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Proportional odds logistic model: g() is the logistic distribution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Proportional odds </a:t>
                </a:r>
                <a:r>
                  <a:rPr lang="en-US" sz="2000" dirty="0" err="1"/>
                  <a:t>Probit</a:t>
                </a:r>
                <a:r>
                  <a:rPr lang="en-US" sz="2000" dirty="0"/>
                  <a:t> model: g() is the Normal distribution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BA4C5FD-E7D1-7E46-8D0E-F262ECE6C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190" y="3248395"/>
                <a:ext cx="7441461" cy="1754326"/>
              </a:xfrm>
              <a:prstGeom prst="rect">
                <a:avLst/>
              </a:prstGeom>
              <a:blipFill>
                <a:blip r:embed="rId6"/>
                <a:stretch>
                  <a:fillRect l="-1193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8163893-74C9-C64A-8CE8-E605C6E58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781" y="4791673"/>
            <a:ext cx="42799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4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 odds logistic/</a:t>
            </a:r>
            <a:r>
              <a:rPr lang="en-US" altLang="zh-CN" sz="3200" b="1" dirty="0" err="1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Probit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386E4C-C81D-75E7-1A34-82AD4B664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570274"/>
            <a:ext cx="4810165" cy="37025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CAAE6B-15C3-EF89-CF54-76E2CEC8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570274"/>
            <a:ext cx="4810165" cy="369351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974C1F-0815-55EC-E376-E8853F6225BB}"/>
              </a:ext>
            </a:extLst>
          </p:cNvPr>
          <p:cNvSpPr txBox="1"/>
          <p:nvPr/>
        </p:nvSpPr>
        <p:spPr>
          <a:xfrm>
            <a:off x="2946400" y="2170164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Calibri" panose="020F0502020204030204" pitchFamily="34" charset="0"/>
                <a:cs typeface="Calibri" panose="020F0502020204030204" pitchFamily="34" charset="0"/>
              </a:rPr>
              <a:t>logistic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C8D99B-F75F-DF30-2AE2-AB52A14C67FE}"/>
              </a:ext>
            </a:extLst>
          </p:cNvPr>
          <p:cNvSpPr txBox="1"/>
          <p:nvPr/>
        </p:nvSpPr>
        <p:spPr>
          <a:xfrm>
            <a:off x="8064500" y="2169051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CN" sz="2000">
                <a:latin typeface="Calibri" panose="020F0502020204030204" pitchFamily="34" charset="0"/>
                <a:cs typeface="Calibri" panose="020F0502020204030204" pitchFamily="34" charset="0"/>
              </a:rPr>
              <a:t>robit</a:t>
            </a:r>
            <a:endParaRPr lang="en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FF4028-8727-6955-6D63-8624AAF3B242}"/>
                  </a:ext>
                </a:extLst>
              </p:cNvPr>
              <p:cNvSpPr txBox="1"/>
              <p:nvPr/>
            </p:nvSpPr>
            <p:spPr>
              <a:xfrm>
                <a:off x="3079750" y="4800600"/>
                <a:ext cx="163830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FF4028-8727-6955-6D63-8624AAF3B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0" y="4800600"/>
                <a:ext cx="1638300" cy="384464"/>
              </a:xfrm>
              <a:prstGeom prst="rect">
                <a:avLst/>
              </a:prstGeom>
              <a:blipFill>
                <a:blip r:embed="rId5"/>
                <a:stretch>
                  <a:fillRect r="-769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9ED288-319A-1804-01FC-B72DD9C96D0E}"/>
                  </a:ext>
                </a:extLst>
              </p:cNvPr>
              <p:cNvSpPr txBox="1"/>
              <p:nvPr/>
            </p:nvSpPr>
            <p:spPr>
              <a:xfrm>
                <a:off x="1862941" y="3882668"/>
                <a:ext cx="163830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9ED288-319A-1804-01FC-B72DD9C96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941" y="3882668"/>
                <a:ext cx="1638300" cy="384464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13B3B6-1211-BEE0-0CDB-26436F82505E}"/>
                  </a:ext>
                </a:extLst>
              </p:cNvPr>
              <p:cNvSpPr txBox="1"/>
              <p:nvPr/>
            </p:nvSpPr>
            <p:spPr>
              <a:xfrm>
                <a:off x="8289246" y="4800600"/>
                <a:ext cx="163830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13B3B6-1211-BEE0-0CDB-26436F825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246" y="4800600"/>
                <a:ext cx="1638300" cy="384464"/>
              </a:xfrm>
              <a:prstGeom prst="rect">
                <a:avLst/>
              </a:prstGeom>
              <a:blipFill>
                <a:blip r:embed="rId7"/>
                <a:stretch>
                  <a:fillRect r="-769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6CCD75-11D7-EF13-FB4C-6AC89578679C}"/>
                  </a:ext>
                </a:extLst>
              </p:cNvPr>
              <p:cNvSpPr txBox="1"/>
              <p:nvPr/>
            </p:nvSpPr>
            <p:spPr>
              <a:xfrm>
                <a:off x="8690759" y="3882668"/>
                <a:ext cx="1638300" cy="38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6CCD75-11D7-EF13-FB4C-6AC895786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759" y="3882668"/>
                <a:ext cx="1638300" cy="384464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63CC79-27CD-DB1D-E234-8EACB2C2BD46}"/>
              </a:ext>
            </a:extLst>
          </p:cNvPr>
          <p:cNvCxnSpPr>
            <a:cxnSpLocks/>
          </p:cNvCxnSpPr>
          <p:nvPr/>
        </p:nvCxnSpPr>
        <p:spPr>
          <a:xfrm>
            <a:off x="3211532" y="4749800"/>
            <a:ext cx="0" cy="298966"/>
          </a:xfrm>
          <a:prstGeom prst="line">
            <a:avLst/>
          </a:prstGeom>
          <a:ln w="349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7945358-3765-ED6C-21F4-0E45534FF892}"/>
              </a:ext>
            </a:extLst>
          </p:cNvPr>
          <p:cNvCxnSpPr>
            <a:cxnSpLocks/>
          </p:cNvCxnSpPr>
          <p:nvPr/>
        </p:nvCxnSpPr>
        <p:spPr>
          <a:xfrm>
            <a:off x="3592532" y="3759200"/>
            <a:ext cx="0" cy="298966"/>
          </a:xfrm>
          <a:prstGeom prst="line">
            <a:avLst/>
          </a:prstGeom>
          <a:ln w="349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82FD2C-53B3-0E55-B95E-DC9B23780FFF}"/>
              </a:ext>
            </a:extLst>
          </p:cNvPr>
          <p:cNvCxnSpPr>
            <a:cxnSpLocks/>
          </p:cNvCxnSpPr>
          <p:nvPr/>
        </p:nvCxnSpPr>
        <p:spPr>
          <a:xfrm>
            <a:off x="8247082" y="4724400"/>
            <a:ext cx="0" cy="324366"/>
          </a:xfrm>
          <a:prstGeom prst="line">
            <a:avLst/>
          </a:prstGeom>
          <a:ln w="317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5E4106-C3B7-803D-690D-27D3550DDCF4}"/>
              </a:ext>
            </a:extLst>
          </p:cNvPr>
          <p:cNvCxnSpPr>
            <a:cxnSpLocks/>
          </p:cNvCxnSpPr>
          <p:nvPr/>
        </p:nvCxnSpPr>
        <p:spPr>
          <a:xfrm>
            <a:off x="8662968" y="3820200"/>
            <a:ext cx="0" cy="358100"/>
          </a:xfrm>
          <a:prstGeom prst="line">
            <a:avLst/>
          </a:prstGeom>
          <a:ln w="317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93B2DC-19E9-D29D-5BA5-20BE7E503E2D}"/>
                  </a:ext>
                </a:extLst>
              </p:cNvPr>
              <p:cNvSpPr txBox="1"/>
              <p:nvPr/>
            </p:nvSpPr>
            <p:spPr>
              <a:xfrm>
                <a:off x="3148816" y="6152352"/>
                <a:ext cx="547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93B2DC-19E9-D29D-5BA5-20BE7E503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816" y="6152352"/>
                <a:ext cx="54766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86C39B-18EE-729A-8830-6AC3904EC53B}"/>
                  </a:ext>
                </a:extLst>
              </p:cNvPr>
              <p:cNvSpPr txBox="1"/>
              <p:nvPr/>
            </p:nvSpPr>
            <p:spPr>
              <a:xfrm>
                <a:off x="8228816" y="6087594"/>
                <a:ext cx="547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86C39B-18EE-729A-8830-6AC3904EC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816" y="6087594"/>
                <a:ext cx="5476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48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 odds logistic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1942E-286E-A44F-ABA8-C2875031C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836" y="1383862"/>
            <a:ext cx="3238500" cy="787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739F97-1AD6-3545-AA4C-EEB9A111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663" y="2049537"/>
            <a:ext cx="5537200" cy="72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5FDDB-DB2A-1848-9C67-D3A053689E86}"/>
              </a:ext>
            </a:extLst>
          </p:cNvPr>
          <p:cNvSpPr txBox="1"/>
          <p:nvPr/>
        </p:nvSpPr>
        <p:spPr>
          <a:xfrm>
            <a:off x="1186543" y="2622490"/>
            <a:ext cx="93746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Proportional odds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Likelihood</a:t>
            </a:r>
            <a:r>
              <a:rPr lang="zh-CN" altLang="en-US" sz="2000" dirty="0"/>
              <a:t> </a:t>
            </a:r>
            <a:r>
              <a:rPr lang="en-US" altLang="zh-CN" sz="2000" dirty="0"/>
              <a:t>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The function </a:t>
            </a:r>
            <a:r>
              <a:rPr lang="en-US" altLang="zh-CN" sz="2000" i="1" dirty="0" err="1"/>
              <a:t>polr</a:t>
            </a:r>
            <a:r>
              <a:rPr lang="en-US" altLang="zh-CN" sz="2000" dirty="0"/>
              <a:t> in the </a:t>
            </a:r>
            <a:r>
              <a:rPr lang="en-US" altLang="zh-CN" sz="2000" i="1" dirty="0"/>
              <a:t>MASS</a:t>
            </a:r>
            <a:r>
              <a:rPr lang="en-US" altLang="zh-CN" sz="2000" dirty="0"/>
              <a:t> package computes the MLE using the BFGS algorithm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36A6D-B22C-9F41-A439-A9DFEFA41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4263" y="3060700"/>
            <a:ext cx="6070600" cy="73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81BA91-0CFF-BF41-A7CC-4D826369B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800" y="4164693"/>
            <a:ext cx="75184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0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 odds logistic vs.  logistic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D64104-8938-C34A-B264-7012C85F73B2}"/>
                  </a:ext>
                </a:extLst>
              </p:cNvPr>
              <p:cNvSpPr txBox="1"/>
              <p:nvPr/>
            </p:nvSpPr>
            <p:spPr>
              <a:xfrm>
                <a:off x="838200" y="1492125"/>
                <a:ext cx="1032013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Proportional odds logistic is equivalent to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400" dirty="0"/>
                  <a:t> logistic regressions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logistic regressions with binary outcome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Force all the logistic regressions to have the same slope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D64104-8938-C34A-B264-7012C85F7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92125"/>
                <a:ext cx="10320130" cy="6001643"/>
              </a:xfrm>
              <a:prstGeom prst="rect">
                <a:avLst/>
              </a:prstGeom>
              <a:blipFill>
                <a:blip r:embed="rId3"/>
                <a:stretch>
                  <a:fillRect l="-861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FAF45F8-87AA-71B6-E2A9-E374C959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242" y="2213717"/>
            <a:ext cx="5537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0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Proportional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odds logistic for the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471F96-DDC6-0043-88DD-51CE9F67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4314"/>
            <a:ext cx="83439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0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FA542D-B73D-F9C2-5211-D269FEF42A1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4C442B6B-7BF0-B6C7-8E93-D4F1281BC77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17BA6D42-0236-F8E1-348A-58B98963C73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8A53D81-22F1-1BEB-3EC8-3AAF30C9086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6A32A60-AE94-DBAF-8C3D-0C117A5EBAC3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86C87E-3E86-AD53-EB5F-1A9F96E868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of the following are correct for the intercept 1|2-4?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A9BE6-6510-8C53-3159-24ACBE836F4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predicted probability of being in category 2–4 versus 1 when all predictors are 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F760F3-7B8C-CF42-A26F-6203152ECE1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log-odds of being in category 1 versus category 2–4 or higher, when all predictors are 0.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FA7E2-75C2-78F3-0AF7-66C226205E0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difference in the predicted probabilities between categories 1 and 2–4.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6C495-D702-B686-5EB2-F94BAA26459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odds ratio of being in category 2–4 versus 5+ when all predictors are at their mean.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12113-7B57-848C-6375-0E8F188261C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DDAC41-3BE7-64C8-A148-8D59AC58DC5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9C4142-0A3E-6333-FE73-214DEED0BFC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91A659-6D6C-3324-DD37-55B5F1FEBA0A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554048-CDF0-D45E-9373-DD878802119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35B324-4CC2-D77E-0279-6844130FB50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BCA0C3-96CF-9E87-B361-FF908B59BEB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1999" y="1967564"/>
            <a:ext cx="2828235" cy="840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1197E1-E980-1B45-5D2E-8050D204A2D6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7214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03F68C-5F51-FFF1-700D-C6F113873E2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42B13BF8-CDAA-8A51-F5B3-BA08CB191C2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FB704D8-2E1B-DC0E-88F7-1907319A982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4E3E7972-8C81-8930-A95E-4B19B58D331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66FA6F62-E96B-9FE8-4868-2E7E3C0897A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3788533-1109-2DE5-2966-A6D7A751D5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of the following are correct for the slop 1.40? 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11D35-DBC7-9EB3-9D31-EFBCECA22D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High treatment changes the odds of being in a higher survival category by a factor of exp(1.4), holding other covariates constant.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FE3B8-E70E-6D99-7790-777288DE5E5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High treatment changes the odds of being in a higher survival category by a factor of exp(-1.4), holding other covariates constant.</a:t>
            </a:r>
            <a:endParaRPr 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B4987-349C-0EB1-C9B3-0004C7BCD91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Individuals in the high-treat group have 1.4 times higher probability of being in the highest survival category, compared to those in the low-treat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78DAB-B4EE-99DC-41F8-55DD6ADF51C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000" dirty="0"/>
              <a:t>The odds of being in any specific category (e.g., “2–4”) are multiplied by exp(1.4) if the individual is in the high treatment group.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81086E-6168-DCEE-CADF-C29C61BF717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8E12-91FA-EAE6-4B0F-8F6AD3BF4BF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27663-62A4-1AFC-63CD-3A5FA4665A1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4180ED-FB9C-2571-735E-F3D49D81F6C0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4C1DA48-EDF2-B1A1-BFD7-C823021E006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BABFD4-F015-24C3-7472-E50B48355F0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06957" y="1896740"/>
            <a:ext cx="3118954" cy="960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2A4F24-2BB0-85B3-A69C-B064C194862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946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Discrete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choice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AB996-3734-D247-86EA-B928FC6439FE}"/>
                  </a:ext>
                </a:extLst>
              </p:cNvPr>
              <p:cNvSpPr txBox="1"/>
              <p:nvPr/>
            </p:nvSpPr>
            <p:spPr>
              <a:xfrm>
                <a:off x="925287" y="1451741"/>
                <a:ext cx="9818914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covariates in multinomial logistic model depend only on individuals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McFadden (1974) extended it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to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allow for choice-specific covariates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can 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2400" dirty="0"/>
                  <a:t> into three categories: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that only vary across individuals,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that only vary across choices,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2400" dirty="0"/>
                  <a:t> that vary across both individuals and choices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drop the individual specific covariates (e.g., intercept)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multinomial logistic model contains the intercept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AB996-3734-D247-86EA-B928FC643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87" y="1451741"/>
                <a:ext cx="9818914" cy="5016758"/>
              </a:xfrm>
              <a:prstGeom prst="rect">
                <a:avLst/>
              </a:prstGeom>
              <a:blipFill>
                <a:blip r:embed="rId3"/>
                <a:stretch>
                  <a:fillRect l="-774" t="-1010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1846AA0-0DAF-C541-97DD-04FE643BC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422" y="2393223"/>
            <a:ext cx="2400300" cy="127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86610B-9B57-5840-84C8-9FB3C76DA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21" y="2708087"/>
            <a:ext cx="3340100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8E0D17-BCF5-5B46-A6D4-B83B6F17C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487" y="4898666"/>
            <a:ext cx="53213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8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Discrete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choice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ECD3A7-DECC-6B4E-AF9B-09F8D28D7297}"/>
                  </a:ext>
                </a:extLst>
              </p:cNvPr>
              <p:cNvSpPr txBox="1"/>
              <p:nvPr/>
            </p:nvSpPr>
            <p:spPr>
              <a:xfrm>
                <a:off x="838200" y="1681321"/>
                <a:ext cx="9987606" cy="4216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more general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Equivalently, we can create pseudo covariates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/>
                  <a:t>)</a:t>
                </a: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Discrete choice model is strictly more general than the multinomial logistic model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compute the MLE using Newton’s method and obtain its asymptotic distribution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package </a:t>
                </a:r>
                <a:r>
                  <a:rPr lang="en-US" sz="2000" i="1" dirty="0" err="1"/>
                  <a:t>mlogit</a:t>
                </a:r>
                <a:r>
                  <a:rPr lang="en-US" sz="2000" dirty="0"/>
                  <a:t> provides a function </a:t>
                </a:r>
                <a:r>
                  <a:rPr lang="en-US" sz="2000" i="1" dirty="0" err="1"/>
                  <a:t>mlogit</a:t>
                </a:r>
                <a:r>
                  <a:rPr lang="en-US" sz="2000" dirty="0"/>
                  <a:t> to fit the general discrete logistic model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ECD3A7-DECC-6B4E-AF9B-09F8D28D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81321"/>
                <a:ext cx="9987606" cy="4216539"/>
              </a:xfrm>
              <a:prstGeom prst="rect">
                <a:avLst/>
              </a:prstGeom>
              <a:blipFill>
                <a:blip r:embed="rId3"/>
                <a:stretch>
                  <a:fillRect l="-889" t="-1201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B144132-966D-114A-A846-32FA800C4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123" y="2083644"/>
            <a:ext cx="5880100" cy="812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D78968-704E-774F-8CAE-E5306FEFB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944" y="3429000"/>
            <a:ext cx="2974944" cy="13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0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D8E23-DD9F-4D4D-A12F-8A344622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87500"/>
            <a:ext cx="88900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1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FE800-D23D-5441-AE2E-E3A2BA7A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265" y="1690690"/>
            <a:ext cx="63881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6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6B7A3-686C-B645-9D52-59C84108AD53}"/>
              </a:ext>
            </a:extLst>
          </p:cNvPr>
          <p:cNvSpPr txBox="1"/>
          <p:nvPr/>
        </p:nvSpPr>
        <p:spPr>
          <a:xfrm>
            <a:off x="838200" y="1546553"/>
            <a:ext cx="4318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only choice-specific covariates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AE5CA-5C22-1B49-8B03-6A4072594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99" y="1972297"/>
            <a:ext cx="7803243" cy="45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2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6B7A3-686C-B645-9D52-59C84108AD53}"/>
              </a:ext>
            </a:extLst>
          </p:cNvPr>
          <p:cNvSpPr txBox="1"/>
          <p:nvPr/>
        </p:nvSpPr>
        <p:spPr>
          <a:xfrm>
            <a:off x="838200" y="1546553"/>
            <a:ext cx="9889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we do not enforce 0+ in the formula, then we allow for intercepts that vary across choices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4B8424-8AED-FE4A-961F-FB5B42A33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906" y="1946663"/>
            <a:ext cx="7616606" cy="485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7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6B7A3-686C-B645-9D52-59C84108AD53}"/>
              </a:ext>
            </a:extLst>
          </p:cNvPr>
          <p:cNvSpPr txBox="1"/>
          <p:nvPr/>
        </p:nvSpPr>
        <p:spPr>
          <a:xfrm>
            <a:off x="838200" y="1546553"/>
            <a:ext cx="4687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only individual-specific covariates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841B3-060B-8348-BFEC-1AE977230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312" y="1946663"/>
            <a:ext cx="6663826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0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Fishing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6B7A3-686C-B645-9D52-59C84108AD53}"/>
              </a:ext>
            </a:extLst>
          </p:cNvPr>
          <p:cNvSpPr txBox="1"/>
          <p:nvPr/>
        </p:nvSpPr>
        <p:spPr>
          <a:xfrm>
            <a:off x="838200" y="1546553"/>
            <a:ext cx="5291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most general model includes all covariates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BAC41-DBF3-4B47-964D-E2CFF9B1F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610" y="1946663"/>
            <a:ext cx="6906079" cy="493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5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Comments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807402-86A9-B44E-AA10-F7CF34D65E9E}"/>
              </a:ext>
            </a:extLst>
          </p:cNvPr>
          <p:cNvSpPr txBox="1"/>
          <p:nvPr/>
        </p:nvSpPr>
        <p:spPr>
          <a:xfrm>
            <a:off x="1447800" y="4996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16B7A3-686C-B645-9D52-59C84108AD53}"/>
                  </a:ext>
                </a:extLst>
              </p:cNvPr>
              <p:cNvSpPr txBox="1"/>
              <p:nvPr/>
            </p:nvSpPr>
            <p:spPr>
              <a:xfrm>
                <a:off x="838200" y="1546553"/>
                <a:ext cx="99822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assumption of Gumbel error terms is very strong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Relaxing this assumption leads to much more complicated forms of the conditional probabilities of the outcome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discrete choice model implies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Independence of irrelevant alternatives (IIA) assumption: choice between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does not depend on the existence of other choices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16B7A3-686C-B645-9D52-59C84108A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46553"/>
                <a:ext cx="9982200" cy="4401205"/>
              </a:xfrm>
              <a:prstGeom prst="rect">
                <a:avLst/>
              </a:prstGeom>
              <a:blipFill>
                <a:blip r:embed="rId3"/>
                <a:stretch>
                  <a:fillRect l="-889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91BAFA0-C732-9F41-B6EF-AA15D0F0C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067" y="3607143"/>
            <a:ext cx="28067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38361</TotalTime>
  <Words>1329</Words>
  <Application>Microsoft Macintosh PowerPoint</Application>
  <PresentationFormat>Widescreen</PresentationFormat>
  <Paragraphs>318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微软雅黑</vt:lpstr>
      <vt:lpstr>微软雅黑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Logistic regression for categorical outcomes</vt:lpstr>
      <vt:lpstr>Categorical outcomes</vt:lpstr>
      <vt:lpstr>Multinomial distribution</vt:lpstr>
      <vt:lpstr>Multinomial distribution</vt:lpstr>
      <vt:lpstr>Multinomial logistic model for nominal outcomes</vt:lpstr>
      <vt:lpstr>Multinomial logistic model for nominal outcomes</vt:lpstr>
      <vt:lpstr>A case study</vt:lpstr>
      <vt:lpstr>Binary logistic regression for the outcome</vt:lpstr>
      <vt:lpstr>Multinomial logistic regression for the outcome</vt:lpstr>
      <vt:lpstr>PowerPoint Presentation</vt:lpstr>
      <vt:lpstr>MLE</vt:lpstr>
      <vt:lpstr>MLE</vt:lpstr>
      <vt:lpstr>A latent variable representation</vt:lpstr>
      <vt:lpstr>A latent variable representation</vt:lpstr>
      <vt:lpstr>A latent variable representation</vt:lpstr>
      <vt:lpstr>Proportional odds model for ordinal outcomes</vt:lpstr>
      <vt:lpstr>Proportional odds model for ordinal outcomes</vt:lpstr>
      <vt:lpstr>Proportional odds logistic/Probit model</vt:lpstr>
      <vt:lpstr>Proportional odds logistic model</vt:lpstr>
      <vt:lpstr>Proportional odds logistic vs.  logistic</vt:lpstr>
      <vt:lpstr>Proportional odds logistic for the outcome</vt:lpstr>
      <vt:lpstr>PowerPoint Presentation</vt:lpstr>
      <vt:lpstr>PowerPoint Presentation</vt:lpstr>
      <vt:lpstr>Discrete choice model</vt:lpstr>
      <vt:lpstr>Discrete choice model</vt:lpstr>
      <vt:lpstr>Fishing data</vt:lpstr>
      <vt:lpstr>Fishing data</vt:lpstr>
      <vt:lpstr>Fishing data</vt:lpstr>
      <vt:lpstr>Fishing data</vt:lpstr>
      <vt:lpstr>Fishing data</vt:lpstr>
      <vt:lpstr>Fishing data</vt:lpstr>
      <vt:lpstr>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280</cp:revision>
  <dcterms:created xsi:type="dcterms:W3CDTF">2022-01-07T20:32:42Z</dcterms:created>
  <dcterms:modified xsi:type="dcterms:W3CDTF">2025-11-20T14:50:15Z</dcterms:modified>
</cp:coreProperties>
</file>