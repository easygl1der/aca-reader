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805" r:id="rId3"/>
    <p:sldId id="806" r:id="rId4"/>
    <p:sldId id="799" r:id="rId5"/>
    <p:sldId id="697" r:id="rId6"/>
    <p:sldId id="707" r:id="rId7"/>
    <p:sldId id="714" r:id="rId8"/>
    <p:sldId id="708" r:id="rId9"/>
    <p:sldId id="705" r:id="rId10"/>
    <p:sldId id="698" r:id="rId11"/>
    <p:sldId id="800" r:id="rId12"/>
    <p:sldId id="801" r:id="rId13"/>
    <p:sldId id="802" r:id="rId14"/>
    <p:sldId id="699" r:id="rId15"/>
    <p:sldId id="706" r:id="rId16"/>
    <p:sldId id="700" r:id="rId17"/>
    <p:sldId id="701" r:id="rId18"/>
    <p:sldId id="709" r:id="rId19"/>
    <p:sldId id="803" r:id="rId20"/>
    <p:sldId id="8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825"/>
    <a:srgbClr val="A0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0000"/>
  </p:normalViewPr>
  <p:slideViewPr>
    <p:cSldViewPr snapToGrid="0" snapToObjects="1">
      <p:cViewPr varScale="1">
        <p:scale>
          <a:sx n="186" d="100"/>
          <a:sy n="186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60455-33D2-7848-97B1-BAC894D1A7F7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34D25-2405-114F-BF61-E1011635D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93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最小二乘估计不需要任何假设</a:t>
            </a:r>
            <a:endParaRPr lang="en-US" altLang="zh-CN" dirty="0"/>
          </a:p>
          <a:p>
            <a:r>
              <a:rPr lang="zh-CN" altLang="en-US" dirty="0"/>
              <a:t>但是要研究最小二乘的估计量有什么性质，需要一定的模型假设。</a:t>
            </a:r>
            <a:endParaRPr lang="en-US" altLang="zh-CN" dirty="0"/>
          </a:p>
          <a:p>
            <a:r>
              <a:rPr lang="zh-CN" altLang="en-US" dirty="0"/>
              <a:t>问题一：最小二乘估计的均值方差是什么，为什么要用最小二乘估计而不是其他的估计 </a:t>
            </a:r>
            <a:r>
              <a:rPr lang="en-US" altLang="zh-CN" dirty="0"/>
              <a:t>optimality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OLS</a:t>
            </a:r>
          </a:p>
          <a:p>
            <a:r>
              <a:rPr lang="zh-CN" altLang="en-US" dirty="0"/>
              <a:t>问题二：最小二乘估计有什么统计性质，如何做统计推断，即从有限样本得到的</a:t>
            </a:r>
            <a:r>
              <a:rPr lang="en-US" altLang="zh-CN" dirty="0"/>
              <a:t>beta</a:t>
            </a:r>
            <a:r>
              <a:rPr lang="zh-CN" altLang="en-US" dirty="0"/>
              <a:t> </a:t>
            </a:r>
            <a:r>
              <a:rPr lang="en-US" altLang="zh-CN" dirty="0"/>
              <a:t>hat</a:t>
            </a:r>
            <a:r>
              <a:rPr lang="zh-CN" altLang="en-US" dirty="0"/>
              <a:t> 去估计总体中的</a:t>
            </a:r>
            <a:r>
              <a:rPr lang="en-US" altLang="zh-CN" dirty="0"/>
              <a:t>beta</a:t>
            </a:r>
            <a:r>
              <a:rPr lang="zh-CN" altLang="en-US" dirty="0"/>
              <a:t>，有什么样的不确定性  </a:t>
            </a:r>
            <a:endParaRPr lang="en-US" altLang="zh-CN" dirty="0"/>
          </a:p>
          <a:p>
            <a:r>
              <a:rPr lang="zh-CN" altLang="en-US" dirty="0"/>
              <a:t>第一个问题 用</a:t>
            </a:r>
            <a:r>
              <a:rPr lang="en-US" altLang="zh-CN" dirty="0"/>
              <a:t>gauss</a:t>
            </a:r>
            <a:r>
              <a:rPr lang="zh-CN" altLang="en-US" dirty="0"/>
              <a:t> </a:t>
            </a:r>
            <a:r>
              <a:rPr lang="en-US" altLang="zh-CN" dirty="0" err="1"/>
              <a:t>markov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</a:p>
          <a:p>
            <a:r>
              <a:rPr lang="zh-CN" altLang="en-US" dirty="0"/>
              <a:t>第二个用</a:t>
            </a:r>
            <a:r>
              <a:rPr lang="en-US" altLang="zh-CN" dirty="0"/>
              <a:t>Normal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58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62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52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23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当有了</a:t>
            </a:r>
            <a:r>
              <a:rPr lang="en-US" altLang="zh-CN" dirty="0"/>
              <a:t>stochastic</a:t>
            </a:r>
            <a:r>
              <a:rPr lang="zh-CN" altLang="en-US" dirty="0"/>
              <a:t> </a:t>
            </a:r>
            <a:r>
              <a:rPr lang="en-US" altLang="zh-CN" dirty="0"/>
              <a:t>assumptions</a:t>
            </a:r>
            <a:r>
              <a:rPr lang="zh-CN" altLang="en-US" dirty="0"/>
              <a:t> 才能讨论期望 方差 分布等等</a:t>
            </a:r>
            <a:endParaRPr lang="en-US" altLang="zh-CN" dirty="0"/>
          </a:p>
          <a:p>
            <a:r>
              <a:rPr lang="zh-CN" altLang="en-US" dirty="0"/>
              <a:t>统计中一般假设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fixed</a:t>
            </a:r>
            <a:r>
              <a:rPr lang="zh-CN" altLang="en-US" dirty="0"/>
              <a:t>    计量经济中 假设</a:t>
            </a:r>
            <a:r>
              <a:rPr lang="en-US" altLang="zh-CN" dirty="0"/>
              <a:t>X</a:t>
            </a:r>
            <a:r>
              <a:rPr lang="zh-CN" altLang="en-US" dirty="0"/>
              <a:t> 随机，     理论是等价的   </a:t>
            </a:r>
            <a:r>
              <a:rPr lang="en-US" altLang="zh-CN" dirty="0"/>
              <a:t>fixed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 </a:t>
            </a:r>
            <a:r>
              <a:rPr lang="en-US" altLang="zh-CN" dirty="0"/>
              <a:t>conditional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</a:p>
          <a:p>
            <a:r>
              <a:rPr lang="en-US" altLang="zh-CN" dirty="0"/>
              <a:t>E(Y)=</a:t>
            </a:r>
            <a:r>
              <a:rPr lang="en-US" altLang="zh-CN" dirty="0" err="1"/>
              <a:t>Xbeta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r>
              <a:rPr lang="en-US" altLang="zh-CN" dirty="0" err="1"/>
              <a:t>cov</a:t>
            </a:r>
            <a:r>
              <a:rPr lang="en-US" altLang="zh-CN" dirty="0"/>
              <a:t>(Y)= sigma^2 </a:t>
            </a:r>
            <a:r>
              <a:rPr lang="en-US" altLang="zh-CN" dirty="0" err="1"/>
              <a:t>I_n</a:t>
            </a:r>
            <a:endParaRPr lang="en-US" altLang="zh-CN" dirty="0"/>
          </a:p>
          <a:p>
            <a:r>
              <a:rPr lang="en-US" altLang="zh-CN" dirty="0"/>
              <a:t>Why E(epsilon) = 0?   Y =alpha + </a:t>
            </a:r>
            <a:r>
              <a:rPr lang="en-US" altLang="zh-CN" dirty="0" err="1"/>
              <a:t>betaX</a:t>
            </a:r>
            <a:r>
              <a:rPr lang="en-US" altLang="zh-CN" dirty="0"/>
              <a:t> + \epsilon  = (\</a:t>
            </a:r>
            <a:r>
              <a:rPr lang="en-US" altLang="zh-CN" dirty="0" err="1"/>
              <a:t>alpha+c</a:t>
            </a:r>
            <a:r>
              <a:rPr lang="en-US" altLang="zh-CN" dirty="0"/>
              <a:t>) +</a:t>
            </a:r>
            <a:r>
              <a:rPr lang="en-US" altLang="zh-CN" dirty="0" err="1"/>
              <a:t>betaX</a:t>
            </a:r>
            <a:r>
              <a:rPr lang="en-US" altLang="zh-CN" dirty="0"/>
              <a:t> + (\epsilon-c)  identifiability </a:t>
            </a:r>
            <a:r>
              <a:rPr lang="en-US" altLang="zh-CN" dirty="0" err="1"/>
              <a:t>issus</a:t>
            </a:r>
            <a:endParaRPr lang="en-US" altLang="zh-CN" dirty="0"/>
          </a:p>
          <a:p>
            <a:r>
              <a:rPr lang="en-US" altLang="zh-CN" dirty="0"/>
              <a:t>Yi  and </a:t>
            </a:r>
            <a:r>
              <a:rPr lang="en-US" altLang="zh-CN" dirty="0" err="1"/>
              <a:t>Yj</a:t>
            </a:r>
            <a:r>
              <a:rPr lang="en-US" altLang="zh-CN" dirty="0"/>
              <a:t> are independent,  violation: cluster</a:t>
            </a:r>
          </a:p>
          <a:p>
            <a:r>
              <a:rPr lang="en-US" altLang="zh-CN" dirty="0"/>
              <a:t>Transformation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Y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23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statements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1. Y</a:t>
            </a:r>
            <a:r>
              <a:rPr lang="zh-CN" altLang="en-US" dirty="0"/>
              <a:t> </a:t>
            </a:r>
            <a:r>
              <a:rPr lang="en-US" altLang="zh-CN" dirty="0"/>
              <a:t>hat</a:t>
            </a:r>
            <a:r>
              <a:rPr lang="zh-CN" altLang="en-US" dirty="0"/>
              <a:t> </a:t>
            </a:r>
            <a:r>
              <a:rPr lang="en-US" altLang="zh-CN" dirty="0"/>
              <a:t>and epsilon hat are orthogonal      algebraic, relationship between two vectors</a:t>
            </a:r>
          </a:p>
          <a:p>
            <a:r>
              <a:rPr lang="en-US" dirty="0"/>
              <a:t>2. Y hat and epsilon hat are uncorrelated   stochastic relationship between two random vectors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91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variance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56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15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43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94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Smallest</a:t>
            </a:r>
            <a:r>
              <a:rPr lang="zh-CN" altLang="en-US" dirty="0"/>
              <a:t> </a:t>
            </a:r>
            <a:r>
              <a:rPr lang="en-US" altLang="zh-CN" dirty="0" err="1"/>
              <a:t>cov</a:t>
            </a:r>
            <a:r>
              <a:rPr lang="zh-CN" altLang="en-US" dirty="0"/>
              <a:t>  </a:t>
            </a:r>
            <a:r>
              <a:rPr lang="en-US" altLang="zh-CN" dirty="0"/>
              <a:t>means</a:t>
            </a:r>
            <a:r>
              <a:rPr lang="zh-CN" altLang="en-US" dirty="0"/>
              <a:t> </a:t>
            </a:r>
            <a:r>
              <a:rPr lang="en-US" altLang="zh-CN" dirty="0"/>
              <a:t>most</a:t>
            </a:r>
            <a:r>
              <a:rPr lang="zh-CN" altLang="en-US" dirty="0"/>
              <a:t> </a:t>
            </a:r>
            <a:r>
              <a:rPr lang="en-US" altLang="zh-CN" dirty="0"/>
              <a:t>e</a:t>
            </a:r>
            <a:r>
              <a:rPr lang="en-US" dirty="0"/>
              <a:t>fficient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350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class of linear estimator is quite large because A can be any nonlinear function of X, and the only requirement is that the estimator is linear in Y.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many modern applications with many covariates, some biased estimators can perform better than unbiased estimators if they have smaller variance.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80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</a:t>
            </a:r>
            <a:r>
              <a:rPr lang="zh-CN" altLang="en-US" dirty="0"/>
              <a:t> </a:t>
            </a:r>
            <a:r>
              <a:rPr lang="en-US" altLang="zh-CN" dirty="0"/>
              <a:t>efficient than OLS under Gauss Markov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1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01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C8A-1FB6-3041-A418-D61E2C3DA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7742-DAB1-C14E-A5BA-70F7F796B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F0F5-1172-4443-B1D2-5FA4A3CB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7974-E7D6-B34D-9439-F9FBE61E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B4C7-B3E7-2249-9AAE-D0EE3D2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B802-5C9D-5D40-9713-8F0AF3E9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7CEE-95B7-784A-8744-013528B7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651F-9F0D-CE47-A7C3-72ADEC6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990C-26CF-5340-9185-412EDD20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482D-EE59-6B44-B09D-54DF378E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DE8B-08E4-6746-B7C6-2D6F7D77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7A5-9526-B64C-B0B3-EC555F75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C4E4-A98D-7F4C-A038-86F2454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DB87-08F0-6645-91C0-90A36E9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DCD8-FACC-EF40-A476-D4C9F098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3A11-2C38-6345-9832-CD9E4234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6E1-8E61-EB4F-98F1-2A3FD59E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D906-8014-9840-917B-BB1BE8DA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7BADE-2CE5-5944-BEA5-62B1C3E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CA7E-B3F3-234F-8843-CF1B52B7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4860-30EA-0542-8960-CB71E62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8B9-4FB0-594D-A3C8-B920561F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FA0D-47CF-804B-ADFF-C1FBCED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A6630-46C1-304B-A31B-F683D3BB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0E5B-079D-3F45-BA01-C9AD653DD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4FE20-58B7-C04B-89A7-8A255F953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9B889-CD5B-FB44-BD7D-2E3DE55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87C38-F33E-E940-9D72-4F66251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D557-D134-064A-A446-E4906B1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0F00-4145-DC48-8A29-69BD407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F20B2-462E-F746-BEE4-DA5D2AE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A5F02-D3A0-BC45-924B-F537F68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F2EDE-B42D-1C45-90AC-640331E1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AF63A-2A34-9443-B3A1-F7AD555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C7C21-24A3-624B-A109-AFC30D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5E5C-B91F-6D4D-8F8C-60C86E7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C247-E86B-7E4B-85FF-22E97905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CF5-B7AC-6344-BEDE-C1DC558C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479-0A31-E74C-8CFF-F83A737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65952-1887-1242-A818-B48F8B40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7D4EC-6C26-3343-BE5B-4618E517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67B4-9192-2B4D-B6BA-824E8525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6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4F99-0279-E64B-A930-DD2DFE1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E41E-F499-FD45-AA09-8683F0D2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9A72-A800-F842-8071-88E5094D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FD681-5220-164D-B93A-853D489B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C564-BE03-8440-959E-1F518EC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54D9-1620-D64C-AF60-D151063F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499A-DD86-D24E-A290-0B13D2D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5DDCF-0EB5-0B42-9F19-70570301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2CFB8-64A2-6243-A467-76379B3B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5434-A072-D245-8271-A14B1A4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9DA-DDF0-C34D-8AFE-B5CAAEF3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15942-F520-8140-82C2-549925B91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F6AE-3D2E-074D-80D3-C0295DA0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591-4801-7644-BB66-3C5CEB6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8A03-9EC2-5942-8AF7-4EE129F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3ECD-47F7-6640-A418-41363373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98E4-3EF4-B940-93C1-1851E23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4DF2-BE2A-2040-9A6C-84673A48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B57D-0C15-8044-9772-0CEEEAA1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8502-F17E-DC4B-9F41-BAD476EB8CD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F6CD-B256-804D-A913-74F1B54B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41D8-076E-4C4E-BD9C-F12DD0F4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8180ED6-2ACB-A649-8746-79EC7812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8380" y="1260489"/>
            <a:ext cx="8075240" cy="1710011"/>
          </a:xfrm>
          <a:prstGeom prst="roundRect">
            <a:avLst/>
          </a:prstGeom>
          <a:solidFill>
            <a:srgbClr val="005825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Gauss-Markov Model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5B63C4A-E74D-EC4E-82DE-0EDC1FB3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7501"/>
            <a:ext cx="9144000" cy="1373086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蒋智超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秋   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62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"/>
    </mc:Choice>
    <mc:Fallback xmlns="">
      <p:transition spd="slow" advTm="25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CBD6CC9-1710-AADC-D00F-F60052C4DB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6180" y="1619477"/>
                <a:ext cx="8782938" cy="4351338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CN" dirty="0"/>
                  <a:t>Describe the systematic fashion of the tendency of </a:t>
                </a:r>
                <a14:m>
                  <m:oMath xmlns:m="http://schemas.openxmlformats.org/officeDocument/2006/math">
                    <m:r>
                      <a:rPr lang="en-CN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CN" dirty="0"/>
                  <a:t> to vary with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N" dirty="0"/>
                  <a:t>.</a:t>
                </a:r>
              </a:p>
              <a:p>
                <a:pPr marL="457189" lvl="1" indent="0">
                  <a:buNone/>
                </a:pPr>
                <a:endParaRPr lang="en-US" dirty="0"/>
              </a:p>
              <a:p>
                <a:pPr marL="457189" lvl="1" indent="0">
                  <a:buNone/>
                </a:pPr>
                <a:endParaRPr lang="en-US" sz="2000" dirty="0"/>
              </a:p>
              <a:p>
                <a:r>
                  <a:rPr lang="en-CN" dirty="0"/>
                  <a:t>Describe how the points (realization of the random variable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CN" dirty="0"/>
                  <a:t>) are scattered around the curve of the statistical relation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dirty="0"/>
                  <a:t>Typical forms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CN" dirty="0"/>
              </a:p>
              <a:p>
                <a:pPr lvl="1"/>
                <a:endParaRPr lang="en-CN" dirty="0"/>
              </a:p>
              <a:p>
                <a:endParaRPr lang="en-US" sz="2400" dirty="0"/>
              </a:p>
              <a:p>
                <a:pPr marL="457189" lvl="1" indent="0">
                  <a:buNone/>
                </a:pPr>
                <a:endParaRPr lang="en-US" sz="20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sz="20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CBD6CC9-1710-AADC-D00F-F60052C4DB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6180" y="1619477"/>
                <a:ext cx="8782938" cy="4351338"/>
              </a:xfrm>
              <a:blipFill>
                <a:blip r:embed="rId3"/>
                <a:stretch>
                  <a:fillRect l="-866" t="-2041" r="-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Regression model</a:t>
            </a:r>
            <a:endParaRPr lang="zh-CN" altLang="en-US" sz="3200" dirty="0">
              <a:solidFill>
                <a:srgbClr val="005825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9" name="直接连接符 4">
            <a:extLst>
              <a:ext uri="{FF2B5EF4-FFF2-40B4-BE49-F238E27FC236}">
                <a16:creationId xmlns:a16="http://schemas.microsoft.com/office/drawing/2014/main" id="{C2DFBF73-3E27-46AC-8325-448C974C55C0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F4089BDF-8A19-A845-82D7-4C68D5E5A53D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7919717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7513F-9BF6-824E-BD90-59ADBE6C760C}"/>
              </a:ext>
            </a:extLst>
          </p:cNvPr>
          <p:cNvSpPr txBox="1"/>
          <p:nvPr/>
        </p:nvSpPr>
        <p:spPr>
          <a:xfrm>
            <a:off x="5005137" y="51374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551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CBD6CC9-1710-AADC-D00F-F60052C4DB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6180" y="1619477"/>
                <a:ext cx="8782938" cy="473181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One type of regression model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N" dirty="0"/>
                  <a:t> is a linear function</a:t>
                </a:r>
                <a:endParaRPr lang="en-US" dirty="0"/>
              </a:p>
              <a:p>
                <a:pPr marL="457189" lvl="1" indent="0">
                  <a:buNone/>
                </a:pPr>
                <a:endParaRPr lang="en-US" sz="2000" dirty="0"/>
              </a:p>
              <a:p>
                <a:r>
                  <a:rPr lang="en-US" b="1" dirty="0"/>
                  <a:t>Key a</a:t>
                </a:r>
                <a:r>
                  <a:rPr lang="en-CN" b="1"/>
                  <a:t>ssumption</a:t>
                </a:r>
                <a:r>
                  <a:rPr lang="en-CN"/>
                  <a:t>: The response will change by the same amount for each unit of change in the regressor.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CN" sz="2400" dirty="0"/>
                  <a:t>Simple linear regression:</a:t>
                </a:r>
                <a:endParaRPr lang="en-CN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  <a:p>
                <a:r>
                  <a:rPr lang="en-CN" sz="2400" dirty="0"/>
                  <a:t>Multiple linear regression:</a:t>
                </a:r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CN" dirty="0"/>
              </a:p>
              <a:p>
                <a:endParaRPr lang="en-US" sz="2400" dirty="0"/>
              </a:p>
              <a:p>
                <a:pPr marL="457189" lvl="1" indent="0">
                  <a:buNone/>
                </a:pPr>
                <a:endParaRPr lang="en-US" sz="20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sz="20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CBD6CC9-1710-AADC-D00F-F60052C4DB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6180" y="1619477"/>
                <a:ext cx="8782938" cy="4731818"/>
              </a:xfrm>
              <a:blipFill>
                <a:blip r:embed="rId3"/>
                <a:stretch>
                  <a:fillRect l="-866" t="-1872" r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Linear model</a:t>
            </a:r>
            <a:endParaRPr lang="zh-CN" altLang="en-US" sz="3200" dirty="0">
              <a:solidFill>
                <a:srgbClr val="005825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9" name="直接连接符 4">
            <a:extLst>
              <a:ext uri="{FF2B5EF4-FFF2-40B4-BE49-F238E27FC236}">
                <a16:creationId xmlns:a16="http://schemas.microsoft.com/office/drawing/2014/main" id="{C2DFBF73-3E27-46AC-8325-448C974C55C0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F4089BDF-8A19-A845-82D7-4C68D5E5A53D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7919717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7513F-9BF6-824E-BD90-59ADBE6C760C}"/>
              </a:ext>
            </a:extLst>
          </p:cNvPr>
          <p:cNvSpPr txBox="1"/>
          <p:nvPr/>
        </p:nvSpPr>
        <p:spPr>
          <a:xfrm>
            <a:off x="5005137" y="51374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52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BD6CC9-1710-AADC-D00F-F60052C4D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180" y="1619477"/>
            <a:ext cx="8782938" cy="4351338"/>
          </a:xfrm>
        </p:spPr>
        <p:txBody>
          <a:bodyPr/>
          <a:lstStyle/>
          <a:p>
            <a:r>
              <a:rPr lang="en-US" sz="2400" dirty="0"/>
              <a:t>Different assumptions on the error term</a:t>
            </a:r>
          </a:p>
          <a:p>
            <a:endParaRPr lang="en-US" dirty="0"/>
          </a:p>
          <a:p>
            <a:r>
              <a:rPr lang="en-US" sz="2400" dirty="0"/>
              <a:t>Gauss-Markov model</a:t>
            </a:r>
          </a:p>
          <a:p>
            <a:pPr lvl="1"/>
            <a:r>
              <a:rPr lang="en-US" dirty="0"/>
              <a:t>Unbiasedness and optimality of OLS</a:t>
            </a:r>
          </a:p>
          <a:p>
            <a:pPr lvl="1"/>
            <a:r>
              <a:rPr lang="en-US" dirty="0"/>
              <a:t>Inadequate for exact statistical inference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Normal linear model</a:t>
            </a:r>
          </a:p>
          <a:p>
            <a:pPr lvl="1"/>
            <a:r>
              <a:rPr lang="en-US" dirty="0"/>
              <a:t>Additional distributional assumption </a:t>
            </a:r>
          </a:p>
          <a:p>
            <a:pPr lvl="1"/>
            <a:r>
              <a:rPr lang="en-US" dirty="0"/>
              <a:t>Enables statistical inference</a:t>
            </a:r>
          </a:p>
          <a:p>
            <a:endParaRPr lang="en-US" sz="2400" dirty="0"/>
          </a:p>
          <a:p>
            <a:endParaRPr lang="en-US" sz="2400" dirty="0"/>
          </a:p>
          <a:p>
            <a:pPr marL="457189" lvl="1" indent="0">
              <a:buNone/>
            </a:pPr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0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Two important models</a:t>
            </a:r>
            <a:endParaRPr lang="zh-CN" altLang="en-US" sz="3200" dirty="0">
              <a:solidFill>
                <a:srgbClr val="005825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9" name="直接连接符 4">
            <a:extLst>
              <a:ext uri="{FF2B5EF4-FFF2-40B4-BE49-F238E27FC236}">
                <a16:creationId xmlns:a16="http://schemas.microsoft.com/office/drawing/2014/main" id="{C2DFBF73-3E27-46AC-8325-448C974C55C0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F4089BDF-8A19-A845-82D7-4C68D5E5A53D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7919717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7513F-9BF6-824E-BD90-59ADBE6C760C}"/>
              </a:ext>
            </a:extLst>
          </p:cNvPr>
          <p:cNvSpPr txBox="1"/>
          <p:nvPr/>
        </p:nvSpPr>
        <p:spPr>
          <a:xfrm>
            <a:off x="5005137" y="51374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147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Gauss-Markov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452954E-CC8E-4541-A924-E16934035DF2}"/>
              </a:ext>
            </a:extLst>
          </p:cNvPr>
          <p:cNvSpPr/>
          <p:nvPr/>
        </p:nvSpPr>
        <p:spPr>
          <a:xfrm>
            <a:off x="914401" y="1463039"/>
            <a:ext cx="8782112" cy="24067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C3ECF2-52B9-BD4A-8FAC-CFDC4C03EAEA}"/>
              </a:ext>
            </a:extLst>
          </p:cNvPr>
          <p:cNvSpPr txBox="1"/>
          <p:nvPr/>
        </p:nvSpPr>
        <p:spPr>
          <a:xfrm>
            <a:off x="1371601" y="1834904"/>
            <a:ext cx="2177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Gauss</a:t>
            </a:r>
            <a:r>
              <a:rPr lang="zh-CN" altLang="en-US" b="1" dirty="0"/>
              <a:t> </a:t>
            </a:r>
            <a:r>
              <a:rPr lang="en-US" altLang="zh-CN" b="1" dirty="0"/>
              <a:t>Markov</a:t>
            </a:r>
            <a:r>
              <a:rPr lang="zh-CN" altLang="en-US" b="1" dirty="0"/>
              <a:t> </a:t>
            </a:r>
            <a:r>
              <a:rPr lang="en-US" altLang="zh-CN" b="1" dirty="0"/>
              <a:t>model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0E3918-1BF9-E74F-A1A1-510FF6C6D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556" y="1586465"/>
            <a:ext cx="7721600" cy="218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FD616B-ACBF-6043-9323-405A5E2B5C92}"/>
                  </a:ext>
                </a:extLst>
              </p:cNvPr>
              <p:cNvSpPr txBox="1"/>
              <p:nvPr/>
            </p:nvSpPr>
            <p:spPr>
              <a:xfrm>
                <a:off x="838200" y="4303297"/>
                <a:ext cx="11549957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assumption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essential,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think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distribution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assumption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strong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restrictions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Linearity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Homoskedasticity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error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terms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have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same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variance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FD616B-ACBF-6043-9323-405A5E2B5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03297"/>
                <a:ext cx="11549957" cy="1815882"/>
              </a:xfrm>
              <a:prstGeom prst="rect">
                <a:avLst/>
              </a:prstGeom>
              <a:blipFill>
                <a:blip r:embed="rId4"/>
                <a:stretch>
                  <a:fillRect l="-769" t="-2083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10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OLS properties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 the Gauss-Markov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08F9E-54FE-4540-9B13-CAFE2B5EC32C}"/>
              </a:ext>
            </a:extLst>
          </p:cNvPr>
          <p:cNvSpPr/>
          <p:nvPr/>
        </p:nvSpPr>
        <p:spPr>
          <a:xfrm>
            <a:off x="914401" y="1463039"/>
            <a:ext cx="8782111" cy="16985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4ECD06-01D6-E547-A344-3E3F9F5B7C65}"/>
              </a:ext>
            </a:extLst>
          </p:cNvPr>
          <p:cNvSpPr txBox="1"/>
          <p:nvPr/>
        </p:nvSpPr>
        <p:spPr>
          <a:xfrm>
            <a:off x="2212824" y="1721218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Mean: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48844D-B94F-A345-80AB-631264287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457" y="1633252"/>
            <a:ext cx="1778000" cy="50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D7C933-3D94-3A44-BCD0-BFC292618CBB}"/>
              </a:ext>
            </a:extLst>
          </p:cNvPr>
          <p:cNvSpPr txBox="1"/>
          <p:nvPr/>
        </p:nvSpPr>
        <p:spPr>
          <a:xfrm>
            <a:off x="2212824" y="2379973"/>
            <a:ext cx="1072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Variance: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A2B0EA-8944-6147-BF68-CA732C203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206" y="2304289"/>
            <a:ext cx="2222500" cy="520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D5C89-B06D-314C-8D9B-95A44699F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952" y="3580733"/>
            <a:ext cx="7416800" cy="50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F34A8D-7FCE-BD48-9BBB-BD52963C8CAE}"/>
              </a:ext>
            </a:extLst>
          </p:cNvPr>
          <p:cNvSpPr txBox="1"/>
          <p:nvPr/>
        </p:nvSpPr>
        <p:spPr>
          <a:xfrm>
            <a:off x="1004516" y="3656323"/>
            <a:ext cx="693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Proof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802638-F9CF-A449-A502-D5185B6A4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5125" y="4210515"/>
            <a:ext cx="4279900" cy="17018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D8B743F-480E-144D-8097-C95AEA1691D8}"/>
              </a:ext>
            </a:extLst>
          </p:cNvPr>
          <p:cNvSpPr/>
          <p:nvPr/>
        </p:nvSpPr>
        <p:spPr>
          <a:xfrm>
            <a:off x="914400" y="3514272"/>
            <a:ext cx="8782111" cy="27679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3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OLS properties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 the Gauss-Markov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Theorem</a:t>
            </a:r>
            <a:r>
              <a:rPr lang="zh-CN" altLang="en-US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08F9E-54FE-4540-9B13-CAFE2B5EC32C}"/>
              </a:ext>
            </a:extLst>
          </p:cNvPr>
          <p:cNvSpPr/>
          <p:nvPr/>
        </p:nvSpPr>
        <p:spPr>
          <a:xfrm>
            <a:off x="679623" y="1463040"/>
            <a:ext cx="11006082" cy="14444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34A8D-7FCE-BD48-9BBB-BD52963C8CAE}"/>
              </a:ext>
            </a:extLst>
          </p:cNvPr>
          <p:cNvSpPr txBox="1"/>
          <p:nvPr/>
        </p:nvSpPr>
        <p:spPr>
          <a:xfrm>
            <a:off x="837437" y="3052619"/>
            <a:ext cx="693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Proof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896B61-570B-BE42-846A-7917A116A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873" y="2008619"/>
            <a:ext cx="2451100" cy="825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9D5ABC-7367-4C4E-9CC9-E1259D752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963" y="1991234"/>
            <a:ext cx="3822700" cy="76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D16DF1-2A4B-AD47-9EE3-2BFAEB388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124" y="3411755"/>
            <a:ext cx="4762500" cy="812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F9A3B1-7143-444E-9DF4-A8377F25B4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237285"/>
            <a:ext cx="5589704" cy="26340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247394-1CA5-484A-9EF6-9755324029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437" y="4554328"/>
            <a:ext cx="5730876" cy="121564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74CD682-56C3-C841-999A-3793DB056245}"/>
              </a:ext>
            </a:extLst>
          </p:cNvPr>
          <p:cNvSpPr/>
          <p:nvPr/>
        </p:nvSpPr>
        <p:spPr>
          <a:xfrm>
            <a:off x="679622" y="3058991"/>
            <a:ext cx="11006081" cy="30601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88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OLS properties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 the Gauss-Markov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7683B6-35F8-3E4A-922F-E2C163DFB1E5}"/>
                  </a:ext>
                </a:extLst>
              </p:cNvPr>
              <p:cNvSpPr txBox="1"/>
              <p:nvPr/>
            </p:nvSpPr>
            <p:spPr>
              <a:xfrm>
                <a:off x="1552229" y="4307155"/>
                <a:ext cx="6877780" cy="12341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quantifies the uncertainty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their covariance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covariance matrix depends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is unknown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need to 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7683B6-35F8-3E4A-922F-E2C163DFB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229" y="4307155"/>
                <a:ext cx="6877780" cy="1234120"/>
              </a:xfrm>
              <a:prstGeom prst="rect">
                <a:avLst/>
              </a:prstGeom>
              <a:blipFill>
                <a:blip r:embed="rId3"/>
                <a:stretch>
                  <a:fillRect l="-554" t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76A6166-D913-9404-F076-743496CAB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6956" y="2200093"/>
            <a:ext cx="3860800" cy="368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BDC9F6-7B2F-BD13-1A86-5766053C6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233" y="2962967"/>
            <a:ext cx="45720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5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Variance estimation</a:t>
            </a:r>
            <a:endParaRPr lang="zh-CN" altLang="en-US" sz="32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6" name="直接连接符 4">
            <a:extLst>
              <a:ext uri="{FF2B5EF4-FFF2-40B4-BE49-F238E27FC236}">
                <a16:creationId xmlns:a16="http://schemas.microsoft.com/office/drawing/2014/main" id="{C35661B6-DCE0-48B3-8CA5-30CD883A7868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C7E0FF1C-4163-C840-ABE0-D6CA4E64DF2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575800" cy="502189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>
                  <a:lnSpc>
                    <a:spcPct val="150000"/>
                  </a:lnSpc>
                  <a:spcBef>
                    <a:spcPts val="0"/>
                  </a:spcBef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variance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1">
                  <a:lnSpc>
                    <a:spcPct val="150000"/>
                  </a:lnSpc>
                  <a:spcBef>
                    <a:spcPts val="0"/>
                  </a:spcBef>
                  <a:buClr>
                    <a:srgbClr val="005825"/>
                  </a:buClr>
                  <a:buSzPct val="125000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ε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estimate the variance? An intuitive estimator using residual sum of squares (RSS):</a:t>
                </a:r>
              </a:p>
              <a:p>
                <a:pPr marL="0" lvl="1">
                  <a:lnSpc>
                    <a:spcPct val="150000"/>
                  </a:lnSpc>
                  <a:spcBef>
                    <a:spcPts val="0"/>
                  </a:spcBef>
                  <a:buClr>
                    <a:srgbClr val="005825"/>
                  </a:buClr>
                  <a:buSzPct val="125000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spcBef>
                    <a:spcPts val="0"/>
                  </a:spcBef>
                  <a:buClr>
                    <a:srgbClr val="005825"/>
                  </a:buClr>
                  <a:buSzPct val="125000"/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1">
                  <a:lnSpc>
                    <a:spcPct val="150000"/>
                  </a:lnSpc>
                  <a:spcBef>
                    <a:spcPts val="0"/>
                  </a:spcBef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not unbiased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RSS has mean </a:t>
                </a:r>
              </a:p>
              <a:p>
                <a:pPr marL="0" lvl="1" indent="0">
                  <a:lnSpc>
                    <a:spcPct val="150000"/>
                  </a:lnSpc>
                  <a:spcBef>
                    <a:spcPts val="0"/>
                  </a:spcBef>
                  <a:buClr>
                    <a:srgbClr val="005825"/>
                  </a:buClr>
                  <a:buSzPct val="125000"/>
                  <a:buNone/>
                </a:pPr>
                <a:endParaRPr lang="en-US" dirty="0">
                  <a:latin typeface="Times New Roman" panose="02020603050405020304" charset="0"/>
                </a:endParaRPr>
              </a:p>
              <a:p>
                <a:pPr marL="0" lvl="1">
                  <a:lnSpc>
                    <a:spcPct val="150000"/>
                  </a:lnSpc>
                  <a:spcBef>
                    <a:spcPts val="0"/>
                  </a:spcBef>
                  <a:buClr>
                    <a:srgbClr val="005825"/>
                  </a:buClr>
                  <a:buSzPct val="125000"/>
                </a:pPr>
                <a:endParaRPr lang="en-US" dirty="0">
                  <a:latin typeface="Times New Roman" panose="02020603050405020304" charset="0"/>
                </a:endParaRPr>
              </a:p>
              <a:p>
                <a:pPr marL="0" lvl="1">
                  <a:lnSpc>
                    <a:spcPct val="150000"/>
                  </a:lnSpc>
                  <a:spcBef>
                    <a:spcPts val="0"/>
                  </a:spcBef>
                  <a:buClr>
                    <a:srgbClr val="005825"/>
                  </a:buClr>
                  <a:buSzPct val="125000"/>
                </a:pPr>
                <a:endParaRPr lang="en-US" dirty="0">
                  <a:latin typeface="Times New Roman" panose="02020603050405020304" charset="0"/>
                </a:endParaRPr>
              </a:p>
              <a:p>
                <a:pPr marL="0" lvl="1">
                  <a:lnSpc>
                    <a:spcPct val="150000"/>
                  </a:lnSpc>
                  <a:spcBef>
                    <a:spcPts val="0"/>
                  </a:spcBef>
                  <a:buClr>
                    <a:srgbClr val="005825"/>
                  </a:buClr>
                  <a:buSzPct val="125000"/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anose="020B0604020202020204" pitchFamily="34" charset="-128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C7E0FF1C-4163-C840-ABE0-D6CA4E64D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575800" cy="5021894"/>
              </a:xfrm>
              <a:prstGeom prst="rect">
                <a:avLst/>
              </a:prstGeom>
              <a:blipFill>
                <a:blip r:embed="rId2"/>
                <a:stretch>
                  <a:fillRect l="-1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649597C4-2063-4F44-ADA0-85011B496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118" y="3431247"/>
            <a:ext cx="1979572" cy="548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EDBE44-C1CC-9A44-A059-868D7997A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300" y="3331255"/>
            <a:ext cx="1979572" cy="9279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AFA777-6DBE-9D46-BEFB-D00F996C2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2372" y="5081864"/>
            <a:ext cx="48895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86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Variance estimation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6" name="直接连接符 4">
            <a:extLst>
              <a:ext uri="{FF2B5EF4-FFF2-40B4-BE49-F238E27FC236}">
                <a16:creationId xmlns:a16="http://schemas.microsoft.com/office/drawing/2014/main" id="{EB29DDE9-18FC-475A-8B51-48E4A0F16177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B5D7C7D-1F90-9A42-B2D3-2A623C3E84BF}"/>
              </a:ext>
            </a:extLst>
          </p:cNvPr>
          <p:cNvSpPr txBox="1"/>
          <p:nvPr/>
        </p:nvSpPr>
        <p:spPr>
          <a:xfrm>
            <a:off x="838200" y="1708839"/>
            <a:ext cx="4206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Unbiased variance estimato</a:t>
            </a:r>
            <a:r>
              <a:rPr lang="en-US" sz="2400" b="1" dirty="0"/>
              <a:t>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0ADF62-DD7A-8F48-BD9B-CA82AD627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056" y="2200093"/>
            <a:ext cx="3848100" cy="850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7DCC4D-C1FC-5846-B37B-5A5606E19029}"/>
                  </a:ext>
                </a:extLst>
              </p:cNvPr>
              <p:cNvSpPr txBox="1"/>
              <p:nvPr/>
            </p:nvSpPr>
            <p:spPr>
              <a:xfrm>
                <a:off x="834801" y="3579501"/>
                <a:ext cx="9119804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Degrees</a:t>
                </a:r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freedom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Describes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many random variables can vary independently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Degrees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freedom = number of independent variables – number of restrictions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7DCC4D-C1FC-5846-B37B-5A5606E19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801" y="3579501"/>
                <a:ext cx="9119804" cy="1446550"/>
              </a:xfrm>
              <a:prstGeom prst="rect">
                <a:avLst/>
              </a:prstGeom>
              <a:blipFill>
                <a:blip r:embed="rId4"/>
                <a:stretch>
                  <a:fillRect l="-834" t="-3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821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Revisit the sample variance formula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11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are </a:t>
                </a:r>
                <a:r>
                  <a:rPr lang="en-US" altLang="zh-CN" dirty="0" err="1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i.i.d.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with mean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Sample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∑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A regression perspective 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Gauss-Markov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OLS estimate: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RSS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  <a:blipFill>
                <a:blip r:embed="rId3"/>
                <a:stretch>
                  <a:fillRect l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8027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Revisit the pooled sample variance formula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are </a:t>
                </a:r>
                <a:r>
                  <a:rPr lang="en-US" altLang="zh-CN" dirty="0" err="1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i.i.d.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with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are </a:t>
                </a:r>
                <a:r>
                  <a:rPr lang="en-US" altLang="zh-CN" dirty="0" err="1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i.i.d.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with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pooled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𝑝𝑜𝑜𝑙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−2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{∑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+∑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} 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𝑝𝑜𝑜𝑙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A regression perspective 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Gauss-Markov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OLS estimate: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RSS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e>
                    </m:d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𝑝𝑜𝑜𝑙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  <a:blipFill>
                <a:blip r:embed="rId3"/>
                <a:stretch>
                  <a:fillRect l="-1447" t="-543" r="-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2469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Revisit the SSW (Sum of Squares Within)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13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are </a:t>
                </a:r>
                <a:r>
                  <a:rPr lang="en-US" altLang="zh-CN" dirty="0" err="1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i.i.d.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with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b="0" dirty="0"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SSW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 ∑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∑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Degrees of freedom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A regression perspective 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Gauss-Markov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OLS estimate: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RSS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  <a:blipFill>
                <a:blip r:embed="rId3"/>
                <a:stretch>
                  <a:fillRect l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95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Gauss-Markov theorem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3" y="1546225"/>
            <a:ext cx="7683497" cy="465613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8782111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>
                  <a:lnSpc>
                    <a:spcPct val="150000"/>
                  </a:lnSpc>
                  <a:spcBef>
                    <a:spcPts val="0"/>
                  </a:spcBef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Why should we focus on the OLS estimator?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Why not use other functions of “misfits”?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Is it optimal in some sense?</a:t>
                </a: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sz="260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Gauss-Markov theorem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 Unicode MS" panose="020B0604020202020204" pitchFamily="34" charset="-128"/>
                          </a:rPr>
                          <m:t>β</m:t>
                        </m:r>
                      </m:e>
                    </m:acc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has the smallest covariance matrix among all 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linear unbiased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estimators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Named after Carl Friedrich Gauss and Andrew Markov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The corresponding model is called Gauss-Markov model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8782111" cy="4656139"/>
              </a:xfrm>
              <a:prstGeom prst="rect">
                <a:avLst/>
              </a:prstGeom>
              <a:blipFill>
                <a:blip r:embed="rId3"/>
                <a:stretch>
                  <a:fillRect l="-1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3833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Gauss-Markov theorem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550F312-5FB6-4F47-9714-BEC3C1DF3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108573"/>
            <a:ext cx="10502900" cy="1384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1DA4B0-5286-0249-8DD0-42E59ACF1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444625"/>
            <a:ext cx="10858500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27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Gauss-Markov theorem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16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Condition (C1)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Linear transformation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Y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Arial Unicode MS" panose="020B0604020202020204" pitchFamily="34" charset="-128"/>
                      </a:rPr>
                      <m:t>A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can be nonlinear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Arial Unicode MS" panose="020B0604020202020204" pitchFamily="34" charset="-128"/>
                      </a:rPr>
                      <m:t>X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  <a:ea typeface="Microsoft YaHei" panose="020B0503020204020204" pitchFamily="34" charset="-122"/>
                  <a:cs typeface="Arial Unicode MS" panose="020B0604020202020204" pitchFamily="34" charset="-128"/>
                </a:endParaRP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Condition (C2) 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is an unbiased estimator of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Implication: </a:t>
                </a:r>
              </a:p>
              <a:p>
                <a:pPr marL="457206" lvl="2" indent="0">
                  <a:lnSpc>
                    <a:spcPct val="150000"/>
                  </a:lnSpc>
                  <a:buClr>
                    <a:srgbClr val="005825"/>
                  </a:buClr>
                  <a:buSzPct val="125000"/>
                  <a:buNone/>
                </a:pPr>
                <a:endParaRPr lang="en-US" altLang="zh-CN" sz="18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OLS estimator has smaller variance than other estimators for all coordinates</a:t>
                </a:r>
              </a:p>
              <a:p>
                <a:pPr>
                  <a:buFont typeface="Wingdings" pitchFamily="2" charset="2"/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  <a:blipFill>
                <a:blip r:embed="rId3"/>
                <a:stretch>
                  <a:fillRect l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A9D8FB5C-9FB9-284F-965B-9872BA8C9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606" y="4199949"/>
            <a:ext cx="49530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58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Gauss-Markov theorem: proof</a:t>
            </a:r>
            <a:endParaRPr lang="zh-CN" altLang="en-US" sz="3200" dirty="0">
              <a:solidFill>
                <a:srgbClr val="005825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9" name="直接连接符 4">
            <a:extLst>
              <a:ext uri="{FF2B5EF4-FFF2-40B4-BE49-F238E27FC236}">
                <a16:creationId xmlns:a16="http://schemas.microsoft.com/office/drawing/2014/main" id="{C2DFBF73-3E27-46AC-8325-448C974C55C0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AFA1002A-C020-5E4D-88B2-BD4C44D0316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838200" y="1315310"/>
                <a:ext cx="9651998" cy="53444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18" lvl="1" indent="-457200">
                  <a:lnSpc>
                    <a:spcPct val="150000"/>
                  </a:lnSpc>
                  <a:buClr>
                    <a:srgbClr val="005825"/>
                  </a:buClr>
                  <a:buSzPct val="125000"/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is a linear unbiased estimator</a:t>
                </a:r>
              </a:p>
              <a:p>
                <a:pPr marL="457218" lvl="1" indent="-457200">
                  <a:lnSpc>
                    <a:spcPct val="150000"/>
                  </a:lnSpc>
                  <a:buClr>
                    <a:srgbClr val="005825"/>
                  </a:buClr>
                  <a:buSzPct val="125000"/>
                  <a:buFont typeface="+mj-lt"/>
                  <a:buAutoNum type="arabicPeriod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Decomposition </a:t>
                </a:r>
              </a:p>
              <a:p>
                <a:pPr marL="457206" lvl="2" indent="0">
                  <a:lnSpc>
                    <a:spcPct val="150000"/>
                  </a:lnSpc>
                  <a:buClr>
                    <a:srgbClr val="005825"/>
                  </a:buClr>
                  <a:buSzPct val="125000"/>
                  <a:buNone/>
                </a:pPr>
                <a:endParaRPr lang="en-US" altLang="zh-CN" sz="18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AFA1002A-C020-5E4D-88B2-BD4C44D03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15310"/>
                <a:ext cx="9651998" cy="5344411"/>
              </a:xfrm>
              <a:prstGeom prst="rect">
                <a:avLst/>
              </a:prstGeom>
              <a:blipFill>
                <a:blip r:embed="rId2"/>
                <a:stretch>
                  <a:fillRect l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DBA337B-0A25-7042-AFAA-0C08ECA97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345" y="2605723"/>
            <a:ext cx="6819900" cy="787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69B336-25D5-A94B-B45F-6CB473B04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3380" y="3393123"/>
            <a:ext cx="7279377" cy="25164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35C52B-BD10-6649-9508-E34C90340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8439" y="5903975"/>
            <a:ext cx="38735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58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Other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linear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unbiased estimators</a:t>
            </a:r>
            <a:endParaRPr lang="zh-CN" altLang="en-US" sz="3200" dirty="0">
              <a:solidFill>
                <a:srgbClr val="005825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9" name="直接连接符 4">
            <a:extLst>
              <a:ext uri="{FF2B5EF4-FFF2-40B4-BE49-F238E27FC236}">
                <a16:creationId xmlns:a16="http://schemas.microsoft.com/office/drawing/2014/main" id="{C2DFBF73-3E27-46AC-8325-448C974C55C0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内容占位符 2">
                <a:extLst>
                  <a:ext uri="{FF2B5EF4-FFF2-40B4-BE49-F238E27FC236}">
                    <a16:creationId xmlns:a16="http://schemas.microsoft.com/office/drawing/2014/main" id="{88D723F6-68CA-BF4F-9C97-77EE56B9514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Linear unbiased estimators only need to satisfy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𝐴𝑋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free parameters to choose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Infinitely</a:t>
                </a:r>
                <a:r>
                  <a:rPr lang="zh-CN" altLang="en-US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many</a:t>
                </a:r>
                <a:r>
                  <a:rPr lang="zh-CN" altLang="en-US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linear</a:t>
                </a:r>
                <a:r>
                  <a:rPr lang="zh-CN" altLang="en-US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unbiased</a:t>
                </a:r>
                <a:r>
                  <a:rPr lang="zh-CN" altLang="en-US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estimators</a:t>
                </a:r>
                <a:endParaRPr lang="en-US" altLang="zh-CN" b="0" dirty="0">
                  <a:latin typeface="Times New Roman" panose="02020603050405020304" pitchFamily="18" charset="0"/>
                  <a:ea typeface="Microsoft YaHei" panose="020B0503020204020204" pitchFamily="34" charset="-122"/>
                  <a:cs typeface="Arial Unicode MS" panose="020B0604020202020204" pitchFamily="34" charset="-128"/>
                </a:endParaRP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class</a:t>
                </a:r>
                <a:r>
                  <a:rPr lang="zh-CN" altLang="en-US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of</a:t>
                </a:r>
                <a:r>
                  <a:rPr lang="zh-CN" altLang="en-US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linear</a:t>
                </a:r>
                <a:r>
                  <a:rPr lang="zh-CN" altLang="en-US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unbiased</a:t>
                </a:r>
                <a:r>
                  <a:rPr lang="zh-CN" altLang="en-US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estimators:</a:t>
                </a:r>
                <a:r>
                  <a:rPr lang="zh-CN" altLang="en-US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weighted</a:t>
                </a:r>
                <a:r>
                  <a:rPr lang="zh-CN" altLang="en-US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least</a:t>
                </a:r>
                <a:r>
                  <a:rPr lang="zh-CN" altLang="en-US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squares</a:t>
                </a:r>
                <a:r>
                  <a:rPr lang="zh-CN" altLang="en-US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estimator</a:t>
                </a:r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6" lvl="2" indent="0">
                  <a:lnSpc>
                    <a:spcPct val="150000"/>
                  </a:lnSpc>
                  <a:buClr>
                    <a:srgbClr val="005825"/>
                  </a:buClr>
                  <a:buSzPct val="125000"/>
                  <a:buNone/>
                </a:pPr>
                <a:endParaRPr lang="en-US" altLang="zh-CN" sz="18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6" name="内容占位符 2">
                <a:extLst>
                  <a:ext uri="{FF2B5EF4-FFF2-40B4-BE49-F238E27FC236}">
                    <a16:creationId xmlns:a16="http://schemas.microsoft.com/office/drawing/2014/main" id="{88D723F6-68CA-BF4F-9C97-77EE56B95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  <a:blipFill>
                <a:blip r:embed="rId3"/>
                <a:stretch>
                  <a:fillRect l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CFD8929-C44E-B241-9696-81E7A94A5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008" y="3965549"/>
            <a:ext cx="2806700" cy="44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32C98B-3089-AE48-9D3F-AA7704641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6748" y="4579805"/>
            <a:ext cx="683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871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A842C61-C073-6B5F-D860-4F7F2C4DFE4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1836D5B9-F860-14E7-4B17-33E57AADED1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3CD619D9-1253-5D6B-8585-2EDC9D97012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FA2C35E9-8152-D2D7-C02D-E8F862CE3E3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AF2F631D-2058-A46A-A6CF-D3CD57AD509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B05AB04-6C52-87E3-8287-54B2DFBAC60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If the Gauss-Markov model holds except for homoskedasticity, what changes?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90AB7E-2CA0-75D4-8EB9-3A028BD5906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OLS becomes biased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8CB5F9-BF5D-E03E-FC77-C12074195AB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OLS still unbiased but not efficient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6D4DA9-5F56-AC0F-621B-0F92A4DBE79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OLS still unbiased and efficient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60D3DD-C074-B908-0A46-99C55EFFB55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OLS cannot be computed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E86DD8-24D0-A74D-4723-FC660EA2608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60A6EF-46B6-5256-25DC-5B216850F4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6B7B05-B33D-8D14-C9BA-0822DD2F213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2C0C6C-8848-FFD6-60D7-5D84E92D364C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E5327DE-FC7C-EA94-3D50-3C0E7DDCA63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BEF7BF-630B-3C42-2893-8B45E730125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9647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 modern Gauss-Markov Theorem?</a:t>
            </a:r>
            <a:endParaRPr lang="zh-CN" altLang="en-US" sz="3200" dirty="0">
              <a:solidFill>
                <a:srgbClr val="005825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9" name="直接连接符 4">
            <a:extLst>
              <a:ext uri="{FF2B5EF4-FFF2-40B4-BE49-F238E27FC236}">
                <a16:creationId xmlns:a16="http://schemas.microsoft.com/office/drawing/2014/main" id="{C2DFBF73-3E27-46AC-8325-448C974C55C0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88D723F6-68CA-BF4F-9C97-77EE56B95143}"/>
              </a:ext>
            </a:extLst>
          </p:cNvPr>
          <p:cNvSpPr txBox="1">
            <a:spLocks noChangeArrowheads="1"/>
          </p:cNvSpPr>
          <p:nvPr/>
        </p:nvSpPr>
        <p:spPr>
          <a:xfrm>
            <a:off x="914401" y="1554480"/>
            <a:ext cx="9651998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6" lvl="2" indent="0">
              <a:lnSpc>
                <a:spcPct val="150000"/>
              </a:lnSpc>
              <a:buClr>
                <a:srgbClr val="005825"/>
              </a:buClr>
              <a:buSzPct val="125000"/>
              <a:buNone/>
            </a:pPr>
            <a:endParaRPr lang="en-US" altLang="zh-CN" sz="18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3B4227-B003-2858-46B8-BCF121D00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10081"/>
            <a:ext cx="7772400" cy="17296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842D83-3A08-854B-522C-4DCA759C0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1" y="3373344"/>
            <a:ext cx="7772400" cy="9045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4B45C1-E1AA-80B0-B541-6B93D0530EE4}"/>
              </a:ext>
            </a:extLst>
          </p:cNvPr>
          <p:cNvSpPr txBox="1"/>
          <p:nvPr/>
        </p:nvSpPr>
        <p:spPr>
          <a:xfrm>
            <a:off x="838200" y="4701588"/>
            <a:ext cx="8858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</a:rPr>
              <a:t>Critics argue that Hansen's results are either equivalent to the classical theorem (with linearity reintroduced indirectly) or introduce extra, unnecessary assumptions. 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885962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  <p:tag name="PROBLEMSCORE_HALF" val="0"/>
  <p:tag name="PROBLEMHASREMARK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18390</TotalTime>
  <Words>1105</Words>
  <Application>Microsoft Macintosh PowerPoint</Application>
  <PresentationFormat>Widescreen</PresentationFormat>
  <Paragraphs>263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Microsoft YaHei</vt:lpstr>
      <vt:lpstr>Microsoft YaHei</vt:lpstr>
      <vt:lpstr>Microsoft YaHei</vt:lpstr>
      <vt:lpstr>Arial</vt:lpstr>
      <vt:lpstr>Calibri</vt:lpstr>
      <vt:lpstr>Cambria Math</vt:lpstr>
      <vt:lpstr>Times New Roman</vt:lpstr>
      <vt:lpstr>Verdana</vt:lpstr>
      <vt:lpstr>Wingdings</vt:lpstr>
      <vt:lpstr>Office Theme</vt:lpstr>
      <vt:lpstr>Gauss-Markov Model</vt:lpstr>
      <vt:lpstr>Regression model</vt:lpstr>
      <vt:lpstr>Linear model</vt:lpstr>
      <vt:lpstr>Two important models</vt:lpstr>
      <vt:lpstr>Gauss-Markov model</vt:lpstr>
      <vt:lpstr>OLS properties under the Gauss-Markov model</vt:lpstr>
      <vt:lpstr>OLS properties under the Gauss-Markov model</vt:lpstr>
      <vt:lpstr>OLS properties under the Gauss-Markov model</vt:lpstr>
      <vt:lpstr>Variance estimation</vt:lpstr>
      <vt:lpstr>Variance estimation</vt:lpstr>
      <vt:lpstr>Revisit the sample variance formula</vt:lpstr>
      <vt:lpstr>Revisit the pooled sample variance formula</vt:lpstr>
      <vt:lpstr>Revisit the SSW (Sum of Squares Within)</vt:lpstr>
      <vt:lpstr>Gauss-Markov theorem</vt:lpstr>
      <vt:lpstr>Gauss-Markov theorem</vt:lpstr>
      <vt:lpstr>Gauss-Markov theorem</vt:lpstr>
      <vt:lpstr>Gauss-Markov theorem: proof</vt:lpstr>
      <vt:lpstr>Other linear unbiased estimators</vt:lpstr>
      <vt:lpstr>PowerPoint Presentation</vt:lpstr>
      <vt:lpstr>A modern Gauss-Markov Theorem?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求职汇报</dc:title>
  <dc:creator>Microsoft Office User</dc:creator>
  <cp:lastModifiedBy>Zhichao Jiang</cp:lastModifiedBy>
  <cp:revision>163</cp:revision>
  <dcterms:created xsi:type="dcterms:W3CDTF">2022-01-07T20:32:42Z</dcterms:created>
  <dcterms:modified xsi:type="dcterms:W3CDTF">2025-09-22T13:04:00Z</dcterms:modified>
</cp:coreProperties>
</file>