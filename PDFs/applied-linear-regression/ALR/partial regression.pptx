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732" r:id="rId3"/>
    <p:sldId id="697" r:id="rId4"/>
    <p:sldId id="707" r:id="rId5"/>
    <p:sldId id="708" r:id="rId6"/>
    <p:sldId id="705" r:id="rId7"/>
    <p:sldId id="698" r:id="rId8"/>
    <p:sldId id="719" r:id="rId9"/>
    <p:sldId id="699" r:id="rId10"/>
    <p:sldId id="717" r:id="rId11"/>
    <p:sldId id="734" r:id="rId12"/>
    <p:sldId id="700" r:id="rId13"/>
    <p:sldId id="715" r:id="rId14"/>
    <p:sldId id="701" r:id="rId15"/>
    <p:sldId id="709" r:id="rId16"/>
    <p:sldId id="702" r:id="rId17"/>
    <p:sldId id="720" r:id="rId18"/>
    <p:sldId id="721" r:id="rId19"/>
    <p:sldId id="722" r:id="rId20"/>
    <p:sldId id="718" r:id="rId21"/>
    <p:sldId id="710" r:id="rId22"/>
    <p:sldId id="730" r:id="rId23"/>
    <p:sldId id="735" r:id="rId24"/>
    <p:sldId id="723" r:id="rId25"/>
    <p:sldId id="711" r:id="rId26"/>
    <p:sldId id="724" r:id="rId27"/>
    <p:sldId id="725" r:id="rId28"/>
    <p:sldId id="731" r:id="rId29"/>
    <p:sldId id="733" r:id="rId30"/>
    <p:sldId id="736" r:id="rId31"/>
    <p:sldId id="726" r:id="rId32"/>
    <p:sldId id="727" r:id="rId33"/>
    <p:sldId id="728" r:id="rId34"/>
    <p:sldId id="72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7"/>
    <p:restoredTop sz="95837"/>
  </p:normalViewPr>
  <p:slideViewPr>
    <p:cSldViewPr snapToGrid="0" snapToObjects="1">
      <p:cViewPr varScale="1">
        <p:scale>
          <a:sx n="199" d="100"/>
          <a:sy n="199" d="100"/>
        </p:scale>
        <p:origin x="1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FD691-5F70-3545-8431-8DFF5A6F81FD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F79CE-CD64-3E46-8DDE-E612CD09D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econometrics, the “impact” of X2 on Y ceteris paribus. The English meaning of this Latin phrase is “with other conditions remaining the same.”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6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7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projection of v onto the column space of X equals the summation of the projection of v onto  the column space of X1 and the projection of v onto the column space of \tilde X2.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6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0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5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3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43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87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Interpretation of the coefficients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72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prove relationship between partial correlation and marginal correlation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82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test  model1 vs model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99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22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56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Partial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regressions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Motivation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49ABA5FB-C15E-6E48-B99C-30EEB709E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9071811" cy="465613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have the basic inference procedure for the coefficients 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Other results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require</a:t>
            </a:r>
            <a:r>
              <a:rPr lang="zh-CN" altLang="en-US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 more detailed understanding of the properties the OLS estimates</a:t>
            </a:r>
          </a:p>
          <a:p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Frisch-Waugh-Lovell (FWL) Theorem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Connects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simple</a:t>
            </a:r>
            <a:r>
              <a:rPr lang="zh-CN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linear regression with multiple linear regression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ANOVA for linear regression</a:t>
            </a:r>
          </a:p>
          <a:p>
            <a:pPr lvl="1"/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Model checking</a:t>
            </a: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endParaRPr lang="zh-CN" altLang="en-US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53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Long and short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8D1614F-A784-9C44-B309-7A1BA057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32" y="1280160"/>
            <a:ext cx="8051800" cy="304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69E1FB-5BA5-E242-83C6-AA06DCB59679}"/>
                  </a:ext>
                </a:extLst>
              </p:cNvPr>
              <p:cNvSpPr txBox="1"/>
              <p:nvPr/>
            </p:nvSpPr>
            <p:spPr>
              <a:xfrm>
                <a:off x="1058779" y="4704347"/>
                <a:ext cx="10795904" cy="1340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the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is zero, what is the consequence of including it in the long regression?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the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is non-zero, what is the consequence of omitting it in the short regression?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What is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000" dirty="0"/>
                  <a:t> Both of them measure the association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r>
                  <a:rPr lang="en-US" sz="2000" dirty="0"/>
                  <a:t>     then why are they different? Does the difference provide some information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69E1FB-5BA5-E242-83C6-AA06DCB5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79" y="4704347"/>
                <a:ext cx="10795904" cy="1340175"/>
              </a:xfrm>
              <a:prstGeom prst="rect">
                <a:avLst/>
              </a:prstGeom>
              <a:blipFill>
                <a:blip r:embed="rId3"/>
                <a:stretch>
                  <a:fillRect l="-353" t="-1869"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Frisch-Waugh-Lovell (FWL) theorem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40DF1C-CA82-B242-B715-41A674FC06C4}"/>
                  </a:ext>
                </a:extLst>
              </p:cNvPr>
              <p:cNvSpPr txBox="1"/>
              <p:nvPr/>
            </p:nvSpPr>
            <p:spPr>
              <a:xfrm>
                <a:off x="1263316" y="4920916"/>
                <a:ext cx="9834872" cy="969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Frisch</a:t>
                </a:r>
                <a:r>
                  <a:rPr lang="en-US" dirty="0"/>
                  <a:t> and Waugh, 1933; Lovell, 1963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 a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change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after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“adjusting”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If the columns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orthogonal, then the estimators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40DF1C-CA82-B242-B715-41A674FC0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316" y="4920916"/>
                <a:ext cx="9834872" cy="969111"/>
              </a:xfrm>
              <a:prstGeom prst="rect">
                <a:avLst/>
              </a:prstGeom>
              <a:blipFill>
                <a:blip r:embed="rId3"/>
                <a:stretch>
                  <a:fillRect l="-387" t="-256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85C0209-1888-2245-A95D-1B45CB0A9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1415626"/>
            <a:ext cx="10604500" cy="3416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186983-DD7F-35B7-22D0-60FE2ECA1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51" y="5836393"/>
            <a:ext cx="7696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3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Inverse of block matrix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B54B9D4-41AF-A247-8C15-97078F590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56" y="1397000"/>
            <a:ext cx="7213600" cy="203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65030C-CED9-514F-AFD3-0F9776F37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361" y="4238941"/>
            <a:ext cx="56261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38C7A1-762D-CB44-94A6-B7A8B30B4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811" y="5179060"/>
            <a:ext cx="5029200" cy="43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25FC7F-CE9E-624C-B886-E9CDE7C4904A}"/>
              </a:ext>
            </a:extLst>
          </p:cNvPr>
          <p:cNvSpPr txBox="1"/>
          <p:nvPr/>
        </p:nvSpPr>
        <p:spPr>
          <a:xfrm>
            <a:off x="914400" y="373219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Implications: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54A5F-2D0C-B44C-A679-363B52B9CBE2}"/>
              </a:ext>
            </a:extLst>
          </p:cNvPr>
          <p:cNvSpPr txBox="1"/>
          <p:nvPr/>
        </p:nvSpPr>
        <p:spPr>
          <a:xfrm>
            <a:off x="914400" y="4304937"/>
            <a:ext cx="1942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Woodbury formula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DC4FB-5EBD-0E4E-86CD-08A6B92B4F8D}"/>
              </a:ext>
            </a:extLst>
          </p:cNvPr>
          <p:cNvSpPr txBox="1"/>
          <p:nvPr/>
        </p:nvSpPr>
        <p:spPr>
          <a:xfrm>
            <a:off x="914400" y="5247009"/>
            <a:ext cx="279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Sherman-Morrison formula</a:t>
            </a:r>
          </a:p>
        </p:txBody>
      </p:sp>
    </p:spTree>
    <p:extLst>
      <p:ext uri="{BB962C8B-B14F-4D97-AF65-F5344CB8AC3E}">
        <p14:creationId xmlns:p14="http://schemas.microsoft.com/office/powerpoint/2010/main" val="355115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𝑿</m:t>
                        </m:r>
                      </m:e>
                      <m:sup>
                        <m:r>
                          <a:rPr lang="en-US" altLang="zh-CN" sz="3200" b="1" i="1" smtClean="0">
                            <a:solidFill>
                              <a:srgbClr val="005825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 Unicode MS" panose="020B0604020202020204" pitchFamily="34" charset="-128"/>
                          </a:rPr>
                          <m:t>𝑻</m:t>
                        </m:r>
                      </m:sup>
                    </m:sSup>
                    <m:r>
                      <a:rPr lang="en-US" altLang="zh-CN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 Unicode MS" panose="020B0604020202020204" pitchFamily="34" charset="-128"/>
                      </a:rPr>
                      <m:t>𝑿</m:t>
                    </m:r>
                  </m:oMath>
                </a14:m>
                <a:endParaRPr lang="zh-CN" altLang="en-US" sz="3200" b="1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C35661B6-DCE0-48B3-8CA5-30CD883A7868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1F5153D-01CB-2F42-ABFE-C57F889C5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556" y="2200093"/>
            <a:ext cx="72136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86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Proof of FWL theorem (version 1)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EB29DDE9-18FC-475A-8B51-48E4A0F1617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7FC2076-FCC9-8044-B3F2-6015550E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56" y="1615123"/>
            <a:ext cx="5486400" cy="990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13A5E2-7108-C848-AD50-799C40614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56" y="3327182"/>
            <a:ext cx="60579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2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Proof of FWL theorem (version 2)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EB29DDE9-18FC-475A-8B51-48E4A0F1617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0D0D9F1-D933-A04E-8F56-EC5998A2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58" y="1464167"/>
            <a:ext cx="5918200" cy="58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8CDCD-1201-FB43-9712-7F852558C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58" y="2034649"/>
            <a:ext cx="6337300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E81E1-7B5E-A947-B498-656B0D9F4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758" y="2617755"/>
            <a:ext cx="37592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5D74FC-139C-F043-B063-2451FB7F7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608" y="3002718"/>
            <a:ext cx="4127500" cy="63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F4A31C-6FB5-BD4D-90F0-414CAAA81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759" y="3879850"/>
            <a:ext cx="78359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8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Decomposition of projection matrix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3" y="1546225"/>
            <a:ext cx="7683497" cy="46561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D1AD3D5-83D6-3A47-93E6-2EFBDDAE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971" y="2783348"/>
            <a:ext cx="2324100" cy="533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05120F-5A86-0043-925E-EC06EA25B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803" y="2004315"/>
            <a:ext cx="3683000" cy="48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17CA71-A513-6E41-B6D7-3908EC72C13C}"/>
              </a:ext>
            </a:extLst>
          </p:cNvPr>
          <p:cNvSpPr txBox="1"/>
          <p:nvPr/>
        </p:nvSpPr>
        <p:spPr>
          <a:xfrm>
            <a:off x="3029026" y="284376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24786A-D8C7-6A4B-B04A-C9796656A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409407"/>
            <a:ext cx="10490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3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FWL theorem for standard errors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3" y="1546225"/>
            <a:ext cx="7683497" cy="46561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3" name="直接连接符 4">
            <a:extLst>
              <a:ext uri="{FF2B5EF4-FFF2-40B4-BE49-F238E27FC236}">
                <a16:creationId xmlns:a16="http://schemas.microsoft.com/office/drawing/2014/main" id="{DC5045C3-EB69-4BE9-B5C4-BAFB879F4F0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CF2D0A8-009C-ED49-B7C3-13136731E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431" y="4536905"/>
            <a:ext cx="7129850" cy="8831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D7F2D7-42AB-BEDD-8DC5-E834AED18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431" y="1918936"/>
            <a:ext cx="7772400" cy="23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0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7BFDE9A-D189-CCFC-18C2-BF26D64D484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767E69CF-07FB-076B-51B4-4D541710255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39228D0-1550-00D1-36AE-1D1F7301EB6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3FE46F4-EDB7-C02F-92DB-C989533E306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1652D039-00C0-19C7-10FE-C5391027CA9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DC81ED1-A9F8-EB0A-EBF8-8BD11CC12C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of the following statements are correct?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7BF50-939E-E0AE-AE28-86FFF9B3C9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FWL Theorem is purely algebraic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F88EA4-1B3B-2F10-7A2E-56F112382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FWL Theorem requires Gauss Markov model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85651-962A-D7DF-7D5A-57BC7EB445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FWL Theorem requires Normal linear model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067C8-C82C-BE1A-C9BF-2F288DAFA9C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FWL Theorem requires heteroskedastic linear model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AE83C-F6F3-337A-F0F0-5E42458A920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74CE11-E582-AC09-D25B-913120789B4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BF5D8A-FD84-6BCB-9DC3-EF70F8D0153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49E531-5535-AF2A-D26B-CCB35B9EF79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8F36EDE-65F8-5984-5C60-0A09ABABEF1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F4B15-4F4C-1264-434A-9EE9F7C5579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03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Gram-Schmidt orthogonalization and QR decomposition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1DE3B45-FE26-9A4C-8B09-EA25B05DA3C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575800" cy="465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 is difficult to calculate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directly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Orthogonalize the columns of the covariate matrix</a:t>
                </a:r>
              </a:p>
              <a:p>
                <a:pPr lvl="1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QR decomposition in linear algebra</a:t>
                </a:r>
              </a:p>
              <a:p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Goal: find orthogonal vectors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that generate the same column space as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</m:oMath>
                </a14:m>
                <a:endParaRPr lang="zh-CN" altLang="en-US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1DE3B45-FE26-9A4C-8B09-EA25B05DA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575800" cy="4656139"/>
              </a:xfrm>
              <a:prstGeom prst="rect">
                <a:avLst/>
              </a:prstGeom>
              <a:blipFill>
                <a:blip r:embed="rId3"/>
                <a:stretch>
                  <a:fillRect l="-927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758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Gram-Schmidt orthogonalization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5307829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08056-D720-4549-81FD-C6E64BE5C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277" y="1539245"/>
            <a:ext cx="1143000" cy="419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8A122D-2523-AB4F-B0A6-76A70AD6B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512" y="1868126"/>
            <a:ext cx="5930900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60798-5660-AD4D-8B6E-EEDDD0D9C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771" y="2842486"/>
            <a:ext cx="3619500" cy="48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3EC58-4569-EC4D-91DF-35B01EE03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959" y="3296624"/>
            <a:ext cx="27813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ED75E6-3AD7-B140-8E94-B7A5F0764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0383" y="4675841"/>
            <a:ext cx="3314700" cy="57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3E976-9C00-044F-A5DB-9EB6ED17E515}"/>
              </a:ext>
            </a:extLst>
          </p:cNvPr>
          <p:cNvSpPr txBox="1"/>
          <p:nvPr/>
        </p:nvSpPr>
        <p:spPr>
          <a:xfrm>
            <a:off x="1187512" y="4295192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 U vectors to have unit length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CFA7A-1AF2-ED45-B3BC-F8D7A2837BE9}"/>
              </a:ext>
            </a:extLst>
          </p:cNvPr>
          <p:cNvSpPr txBox="1"/>
          <p:nvPr/>
        </p:nvSpPr>
        <p:spPr>
          <a:xfrm>
            <a:off x="1187512" y="5516761"/>
            <a:ext cx="521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Gram-Schmidt</a:t>
            </a:r>
            <a:r>
              <a:rPr lang="en-US" altLang="zh-CN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dirty="0"/>
              <a:t>orthogonalization: sequential OLS fits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CFBA1E-3CC8-AE47-8D7C-960FEEE750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900" y="4726641"/>
            <a:ext cx="20574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36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QR decomposition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4089BDF-8A19-A845-82D7-4C68D5E5A53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7919717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7513F-9BF6-824E-BD90-59ADBE6C760C}"/>
              </a:ext>
            </a:extLst>
          </p:cNvPr>
          <p:cNvSpPr txBox="1"/>
          <p:nvPr/>
        </p:nvSpPr>
        <p:spPr>
          <a:xfrm>
            <a:off x="5005137" y="51374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0E4776-E349-B545-9864-D040BA80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614" y="1351184"/>
            <a:ext cx="6591300" cy="334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1C1D31-E56A-ED4A-AD53-4EAC0A4E8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4757408"/>
            <a:ext cx="104648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OLS computation</a:t>
            </a:r>
            <a:endParaRPr lang="zh-CN" altLang="en-US" sz="3200" dirty="0">
              <a:solidFill>
                <a:srgbClr val="005825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40042" y="4560195"/>
            <a:ext cx="8714873" cy="12390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 R,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qr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function gives the QR decomposition of a matrix. We can specify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qr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=TRUE in </a:t>
            </a:r>
            <a:r>
              <a:rPr lang="en-US" altLang="zh-CN" sz="20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lm</a:t>
            </a: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function to obtain the QR decomposition of the covariate matrix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9" name="直接连接符 4">
            <a:extLst>
              <a:ext uri="{FF2B5EF4-FFF2-40B4-BE49-F238E27FC236}">
                <a16:creationId xmlns:a16="http://schemas.microsoft.com/office/drawing/2014/main" id="{C2DFBF73-3E27-46AC-8325-448C974C55C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4089BDF-8A19-A845-82D7-4C68D5E5A53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7243011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5825"/>
              </a:buClr>
              <a:buSzPct val="125000"/>
              <a:buNone/>
            </a:pPr>
            <a:endParaRPr lang="en-US" altLang="zh-CN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A6136-437B-6C4A-9A07-3FBFA55FB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905" y="1786690"/>
            <a:ext cx="2387600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387A6E-589F-9B4B-8817-15CDECB4D386}"/>
                  </a:ext>
                </a:extLst>
              </p:cNvPr>
              <p:cNvSpPr txBox="1"/>
              <p:nvPr/>
            </p:nvSpPr>
            <p:spPr>
              <a:xfrm>
                <a:off x="1540042" y="3477126"/>
                <a:ext cx="66992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QR decomposition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err="1"/>
                  <a:t>Backsolve</a:t>
                </a:r>
                <a:r>
                  <a:rPr lang="en-US" dirty="0"/>
                  <a:t> the linear equation 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upper triangular matrix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387A6E-589F-9B4B-8817-15CDECB4D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042" y="3477126"/>
                <a:ext cx="6699270" cy="646331"/>
              </a:xfrm>
              <a:prstGeom prst="rect">
                <a:avLst/>
              </a:prstGeom>
              <a:blipFill>
                <a:blip r:embed="rId4"/>
                <a:stretch>
                  <a:fillRect l="-378" t="-3846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87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Centering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regressors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Partition the covariate matrix into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  <a:blipFill>
                <a:blip r:embed="rId2"/>
                <a:stretch>
                  <a:fillRect l="-1181" t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88070F3-BE74-4647-ABEF-7A6205AB8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200093"/>
            <a:ext cx="6438900" cy="114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C20DFA-35A2-F149-AB80-038964B36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666" y="3377563"/>
            <a:ext cx="22733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CF9C9-AA59-7545-BF04-B5D8D3F99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506" y="3890404"/>
            <a:ext cx="5219700" cy="1320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AA930-AB9F-8549-B958-396C4881A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906" y="4042804"/>
            <a:ext cx="5219700" cy="132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13DB8F-D6FF-E144-8DBE-F2C736DE01EC}"/>
              </a:ext>
            </a:extLst>
          </p:cNvPr>
          <p:cNvSpPr txBox="1"/>
          <p:nvPr/>
        </p:nvSpPr>
        <p:spPr>
          <a:xfrm>
            <a:off x="4102768" y="2578947"/>
            <a:ext cx="33688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/>
              <a:t>T</a:t>
            </a:r>
            <a:endParaRPr lang="en-US" sz="9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162AC-B8B9-9ECE-9BDB-50FDE4116917}"/>
              </a:ext>
            </a:extLst>
          </p:cNvPr>
          <p:cNvSpPr/>
          <p:nvPr/>
        </p:nvSpPr>
        <p:spPr>
          <a:xfrm>
            <a:off x="2657506" y="4430486"/>
            <a:ext cx="248980" cy="261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6A75C-EC84-A5B3-966D-838CCE4347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8585" y="5554824"/>
            <a:ext cx="6784944" cy="24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03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Centering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regressors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FWL</a:t>
                </a:r>
                <a:r>
                  <a:rPr lang="zh-CN" altLang="en-US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theorem implies that the coefficient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the OLS fit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equal to the coefficient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the OLS fit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</a:p>
              <a:p>
                <a:pPr lvl="1"/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If each column of the design matrix is centered, then it does not matter to include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in the OLS</a:t>
                </a:r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  <a:blipFill>
                <a:blip r:embed="rId2"/>
                <a:stretch>
                  <a:fillRect l="-1181" t="-1795" r="-1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D13DB8F-D6FF-E144-8DBE-F2C736DE01EC}"/>
              </a:ext>
            </a:extLst>
          </p:cNvPr>
          <p:cNvSpPr txBox="1"/>
          <p:nvPr/>
        </p:nvSpPr>
        <p:spPr>
          <a:xfrm>
            <a:off x="4102768" y="2578947"/>
            <a:ext cx="33688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/>
              <a:t>T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EE728-1517-5840-9B37-3D1466F9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89" y="3515284"/>
            <a:ext cx="5130800" cy="2400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AB7D56-D1DC-6E4D-A0C8-C07FF6ECD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85" y="3153243"/>
            <a:ext cx="3945022" cy="296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78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Centering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regressors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Partition the covariate matrix into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  <a:blipFill>
                <a:blip r:embed="rId2"/>
                <a:stretch>
                  <a:fillRect l="-1181" t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D13DB8F-D6FF-E144-8DBE-F2C736DE01EC}"/>
              </a:ext>
            </a:extLst>
          </p:cNvPr>
          <p:cNvSpPr txBox="1"/>
          <p:nvPr/>
        </p:nvSpPr>
        <p:spPr>
          <a:xfrm>
            <a:off x="4102768" y="2578947"/>
            <a:ext cx="33688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/>
              <a:t>T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8AF5AC-BE42-1A4C-982A-CD180828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071" y="2214209"/>
            <a:ext cx="68707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5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Centering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regressors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If we r</a:t>
                </a:r>
                <a:r>
                  <a:rPr lang="en-US" altLang="zh-CN" sz="2000" b="0" i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egress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𝑌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US" altLang="zh-CN" sz="2000" b="0" i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b="0" i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we </a:t>
                </a: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obtain </a:t>
                </a:r>
                <a:r>
                  <a:rPr lang="en-US" altLang="zh-CN" sz="2000" b="0" i="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the residual vector</a:t>
                </a: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b="0" i="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b="0" i="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If we regress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we center each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by the group-specific means, denoted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FWL theorem: OLS coefficient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in the long regression is the OLS coefficient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US" sz="2000" dirty="0"/>
                  <a:t> in the partial regression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US" sz="2000" dirty="0"/>
                  <a:t>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zh-CN" altLang="en-US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  <a:blipFill>
                <a:blip r:embed="rId2"/>
                <a:stretch>
                  <a:fillRect l="-525" t="-1026" r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6D7A740-BC8E-8B48-885A-078C03EF6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56" y="1841866"/>
            <a:ext cx="1295870" cy="2005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A8B861-B4CF-D449-9F07-A56EF2ECE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904645"/>
            <a:ext cx="7747000" cy="317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2CDEA-958D-5D4C-B2FF-B7497C3EAF14}"/>
                  </a:ext>
                </a:extLst>
              </p:cNvPr>
              <p:cNvSpPr txBox="1"/>
              <p:nvPr/>
            </p:nvSpPr>
            <p:spPr>
              <a:xfrm>
                <a:off x="3978339" y="2659507"/>
                <a:ext cx="583108" cy="370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/>
                  <a:t>=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52CDEA-958D-5D4C-B2FF-B7497C3EA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339" y="2659507"/>
                <a:ext cx="583108" cy="370230"/>
              </a:xfrm>
              <a:prstGeom prst="rect">
                <a:avLst/>
              </a:prstGeom>
              <a:blipFill>
                <a:blip r:embed="rId5"/>
                <a:stretch>
                  <a:fillRect t="-3226" r="-6383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76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Partial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correlation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coefficient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2" name="直接连接符 4">
            <a:extLst>
              <a:ext uri="{FF2B5EF4-FFF2-40B4-BE49-F238E27FC236}">
                <a16:creationId xmlns:a16="http://schemas.microsoft.com/office/drawing/2014/main" id="{73213F19-706B-4DE8-BD21-B987678BE3F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61DE3B45-FE26-9A4C-8B09-EA25B05DA3C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575800" cy="465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31492B-C0A6-334F-9DCC-08CBEA1D9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08747"/>
            <a:ext cx="7975600" cy="162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347374-F2DF-C54E-8C2B-ADA7F780EB5B}"/>
                  </a:ext>
                </a:extLst>
              </p:cNvPr>
              <p:cNvSpPr txBox="1"/>
              <p:nvPr/>
            </p:nvSpPr>
            <p:spPr>
              <a:xfrm>
                <a:off x="914400" y="3429000"/>
                <a:ext cx="9373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do we measure the relationship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after controlling for some other variables W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347374-F2DF-C54E-8C2B-ADA7F780E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29000"/>
                <a:ext cx="9373785" cy="369332"/>
              </a:xfrm>
              <a:prstGeom prst="rect">
                <a:avLst/>
              </a:prstGeom>
              <a:blipFill>
                <a:blip r:embed="rId4"/>
                <a:stretch>
                  <a:fillRect l="-542" t="-6667" r="-13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6CD7667-FE2A-3F44-BC4E-3994B8EED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1900" y="3414181"/>
            <a:ext cx="736600" cy="355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2FA04F-C849-B542-9A6F-62F6FEF51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133" y="3871631"/>
            <a:ext cx="7823200" cy="1358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6C126B-DA25-AF49-932C-1D9A5058C9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8384" y="5230531"/>
            <a:ext cx="36195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05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Simpson’s paradox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C18765-BC70-4C49-85AF-02556DB3E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89" y="1344113"/>
            <a:ext cx="10439400" cy="226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06DAEE-A75E-744B-828C-3FD771E01A46}"/>
              </a:ext>
            </a:extLst>
          </p:cNvPr>
          <p:cNvSpPr txBox="1"/>
          <p:nvPr/>
        </p:nvSpPr>
        <p:spPr>
          <a:xfrm>
            <a:off x="838200" y="3621718"/>
            <a:ext cx="2514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Simpson’s paradox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8CD9C-6773-7D46-86CE-083D22561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456" y="3621718"/>
            <a:ext cx="1701800" cy="52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265332-05F4-764F-89F3-93D2F70B1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089" y="4183154"/>
            <a:ext cx="3175000" cy="93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1BCF80-D244-004A-94D3-21EF83D306CC}"/>
              </a:ext>
            </a:extLst>
          </p:cNvPr>
          <p:cNvSpPr txBox="1"/>
          <p:nvPr/>
        </p:nvSpPr>
        <p:spPr>
          <a:xfrm>
            <a:off x="762668" y="4310130"/>
            <a:ext cx="3217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Relationship between partial and</a:t>
            </a:r>
          </a:p>
          <a:p>
            <a:r>
              <a:rPr lang="en-US" dirty="0"/>
              <a:t> marginal correlation coefficient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615D8A-8193-9245-8E1A-8627B8543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612" y="5269724"/>
            <a:ext cx="4737100" cy="482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E2149B7-FAE0-524E-A812-11BD27967E85}"/>
              </a:ext>
            </a:extLst>
          </p:cNvPr>
          <p:cNvSpPr txBox="1"/>
          <p:nvPr/>
        </p:nvSpPr>
        <p:spPr>
          <a:xfrm>
            <a:off x="762668" y="5303520"/>
            <a:ext cx="3344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Simpson’s paradox happens </a:t>
            </a:r>
            <a:r>
              <a:rPr lang="en-US" sz="2000" dirty="0" err="1"/>
              <a:t>iff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2043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Simpson’s paradox: example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991ADE-50D4-2344-A4ED-70B79260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488" y="1376996"/>
            <a:ext cx="5855962" cy="548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21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CCAE511-10D0-081E-90FC-088487AE803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9821A1E-0220-B136-CCCA-F25FE643800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2D337EA-7426-AA99-A1A5-A3E8476EAAA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06D1DCD-84A0-FFF9-1F37-FC87046FF70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C7B826D-7F6B-4797-7FB6-AB9CC931303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0E1C63-C950-369E-C32B-868CDC005D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1FE9E8-1B55-0178-E22B-482B9C2C093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For small stones, A has a higher success rate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D4DB5-55FC-99D5-52AC-721F15E9667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For large stones, A has a higher success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EB66B-94BE-B307-7129-2CD57AC3D4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 has a overall higher success rate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0238B-3211-6629-3A0B-1F3F2B6CB4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 is more effective than B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85DDA-9A82-8C4C-E166-393881CEFA6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382578-71A3-286A-23B9-C35B364F97E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F2A5A3-981D-337A-96FE-8E08447B163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C02B09-BE5F-165F-8116-0CAD79D9F30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5A8CAE-6C9F-F139-6E6B-D5C147434E7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3E758B-47F1-AB0C-C814-510BABA4B43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07843" y="689451"/>
            <a:ext cx="7267242" cy="208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44D36C-2779-9FCB-DB13-A6020D61DE8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7851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Simpson’s paradox: binary version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4788800"/>
            <a:ext cx="8255000" cy="19326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24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AFA75-8982-E640-B8AC-B375560C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56" y="1404122"/>
            <a:ext cx="69596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16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Hypothesis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testing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25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4382DFF-92CE-2D42-8477-6FBD08D6928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54480"/>
            <a:ext cx="9677400" cy="493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28245C-6DD7-B343-9865-8E8089AD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20976"/>
            <a:ext cx="7106652" cy="370976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E58B42-BBCC-C643-BD51-512AE272D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846" y="5364702"/>
            <a:ext cx="48133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49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Analysis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of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(ANOVA)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26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Idea: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</m:t>
                    </m:r>
                  </m:oMath>
                </a14:m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then the residual vectors from the long regression and the short regression should not be too different</a:t>
                </a:r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D4382DFF-92CE-2D42-8477-6FBD08D6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9677400" cy="4933493"/>
              </a:xfrm>
              <a:prstGeom prst="rect">
                <a:avLst/>
              </a:prstGeom>
              <a:blipFill>
                <a:blip r:embed="rId2"/>
                <a:stretch>
                  <a:fillRect l="-1181" t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65A23-B0D8-1840-A053-0DF3E19A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821" y="2547048"/>
            <a:ext cx="2997200" cy="135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CE7BE1-1261-0F45-B6B7-FDE74EF5E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273" y="3840888"/>
            <a:ext cx="64262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ADDDD8-C81B-2D45-AE82-C7F6FA0B4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273" y="4664340"/>
            <a:ext cx="3619500" cy="69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E366BC-55C0-5E44-B6D2-40C038BE8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021" y="4718770"/>
            <a:ext cx="2134625" cy="6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62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Analysis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of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(ANOVA)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27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E54F74-B353-6E43-B942-9D75F7513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76" y="1513138"/>
            <a:ext cx="10553700" cy="1155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0703FC-4670-A14A-B267-B9FCD67AC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307013"/>
            <a:ext cx="10439400" cy="2578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7F4F41-B66C-3441-8E4C-8FD72250A661}"/>
              </a:ext>
            </a:extLst>
          </p:cNvPr>
          <p:cNvSpPr txBox="1"/>
          <p:nvPr/>
        </p:nvSpPr>
        <p:spPr>
          <a:xfrm>
            <a:off x="838200" y="3028890"/>
            <a:ext cx="2924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Projection matrix property</a:t>
            </a:r>
          </a:p>
        </p:txBody>
      </p:sp>
    </p:spTree>
    <p:extLst>
      <p:ext uri="{BB962C8B-B14F-4D97-AF65-F5344CB8AC3E}">
        <p14:creationId xmlns:p14="http://schemas.microsoft.com/office/powerpoint/2010/main" val="3597161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 decomposition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28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7E2A6C-8E39-B642-8C4A-0D79809D3853}"/>
                  </a:ext>
                </a:extLst>
              </p:cNvPr>
              <p:cNvSpPr txBox="1"/>
              <p:nvPr/>
            </p:nvSpPr>
            <p:spPr>
              <a:xfrm>
                <a:off x="1048512" y="1830761"/>
                <a:ext cx="5085879" cy="1692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Regression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(1,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Hat matrix with respect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Hat matrix with respect to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Hat matrix with respect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(1,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7E2A6C-8E39-B642-8C4A-0D79809D3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1830761"/>
                <a:ext cx="5085879" cy="1692771"/>
              </a:xfrm>
              <a:prstGeom prst="rect">
                <a:avLst/>
              </a:prstGeom>
              <a:blipFill>
                <a:blip r:embed="rId2"/>
                <a:stretch>
                  <a:fillRect l="-1746"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3B46D-5640-5548-8ECC-F25FED0C25EA}"/>
                  </a:ext>
                </a:extLst>
              </p:cNvPr>
              <p:cNvSpPr txBox="1"/>
              <p:nvPr/>
            </p:nvSpPr>
            <p:spPr>
              <a:xfrm>
                <a:off x="1048512" y="3469523"/>
                <a:ext cx="31945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Decomposition of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: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3B46D-5640-5548-8ECC-F25FED0C2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3469523"/>
                <a:ext cx="3194592" cy="461665"/>
              </a:xfrm>
              <a:prstGeom prst="rect">
                <a:avLst/>
              </a:prstGeom>
              <a:blipFill>
                <a:blip r:embed="rId3"/>
                <a:stretch>
                  <a:fillRect l="-2767" t="-10811" r="-1976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EA256AF-FB23-BF49-9EEC-0D1972A36B5A}"/>
              </a:ext>
            </a:extLst>
          </p:cNvPr>
          <p:cNvSpPr txBox="1"/>
          <p:nvPr/>
        </p:nvSpPr>
        <p:spPr>
          <a:xfrm>
            <a:off x="1048512" y="4758173"/>
            <a:ext cx="4161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Decomposition of  variances: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65A9EB-9DFF-B5F1-F719-69B3E5C77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512" y="4049974"/>
            <a:ext cx="7366000" cy="495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088073-EAAD-C0FA-2ED4-7E82FAF08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8191" y="5336214"/>
            <a:ext cx="7772400" cy="55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83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one-way ANOVA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07181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are </a:t>
                </a:r>
                <a:r>
                  <a:rPr lang="en-US" altLang="zh-CN" dirty="0" err="1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i.i.d.</a:t>
                </a:r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Normal linear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𝐻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: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=⋯=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𝑏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short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short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𝐴𝑁𝑂𝑉𝐴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18" lvl="1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r>
                  <a:rPr lang="en-US" altLang="zh-CN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Rewrite the null hypothesis: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𝐶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=0</m:t>
                    </m:r>
                  </m:oMath>
                </a14:m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𝑊𝑎𝑙𝑑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800106" lvl="2" indent="-342900">
                  <a:lnSpc>
                    <a:spcPct val="150000"/>
                  </a:lnSpc>
                  <a:buClr>
                    <a:srgbClr val="005825"/>
                  </a:buClr>
                  <a:buSzPct val="125000"/>
                </a:pPr>
                <a:endParaRPr lang="en-US" altLang="zh-CN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071811" cy="4656139"/>
              </a:xfrm>
              <a:blipFill>
                <a:blip r:embed="rId2"/>
                <a:stretch>
                  <a:fillRect l="-1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36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Revisit the one-way ANOVA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F082B7-E60F-1651-075D-9DC39C522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64" y="2513712"/>
            <a:ext cx="7000376" cy="235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7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Analysis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of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(ANOVA): example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31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28B4D-3AE7-9340-A095-C08083221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08769"/>
            <a:ext cx="8113295" cy="2641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7B7763-3DD7-DA4C-B9D2-9A05889A9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95742"/>
            <a:ext cx="7385384" cy="2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97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Cochran’s formula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32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F52CD-8BF3-2F4E-B0DA-42F7930F8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52" y="1502598"/>
            <a:ext cx="7912100" cy="22479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62FA16-8D82-8D45-861A-97C133BFC6C8}"/>
              </a:ext>
            </a:extLst>
          </p:cNvPr>
          <p:cNvSpPr/>
          <p:nvPr/>
        </p:nvSpPr>
        <p:spPr>
          <a:xfrm>
            <a:off x="8434137" y="2605723"/>
            <a:ext cx="695336" cy="11154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6E269-D9F5-C94B-879D-3B0304FC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808" y="3670094"/>
            <a:ext cx="2032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494F9-F146-5F42-AF8D-1B105D4AF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32" y="4243792"/>
            <a:ext cx="3886200" cy="1866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5B4DE-100B-0047-AEEC-FF2C710B5C25}"/>
              </a:ext>
            </a:extLst>
          </p:cNvPr>
          <p:cNvSpPr txBox="1"/>
          <p:nvPr/>
        </p:nvSpPr>
        <p:spPr>
          <a:xfrm>
            <a:off x="1564105" y="4223084"/>
            <a:ext cx="84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814EA3-9ABF-EC4F-A420-ABE961CAAAA4}"/>
                  </a:ext>
                </a:extLst>
              </p:cNvPr>
              <p:cNvSpPr txBox="1"/>
              <p:nvPr/>
            </p:nvSpPr>
            <p:spPr>
              <a:xfrm>
                <a:off x="2921266" y="6110692"/>
                <a:ext cx="53978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Only need to show the last line is the OLS fit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814EA3-9ABF-EC4F-A420-ABE961CAA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266" y="6110692"/>
                <a:ext cx="5397888" cy="369332"/>
              </a:xfrm>
              <a:prstGeom prst="rect">
                <a:avLst/>
              </a:prstGeom>
              <a:blipFill>
                <a:blip r:embed="rId5"/>
                <a:stretch>
                  <a:fillRect l="-704" t="-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C6AFAF7-F943-4843-A5CE-91076C033B04}"/>
              </a:ext>
            </a:extLst>
          </p:cNvPr>
          <p:cNvSpPr txBox="1"/>
          <p:nvPr/>
        </p:nvSpPr>
        <p:spPr>
          <a:xfrm>
            <a:off x="1188745" y="3763924"/>
            <a:ext cx="190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Cochran’s formula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9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Omitted variable bias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33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4F9EC1-3750-E94F-A9FB-0A21AA0EF01B}"/>
                  </a:ext>
                </a:extLst>
              </p:cNvPr>
              <p:cNvSpPr txBox="1"/>
              <p:nvPr/>
            </p:nvSpPr>
            <p:spPr>
              <a:xfrm>
                <a:off x="822712" y="1739837"/>
                <a:ext cx="10803022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Cochran’s formula is called the </a:t>
                </a:r>
                <a:r>
                  <a:rPr lang="en-US" sz="2400" i="1" dirty="0"/>
                  <a:t>omitted variable bias formula </a:t>
                </a:r>
                <a:r>
                  <a:rPr lang="en-US" sz="2400" dirty="0"/>
                  <a:t>by econometricians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Quantifies the bias of the OLS coefficient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the short regression omitting </a:t>
                </a:r>
              </a:p>
              <a:p>
                <a:pPr lvl="1"/>
                <a:r>
                  <a:rPr lang="en-US" sz="2400" dirty="0"/>
                  <a:t>     possibly important variables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Bias term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Example: estimating causal effects in observational studies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Possible existence of  latent confounders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4F9EC1-3750-E94F-A9FB-0A21AA0E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12" y="1739837"/>
                <a:ext cx="10803022" cy="3785652"/>
              </a:xfrm>
              <a:prstGeom prst="rect">
                <a:avLst/>
              </a:prstGeom>
              <a:blipFill>
                <a:blip r:embed="rId2"/>
                <a:stretch>
                  <a:fillRect l="-705"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C715B29-042B-324C-A601-35503D718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234" y="2866333"/>
            <a:ext cx="4445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B3F58A-FD43-D44C-B175-0A3AE4EB0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169" y="4069347"/>
            <a:ext cx="2997200" cy="58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B2675-6B7C-C94B-923D-775940B25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169" y="5126763"/>
            <a:ext cx="3683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4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Omitted variable bias</a:t>
            </a:r>
            <a:endParaRPr lang="zh-CN" altLang="en-US" sz="3200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34</a:t>
            </a:fld>
            <a:endParaRPr lang="en-US" altLang="zh-CN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直接连接符 4">
            <a:extLst>
              <a:ext uri="{FF2B5EF4-FFF2-40B4-BE49-F238E27FC236}">
                <a16:creationId xmlns:a16="http://schemas.microsoft.com/office/drawing/2014/main" id="{63B26065-44AF-44A7-8B41-2A4E1EE5915E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5C804-AFC2-BF4C-B699-3D3704BEF70A}"/>
              </a:ext>
            </a:extLst>
          </p:cNvPr>
          <p:cNvSpPr/>
          <p:nvPr/>
        </p:nvSpPr>
        <p:spPr>
          <a:xfrm>
            <a:off x="8843211" y="4126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33872-6E30-B548-A5B1-DDCB12A9DDF7}"/>
              </a:ext>
            </a:extLst>
          </p:cNvPr>
          <p:cNvSpPr/>
          <p:nvPr/>
        </p:nvSpPr>
        <p:spPr>
          <a:xfrm>
            <a:off x="8816652" y="5152832"/>
            <a:ext cx="625642" cy="469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A921B-1874-B24B-B929-3F2BABD11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1860550"/>
            <a:ext cx="3124200" cy="130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A138CC-A6FA-6747-B49A-0667C56F7F1A}"/>
              </a:ext>
            </a:extLst>
          </p:cNvPr>
          <p:cNvSpPr txBox="1"/>
          <p:nvPr/>
        </p:nvSpPr>
        <p:spPr>
          <a:xfrm>
            <a:off x="1167064" y="1675884"/>
            <a:ext cx="2167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Cochran’s formula: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0F814-0171-4E4D-B48E-9AAB4910C7CB}"/>
              </a:ext>
            </a:extLst>
          </p:cNvPr>
          <p:cNvSpPr txBox="1"/>
          <p:nvPr/>
        </p:nvSpPr>
        <p:spPr>
          <a:xfrm>
            <a:off x="1167064" y="3513221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Confounding bias: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7607F-D121-2145-B925-00A172187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795" y="3513221"/>
            <a:ext cx="1549400" cy="43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B1275B-E426-C940-9D8F-53CE4C1CA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52" y="4418543"/>
            <a:ext cx="5003800" cy="787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32D488-1653-3441-88FB-336543CC38DC}"/>
              </a:ext>
            </a:extLst>
          </p:cNvPr>
          <p:cNvSpPr txBox="1"/>
          <p:nvPr/>
        </p:nvSpPr>
        <p:spPr>
          <a:xfrm>
            <a:off x="1167064" y="459148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analysis:</a:t>
            </a:r>
          </a:p>
        </p:txBody>
      </p:sp>
    </p:spTree>
    <p:extLst>
      <p:ext uri="{BB962C8B-B14F-4D97-AF65-F5344CB8AC3E}">
        <p14:creationId xmlns:p14="http://schemas.microsoft.com/office/powerpoint/2010/main" val="1973281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23157</TotalTime>
  <Words>992</Words>
  <Application>Microsoft Macintosh PowerPoint</Application>
  <PresentationFormat>Widescreen</PresentationFormat>
  <Paragraphs>235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Microsoft YaHei</vt:lpstr>
      <vt:lpstr>Microsoft YaHei</vt:lpstr>
      <vt:lpstr>Microsoft YaHei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Partial regressions</vt:lpstr>
      <vt:lpstr>Motivation</vt:lpstr>
      <vt:lpstr>Long and short regressions</vt:lpstr>
      <vt:lpstr>Frisch-Waugh-Lovell (FWL) theorem</vt:lpstr>
      <vt:lpstr>Inverse of block matrix</vt:lpstr>
      <vt:lpstr>Inverse of X^T X</vt:lpstr>
      <vt:lpstr>Proof of FWL theorem (version 1)</vt:lpstr>
      <vt:lpstr>Proof of FWL theorem (version 2)</vt:lpstr>
      <vt:lpstr>Decomposition of projection matrix</vt:lpstr>
      <vt:lpstr>FWL theorem for standard errors</vt:lpstr>
      <vt:lpstr>PowerPoint Presentation</vt:lpstr>
      <vt:lpstr>Gram-Schmidt orthogonalization and QR decomposition</vt:lpstr>
      <vt:lpstr>Gram-Schmidt orthogonalization</vt:lpstr>
      <vt:lpstr>QR decomposition</vt:lpstr>
      <vt:lpstr>OLS computation</vt:lpstr>
      <vt:lpstr>Centering regressors</vt:lpstr>
      <vt:lpstr>Centering regressors</vt:lpstr>
      <vt:lpstr>Centering regressors</vt:lpstr>
      <vt:lpstr>Centering regressors</vt:lpstr>
      <vt:lpstr>Partial correlation coefficient</vt:lpstr>
      <vt:lpstr>Simpson’s paradox</vt:lpstr>
      <vt:lpstr>Simpson’s paradox: example</vt:lpstr>
      <vt:lpstr>PowerPoint Presentation</vt:lpstr>
      <vt:lpstr>Simpson’s paradox: binary version</vt:lpstr>
      <vt:lpstr>Hypothesis testing</vt:lpstr>
      <vt:lpstr>Analysis of variance (ANOVA)</vt:lpstr>
      <vt:lpstr>Analysis of variance (ANOVA)</vt:lpstr>
      <vt:lpstr>Variance decomposition</vt:lpstr>
      <vt:lpstr>Revisit the one-way ANOVA</vt:lpstr>
      <vt:lpstr>Revisit the one-way ANOVA</vt:lpstr>
      <vt:lpstr>Analysis of variance (ANOVA): example</vt:lpstr>
      <vt:lpstr>Cochran’s formula</vt:lpstr>
      <vt:lpstr>Omitted variable bias</vt:lpstr>
      <vt:lpstr>Omitted variable bias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175</cp:revision>
  <dcterms:created xsi:type="dcterms:W3CDTF">2022-01-07T20:32:42Z</dcterms:created>
  <dcterms:modified xsi:type="dcterms:W3CDTF">2025-09-24T06:15:30Z</dcterms:modified>
</cp:coreProperties>
</file>