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815" r:id="rId3"/>
    <p:sldId id="808" r:id="rId4"/>
    <p:sldId id="700" r:id="rId5"/>
    <p:sldId id="701" r:id="rId6"/>
    <p:sldId id="816" r:id="rId7"/>
    <p:sldId id="809" r:id="rId8"/>
    <p:sldId id="702" r:id="rId9"/>
    <p:sldId id="810" r:id="rId10"/>
    <p:sldId id="703" r:id="rId11"/>
    <p:sldId id="704" r:id="rId12"/>
    <p:sldId id="705" r:id="rId13"/>
    <p:sldId id="706" r:id="rId14"/>
    <p:sldId id="814" r:id="rId15"/>
    <p:sldId id="707" r:id="rId16"/>
    <p:sldId id="708" r:id="rId17"/>
    <p:sldId id="811" r:id="rId18"/>
    <p:sldId id="812" r:id="rId19"/>
    <p:sldId id="813" r:id="rId20"/>
    <p:sldId id="712" r:id="rId21"/>
    <p:sldId id="71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825"/>
    <a:srgbClr val="A014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89"/>
    <p:restoredTop sz="86364" autoAdjust="0"/>
  </p:normalViewPr>
  <p:slideViewPr>
    <p:cSldViewPr snapToGrid="0" snapToObjects="1">
      <p:cViewPr varScale="1">
        <p:scale>
          <a:sx n="89" d="100"/>
          <a:sy n="89" d="100"/>
        </p:scale>
        <p:origin x="110" y="101"/>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A4D128-213F-6F4E-ABC7-E697D995B169}" type="datetimeFigureOut">
              <a:rPr lang="en-US" smtClean="0"/>
              <a:t>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8D76FB-495F-DB45-B1C0-BAC6DBEDEA01}" type="slidenum">
              <a:rPr lang="en-US" smtClean="0"/>
              <a:t>‹#›</a:t>
            </a:fld>
            <a:endParaRPr lang="en-US"/>
          </a:p>
        </p:txBody>
      </p:sp>
    </p:spTree>
    <p:extLst>
      <p:ext uri="{BB962C8B-B14F-4D97-AF65-F5344CB8AC3E}">
        <p14:creationId xmlns:p14="http://schemas.microsoft.com/office/powerpoint/2010/main" val="3251460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9F79CE-CD64-3E46-8DDE-E612CD09D8AF}" type="slidenum">
              <a:rPr lang="en-US" smtClean="0"/>
              <a:t>3</a:t>
            </a:fld>
            <a:endParaRPr lang="en-US"/>
          </a:p>
        </p:txBody>
      </p:sp>
    </p:spTree>
    <p:extLst>
      <p:ext uri="{BB962C8B-B14F-4D97-AF65-F5344CB8AC3E}">
        <p14:creationId xmlns:p14="http://schemas.microsoft.com/office/powerpoint/2010/main" val="34957002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9F79CE-CD64-3E46-8DDE-E612CD09D8AF}" type="slidenum">
              <a:rPr lang="en-US" smtClean="0"/>
              <a:t>7</a:t>
            </a:fld>
            <a:endParaRPr lang="en-US"/>
          </a:p>
        </p:txBody>
      </p:sp>
    </p:spTree>
    <p:extLst>
      <p:ext uri="{BB962C8B-B14F-4D97-AF65-F5344CB8AC3E}">
        <p14:creationId xmlns:p14="http://schemas.microsoft.com/office/powerpoint/2010/main" val="3051513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9F79CE-CD64-3E46-8DDE-E612CD09D8AF}" type="slidenum">
              <a:rPr lang="en-US" smtClean="0"/>
              <a:t>9</a:t>
            </a:fld>
            <a:endParaRPr lang="en-US"/>
          </a:p>
        </p:txBody>
      </p:sp>
    </p:spTree>
    <p:extLst>
      <p:ext uri="{BB962C8B-B14F-4D97-AF65-F5344CB8AC3E}">
        <p14:creationId xmlns:p14="http://schemas.microsoft.com/office/powerpoint/2010/main" val="1712006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all covariates have IID N(0,1) entries </a:t>
            </a:r>
            <a:endParaRPr lang="en-US" dirty="0"/>
          </a:p>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10</a:t>
            </a:fld>
            <a:endParaRPr lang="en-US"/>
          </a:p>
        </p:txBody>
      </p:sp>
    </p:spTree>
    <p:extLst>
      <p:ext uri="{BB962C8B-B14F-4D97-AF65-F5344CB8AC3E}">
        <p14:creationId xmlns:p14="http://schemas.microsoft.com/office/powerpoint/2010/main" val="2020315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这说明不能只用</a:t>
            </a:r>
            <a:r>
              <a:rPr lang="en-US" altLang="zh-CN" dirty="0"/>
              <a:t>in-sample</a:t>
            </a:r>
            <a:r>
              <a:rPr lang="zh-CN" altLang="en-US" dirty="0"/>
              <a:t>来做预测指标，还要使用</a:t>
            </a:r>
            <a:r>
              <a:rPr lang="en-US" altLang="zh-CN" dirty="0"/>
              <a:t>out-sample.</a:t>
            </a:r>
            <a:endParaRPr lang="zh-CN" altLang="en-US" dirty="0"/>
          </a:p>
        </p:txBody>
      </p:sp>
      <p:sp>
        <p:nvSpPr>
          <p:cNvPr id="4" name="灯片编号占位符 3"/>
          <p:cNvSpPr>
            <a:spLocks noGrp="1"/>
          </p:cNvSpPr>
          <p:nvPr>
            <p:ph type="sldNum" sz="quarter" idx="5"/>
          </p:nvPr>
        </p:nvSpPr>
        <p:spPr/>
        <p:txBody>
          <a:bodyPr/>
          <a:lstStyle/>
          <a:p>
            <a:fld id="{4C8D76FB-495F-DB45-B1C0-BAC6DBEDEA01}" type="slidenum">
              <a:rPr lang="en-US" smtClean="0"/>
              <a:t>11</a:t>
            </a:fld>
            <a:endParaRPr lang="en-US"/>
          </a:p>
        </p:txBody>
      </p:sp>
    </p:spTree>
    <p:extLst>
      <p:ext uri="{BB962C8B-B14F-4D97-AF65-F5344CB8AC3E}">
        <p14:creationId xmlns:p14="http://schemas.microsoft.com/office/powerpoint/2010/main" val="574479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大模型有几十亿上百亿参数，那会不会</a:t>
            </a:r>
            <a:r>
              <a:rPr lang="en-US" altLang="zh-CN" dirty="0"/>
              <a:t>overfitting</a:t>
            </a:r>
            <a:r>
              <a:rPr lang="zh-CN" altLang="en-US" dirty="0"/>
              <a:t>呢，事实上</a:t>
            </a:r>
            <a:r>
              <a:rPr lang="en-US" altLang="zh-CN" dirty="0"/>
              <a:t>testing data</a:t>
            </a:r>
            <a:r>
              <a:rPr lang="zh-CN" altLang="en-US" dirty="0"/>
              <a:t>有可能会</a:t>
            </a:r>
            <a:r>
              <a:rPr lang="en-US" altLang="zh-CN" dirty="0"/>
              <a:t>double decay</a:t>
            </a:r>
            <a:r>
              <a:rPr lang="zh-CN" altLang="en-US" dirty="0"/>
              <a:t>，也就是像图片中这样先上去，在</a:t>
            </a:r>
            <a:r>
              <a:rPr lang="en-US" altLang="zh-CN" dirty="0"/>
              <a:t>covariates</a:t>
            </a:r>
            <a:r>
              <a:rPr lang="zh-CN" altLang="en-US" dirty="0"/>
              <a:t>很大的时候再</a:t>
            </a:r>
            <a:r>
              <a:rPr lang="en-US" altLang="zh-CN" dirty="0"/>
              <a:t>decay</a:t>
            </a:r>
            <a:r>
              <a:rPr lang="zh-CN" altLang="en-US" dirty="0"/>
              <a:t>，但这只是理论上来说，实际上可能条件很严苛。</a:t>
            </a:r>
          </a:p>
        </p:txBody>
      </p:sp>
      <p:sp>
        <p:nvSpPr>
          <p:cNvPr id="4" name="灯片编号占位符 3"/>
          <p:cNvSpPr>
            <a:spLocks noGrp="1"/>
          </p:cNvSpPr>
          <p:nvPr>
            <p:ph type="sldNum" sz="quarter" idx="5"/>
          </p:nvPr>
        </p:nvSpPr>
        <p:spPr/>
        <p:txBody>
          <a:bodyPr/>
          <a:lstStyle/>
          <a:p>
            <a:fld id="{4C8D76FB-495F-DB45-B1C0-BAC6DBEDEA01}" type="slidenum">
              <a:rPr lang="en-US" smtClean="0"/>
              <a:t>12</a:t>
            </a:fld>
            <a:endParaRPr lang="en-US"/>
          </a:p>
        </p:txBody>
      </p:sp>
    </p:spTree>
    <p:extLst>
      <p:ext uri="{BB962C8B-B14F-4D97-AF65-F5344CB8AC3E}">
        <p14:creationId xmlns:p14="http://schemas.microsoft.com/office/powerpoint/2010/main" val="2400052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这几个很多用在深度学习里面，关于</a:t>
            </a:r>
            <a:r>
              <a:rPr lang="en-US" altLang="zh-CN" dirty="0"/>
              <a:t>out-sample</a:t>
            </a:r>
            <a:r>
              <a:rPr lang="zh-CN" altLang="en-US" dirty="0"/>
              <a:t>的。我们这里是在线性模型里面讲这三种预测，除了这个</a:t>
            </a:r>
            <a:r>
              <a:rPr lang="en-US" altLang="zh-CN" dirty="0"/>
              <a:t>R^2</a:t>
            </a:r>
            <a:r>
              <a:rPr lang="zh-CN" altLang="en-US" dirty="0"/>
              <a:t>比较局限，其他都可以应用到更一般的模型中。</a:t>
            </a:r>
          </a:p>
        </p:txBody>
      </p:sp>
      <p:sp>
        <p:nvSpPr>
          <p:cNvPr id="4" name="灯片编号占位符 3"/>
          <p:cNvSpPr>
            <a:spLocks noGrp="1"/>
          </p:cNvSpPr>
          <p:nvPr>
            <p:ph type="sldNum" sz="quarter" idx="5"/>
          </p:nvPr>
        </p:nvSpPr>
        <p:spPr/>
        <p:txBody>
          <a:bodyPr/>
          <a:lstStyle/>
          <a:p>
            <a:fld id="{4C8D76FB-495F-DB45-B1C0-BAC6DBEDEA01}" type="slidenum">
              <a:rPr lang="en-US" smtClean="0"/>
              <a:t>14</a:t>
            </a:fld>
            <a:endParaRPr lang="en-US"/>
          </a:p>
        </p:txBody>
      </p:sp>
    </p:spTree>
    <p:extLst>
      <p:ext uri="{BB962C8B-B14F-4D97-AF65-F5344CB8AC3E}">
        <p14:creationId xmlns:p14="http://schemas.microsoft.com/office/powerpoint/2010/main" val="36921497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你可以看到为什么</a:t>
            </a:r>
            <a:r>
              <a:rPr lang="en-US" altLang="zh-CN" dirty="0"/>
              <a:t>adjusted R^2</a:t>
            </a:r>
            <a:r>
              <a:rPr lang="zh-CN" altLang="en-US" dirty="0"/>
              <a:t>，还是先射箭再画靶子，你可以看到这刚好就是我们想要的，最优模型恰好对应最小的方差估计，但是普通的的</a:t>
            </a:r>
            <a:r>
              <a:rPr lang="en-US" altLang="zh-CN" dirty="0"/>
              <a:t>R^2</a:t>
            </a:r>
            <a:r>
              <a:rPr lang="zh-CN" altLang="en-US" dirty="0"/>
              <a:t>不一定能保证。</a:t>
            </a:r>
          </a:p>
        </p:txBody>
      </p:sp>
      <p:sp>
        <p:nvSpPr>
          <p:cNvPr id="4" name="灯片编号占位符 3"/>
          <p:cNvSpPr>
            <a:spLocks noGrp="1"/>
          </p:cNvSpPr>
          <p:nvPr>
            <p:ph type="sldNum" sz="quarter" idx="5"/>
          </p:nvPr>
        </p:nvSpPr>
        <p:spPr/>
        <p:txBody>
          <a:bodyPr/>
          <a:lstStyle/>
          <a:p>
            <a:fld id="{4C8D76FB-495F-DB45-B1C0-BAC6DBEDEA01}" type="slidenum">
              <a:rPr lang="en-US" smtClean="0"/>
              <a:t>15</a:t>
            </a:fld>
            <a:endParaRPr lang="en-US"/>
          </a:p>
        </p:txBody>
      </p:sp>
    </p:spTree>
    <p:extLst>
      <p:ext uri="{BB962C8B-B14F-4D97-AF65-F5344CB8AC3E}">
        <p14:creationId xmlns:p14="http://schemas.microsoft.com/office/powerpoint/2010/main" val="32838483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这里考虑长短回归</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Homework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mean of F is approximately 1, but the upper quantile of F is much larger than 1 (for example, the 95% quantile of F1,n−p is larger than 3.8, and the 95% quantile of F2,n−p is larger than 2.9). So compared to the usual hypothesis testing based on the Normal linear model, R ̄2 favors unnecessarily large models. </a:t>
            </a:r>
            <a:endParaRPr lang="en-US" dirty="0"/>
          </a:p>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16</a:t>
            </a:fld>
            <a:endParaRPr lang="en-US"/>
          </a:p>
        </p:txBody>
      </p:sp>
    </p:spTree>
    <p:extLst>
      <p:ext uri="{BB962C8B-B14F-4D97-AF65-F5344CB8AC3E}">
        <p14:creationId xmlns:p14="http://schemas.microsoft.com/office/powerpoint/2010/main" val="21813455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Question: CI</a:t>
            </a:r>
            <a:r>
              <a:rPr lang="zh-CN" altLang="en-US" dirty="0"/>
              <a:t> 定义</a:t>
            </a:r>
            <a:endParaRPr lang="en-US" altLang="zh-CN" dirty="0"/>
          </a:p>
          <a:p>
            <a:r>
              <a:rPr lang="en-US" altLang="zh-CN" dirty="0"/>
              <a:t>Confidence</a:t>
            </a:r>
            <a:r>
              <a:rPr lang="zh-CN" altLang="en-US" dirty="0"/>
              <a:t> </a:t>
            </a:r>
            <a:r>
              <a:rPr lang="en-US" altLang="zh-CN" dirty="0"/>
              <a:t>interval</a:t>
            </a:r>
            <a:r>
              <a:rPr lang="zh-CN" altLang="en-US" dirty="0"/>
              <a:t> </a:t>
            </a:r>
            <a:r>
              <a:rPr lang="en-US" altLang="zh-CN" dirty="0"/>
              <a:t>meaning</a:t>
            </a:r>
            <a:r>
              <a:rPr lang="zh-CN" altLang="en-US" dirty="0"/>
              <a:t>   </a:t>
            </a:r>
            <a:r>
              <a:rPr lang="en-US" altLang="zh-CN" dirty="0"/>
              <a:t>95%</a:t>
            </a:r>
            <a:r>
              <a:rPr lang="zh-CN" altLang="en-US" dirty="0"/>
              <a:t> 置信水平</a:t>
            </a:r>
            <a:endParaRPr lang="en-US" altLang="zh-CN"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DB34D25-2405-114F-BF61-E1011635D0CF}" type="slidenum">
              <a:rPr lang="en-US" smtClean="0"/>
              <a:t>17</a:t>
            </a:fld>
            <a:endParaRPr lang="en-US"/>
          </a:p>
        </p:txBody>
      </p:sp>
    </p:spTree>
    <p:extLst>
      <p:ext uri="{BB962C8B-B14F-4D97-AF65-F5344CB8AC3E}">
        <p14:creationId xmlns:p14="http://schemas.microsoft.com/office/powerpoint/2010/main" val="36672516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Question: CI</a:t>
            </a:r>
            <a:r>
              <a:rPr lang="zh-CN" altLang="en-US" dirty="0"/>
              <a:t> 定义</a:t>
            </a:r>
            <a:endParaRPr lang="en-US" altLang="zh-CN" dirty="0"/>
          </a:p>
          <a:p>
            <a:r>
              <a:rPr lang="en-US" altLang="zh-CN" dirty="0"/>
              <a:t>Confidence</a:t>
            </a:r>
            <a:r>
              <a:rPr lang="zh-CN" altLang="en-US" dirty="0"/>
              <a:t> </a:t>
            </a:r>
            <a:r>
              <a:rPr lang="en-US" altLang="zh-CN" dirty="0"/>
              <a:t>interval</a:t>
            </a:r>
            <a:r>
              <a:rPr lang="zh-CN" altLang="en-US" dirty="0"/>
              <a:t> </a:t>
            </a:r>
            <a:r>
              <a:rPr lang="en-US" altLang="zh-CN" dirty="0"/>
              <a:t>meaning</a:t>
            </a:r>
            <a:r>
              <a:rPr lang="zh-CN" altLang="en-US" dirty="0"/>
              <a:t>   </a:t>
            </a:r>
            <a:r>
              <a:rPr lang="en-US" altLang="zh-CN" dirty="0"/>
              <a:t>95%</a:t>
            </a:r>
            <a:r>
              <a:rPr lang="zh-CN" altLang="en-US" dirty="0"/>
              <a:t> 置信水平</a:t>
            </a:r>
            <a:endParaRPr lang="en-US" altLang="zh-CN" dirty="0"/>
          </a:p>
          <a:p>
            <a:endParaRPr lang="en-US" dirty="0"/>
          </a:p>
          <a:p>
            <a:r>
              <a:rPr lang="zh-CN" altLang="en-US" dirty="0"/>
              <a:t>叫</a:t>
            </a:r>
            <a:r>
              <a:rPr lang="en-US" altLang="zh-CN" dirty="0"/>
              <a:t>leave-one-out</a:t>
            </a:r>
            <a:r>
              <a:rPr lang="zh-CN" altLang="en-US" dirty="0"/>
              <a:t>是因为每次留下一个样本点，用其他样本点做训练做估计，这个样本点用来检验。</a:t>
            </a:r>
            <a:endParaRPr lang="en-US" altLang="zh-CN" dirty="0"/>
          </a:p>
          <a:p>
            <a:endParaRPr lang="en-US" dirty="0"/>
          </a:p>
          <a:p>
            <a:r>
              <a:rPr lang="zh-CN" altLang="en-US" dirty="0"/>
              <a:t>是什么？</a:t>
            </a:r>
            <a:r>
              <a:rPr lang="en-US" altLang="zh-CN" dirty="0"/>
              <a:t>PRESS </a:t>
            </a:r>
            <a:r>
              <a:rPr lang="zh-CN" altLang="en-US" dirty="0"/>
              <a:t>是＂</a:t>
            </a:r>
            <a:r>
              <a:rPr lang="en-US" altLang="zh-CN" dirty="0"/>
              <a:t>Predicted Residual Error Sum of Squares</a:t>
            </a:r>
            <a:r>
              <a:rPr lang="zh-CN" altLang="en-US" dirty="0"/>
              <a:t>＂的缩写。它就是我们上面讲的 ＂</a:t>
            </a:r>
            <a:r>
              <a:rPr lang="en-US" altLang="zh-CN" dirty="0"/>
              <a:t>Leave</a:t>
            </a:r>
            <a:r>
              <a:rPr lang="zh-CN" altLang="en-US" dirty="0"/>
              <a:t>－</a:t>
            </a:r>
            <a:r>
              <a:rPr lang="en-US" altLang="zh-CN" dirty="0"/>
              <a:t>one</a:t>
            </a:r>
            <a:r>
              <a:rPr lang="zh-CN" altLang="en-US" dirty="0"/>
              <a:t>－</a:t>
            </a:r>
            <a:r>
              <a:rPr lang="en-US" altLang="zh-CN" dirty="0"/>
              <a:t>out</a:t>
            </a:r>
            <a:r>
              <a:rPr lang="zh-CN" altLang="en-US" dirty="0"/>
              <a:t>＂过程第六步的最终结果。公式中的 </a:t>
            </a:r>
            <a:r>
              <a:rPr lang="en-US" altLang="zh-CN" dirty="0"/>
              <a:t>$\hat{\</a:t>
            </a:r>
            <a:r>
              <a:rPr lang="en-US" altLang="zh-CN" dirty="0" err="1"/>
              <a:t>varepsilon</a:t>
            </a:r>
            <a:r>
              <a:rPr lang="en-US" altLang="zh-CN" dirty="0"/>
              <a:t>}[-</a:t>
            </a:r>
            <a:r>
              <a:rPr lang="en-US" altLang="zh-CN" dirty="0" err="1"/>
              <a:t>i</a:t>
            </a:r>
            <a:r>
              <a:rPr lang="en-US" altLang="zh-CN" dirty="0"/>
              <a:t>]$ </a:t>
            </a:r>
            <a:r>
              <a:rPr lang="zh-CN" altLang="en-US" dirty="0"/>
              <a:t>指的是在不使用第 </a:t>
            </a:r>
            <a:r>
              <a:rPr lang="en-US" altLang="zh-CN" dirty="0"/>
              <a:t>$</a:t>
            </a:r>
            <a:r>
              <a:rPr lang="en-US" altLang="zh-CN" dirty="0" err="1"/>
              <a:t>i</a:t>
            </a:r>
            <a:r>
              <a:rPr lang="en-US" altLang="zh-CN" dirty="0"/>
              <a:t>$ </a:t>
            </a:r>
            <a:r>
              <a:rPr lang="zh-CN" altLang="en-US" dirty="0"/>
              <a:t>个数据点进行训练的情况下，对第 </a:t>
            </a:r>
            <a:r>
              <a:rPr lang="en-US" altLang="zh-CN" dirty="0"/>
              <a:t>$</a:t>
            </a:r>
            <a:r>
              <a:rPr lang="en-US" altLang="zh-CN" dirty="0" err="1"/>
              <a:t>i</a:t>
            </a:r>
            <a:r>
              <a:rPr lang="en-US" altLang="zh-CN" dirty="0"/>
              <a:t>$ </a:t>
            </a:r>
            <a:r>
              <a:rPr lang="zh-CN" altLang="en-US" dirty="0"/>
              <a:t>个数据点进行预测所产生的误差。</a:t>
            </a:r>
            <a:r>
              <a:rPr lang="en-US" altLang="zh-CN" dirty="0"/>
              <a:t>PRESS</a:t>
            </a:r>
            <a:r>
              <a:rPr lang="zh-CN" altLang="en-US" dirty="0"/>
              <a:t>就是把这 </a:t>
            </a:r>
            <a:r>
              <a:rPr lang="en-US" altLang="zh-CN" dirty="0"/>
              <a:t>$n$ </a:t>
            </a:r>
            <a:r>
              <a:rPr lang="zh-CN" altLang="en-US" dirty="0"/>
              <a:t>个预测误差的平方加起来。</a:t>
            </a:r>
          </a:p>
          <a:p>
            <a:endParaRPr lang="zh-CN" altLang="en-US" dirty="0"/>
          </a:p>
          <a:p>
            <a:r>
              <a:rPr lang="zh-CN" altLang="en-US" dirty="0"/>
              <a:t>为什么用它？普通的残差平方和（ </a:t>
            </a:r>
            <a:r>
              <a:rPr lang="en-US" altLang="zh-CN" dirty="0"/>
              <a:t>$\</a:t>
            </a:r>
            <a:r>
              <a:rPr lang="en-US" altLang="zh-CN" dirty="0" err="1"/>
              <a:t>mathrm</a:t>
            </a:r>
            <a:r>
              <a:rPr lang="en-US" altLang="zh-CN" dirty="0"/>
              <a:t>{RSS}=\sum \hat{\</a:t>
            </a:r>
            <a:r>
              <a:rPr lang="en-US" altLang="zh-CN" dirty="0" err="1"/>
              <a:t>varepsilon</a:t>
            </a:r>
            <a:r>
              <a:rPr lang="en-US" altLang="zh-CN" dirty="0"/>
              <a:t>}_i^2$ </a:t>
            </a:r>
            <a:r>
              <a:rPr lang="zh-CN" altLang="en-US" dirty="0"/>
              <a:t>）衡量的是模型对已经几过的数据的拟合程度。如果模型过于复杂，它会完美地拟合训练数据，导致 </a:t>
            </a:r>
            <a:r>
              <a:rPr lang="en-US" altLang="zh-CN" dirty="0"/>
              <a:t>RSS </a:t>
            </a:r>
            <a:r>
              <a:rPr lang="zh-CN" altLang="en-US" dirty="0"/>
              <a:t>很小，但这是一种＂自欺欺人＂的好，它的预测能力其实很差。而 </a:t>
            </a:r>
            <a:r>
              <a:rPr lang="en-US" altLang="zh-CN" dirty="0"/>
              <a:t>PRESS </a:t>
            </a:r>
            <a:r>
              <a:rPr lang="zh-CN" altLang="en-US" dirty="0"/>
              <a:t>衡量的是模型对未见过的数据的预测能力。因为每次预测第 </a:t>
            </a:r>
            <a:r>
              <a:rPr lang="en-US" altLang="zh-CN" dirty="0"/>
              <a:t>$</a:t>
            </a:r>
            <a:r>
              <a:rPr lang="en-US" altLang="zh-CN" dirty="0" err="1"/>
              <a:t>i</a:t>
            </a:r>
            <a:r>
              <a:rPr lang="en-US" altLang="zh-CN" dirty="0"/>
              <a:t>$</a:t>
            </a:r>
            <a:r>
              <a:rPr lang="zh-CN" altLang="en-US" dirty="0"/>
              <a:t>个点时，模型都没有＂见过＂这个点。因此，</a:t>
            </a:r>
            <a:r>
              <a:rPr lang="en-US" altLang="zh-CN" dirty="0"/>
              <a:t>PRESS </a:t>
            </a:r>
            <a:r>
              <a:rPr lang="zh-CN" altLang="en-US" dirty="0"/>
              <a:t>是一个比 </a:t>
            </a:r>
            <a:r>
              <a:rPr lang="en-US" altLang="zh-CN" dirty="0"/>
              <a:t>RSS </a:t>
            </a:r>
            <a:r>
              <a:rPr lang="zh-CN" altLang="en-US" dirty="0"/>
              <a:t>更诚实、更可靠的模型预则能力评估指标。我们希望选择一个 </a:t>
            </a:r>
            <a:r>
              <a:rPr lang="en-US" altLang="zh-CN" dirty="0"/>
              <a:t>PRESS </a:t>
            </a:r>
            <a:r>
              <a:rPr lang="zh-CN" altLang="en-US" dirty="0"/>
              <a:t>值小的模型。</a:t>
            </a:r>
            <a:endParaRPr lang="en-US" altLang="zh-CN" dirty="0"/>
          </a:p>
          <a:p>
            <a:endParaRPr lang="en-US" dirty="0"/>
          </a:p>
          <a:p>
            <a:endParaRPr lang="en-US" dirty="0"/>
          </a:p>
        </p:txBody>
      </p:sp>
      <p:sp>
        <p:nvSpPr>
          <p:cNvPr id="4" name="Slide Number Placeholder 3"/>
          <p:cNvSpPr>
            <a:spLocks noGrp="1"/>
          </p:cNvSpPr>
          <p:nvPr>
            <p:ph type="sldNum" sz="quarter" idx="5"/>
          </p:nvPr>
        </p:nvSpPr>
        <p:spPr/>
        <p:txBody>
          <a:bodyPr/>
          <a:lstStyle/>
          <a:p>
            <a:fld id="{ADB34D25-2405-114F-BF61-E1011635D0CF}" type="slidenum">
              <a:rPr lang="en-US" smtClean="0"/>
              <a:t>18</a:t>
            </a:fld>
            <a:endParaRPr lang="en-US"/>
          </a:p>
        </p:txBody>
      </p:sp>
    </p:spTree>
    <p:extLst>
      <p:ext uri="{BB962C8B-B14F-4D97-AF65-F5344CB8AC3E}">
        <p14:creationId xmlns:p14="http://schemas.microsoft.com/office/powerpoint/2010/main" val="23696283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AIC</a:t>
            </a:r>
            <a:r>
              <a:rPr lang="zh-CN" altLang="en-US" sz="1200" kern="1200" dirty="0">
                <a:solidFill>
                  <a:schemeClr val="tx1"/>
                </a:solidFill>
                <a:effectLst/>
                <a:latin typeface="+mn-lt"/>
                <a:ea typeface="+mn-ea"/>
                <a:cs typeface="+mn-cs"/>
              </a:rPr>
              <a:t>是</a:t>
            </a:r>
            <a:r>
              <a:rPr lang="en-US" altLang="zh-CN" sz="1200" kern="1200" dirty="0">
                <a:solidFill>
                  <a:schemeClr val="tx1"/>
                </a:solidFill>
                <a:effectLst/>
                <a:latin typeface="+mn-lt"/>
                <a:ea typeface="+mn-ea"/>
                <a:cs typeface="+mn-cs"/>
              </a:rPr>
              <a:t>CV</a:t>
            </a:r>
            <a:r>
              <a:rPr lang="zh-CN" altLang="en-US" sz="1200" kern="1200" dirty="0">
                <a:solidFill>
                  <a:schemeClr val="tx1"/>
                </a:solidFill>
                <a:effectLst/>
                <a:latin typeface="+mn-lt"/>
                <a:ea typeface="+mn-ea"/>
                <a:cs typeface="+mn-cs"/>
              </a:rPr>
              <a:t>之前使用的，但是</a:t>
            </a:r>
            <a:r>
              <a:rPr lang="en-US" altLang="zh-CN" sz="1200" kern="1200" dirty="0">
                <a:solidFill>
                  <a:schemeClr val="tx1"/>
                </a:solidFill>
                <a:effectLst/>
                <a:latin typeface="+mn-lt"/>
                <a:ea typeface="+mn-ea"/>
                <a:cs typeface="+mn-cs"/>
              </a:rPr>
              <a:t>CV</a:t>
            </a:r>
            <a:r>
              <a:rPr lang="zh-CN" altLang="en-US" sz="1200" kern="1200" dirty="0">
                <a:solidFill>
                  <a:schemeClr val="tx1"/>
                </a:solidFill>
                <a:effectLst/>
                <a:latin typeface="+mn-lt"/>
                <a:ea typeface="+mn-ea"/>
                <a:cs typeface="+mn-cs"/>
              </a:rPr>
              <a:t>现在应用太广了，变成标准的模型选择了。</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Homework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mean of F is approximately 1, but the upper quantile of F is much larger than 1 (for example, the 95% quantile of F1,n−p is larger than 3.8, and the 95% quantile of F2,n−p is larger than 2.9). So compared to the usual hypothesis testing based on the Normal linear model, R ̄2 favors unnecessarily large models. </a:t>
            </a:r>
            <a:endParaRPr lang="en-US" dirty="0"/>
          </a:p>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19</a:t>
            </a:fld>
            <a:endParaRPr lang="en-US"/>
          </a:p>
        </p:txBody>
      </p:sp>
    </p:spTree>
    <p:extLst>
      <p:ext uri="{BB962C8B-B14F-4D97-AF65-F5344CB8AC3E}">
        <p14:creationId xmlns:p14="http://schemas.microsoft.com/office/powerpoint/2010/main" val="2585086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20</a:t>
            </a:fld>
            <a:endParaRPr lang="en-US"/>
          </a:p>
        </p:txBody>
      </p:sp>
    </p:spTree>
    <p:extLst>
      <p:ext uri="{BB962C8B-B14F-4D97-AF65-F5344CB8AC3E}">
        <p14:creationId xmlns:p14="http://schemas.microsoft.com/office/powerpoint/2010/main" val="17294196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就是</a:t>
            </a:r>
            <a:r>
              <a:rPr lang="en-US" altLang="zh-CN" sz="1200" kern="1200" dirty="0">
                <a:solidFill>
                  <a:schemeClr val="tx1"/>
                </a:solidFill>
                <a:effectLst/>
                <a:latin typeface="+mn-lt"/>
                <a:ea typeface="+mn-ea"/>
                <a:cs typeface="+mn-cs"/>
              </a:rPr>
              <a:t>Y ~ </a:t>
            </a:r>
            <a:r>
              <a:rPr lang="en-US" altLang="zh-CN" sz="1200" kern="1200" dirty="0" err="1">
                <a:solidFill>
                  <a:schemeClr val="tx1"/>
                </a:solidFill>
                <a:effectLst/>
                <a:latin typeface="+mn-lt"/>
                <a:ea typeface="+mn-ea"/>
                <a:cs typeface="+mn-cs"/>
              </a:rPr>
              <a:t>I_n+X_i</a:t>
            </a:r>
            <a:r>
              <a:rPr lang="en-US" altLang="zh-CN" sz="1200" kern="1200" dirty="0">
                <a:solidFill>
                  <a:schemeClr val="tx1"/>
                </a:solidFill>
                <a:effectLst/>
                <a:latin typeface="+mn-lt"/>
                <a:ea typeface="+mn-ea"/>
                <a:cs typeface="+mn-cs"/>
              </a:rPr>
              <a:t>, Y ~ </a:t>
            </a:r>
            <a:r>
              <a:rPr lang="en-US" altLang="zh-CN" sz="1200" kern="1200" dirty="0" err="1">
                <a:solidFill>
                  <a:schemeClr val="tx1"/>
                </a:solidFill>
                <a:effectLst/>
                <a:latin typeface="+mn-lt"/>
                <a:ea typeface="+mn-ea"/>
                <a:cs typeface="+mn-cs"/>
              </a:rPr>
              <a:t>I_n+X_i+X_j</a:t>
            </a:r>
            <a:r>
              <a:rPr lang="en-US" altLang="zh-CN" sz="1200" kern="1200" dirty="0">
                <a:solidFill>
                  <a:schemeClr val="tx1"/>
                </a:solidFill>
                <a:effectLst/>
                <a:latin typeface="+mn-lt"/>
                <a:ea typeface="+mn-ea"/>
                <a:cs typeface="+mn-cs"/>
              </a:rPr>
              <a:t>, …, Y~I_n+X_1+….+</a:t>
            </a:r>
            <a:r>
              <a:rPr lang="en-US" altLang="zh-CN" sz="1200" kern="1200" dirty="0" err="1">
                <a:solidFill>
                  <a:schemeClr val="tx1"/>
                </a:solidFill>
                <a:effectLst/>
                <a:latin typeface="+mn-lt"/>
                <a:ea typeface="+mn-ea"/>
                <a:cs typeface="+mn-cs"/>
              </a:rPr>
              <a:t>X_n</a:t>
            </a:r>
            <a:r>
              <a:rPr lang="zh-CN" altLang="en-US" sz="1200" kern="1200" dirty="0">
                <a:solidFill>
                  <a:schemeClr val="tx1"/>
                </a:solidFill>
                <a:effectLst/>
                <a:latin typeface="+mn-lt"/>
                <a:ea typeface="+mn-ea"/>
                <a:cs typeface="+mn-cs"/>
              </a:rPr>
              <a:t>，这样子，向后向前，每次选择最好的一个</a:t>
            </a:r>
            <a:r>
              <a:rPr lang="en-US" altLang="zh-CN" sz="1200" kern="1200" dirty="0" err="1">
                <a:solidFill>
                  <a:schemeClr val="tx1"/>
                </a:solidFill>
                <a:effectLst/>
                <a:latin typeface="+mn-lt"/>
                <a:ea typeface="+mn-ea"/>
                <a:cs typeface="+mn-cs"/>
              </a:rPr>
              <a:t>X_j</a:t>
            </a:r>
            <a:r>
              <a:rPr lang="zh-CN" altLang="en-US" sz="1200" kern="1200" dirty="0">
                <a:solidFill>
                  <a:schemeClr val="tx1"/>
                </a:solidFill>
                <a:effectLst/>
                <a:latin typeface="+mn-lt"/>
                <a:ea typeface="+mn-ea"/>
                <a:cs typeface="+mn-cs"/>
              </a:rPr>
              <a:t>加减来，但是很有可能会错过最好的模型，但是</a:t>
            </a:r>
            <a:r>
              <a:rPr lang="en-US" altLang="zh-CN" sz="1200" kern="1200" dirty="0">
                <a:solidFill>
                  <a:schemeClr val="tx1"/>
                </a:solidFill>
                <a:effectLst/>
                <a:latin typeface="+mn-lt"/>
                <a:ea typeface="+mn-ea"/>
                <a:cs typeface="+mn-cs"/>
              </a:rPr>
              <a:t>2^n</a:t>
            </a:r>
            <a:r>
              <a:rPr lang="zh-CN" altLang="en-US" sz="1200" kern="1200" dirty="0">
                <a:solidFill>
                  <a:schemeClr val="tx1"/>
                </a:solidFill>
                <a:effectLst/>
                <a:latin typeface="+mn-lt"/>
                <a:ea typeface="+mn-ea"/>
                <a:cs typeface="+mn-cs"/>
              </a:rPr>
              <a:t>种你是没法遍历的，计算困难。这个向前向后选择在</a:t>
            </a:r>
            <a:r>
              <a:rPr lang="en-US" altLang="zh-CN" sz="1200" kern="1200" dirty="0">
                <a:solidFill>
                  <a:schemeClr val="tx1"/>
                </a:solidFill>
                <a:effectLst/>
                <a:latin typeface="+mn-lt"/>
                <a:ea typeface="+mn-ea"/>
                <a:cs typeface="+mn-cs"/>
              </a:rPr>
              <a:t>R</a:t>
            </a:r>
            <a:r>
              <a:rPr lang="zh-CN" altLang="en-US" sz="1200" kern="1200">
                <a:solidFill>
                  <a:schemeClr val="tx1"/>
                </a:solidFill>
                <a:effectLst/>
                <a:latin typeface="+mn-lt"/>
                <a:ea typeface="+mn-ea"/>
                <a:cs typeface="+mn-cs"/>
              </a:rPr>
              <a:t>语言中可以一行代码搞出来。</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Forward regression works in the case with p ≥ n but it stops at step n − 1; backward regression works only in the case with p &lt; n. </a:t>
            </a:r>
            <a:endParaRPr lang="en-US" dirty="0"/>
          </a:p>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21</a:t>
            </a:fld>
            <a:endParaRPr lang="en-US"/>
          </a:p>
        </p:txBody>
      </p:sp>
    </p:spTree>
    <p:extLst>
      <p:ext uri="{BB962C8B-B14F-4D97-AF65-F5344CB8AC3E}">
        <p14:creationId xmlns:p14="http://schemas.microsoft.com/office/powerpoint/2010/main" val="2177120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5FC8A-1FB6-3041-A418-D61E2C3DA4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AF47742-DAB1-C14E-A5BA-70F7F796BCF6}"/>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B6F0F5-1172-4443-B1D2-5FA4A3CBB556}"/>
              </a:ext>
            </a:extLst>
          </p:cNvPr>
          <p:cNvSpPr>
            <a:spLocks noGrp="1"/>
          </p:cNvSpPr>
          <p:nvPr>
            <p:ph type="dt" sz="half" idx="10"/>
          </p:nvPr>
        </p:nvSpPr>
        <p:spPr/>
        <p:txBody>
          <a:bodyPr/>
          <a:lstStyle/>
          <a:p>
            <a:fld id="{97338502-F17E-DC4B-9F41-BAD476EB8CDC}" type="datetimeFigureOut">
              <a:rPr lang="en-US" smtClean="0"/>
              <a:t>11/3/2025</a:t>
            </a:fld>
            <a:endParaRPr lang="en-US"/>
          </a:p>
        </p:txBody>
      </p:sp>
      <p:sp>
        <p:nvSpPr>
          <p:cNvPr id="5" name="Footer Placeholder 4">
            <a:extLst>
              <a:ext uri="{FF2B5EF4-FFF2-40B4-BE49-F238E27FC236}">
                <a16:creationId xmlns:a16="http://schemas.microsoft.com/office/drawing/2014/main" id="{05EB7974-E7D6-B34D-9439-F9FBE61ED6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A9B4C7-B3E7-2249-9AAE-D0EE3D2B7EB0}"/>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3983899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0B802-5C9D-5D40-9713-8F0AF3E965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FE7CEE-95B7-784A-8744-013528B7E0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87651F-9F0D-CE47-A7C3-72ADEC6D561A}"/>
              </a:ext>
            </a:extLst>
          </p:cNvPr>
          <p:cNvSpPr>
            <a:spLocks noGrp="1"/>
          </p:cNvSpPr>
          <p:nvPr>
            <p:ph type="dt" sz="half" idx="10"/>
          </p:nvPr>
        </p:nvSpPr>
        <p:spPr/>
        <p:txBody>
          <a:bodyPr/>
          <a:lstStyle/>
          <a:p>
            <a:fld id="{97338502-F17E-DC4B-9F41-BAD476EB8CDC}" type="datetimeFigureOut">
              <a:rPr lang="en-US" smtClean="0"/>
              <a:t>11/3/2025</a:t>
            </a:fld>
            <a:endParaRPr lang="en-US"/>
          </a:p>
        </p:txBody>
      </p:sp>
      <p:sp>
        <p:nvSpPr>
          <p:cNvPr id="5" name="Footer Placeholder 4">
            <a:extLst>
              <a:ext uri="{FF2B5EF4-FFF2-40B4-BE49-F238E27FC236}">
                <a16:creationId xmlns:a16="http://schemas.microsoft.com/office/drawing/2014/main" id="{2E39990C-26CF-5340-9185-412EDD20B1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80482D-EE59-6B44-B09D-54DF378E29DB}"/>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653530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8DE8B-08E4-6746-B7C6-2D6F7D77DEE5}"/>
              </a:ext>
            </a:extLst>
          </p:cNvPr>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B837A5-9526-B64C-B0B3-EC555F7584AA}"/>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81C4E4-A98D-7F4C-A038-86F2454F7AA0}"/>
              </a:ext>
            </a:extLst>
          </p:cNvPr>
          <p:cNvSpPr>
            <a:spLocks noGrp="1"/>
          </p:cNvSpPr>
          <p:nvPr>
            <p:ph type="dt" sz="half" idx="10"/>
          </p:nvPr>
        </p:nvSpPr>
        <p:spPr/>
        <p:txBody>
          <a:bodyPr/>
          <a:lstStyle/>
          <a:p>
            <a:fld id="{97338502-F17E-DC4B-9F41-BAD476EB8CDC}" type="datetimeFigureOut">
              <a:rPr lang="en-US" smtClean="0"/>
              <a:t>11/3/2025</a:t>
            </a:fld>
            <a:endParaRPr lang="en-US"/>
          </a:p>
        </p:txBody>
      </p:sp>
      <p:sp>
        <p:nvSpPr>
          <p:cNvPr id="5" name="Footer Placeholder 4">
            <a:extLst>
              <a:ext uri="{FF2B5EF4-FFF2-40B4-BE49-F238E27FC236}">
                <a16:creationId xmlns:a16="http://schemas.microsoft.com/office/drawing/2014/main" id="{1A3ADB87-08F0-6645-91C0-90A36E9EF1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B2DCD8-FACC-EF40-A476-D4C9F098E0DA}"/>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2656738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B3A11-2C38-6345-9832-CD9E4234C5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F966E1-8E61-EB4F-98F1-2A3FD59E97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E9BD906-8014-9840-917B-BB1BE8DAFC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27BADE-2CE5-5944-BEA5-62B1C3EC9812}"/>
              </a:ext>
            </a:extLst>
          </p:cNvPr>
          <p:cNvSpPr>
            <a:spLocks noGrp="1"/>
          </p:cNvSpPr>
          <p:nvPr>
            <p:ph type="dt" sz="half" idx="10"/>
          </p:nvPr>
        </p:nvSpPr>
        <p:spPr/>
        <p:txBody>
          <a:bodyPr/>
          <a:lstStyle/>
          <a:p>
            <a:fld id="{97338502-F17E-DC4B-9F41-BAD476EB8CDC}" type="datetimeFigureOut">
              <a:rPr lang="en-US" smtClean="0"/>
              <a:t>11/3/2025</a:t>
            </a:fld>
            <a:endParaRPr lang="en-US"/>
          </a:p>
        </p:txBody>
      </p:sp>
      <p:sp>
        <p:nvSpPr>
          <p:cNvPr id="6" name="Footer Placeholder 5">
            <a:extLst>
              <a:ext uri="{FF2B5EF4-FFF2-40B4-BE49-F238E27FC236}">
                <a16:creationId xmlns:a16="http://schemas.microsoft.com/office/drawing/2014/main" id="{5803CA7E-B3F3-234F-8843-CF1B52B778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134860-30EA-0542-8960-CB71E62C2A7F}"/>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3607890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C88B9-4FB0-594D-A3C8-B920561FA2FF}"/>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17FA0D-47CF-804B-ADFF-C1FBCED7490C}"/>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8A6630-46C1-304B-A31B-F683D3BB0340}"/>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5370E5B-079D-3F45-BA01-C9AD653DD871}"/>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44FE20-58B7-C04B-89A7-8A255F953D6D}"/>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DF9B889-CD5B-FB44-BD7D-2E3DE5505226}"/>
              </a:ext>
            </a:extLst>
          </p:cNvPr>
          <p:cNvSpPr>
            <a:spLocks noGrp="1"/>
          </p:cNvSpPr>
          <p:nvPr>
            <p:ph type="dt" sz="half" idx="10"/>
          </p:nvPr>
        </p:nvSpPr>
        <p:spPr/>
        <p:txBody>
          <a:bodyPr/>
          <a:lstStyle/>
          <a:p>
            <a:fld id="{97338502-F17E-DC4B-9F41-BAD476EB8CDC}" type="datetimeFigureOut">
              <a:rPr lang="en-US" smtClean="0"/>
              <a:t>11/3/2025</a:t>
            </a:fld>
            <a:endParaRPr lang="en-US"/>
          </a:p>
        </p:txBody>
      </p:sp>
      <p:sp>
        <p:nvSpPr>
          <p:cNvPr id="8" name="Footer Placeholder 7">
            <a:extLst>
              <a:ext uri="{FF2B5EF4-FFF2-40B4-BE49-F238E27FC236}">
                <a16:creationId xmlns:a16="http://schemas.microsoft.com/office/drawing/2014/main" id="{70387C38-F33E-E940-9D72-4F66251103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77AD557-D134-064A-A446-E4906B19659C}"/>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1520858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0F00-4145-DC48-8A29-69BD407CC9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21F20B2-462E-F746-BEE4-DA5D2AEAF649}"/>
              </a:ext>
            </a:extLst>
          </p:cNvPr>
          <p:cNvSpPr>
            <a:spLocks noGrp="1"/>
          </p:cNvSpPr>
          <p:nvPr>
            <p:ph type="dt" sz="half" idx="10"/>
          </p:nvPr>
        </p:nvSpPr>
        <p:spPr/>
        <p:txBody>
          <a:bodyPr/>
          <a:lstStyle/>
          <a:p>
            <a:fld id="{97338502-F17E-DC4B-9F41-BAD476EB8CDC}" type="datetimeFigureOut">
              <a:rPr lang="en-US" smtClean="0"/>
              <a:t>11/3/2025</a:t>
            </a:fld>
            <a:endParaRPr lang="en-US"/>
          </a:p>
        </p:txBody>
      </p:sp>
      <p:sp>
        <p:nvSpPr>
          <p:cNvPr id="4" name="Footer Placeholder 3">
            <a:extLst>
              <a:ext uri="{FF2B5EF4-FFF2-40B4-BE49-F238E27FC236}">
                <a16:creationId xmlns:a16="http://schemas.microsoft.com/office/drawing/2014/main" id="{9D4A5F02-D3A0-BC45-924B-F537F6879F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8CF2EDE-B42D-1C45-90AC-640331E15542}"/>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3340854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6AF63A-2A34-9443-B3A1-F7AD55578BC1}"/>
              </a:ext>
            </a:extLst>
          </p:cNvPr>
          <p:cNvSpPr>
            <a:spLocks noGrp="1"/>
          </p:cNvSpPr>
          <p:nvPr>
            <p:ph type="dt" sz="half" idx="10"/>
          </p:nvPr>
        </p:nvSpPr>
        <p:spPr/>
        <p:txBody>
          <a:bodyPr/>
          <a:lstStyle/>
          <a:p>
            <a:fld id="{97338502-F17E-DC4B-9F41-BAD476EB8CDC}" type="datetimeFigureOut">
              <a:rPr lang="en-US" smtClean="0"/>
              <a:t>11/3/2025</a:t>
            </a:fld>
            <a:endParaRPr lang="en-US"/>
          </a:p>
        </p:txBody>
      </p:sp>
      <p:sp>
        <p:nvSpPr>
          <p:cNvPr id="3" name="Footer Placeholder 2">
            <a:extLst>
              <a:ext uri="{FF2B5EF4-FFF2-40B4-BE49-F238E27FC236}">
                <a16:creationId xmlns:a16="http://schemas.microsoft.com/office/drawing/2014/main" id="{2A3C7C21-24A3-624B-A109-AFC30D8803A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615E5C-B91F-6D4D-8F8C-60C86E7D4314}"/>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3524729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9C247-E86B-7E4B-85FF-22E979058D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D83CF5-B7AC-6344-BEDE-C1DC558C5D5B}"/>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1ED479-0A31-E74C-8CFF-F83A737191D2}"/>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865952-1887-1242-A818-B48F8B40E2D2}"/>
              </a:ext>
            </a:extLst>
          </p:cNvPr>
          <p:cNvSpPr>
            <a:spLocks noGrp="1"/>
          </p:cNvSpPr>
          <p:nvPr>
            <p:ph type="dt" sz="half" idx="10"/>
          </p:nvPr>
        </p:nvSpPr>
        <p:spPr/>
        <p:txBody>
          <a:bodyPr/>
          <a:lstStyle/>
          <a:p>
            <a:fld id="{97338502-F17E-DC4B-9F41-BAD476EB8CDC}" type="datetimeFigureOut">
              <a:rPr lang="en-US" smtClean="0"/>
              <a:t>11/3/2025</a:t>
            </a:fld>
            <a:endParaRPr lang="en-US"/>
          </a:p>
        </p:txBody>
      </p:sp>
      <p:sp>
        <p:nvSpPr>
          <p:cNvPr id="6" name="Footer Placeholder 5">
            <a:extLst>
              <a:ext uri="{FF2B5EF4-FFF2-40B4-BE49-F238E27FC236}">
                <a16:creationId xmlns:a16="http://schemas.microsoft.com/office/drawing/2014/main" id="{5B17D4EC-6C26-3343-BE5B-4618E517AC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A067B4-9192-2B4D-B6BA-824E852566C4}"/>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3785164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44F99-0279-E64B-A930-DD2DFE1627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C7E41E-F499-FD45-AA09-8683F0D29C82}"/>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BF769A72-A800-F842-8071-88E5094D6D5E}"/>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4FD681-5220-164D-B93A-853D489B8375}"/>
              </a:ext>
            </a:extLst>
          </p:cNvPr>
          <p:cNvSpPr>
            <a:spLocks noGrp="1"/>
          </p:cNvSpPr>
          <p:nvPr>
            <p:ph type="dt" sz="half" idx="10"/>
          </p:nvPr>
        </p:nvSpPr>
        <p:spPr/>
        <p:txBody>
          <a:bodyPr/>
          <a:lstStyle/>
          <a:p>
            <a:fld id="{97338502-F17E-DC4B-9F41-BAD476EB8CDC}" type="datetimeFigureOut">
              <a:rPr lang="en-US" smtClean="0"/>
              <a:t>11/3/2025</a:t>
            </a:fld>
            <a:endParaRPr lang="en-US"/>
          </a:p>
        </p:txBody>
      </p:sp>
      <p:sp>
        <p:nvSpPr>
          <p:cNvPr id="6" name="Footer Placeholder 5">
            <a:extLst>
              <a:ext uri="{FF2B5EF4-FFF2-40B4-BE49-F238E27FC236}">
                <a16:creationId xmlns:a16="http://schemas.microsoft.com/office/drawing/2014/main" id="{88E4C564-BE03-8440-959E-1F518EC840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C254D9-1620-D64C-AF60-D151063F32C5}"/>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2759719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C499A-DD86-D24E-A290-0B13D2D72E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D35DDCF-0EB5-0B42-9F19-70570301C1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52CFB8-64A2-6243-A467-76379B3B6CE1}"/>
              </a:ext>
            </a:extLst>
          </p:cNvPr>
          <p:cNvSpPr>
            <a:spLocks noGrp="1"/>
          </p:cNvSpPr>
          <p:nvPr>
            <p:ph type="dt" sz="half" idx="10"/>
          </p:nvPr>
        </p:nvSpPr>
        <p:spPr/>
        <p:txBody>
          <a:bodyPr/>
          <a:lstStyle/>
          <a:p>
            <a:fld id="{97338502-F17E-DC4B-9F41-BAD476EB8CDC}" type="datetimeFigureOut">
              <a:rPr lang="en-US" smtClean="0"/>
              <a:t>11/3/2025</a:t>
            </a:fld>
            <a:endParaRPr lang="en-US"/>
          </a:p>
        </p:txBody>
      </p:sp>
      <p:sp>
        <p:nvSpPr>
          <p:cNvPr id="5" name="Footer Placeholder 4">
            <a:extLst>
              <a:ext uri="{FF2B5EF4-FFF2-40B4-BE49-F238E27FC236}">
                <a16:creationId xmlns:a16="http://schemas.microsoft.com/office/drawing/2014/main" id="{47925434-A072-D245-8271-A14B1A4D6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54B9DA-DDF0-C34D-8AFE-B5CAAEF3AE7B}"/>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3954313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D15942-F520-8140-82C2-549925B9176C}"/>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E1EF6AE-3D2E-074D-80D3-C0295DA011CA}"/>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509591-4801-7644-BB66-3C5CEB6BF4A1}"/>
              </a:ext>
            </a:extLst>
          </p:cNvPr>
          <p:cNvSpPr>
            <a:spLocks noGrp="1"/>
          </p:cNvSpPr>
          <p:nvPr>
            <p:ph type="dt" sz="half" idx="10"/>
          </p:nvPr>
        </p:nvSpPr>
        <p:spPr/>
        <p:txBody>
          <a:bodyPr/>
          <a:lstStyle/>
          <a:p>
            <a:fld id="{97338502-F17E-DC4B-9F41-BAD476EB8CDC}" type="datetimeFigureOut">
              <a:rPr lang="en-US" smtClean="0"/>
              <a:t>11/3/2025</a:t>
            </a:fld>
            <a:endParaRPr lang="en-US"/>
          </a:p>
        </p:txBody>
      </p:sp>
      <p:sp>
        <p:nvSpPr>
          <p:cNvPr id="5" name="Footer Placeholder 4">
            <a:extLst>
              <a:ext uri="{FF2B5EF4-FFF2-40B4-BE49-F238E27FC236}">
                <a16:creationId xmlns:a16="http://schemas.microsoft.com/office/drawing/2014/main" id="{7B498A03-9EC2-5942-8AF7-4EE129F90F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D53ECD-47F7-6640-A418-41363373A207}"/>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635868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D098E4-3EF4-B940-93C1-1851E23AD5AB}"/>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1D4DF2-BE2A-2040-9A6C-84673A4812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C1B57D-0C15-8044-9772-0CEEEAA1C963}"/>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338502-F17E-DC4B-9F41-BAD476EB8CDC}" type="datetimeFigureOut">
              <a:rPr lang="en-US" smtClean="0"/>
              <a:t>11/3/2025</a:t>
            </a:fld>
            <a:endParaRPr lang="en-US"/>
          </a:p>
        </p:txBody>
      </p:sp>
      <p:sp>
        <p:nvSpPr>
          <p:cNvPr id="5" name="Footer Placeholder 4">
            <a:extLst>
              <a:ext uri="{FF2B5EF4-FFF2-40B4-BE49-F238E27FC236}">
                <a16:creationId xmlns:a16="http://schemas.microsoft.com/office/drawing/2014/main" id="{EC1FF6CD-B256-804D-A913-74F1B54B8A56}"/>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26141D8-076E-4C4E-BD9C-F12DD0F4B423}"/>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803370-4F3B-144B-8ABA-B36C9E3D55D2}" type="slidenum">
              <a:rPr lang="en-US" smtClean="0"/>
              <a:t>‹#›</a:t>
            </a:fld>
            <a:endParaRPr lang="en-US"/>
          </a:p>
        </p:txBody>
      </p:sp>
    </p:spTree>
    <p:extLst>
      <p:ext uri="{BB962C8B-B14F-4D97-AF65-F5344CB8AC3E}">
        <p14:creationId xmlns:p14="http://schemas.microsoft.com/office/powerpoint/2010/main" val="3735292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1.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7.xml"/><Relationship Id="rId26" Type="http://schemas.openxmlformats.org/officeDocument/2006/relationships/image" Target="../media/image27.png"/><Relationship Id="rId3" Type="http://schemas.openxmlformats.org/officeDocument/2006/relationships/tags" Target="../tags/tag20.xml"/><Relationship Id="rId21" Type="http://schemas.openxmlformats.org/officeDocument/2006/relationships/tags" Target="../tags/tag21.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5" Type="http://schemas.openxmlformats.org/officeDocument/2006/relationships/tags" Target="../tags/tag23.xml"/><Relationship Id="rId2" Type="http://schemas.openxmlformats.org/officeDocument/2006/relationships/tags" Target="../tags/tag19.xml"/><Relationship Id="rId16" Type="http://schemas.openxmlformats.org/officeDocument/2006/relationships/tags" Target="../tags/tag33.xml"/><Relationship Id="rId20" Type="http://schemas.openxmlformats.org/officeDocument/2006/relationships/image" Target="../media/image24.png"/><Relationship Id="rId29" Type="http://schemas.openxmlformats.org/officeDocument/2006/relationships/image" Target="../media/image1.png"/><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24" Type="http://schemas.openxmlformats.org/officeDocument/2006/relationships/image" Target="../media/image26.png"/><Relationship Id="rId5" Type="http://schemas.openxmlformats.org/officeDocument/2006/relationships/tags" Target="../tags/tag22.xml"/><Relationship Id="rId15" Type="http://schemas.openxmlformats.org/officeDocument/2006/relationships/tags" Target="../tags/tag32.xml"/><Relationship Id="rId23" Type="http://schemas.openxmlformats.org/officeDocument/2006/relationships/tags" Target="../tags/tag22.xml"/><Relationship Id="rId28" Type="http://schemas.openxmlformats.org/officeDocument/2006/relationships/image" Target="../media/image5.png"/><Relationship Id="rId10" Type="http://schemas.openxmlformats.org/officeDocument/2006/relationships/tags" Target="../tags/tag27.xml"/><Relationship Id="rId19" Type="http://schemas.openxmlformats.org/officeDocument/2006/relationships/tags" Target="../tags/tag20.xml"/><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 Id="rId22" Type="http://schemas.openxmlformats.org/officeDocument/2006/relationships/image" Target="../media/image25.png"/><Relationship Id="rId27" Type="http://schemas.openxmlformats.org/officeDocument/2006/relationships/tags" Target="../tags/tag2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image" Target="../media/image33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330.png"/></Relationships>
</file>

<file path=ppt/slides/_rels/slide16.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C8180ED6-2ACB-A649-8746-79EC7812504B}"/>
              </a:ext>
            </a:extLst>
          </p:cNvPr>
          <p:cNvSpPr>
            <a:spLocks noGrp="1"/>
          </p:cNvSpPr>
          <p:nvPr>
            <p:ph type="ctrTitle"/>
          </p:nvPr>
        </p:nvSpPr>
        <p:spPr>
          <a:xfrm>
            <a:off x="2058380" y="1260489"/>
            <a:ext cx="8075240" cy="1710011"/>
          </a:xfrm>
          <a:prstGeom prst="roundRect">
            <a:avLst/>
          </a:prstGeom>
          <a:solidFill>
            <a:srgbClr val="005825"/>
          </a:solidFill>
        </p:spPr>
        <p:style>
          <a:lnRef idx="0">
            <a:schemeClr val="accent1"/>
          </a:lnRef>
          <a:fillRef idx="3">
            <a:schemeClr val="accent1"/>
          </a:fillRef>
          <a:effectRef idx="3">
            <a:schemeClr val="accent1"/>
          </a:effectRef>
          <a:fontRef idx="minor">
            <a:schemeClr val="lt1"/>
          </a:fontRef>
        </p:style>
        <p:txBody>
          <a:bodyPr anchor="ctr">
            <a:noAutofit/>
          </a:bodyPr>
          <a:lstStyle/>
          <a:p>
            <a:r>
              <a:rPr lang="en-US" altLang="zh-CN" sz="4000" b="1" dirty="0">
                <a:latin typeface="微软雅黑" pitchFamily="34" charset="-122"/>
                <a:ea typeface="微软雅黑" pitchFamily="34" charset="-122"/>
              </a:rPr>
              <a:t>Overfitting</a:t>
            </a:r>
            <a:endParaRPr lang="zh-CN" altLang="en-US" sz="4000" b="1" dirty="0">
              <a:latin typeface="微软雅黑" pitchFamily="34" charset="-122"/>
              <a:ea typeface="微软雅黑" pitchFamily="34" charset="-122"/>
            </a:endParaRPr>
          </a:p>
        </p:txBody>
      </p:sp>
      <p:sp>
        <p:nvSpPr>
          <p:cNvPr id="5" name="副标题 2">
            <a:extLst>
              <a:ext uri="{FF2B5EF4-FFF2-40B4-BE49-F238E27FC236}">
                <a16:creationId xmlns:a16="http://schemas.microsoft.com/office/drawing/2014/main" id="{65B63C4A-E74D-EC4E-82DE-0EDC1FB3D00F}"/>
              </a:ext>
            </a:extLst>
          </p:cNvPr>
          <p:cNvSpPr>
            <a:spLocks noGrp="1"/>
          </p:cNvSpPr>
          <p:nvPr>
            <p:ph type="subTitle" idx="1"/>
          </p:nvPr>
        </p:nvSpPr>
        <p:spPr>
          <a:xfrm>
            <a:off x="1524000" y="3887501"/>
            <a:ext cx="9144000" cy="1373086"/>
          </a:xfrm>
        </p:spPr>
        <p:txBody>
          <a:bodyPr>
            <a:normAutofit/>
          </a:bodyPr>
          <a:lstStyle/>
          <a:p>
            <a:r>
              <a:rPr lang="zh-CN" altLang="en-US" b="1" dirty="0">
                <a:solidFill>
                  <a:schemeClr val="tx1"/>
                </a:solidFill>
                <a:latin typeface="Microsoft YaHei" panose="020B0503020204020204" pitchFamily="34" charset="-122"/>
                <a:ea typeface="Microsoft YaHei" panose="020B0503020204020204" pitchFamily="34" charset="-122"/>
              </a:rPr>
              <a:t>蒋智超</a:t>
            </a:r>
            <a:endParaRPr lang="en-US" altLang="zh-CN" b="1" dirty="0">
              <a:latin typeface="Microsoft YaHei" panose="020B0503020204020204" pitchFamily="34" charset="-122"/>
              <a:ea typeface="Microsoft YaHei" panose="020B0503020204020204" pitchFamily="34" charset="-122"/>
            </a:endParaRPr>
          </a:p>
          <a:p>
            <a:r>
              <a:rPr lang="zh-CN" altLang="en-US" b="1" dirty="0">
                <a:solidFill>
                  <a:schemeClr val="tx1"/>
                </a:solidFill>
                <a:latin typeface="Microsoft YaHei" panose="020B0503020204020204" pitchFamily="34" charset="-122"/>
                <a:ea typeface="Microsoft YaHei" panose="020B0503020204020204" pitchFamily="34" charset="-122"/>
              </a:rPr>
              <a:t>          </a:t>
            </a:r>
            <a:endParaRPr lang="en-US" altLang="zh-CN" b="1" dirty="0">
              <a:solidFill>
                <a:schemeClr val="tx1"/>
              </a:solidFill>
              <a:latin typeface="Microsoft YaHei" panose="020B0503020204020204" pitchFamily="34" charset="-122"/>
              <a:ea typeface="Microsoft YaHei" panose="020B0503020204020204" pitchFamily="34" charset="-122"/>
            </a:endParaRPr>
          </a:p>
          <a:p>
            <a:r>
              <a:rPr lang="en-US" altLang="zh-CN" b="1" dirty="0">
                <a:solidFill>
                  <a:schemeClr val="tx1"/>
                </a:solidFill>
                <a:latin typeface="Microsoft YaHei" panose="020B0503020204020204" pitchFamily="34" charset="-122"/>
                <a:ea typeface="Microsoft YaHei" panose="020B0503020204020204" pitchFamily="34" charset="-122"/>
              </a:rPr>
              <a:t>2025</a:t>
            </a:r>
            <a:r>
              <a:rPr lang="zh-CN" altLang="en-US" b="1" dirty="0">
                <a:solidFill>
                  <a:schemeClr val="tx1"/>
                </a:solidFill>
                <a:latin typeface="Microsoft YaHei" panose="020B0503020204020204" pitchFamily="34" charset="-122"/>
                <a:ea typeface="Microsoft YaHei" panose="020B0503020204020204" pitchFamily="34" charset="-122"/>
              </a:rPr>
              <a:t>年 </a:t>
            </a:r>
            <a:r>
              <a:rPr lang="zh-CN" altLang="en-US" b="1" dirty="0">
                <a:latin typeface="Microsoft YaHei" panose="020B0503020204020204" pitchFamily="34" charset="-122"/>
                <a:ea typeface="Microsoft YaHei" panose="020B0503020204020204" pitchFamily="34" charset="-122"/>
              </a:rPr>
              <a:t>秋    </a:t>
            </a:r>
            <a:endParaRPr lang="en-US" altLang="zh-CN" b="1"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268624703"/>
      </p:ext>
    </p:extLst>
  </p:cSld>
  <p:clrMapOvr>
    <a:masterClrMapping/>
  </p:clrMapOvr>
  <mc:AlternateContent xmlns:mc="http://schemas.openxmlformats.org/markup-compatibility/2006" xmlns:p14="http://schemas.microsoft.com/office/powerpoint/2010/main">
    <mc:Choice Requires="p14">
      <p:transition spd="slow" p14:dur="2000" advTm="2572"/>
    </mc:Choice>
    <mc:Fallback xmlns="">
      <p:transition spd="slow" advTm="257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F4CF999-B84E-45EF-F52C-2B8CF4FAFCDB}"/>
              </a:ext>
            </a:extLst>
          </p:cNvPr>
          <p:cNvGrpSpPr/>
          <p:nvPr>
            <p:custDataLst>
              <p:tags r:id="rId2"/>
            </p:custDataLst>
          </p:nvPr>
        </p:nvGrpSpPr>
        <p:grpSpPr>
          <a:xfrm>
            <a:off x="0" y="0"/>
            <a:ext cx="12192000" cy="635000"/>
            <a:chOff x="0" y="0"/>
            <a:chExt cx="12192000" cy="635000"/>
          </a:xfrm>
        </p:grpSpPr>
        <p:sp>
          <p:nvSpPr>
            <p:cNvPr id="6" name="TitleBackground">
              <a:extLst>
                <a:ext uri="{FF2B5EF4-FFF2-40B4-BE49-F238E27FC236}">
                  <a16:creationId xmlns:a16="http://schemas.microsoft.com/office/drawing/2014/main" id="{E404C30B-02FA-F13D-2D56-1DD309E86ED1}"/>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lorBlock">
              <a:extLst>
                <a:ext uri="{FF2B5EF4-FFF2-40B4-BE49-F238E27FC236}">
                  <a16:creationId xmlns:a16="http://schemas.microsoft.com/office/drawing/2014/main" id="{1496686F-74A1-FD8C-E571-0C629337D922}"/>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ypeText">
              <a:extLst>
                <a:ext uri="{FF2B5EF4-FFF2-40B4-BE49-F238E27FC236}">
                  <a16:creationId xmlns:a16="http://schemas.microsoft.com/office/drawing/2014/main" id="{851AC085-3A25-976E-AD4E-D752FC346F7F}"/>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TipText">
              <a:extLst>
                <a:ext uri="{FF2B5EF4-FFF2-40B4-BE49-F238E27FC236}">
                  <a16:creationId xmlns:a16="http://schemas.microsoft.com/office/drawing/2014/main" id="{CFD1BFF0-BA40-3B93-DF31-DFFC0F7B0434}"/>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sp>
        <p:nvSpPr>
          <p:cNvPr id="11" name="TextBox 10">
            <a:extLst>
              <a:ext uri="{FF2B5EF4-FFF2-40B4-BE49-F238E27FC236}">
                <a16:creationId xmlns:a16="http://schemas.microsoft.com/office/drawing/2014/main" id="{D4337255-6AB7-46CB-47FA-0319F6F9E4D9}"/>
              </a:ext>
            </a:extLst>
          </p:cNvPr>
          <p:cNvSpPr txBox="1"/>
          <p:nvPr>
            <p:custDataLst>
              <p:tags r:id="rId3"/>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Which would be the next value in 2, 3, 5, 8, 13 ? </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TextBox 11">
            <a:extLst>
              <a:ext uri="{FF2B5EF4-FFF2-40B4-BE49-F238E27FC236}">
                <a16:creationId xmlns:a16="http://schemas.microsoft.com/office/drawing/2014/main" id="{DF37685B-8EF1-B7F3-E19F-F280A7D89056}"/>
              </a:ext>
            </a:extLst>
          </p:cNvPr>
          <p:cNvSpPr txBox="1"/>
          <p:nvPr>
            <p:custDataLst>
              <p:tags r:id="rId4"/>
            </p:custDataLst>
          </p:nvPr>
        </p:nvSpPr>
        <p:spPr>
          <a:xfrm>
            <a:off x="2438400" y="27860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21</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TextBox 12">
            <a:extLst>
              <a:ext uri="{FF2B5EF4-FFF2-40B4-BE49-F238E27FC236}">
                <a16:creationId xmlns:a16="http://schemas.microsoft.com/office/drawing/2014/main" id="{47C297CA-620E-1CEC-F78B-2FB201FB779D}"/>
              </a:ext>
            </a:extLst>
          </p:cNvPr>
          <p:cNvSpPr txBox="1"/>
          <p:nvPr>
            <p:custDataLst>
              <p:tags r:id="rId5"/>
            </p:custDataLst>
          </p:nvPr>
        </p:nvSpPr>
        <p:spPr>
          <a:xfrm>
            <a:off x="2438400" y="364331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42</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TextBox 13">
            <a:extLst>
              <a:ext uri="{FF2B5EF4-FFF2-40B4-BE49-F238E27FC236}">
                <a16:creationId xmlns:a16="http://schemas.microsoft.com/office/drawing/2014/main" id="{8F0D56DB-8B01-DA77-6759-43E427B59EAE}"/>
              </a:ext>
            </a:extLst>
          </p:cNvPr>
          <p:cNvSpPr txBox="1"/>
          <p:nvPr>
            <p:custDataLst>
              <p:tags r:id="rId6"/>
            </p:custDataLst>
          </p:nvPr>
        </p:nvSpPr>
        <p:spPr>
          <a:xfrm>
            <a:off x="2438400" y="45005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23333</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TextBox 14">
            <a:extLst>
              <a:ext uri="{FF2B5EF4-FFF2-40B4-BE49-F238E27FC236}">
                <a16:creationId xmlns:a16="http://schemas.microsoft.com/office/drawing/2014/main" id="{D4845A1B-E58D-8C14-4041-C60697AE28FA}"/>
              </a:ext>
            </a:extLst>
          </p:cNvPr>
          <p:cNvSpPr txBox="1"/>
          <p:nvPr>
            <p:custDataLst>
              <p:tags r:id="rId7"/>
            </p:custDataLst>
          </p:nvPr>
        </p:nvSpPr>
        <p:spPr>
          <a:xfrm>
            <a:off x="2438400" y="535781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666</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Rectangle 15">
            <a:extLst>
              <a:ext uri="{FF2B5EF4-FFF2-40B4-BE49-F238E27FC236}">
                <a16:creationId xmlns:a16="http://schemas.microsoft.com/office/drawing/2014/main" id="{D7C12DCE-BF5E-9073-9D73-39ECB5AA0D79}"/>
              </a:ext>
            </a:extLst>
          </p:cNvPr>
          <p:cNvSpPr>
            <a:spLocks noChangeAspect="1"/>
          </p:cNvSpPr>
          <p:nvPr>
            <p:custDataLst>
              <p:tags r:id="rId8"/>
            </p:custDataLst>
          </p:nvPr>
        </p:nvSpPr>
        <p:spPr>
          <a:xfrm>
            <a:off x="1571625" y="2850356"/>
            <a:ext cx="514350" cy="514350"/>
          </a:xfrm>
          <a:prstGeom prst="rect">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7" name="Rectangle 16">
            <a:extLst>
              <a:ext uri="{FF2B5EF4-FFF2-40B4-BE49-F238E27FC236}">
                <a16:creationId xmlns:a16="http://schemas.microsoft.com/office/drawing/2014/main" id="{AAED6AC4-9ADB-6626-E1DC-9BC772D7BB4B}"/>
              </a:ext>
            </a:extLst>
          </p:cNvPr>
          <p:cNvSpPr>
            <a:spLocks noChangeAspect="1"/>
          </p:cNvSpPr>
          <p:nvPr>
            <p:custDataLst>
              <p:tags r:id="rId9"/>
            </p:custDataLst>
          </p:nvPr>
        </p:nvSpPr>
        <p:spPr>
          <a:xfrm>
            <a:off x="1571625" y="3707606"/>
            <a:ext cx="514350" cy="514350"/>
          </a:xfrm>
          <a:prstGeom prst="rect">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18" name="Rectangle 17">
            <a:extLst>
              <a:ext uri="{FF2B5EF4-FFF2-40B4-BE49-F238E27FC236}">
                <a16:creationId xmlns:a16="http://schemas.microsoft.com/office/drawing/2014/main" id="{64F13E04-CB45-F596-B656-C7FA86217571}"/>
              </a:ext>
            </a:extLst>
          </p:cNvPr>
          <p:cNvSpPr>
            <a:spLocks noChangeAspect="1"/>
          </p:cNvSpPr>
          <p:nvPr>
            <p:custDataLst>
              <p:tags r:id="rId10"/>
            </p:custDataLst>
          </p:nvPr>
        </p:nvSpPr>
        <p:spPr>
          <a:xfrm>
            <a:off x="1571625" y="4564856"/>
            <a:ext cx="514350" cy="514350"/>
          </a:xfrm>
          <a:prstGeom prst="rect">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p>
        </p:txBody>
      </p:sp>
      <p:sp>
        <p:nvSpPr>
          <p:cNvPr id="19" name="Rectangle 18">
            <a:extLst>
              <a:ext uri="{FF2B5EF4-FFF2-40B4-BE49-F238E27FC236}">
                <a16:creationId xmlns:a16="http://schemas.microsoft.com/office/drawing/2014/main" id="{282D6A35-807A-D3EF-27AE-963857F6209C}"/>
              </a:ext>
            </a:extLst>
          </p:cNvPr>
          <p:cNvSpPr>
            <a:spLocks noChangeAspect="1"/>
          </p:cNvSpPr>
          <p:nvPr>
            <p:custDataLst>
              <p:tags r:id="rId11"/>
            </p:custDataLst>
          </p:nvPr>
        </p:nvSpPr>
        <p:spPr>
          <a:xfrm>
            <a:off x="1571625" y="5422106"/>
            <a:ext cx="514350" cy="514350"/>
          </a:xfrm>
          <a:prstGeom prst="rect">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p>
        </p:txBody>
      </p:sp>
      <p:sp>
        <p:nvSpPr>
          <p:cNvPr id="20" name="Rounded Rectangle 19">
            <a:extLst>
              <a:ext uri="{FF2B5EF4-FFF2-40B4-BE49-F238E27FC236}">
                <a16:creationId xmlns:a16="http://schemas.microsoft.com/office/drawing/2014/main" id="{7C711D6B-AA47-967E-3C0C-0532A75FDDA1}"/>
              </a:ext>
            </a:extLst>
          </p:cNvPr>
          <p:cNvSpPr/>
          <p:nvPr>
            <p:custDataLst>
              <p:tags r:id="rId1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pic>
        <p:nvPicPr>
          <p:cNvPr id="5" name="Picture 4">
            <a:extLst>
              <a:ext uri="{FF2B5EF4-FFF2-40B4-BE49-F238E27FC236}">
                <a16:creationId xmlns:a16="http://schemas.microsoft.com/office/drawing/2014/main" id="{884EA373-8B3C-4724-0CD9-1776B3BF77CB}"/>
              </a:ext>
            </a:extLst>
          </p:cNvPr>
          <p:cNvPicPr>
            <a:picLocks/>
          </p:cNvPicPr>
          <p:nvPr>
            <p:custDataLst>
              <p:tags r:id="rId13"/>
            </p:custDataLst>
          </p:nvPr>
        </p:nvPicPr>
        <p:blipFill>
          <a:blip r:embed="rId19"/>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25459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Issue of overfitting</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mc:AlternateContent xmlns:mc="http://schemas.openxmlformats.org/markup-compatibility/2006" xmlns:a14="http://schemas.microsoft.com/office/drawing/2010/main">
        <mc:Choice Requires="a14">
          <p:sp>
            <p:nvSpPr>
              <p:cNvPr id="8195" name="内容占位符 2">
                <a:extLst>
                  <a:ext uri="{FF2B5EF4-FFF2-40B4-BE49-F238E27FC236}">
                    <a16:creationId xmlns:a16="http://schemas.microsoft.com/office/drawing/2014/main" id="{A0293DA8-2870-C84B-90F0-70EC544611AC}"/>
                  </a:ext>
                </a:extLst>
              </p:cNvPr>
              <p:cNvSpPr>
                <a:spLocks noGrp="1" noChangeArrowheads="1"/>
              </p:cNvSpPr>
              <p:nvPr>
                <p:ph idx="1"/>
              </p:nvPr>
            </p:nvSpPr>
            <p:spPr>
              <a:xfrm>
                <a:off x="914400" y="1463040"/>
                <a:ext cx="8261351" cy="4656139"/>
              </a:xfrm>
              <a:ln>
                <a:noFill/>
              </a:ln>
            </p:spPr>
            <p:txBody>
              <a:bodyPr>
                <a:normAutofit/>
              </a:bodyPr>
              <a:lstStyle/>
              <a:p>
                <a:pPr>
                  <a:lnSpc>
                    <a:spcPct val="150000"/>
                  </a:lnSpc>
                  <a:buClr>
                    <a:schemeClr val="tx1"/>
                  </a:buClr>
                </a:pPr>
                <a:r>
                  <a:rPr lang="en-US" altLang="zh-CN" sz="2400" dirty="0">
                    <a:ea typeface="Arial Unicode MS" panose="020B0604020202020204" pitchFamily="34" charset="-128"/>
                    <a:cs typeface="Arial Unicode MS" panose="020B0604020202020204" pitchFamily="34" charset="-128"/>
                  </a:rPr>
                  <a:t>When the goal is inference</a:t>
                </a:r>
              </a:p>
              <a:p>
                <a:pPr lvl="1">
                  <a:lnSpc>
                    <a:spcPct val="150000"/>
                  </a:lnSpc>
                  <a:buClr>
                    <a:schemeClr val="tx1"/>
                  </a:buClr>
                </a:pPr>
                <a:r>
                  <a:rPr lang="en-US" altLang="zh-CN" sz="2000" dirty="0">
                    <a:ea typeface="Arial Unicode MS" panose="020B0604020202020204" pitchFamily="34" charset="-128"/>
                    <a:cs typeface="Arial Unicode MS" panose="020B0604020202020204" pitchFamily="34" charset="-128"/>
                  </a:rPr>
                  <a:t>Variance inflation factor</a:t>
                </a:r>
              </a:p>
              <a:p>
                <a:pPr lvl="1">
                  <a:lnSpc>
                    <a:spcPct val="150000"/>
                  </a:lnSpc>
                  <a:buClr>
                    <a:schemeClr val="tx1"/>
                  </a:buClr>
                </a:pPr>
                <a:r>
                  <a:rPr lang="en-US" altLang="zh-CN" sz="2000" dirty="0">
                    <a:ea typeface="Arial Unicode MS" panose="020B0604020202020204" pitchFamily="34" charset="-128"/>
                    <a:cs typeface="Arial Unicode MS" panose="020B0604020202020204" pitchFamily="34" charset="-128"/>
                  </a:rPr>
                  <a:t>Interpretation changes with different covariates</a:t>
                </a:r>
              </a:p>
              <a:p>
                <a:pPr>
                  <a:lnSpc>
                    <a:spcPct val="150000"/>
                  </a:lnSpc>
                  <a:buClr>
                    <a:schemeClr val="tx1"/>
                  </a:buClr>
                </a:pPr>
                <a:r>
                  <a:rPr lang="en-US" altLang="zh-CN" sz="2400" dirty="0">
                    <a:ea typeface="Arial Unicode MS" panose="020B0604020202020204" pitchFamily="34" charset="-128"/>
                    <a:cs typeface="Arial Unicode MS" panose="020B0604020202020204" pitchFamily="34" charset="-128"/>
                  </a:rPr>
                  <a:t>When the goal is prediction</a:t>
                </a:r>
              </a:p>
              <a:p>
                <a:pPr lvl="1">
                  <a:lnSpc>
                    <a:spcPct val="150000"/>
                  </a:lnSpc>
                  <a:buClr>
                    <a:schemeClr val="tx1"/>
                  </a:buClr>
                </a:pPr>
                <a14:m>
                  <m:oMath xmlns:m="http://schemas.openxmlformats.org/officeDocument/2006/math">
                    <m:sSup>
                      <m:sSupPr>
                        <m:ctrlPr>
                          <a:rPr lang="en-US" altLang="zh-CN" sz="2000" i="1" dirty="0" smtClean="0">
                            <a:latin typeface="Cambria Math" panose="02040503050406030204" pitchFamily="18" charset="0"/>
                            <a:ea typeface="Arial Unicode MS" panose="020B0604020202020204" pitchFamily="34" charset="-128"/>
                            <a:cs typeface="Arial Unicode MS" panose="020B0604020202020204" pitchFamily="34" charset="-128"/>
                          </a:rPr>
                        </m:ctrlPr>
                      </m:sSupPr>
                      <m:e>
                        <m:r>
                          <a:rPr lang="en-US" altLang="zh-CN" sz="2000" i="1" dirty="0" smtClean="0">
                            <a:latin typeface="Cambria Math" panose="02040503050406030204" pitchFamily="18" charset="0"/>
                            <a:ea typeface="Arial Unicode MS" panose="020B0604020202020204" pitchFamily="34" charset="-128"/>
                            <a:cs typeface="Arial Unicode MS" panose="020B0604020202020204" pitchFamily="34" charset="-128"/>
                          </a:rPr>
                          <m:t>𝑅</m:t>
                        </m:r>
                      </m:e>
                      <m:sup>
                        <m:r>
                          <a:rPr lang="en-US" altLang="zh-CN" sz="2000" i="1" dirty="0" smtClean="0">
                            <a:latin typeface="Cambria Math" panose="02040503050406030204" pitchFamily="18" charset="0"/>
                            <a:ea typeface="Arial Unicode MS" panose="020B0604020202020204" pitchFamily="34" charset="-128"/>
                            <a:cs typeface="Arial Unicode MS" panose="020B0604020202020204" pitchFamily="34" charset="-128"/>
                          </a:rPr>
                          <m:t>2</m:t>
                        </m:r>
                      </m:sup>
                    </m:sSup>
                  </m:oMath>
                </a14:m>
                <a:r>
                  <a:rPr lang="en-US" altLang="zh-CN" sz="2000" dirty="0">
                    <a:ea typeface="Arial Unicode MS" panose="020B0604020202020204" pitchFamily="34" charset="-128"/>
                    <a:cs typeface="Arial Unicode MS" panose="020B0604020202020204" pitchFamily="34" charset="-128"/>
                  </a:rPr>
                  <a:t> may be inflated</a:t>
                </a:r>
              </a:p>
              <a:p>
                <a:pPr lvl="1">
                  <a:lnSpc>
                    <a:spcPct val="150000"/>
                  </a:lnSpc>
                  <a:buClr>
                    <a:srgbClr val="FF0000"/>
                  </a:buClr>
                </a:pPr>
                <a:r>
                  <a:rPr lang="en-US" altLang="zh-CN" sz="2000" dirty="0">
                    <a:ea typeface="Arial Unicode MS" panose="020B0604020202020204" pitchFamily="34" charset="-128"/>
                    <a:cs typeface="Arial Unicode MS" panose="020B0604020202020204" pitchFamily="34" charset="-128"/>
                  </a:rPr>
                  <a:t>Poor out of sample performance</a:t>
                </a:r>
              </a:p>
              <a:p>
                <a:pPr lvl="1">
                  <a:lnSpc>
                    <a:spcPct val="150000"/>
                  </a:lnSpc>
                  <a:buClr>
                    <a:srgbClr val="FF0000"/>
                  </a:buClr>
                  <a:buFont typeface="Wingdings" pitchFamily="2" charset="2"/>
                  <a:buChar char="v"/>
                </a:pPr>
                <a:endParaRPr lang="en-US" altLang="zh-CN" sz="1800" dirty="0">
                  <a:ea typeface="Arial Unicode MS" panose="020B0604020202020204" pitchFamily="34" charset="-128"/>
                  <a:cs typeface="Arial Unicode MS" panose="020B0604020202020204" pitchFamily="34" charset="-128"/>
                </a:endParaRPr>
              </a:p>
              <a:p>
                <a:pPr>
                  <a:lnSpc>
                    <a:spcPct val="150000"/>
                  </a:lnSpc>
                  <a:buFont typeface="Wingdings" pitchFamily="2" charset="2"/>
                  <a:buChar char="u"/>
                </a:pPr>
                <a:endParaRPr lang="en-US" altLang="zh-CN" sz="1800" dirty="0">
                  <a:ea typeface="Arial Unicode MS" panose="020B0604020202020204" pitchFamily="34" charset="-128"/>
                  <a:cs typeface="Arial Unicode MS" panose="020B0604020202020204" pitchFamily="34" charset="-128"/>
                </a:endParaRPr>
              </a:p>
              <a:p>
                <a:pPr>
                  <a:buFont typeface="Wingdings" pitchFamily="2" charset="2"/>
                  <a:buNone/>
                </a:pPr>
                <a:endParaRPr lang="en-US" altLang="zh-CN" dirty="0">
                  <a:ea typeface="Arial Unicode MS" panose="020B0604020202020204" pitchFamily="34" charset="-128"/>
                  <a:cs typeface="Arial Unicode MS" panose="020B0604020202020204" pitchFamily="34" charset="-128"/>
                </a:endParaRPr>
              </a:p>
              <a:p>
                <a:endParaRPr lang="zh-CN" altLang="en-US" dirty="0">
                  <a:ea typeface="Arial Unicode MS" panose="020B0604020202020204" pitchFamily="34" charset="-128"/>
                  <a:cs typeface="Arial Unicode MS" panose="020B0604020202020204" pitchFamily="34" charset="-128"/>
                </a:endParaRPr>
              </a:p>
            </p:txBody>
          </p:sp>
        </mc:Choice>
        <mc:Fallback xmlns="">
          <p:sp>
            <p:nvSpPr>
              <p:cNvPr id="8195" name="内容占位符 2">
                <a:extLst>
                  <a:ext uri="{FF2B5EF4-FFF2-40B4-BE49-F238E27FC236}">
                    <a16:creationId xmlns:a16="http://schemas.microsoft.com/office/drawing/2014/main" id="{A0293DA8-2870-C84B-90F0-70EC544611AC}"/>
                  </a:ext>
                </a:extLst>
              </p:cNvPr>
              <p:cNvSpPr>
                <a:spLocks noGrp="1" noRot="1" noChangeAspect="1" noMove="1" noResize="1" noEditPoints="1" noAdjustHandles="1" noChangeArrowheads="1" noChangeShapeType="1" noTextEdit="1"/>
              </p:cNvSpPr>
              <p:nvPr>
                <p:ph idx="1"/>
              </p:nvPr>
            </p:nvSpPr>
            <p:spPr>
              <a:xfrm>
                <a:off x="914400" y="1463040"/>
                <a:ext cx="8261351" cy="4656139"/>
              </a:xfrm>
              <a:blipFill>
                <a:blip r:embed="rId3"/>
                <a:stretch>
                  <a:fillRect l="-1075"/>
                </a:stretch>
              </a:blipFill>
              <a:ln>
                <a:noFill/>
              </a:ln>
            </p:spPr>
            <p:txBody>
              <a:bodyPr/>
              <a:lstStyle/>
              <a:p>
                <a:r>
                  <a:rPr lang="en-US">
                    <a:noFill/>
                  </a:rPr>
                  <a:t> </a:t>
                </a:r>
              </a:p>
            </p:txBody>
          </p:sp>
        </mc:Fallback>
      </mc:AlternateContent>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3</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1CA46CF-C468-384E-8A62-1696F2B661E7}"/>
              </a:ext>
            </a:extLst>
          </p:cNvPr>
          <p:cNvSpPr txBox="1"/>
          <p:nvPr/>
        </p:nvSpPr>
        <p:spPr>
          <a:xfrm>
            <a:off x="5636794" y="2971800"/>
            <a:ext cx="65" cy="276999"/>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3315592899"/>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Variance</a:t>
            </a:r>
            <a:r>
              <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 </a:t>
            </a:r>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inflation factor</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4</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E388AD80-4D24-D646-8087-396424CD2255}"/>
              </a:ext>
            </a:extLst>
          </p:cNvPr>
          <p:cNvPicPr>
            <a:picLocks noChangeAspect="1"/>
          </p:cNvPicPr>
          <p:nvPr/>
        </p:nvPicPr>
        <p:blipFill>
          <a:blip r:embed="rId2"/>
          <a:stretch>
            <a:fillRect/>
          </a:stretch>
        </p:blipFill>
        <p:spPr>
          <a:xfrm>
            <a:off x="711200" y="1882322"/>
            <a:ext cx="10464800" cy="2832100"/>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F18E043-1FAB-CD4D-90FC-15EB9F6FF2B6}"/>
                  </a:ext>
                </a:extLst>
              </p:cNvPr>
              <p:cNvSpPr txBox="1"/>
              <p:nvPr/>
            </p:nvSpPr>
            <p:spPr>
              <a:xfrm>
                <a:off x="838200" y="4996542"/>
                <a:ext cx="5944448" cy="1072794"/>
              </a:xfrm>
              <a:prstGeom prst="rect">
                <a:avLst/>
              </a:prstGeom>
              <a:noFill/>
            </p:spPr>
            <p:txBody>
              <a:bodyPr wrap="none" rtlCol="0">
                <a:spAutoFit/>
              </a:bodyPr>
              <a:lstStyle/>
              <a:p>
                <a:pPr marL="285750" indent="-285750">
                  <a:buFont typeface="Arial" panose="020B0604020202020204" pitchFamily="34" charset="0"/>
                  <a:buChar char="•"/>
                </a:pPr>
                <a:r>
                  <a:rPr lang="en-US" altLang="zh-CN" sz="2000" dirty="0"/>
                  <a:t>No linearity assumption required</a:t>
                </a:r>
              </a:p>
              <a:p>
                <a:pPr marL="285750" indent="-285750">
                  <a:buFont typeface="Arial" panose="020B0604020202020204" pitchFamily="34" charset="0"/>
                  <a:buChar char="•"/>
                </a:pPr>
                <a:r>
                  <a:rPr lang="en-US" altLang="zh-CN" sz="2000" dirty="0"/>
                  <a:t>Variance</a:t>
                </a:r>
                <a:r>
                  <a:rPr lang="zh-CN" altLang="en-US" sz="2000" dirty="0"/>
                  <a:t> </a:t>
                </a:r>
                <a:r>
                  <a:rPr lang="en-US" altLang="zh-CN" sz="2000" dirty="0"/>
                  <a:t>inflation factor (VIF): </a:t>
                </a:r>
                <a14:m>
                  <m:oMath xmlns:m="http://schemas.openxmlformats.org/officeDocument/2006/math">
                    <m:r>
                      <a:rPr lang="en-US" altLang="zh-CN" sz="2000" i="1" dirty="0" smtClean="0">
                        <a:latin typeface="Cambria Math" panose="02040503050406030204" pitchFamily="18" charset="0"/>
                      </a:rPr>
                      <m:t>1/</m:t>
                    </m:r>
                    <m:d>
                      <m:dPr>
                        <m:ctrlPr>
                          <a:rPr lang="en-US" altLang="zh-CN" sz="2000" b="0" i="1" dirty="0" smtClean="0">
                            <a:latin typeface="Cambria Math" panose="02040503050406030204" pitchFamily="18" charset="0"/>
                          </a:rPr>
                        </m:ctrlPr>
                      </m:dPr>
                      <m:e>
                        <m:r>
                          <a:rPr lang="en-US" altLang="zh-CN" sz="2000" b="0" i="1" dirty="0" smtClean="0">
                            <a:latin typeface="Cambria Math" panose="02040503050406030204" pitchFamily="18" charset="0"/>
                          </a:rPr>
                          <m:t>1−</m:t>
                        </m:r>
                        <m:sSubSup>
                          <m:sSubSupPr>
                            <m:ctrlPr>
                              <a:rPr lang="en-US" altLang="zh-CN" sz="2000" b="0" i="1" dirty="0" smtClean="0">
                                <a:latin typeface="Cambria Math" panose="02040503050406030204" pitchFamily="18" charset="0"/>
                              </a:rPr>
                            </m:ctrlPr>
                          </m:sSubSupPr>
                          <m:e>
                            <m:r>
                              <a:rPr lang="en-US" altLang="zh-CN" sz="2000" b="0" i="1" dirty="0" smtClean="0">
                                <a:latin typeface="Cambria Math" panose="02040503050406030204" pitchFamily="18" charset="0"/>
                              </a:rPr>
                              <m:t>𝑅</m:t>
                            </m:r>
                          </m:e>
                          <m:sub>
                            <m:r>
                              <a:rPr lang="en-US" altLang="zh-CN" sz="2000" b="0" i="1" dirty="0" smtClean="0">
                                <a:latin typeface="Cambria Math" panose="02040503050406030204" pitchFamily="18" charset="0"/>
                              </a:rPr>
                              <m:t>𝑗</m:t>
                            </m:r>
                          </m:sub>
                          <m:sup>
                            <m:r>
                              <a:rPr lang="en-US" altLang="zh-CN" sz="2000" b="0" i="1" dirty="0" smtClean="0">
                                <a:latin typeface="Cambria Math" panose="02040503050406030204" pitchFamily="18" charset="0"/>
                              </a:rPr>
                              <m:t>2</m:t>
                            </m:r>
                          </m:sup>
                        </m:sSubSup>
                      </m:e>
                    </m:d>
                  </m:oMath>
                </a14:m>
                <a:endParaRPr lang="en-US" sz="2000" dirty="0"/>
              </a:p>
              <a:p>
                <a:pPr marL="285750" indent="-285750">
                  <a:buFont typeface="Arial" panose="020B0604020202020204" pitchFamily="34" charset="0"/>
                  <a:buChar char="•"/>
                </a:pPr>
                <a:r>
                  <a:rPr lang="en-US" sz="2000" dirty="0"/>
                  <a:t>In the </a:t>
                </a:r>
                <a:r>
                  <a:rPr lang="en-US" sz="2000" i="1" dirty="0"/>
                  <a:t>car</a:t>
                </a:r>
                <a:r>
                  <a:rPr lang="en-US" sz="2000" dirty="0"/>
                  <a:t> package, the function </a:t>
                </a:r>
                <a:r>
                  <a:rPr lang="en-US" sz="2000" i="1" dirty="0" err="1"/>
                  <a:t>vif</a:t>
                </a:r>
                <a:r>
                  <a:rPr lang="en-US" sz="2000" dirty="0"/>
                  <a:t> computes the VIF</a:t>
                </a:r>
              </a:p>
            </p:txBody>
          </p:sp>
        </mc:Choice>
        <mc:Fallback xmlns="">
          <p:sp>
            <p:nvSpPr>
              <p:cNvPr id="2" name="TextBox 1">
                <a:extLst>
                  <a:ext uri="{FF2B5EF4-FFF2-40B4-BE49-F238E27FC236}">
                    <a16:creationId xmlns:a16="http://schemas.microsoft.com/office/drawing/2014/main" id="{6F18E043-1FAB-CD4D-90FC-15EB9F6FF2B6}"/>
                  </a:ext>
                </a:extLst>
              </p:cNvPr>
              <p:cNvSpPr txBox="1">
                <a:spLocks noRot="1" noChangeAspect="1" noMove="1" noResize="1" noEditPoints="1" noAdjustHandles="1" noChangeArrowheads="1" noChangeShapeType="1" noTextEdit="1"/>
              </p:cNvSpPr>
              <p:nvPr/>
            </p:nvSpPr>
            <p:spPr>
              <a:xfrm>
                <a:off x="838200" y="4996542"/>
                <a:ext cx="5944448" cy="1072794"/>
              </a:xfrm>
              <a:prstGeom prst="rect">
                <a:avLst/>
              </a:prstGeom>
              <a:blipFill>
                <a:blip r:embed="rId3"/>
                <a:stretch>
                  <a:fillRect l="-1066" t="-3488" b="-9302"/>
                </a:stretch>
              </a:blipFill>
            </p:spPr>
            <p:txBody>
              <a:bodyPr/>
              <a:lstStyle/>
              <a:p>
                <a:r>
                  <a:rPr lang="en-US">
                    <a:noFill/>
                  </a:rPr>
                  <a:t> </a:t>
                </a:r>
              </a:p>
            </p:txBody>
          </p:sp>
        </mc:Fallback>
      </mc:AlternateContent>
    </p:spTree>
    <p:extLst>
      <p:ext uri="{BB962C8B-B14F-4D97-AF65-F5344CB8AC3E}">
        <p14:creationId xmlns:p14="http://schemas.microsoft.com/office/powerpoint/2010/main" val="1086963702"/>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Variance</a:t>
            </a:r>
            <a:r>
              <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 </a:t>
            </a:r>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inflation factor</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5</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B96E5064-2987-664D-95AF-09A597DC0458}"/>
              </a:ext>
            </a:extLst>
          </p:cNvPr>
          <p:cNvPicPr>
            <a:picLocks noChangeAspect="1"/>
          </p:cNvPicPr>
          <p:nvPr/>
        </p:nvPicPr>
        <p:blipFill>
          <a:blip r:embed="rId2"/>
          <a:stretch>
            <a:fillRect/>
          </a:stretch>
        </p:blipFill>
        <p:spPr>
          <a:xfrm>
            <a:off x="416863" y="1380173"/>
            <a:ext cx="10528300" cy="2451100"/>
          </a:xfrm>
          <a:prstGeom prst="rect">
            <a:avLst/>
          </a:prstGeom>
        </p:spPr>
      </p:pic>
      <p:sp>
        <p:nvSpPr>
          <p:cNvPr id="3" name="TextBox 2">
            <a:extLst>
              <a:ext uri="{FF2B5EF4-FFF2-40B4-BE49-F238E27FC236}">
                <a16:creationId xmlns:a16="http://schemas.microsoft.com/office/drawing/2014/main" id="{79E57F50-6E0F-4140-94E8-BB74B05A0E47}"/>
              </a:ext>
            </a:extLst>
          </p:cNvPr>
          <p:cNvSpPr txBox="1"/>
          <p:nvPr/>
        </p:nvSpPr>
        <p:spPr>
          <a:xfrm>
            <a:off x="416863" y="2974460"/>
            <a:ext cx="2435410" cy="400110"/>
          </a:xfrm>
          <a:prstGeom prst="rect">
            <a:avLst/>
          </a:prstGeom>
          <a:noFill/>
        </p:spPr>
        <p:txBody>
          <a:bodyPr wrap="none" rtlCol="0">
            <a:spAutoFit/>
          </a:bodyPr>
          <a:lstStyle/>
          <a:p>
            <a:r>
              <a:rPr lang="en-US" sz="2000" dirty="0"/>
              <a:t>FWL theorem implies</a:t>
            </a:r>
          </a:p>
        </p:txBody>
      </p:sp>
      <p:pic>
        <p:nvPicPr>
          <p:cNvPr id="6" name="Picture 5">
            <a:extLst>
              <a:ext uri="{FF2B5EF4-FFF2-40B4-BE49-F238E27FC236}">
                <a16:creationId xmlns:a16="http://schemas.microsoft.com/office/drawing/2014/main" id="{3D6B00B4-DA8C-C14B-807B-E2B921E569DE}"/>
              </a:ext>
            </a:extLst>
          </p:cNvPr>
          <p:cNvPicPr>
            <a:picLocks noChangeAspect="1"/>
          </p:cNvPicPr>
          <p:nvPr/>
        </p:nvPicPr>
        <p:blipFill>
          <a:blip r:embed="rId3"/>
          <a:stretch>
            <a:fillRect/>
          </a:stretch>
        </p:blipFill>
        <p:spPr>
          <a:xfrm>
            <a:off x="2205265" y="4447660"/>
            <a:ext cx="6692900" cy="977900"/>
          </a:xfrm>
          <a:prstGeom prst="rect">
            <a:avLst/>
          </a:prstGeom>
        </p:spPr>
      </p:pic>
    </p:spTree>
    <p:extLst>
      <p:ext uri="{BB962C8B-B14F-4D97-AF65-F5344CB8AC3E}">
        <p14:creationId xmlns:p14="http://schemas.microsoft.com/office/powerpoint/2010/main" val="392900865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1C53E05-E7F3-4F7E-4DDE-F62EE76F0B7E}"/>
              </a:ext>
            </a:extLst>
          </p:cNvPr>
          <p:cNvGrpSpPr/>
          <p:nvPr>
            <p:custDataLst>
              <p:tags r:id="rId2"/>
            </p:custDataLst>
          </p:nvPr>
        </p:nvGrpSpPr>
        <p:grpSpPr>
          <a:xfrm>
            <a:off x="0" y="0"/>
            <a:ext cx="12192000" cy="635000"/>
            <a:chOff x="0" y="0"/>
            <a:chExt cx="12192000" cy="635000"/>
          </a:xfrm>
        </p:grpSpPr>
        <p:sp>
          <p:nvSpPr>
            <p:cNvPr id="6" name="TitleBackground">
              <a:extLst>
                <a:ext uri="{FF2B5EF4-FFF2-40B4-BE49-F238E27FC236}">
                  <a16:creationId xmlns:a16="http://schemas.microsoft.com/office/drawing/2014/main" id="{873869AD-485B-C33A-4851-DC56D732E256}"/>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lorBlock">
              <a:extLst>
                <a:ext uri="{FF2B5EF4-FFF2-40B4-BE49-F238E27FC236}">
                  <a16:creationId xmlns:a16="http://schemas.microsoft.com/office/drawing/2014/main" id="{C84DC4D9-F16B-B93B-4895-D7FEA331D7E5}"/>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ypeText">
              <a:extLst>
                <a:ext uri="{FF2B5EF4-FFF2-40B4-BE49-F238E27FC236}">
                  <a16:creationId xmlns:a16="http://schemas.microsoft.com/office/drawing/2014/main" id="{670D60CA-F347-B9AA-3FD5-CF11E91CDF10}"/>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TipText">
              <a:extLst>
                <a:ext uri="{FF2B5EF4-FFF2-40B4-BE49-F238E27FC236}">
                  <a16:creationId xmlns:a16="http://schemas.microsoft.com/office/drawing/2014/main" id="{654A4DF1-A634-85F9-8F47-F88A65DB7D35}"/>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D50BABC-DAF0-B2E8-025F-FAEB3AC62C0B}"/>
                  </a:ext>
                </a:extLst>
              </p:cNvPr>
              <p:cNvSpPr txBox="1"/>
              <p:nvPr>
                <p:custDataLst>
                  <p:tags r:id="rId3"/>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Suppose you are fitting a regression model and the VIF for </a:t>
                </a:r>
                <a14:m>
                  <m:oMath xmlns:m="http://schemas.openxmlformats.org/officeDocument/2006/math">
                    <m:sSub>
                      <m:sSubPr>
                        <m:ctrlPr>
                          <a:rPr lang="en-US" altLang="zh-CN"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altLang="zh-CN"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𝑋</m:t>
                        </m:r>
                      </m:e>
                      <m:sub>
                        <m:r>
                          <a:rPr lang="en-US" altLang="zh-CN"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sub>
                    </m:sSub>
                  </m:oMath>
                </a14:m>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is 15. Which of the following statements are correct?</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11" name="TextBox 10">
                <a:extLst>
                  <a:ext uri="{FF2B5EF4-FFF2-40B4-BE49-F238E27FC236}">
                    <a16:creationId xmlns:a16="http://schemas.microsoft.com/office/drawing/2014/main" id="{0D50BABC-DAF0-B2E8-025F-FAEB3AC62C0B}"/>
                  </a:ext>
                </a:extLst>
              </p:cNvPr>
              <p:cNvSpPr txBox="1">
                <a:spLocks noRot="1" noChangeAspect="1" noMove="1" noResize="1" noEditPoints="1" noAdjustHandles="1" noChangeArrowheads="1" noChangeShapeType="1" noTextEdit="1"/>
              </p:cNvSpPr>
              <p:nvPr>
                <p:custDataLst>
                  <p:tags r:id="rId19"/>
                </p:custDataLst>
              </p:nvPr>
            </p:nvSpPr>
            <p:spPr>
              <a:xfrm>
                <a:off x="1219200" y="635000"/>
                <a:ext cx="9753600" cy="2143125"/>
              </a:xfrm>
              <a:prstGeom prst="rect">
                <a:avLst/>
              </a:prstGeom>
              <a:blipFill>
                <a:blip r:embed="rId20"/>
                <a:stretch>
                  <a:fillRect l="-11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544A0F9-FDA1-2A3B-B3D7-1A5E26E4702E}"/>
                  </a:ext>
                </a:extLst>
              </p:cNvPr>
              <p:cNvSpPr txBox="1"/>
              <p:nvPr>
                <p:custDataLst>
                  <p:tags r:id="rId4"/>
                </p:custDataLst>
              </p:nvPr>
            </p:nvSpPr>
            <p:spPr>
              <a:xfrm>
                <a:off x="2438400" y="2786063"/>
                <a:ext cx="8534400" cy="642938"/>
              </a:xfrm>
              <a:prstGeom prst="rect">
                <a:avLst/>
              </a:prstGeom>
              <a:noFill/>
            </p:spPr>
            <p:txBody>
              <a:bodyPr vert="horz" rtlCol="0" anchor="ctr" anchorCtr="0">
                <a:noAutofit/>
              </a:bodyPr>
              <a:lstStyle/>
              <a:p>
                <a:r>
                  <a:rPr lang="en-US" sz="2000" dirty="0"/>
                  <a:t>The coefficient estimate for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𝑋</m:t>
                        </m:r>
                      </m:e>
                      <m:sub>
                        <m:r>
                          <a:rPr lang="en-US" sz="2000" i="1" dirty="0" smtClean="0">
                            <a:latin typeface="Cambria Math" panose="02040503050406030204" pitchFamily="18" charset="0"/>
                          </a:rPr>
                          <m:t>2</m:t>
                        </m:r>
                      </m:sub>
                    </m:sSub>
                  </m:oMath>
                </a14:m>
                <a:r>
                  <a:rPr lang="en-US" sz="2000" dirty="0"/>
                  <a:t> is unreliable due to high correlation with the outcome</a:t>
                </a:r>
              </a:p>
            </p:txBody>
          </p:sp>
        </mc:Choice>
        <mc:Fallback xmlns="">
          <p:sp>
            <p:nvSpPr>
              <p:cNvPr id="12" name="TextBox 11">
                <a:extLst>
                  <a:ext uri="{FF2B5EF4-FFF2-40B4-BE49-F238E27FC236}">
                    <a16:creationId xmlns:a16="http://schemas.microsoft.com/office/drawing/2014/main" id="{3544A0F9-FDA1-2A3B-B3D7-1A5E26E4702E}"/>
                  </a:ext>
                </a:extLst>
              </p:cNvPr>
              <p:cNvSpPr txBox="1">
                <a:spLocks noRot="1" noChangeAspect="1" noMove="1" noResize="1" noEditPoints="1" noAdjustHandles="1" noChangeArrowheads="1" noChangeShapeType="1" noTextEdit="1"/>
              </p:cNvSpPr>
              <p:nvPr>
                <p:custDataLst>
                  <p:tags r:id="rId21"/>
                </p:custDataLst>
              </p:nvPr>
            </p:nvSpPr>
            <p:spPr>
              <a:xfrm>
                <a:off x="2438400" y="2786063"/>
                <a:ext cx="8534400" cy="642938"/>
              </a:xfrm>
              <a:prstGeom prst="rect">
                <a:avLst/>
              </a:prstGeom>
              <a:blipFill>
                <a:blip r:embed="rId22"/>
                <a:stretch>
                  <a:fillRect l="-743" t="-9615" b="-192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24391EC-66EE-E42F-EE9B-6C5055A8E786}"/>
                  </a:ext>
                </a:extLst>
              </p:cNvPr>
              <p:cNvSpPr txBox="1"/>
              <p:nvPr>
                <p:custDataLst>
                  <p:tags r:id="rId5"/>
                </p:custDataLst>
              </p:nvPr>
            </p:nvSpPr>
            <p:spPr>
              <a:xfrm>
                <a:off x="2438400" y="3643313"/>
                <a:ext cx="8534400" cy="642938"/>
              </a:xfrm>
              <a:prstGeom prst="rect">
                <a:avLst/>
              </a:prstGeom>
              <a:noFill/>
            </p:spPr>
            <p:txBody>
              <a:bodyPr vert="horz" rtlCol="0" anchor="ctr" anchorCtr="0">
                <a:noAutofit/>
              </a:bodyPr>
              <a:lstStyle/>
              <a:p>
                <a:r>
                  <a:rPr lang="en-US" sz="2000" dirty="0"/>
                  <a:t>The variance of its estimated coefficient is 15 times larger than it would be if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𝑋</m:t>
                        </m:r>
                      </m:e>
                      <m:sub>
                        <m:r>
                          <a:rPr lang="en-US" sz="2000" i="1" dirty="0" smtClean="0">
                            <a:latin typeface="Cambria Math" panose="02040503050406030204" pitchFamily="18" charset="0"/>
                          </a:rPr>
                          <m:t>2</m:t>
                        </m:r>
                      </m:sub>
                    </m:sSub>
                  </m:oMath>
                </a14:m>
                <a:r>
                  <a:rPr lang="en-US" sz="2000" dirty="0"/>
                  <a:t> were uncorrelated with other predictors.</a:t>
                </a:r>
              </a:p>
            </p:txBody>
          </p:sp>
        </mc:Choice>
        <mc:Fallback xmlns="">
          <p:sp>
            <p:nvSpPr>
              <p:cNvPr id="13" name="TextBox 12">
                <a:extLst>
                  <a:ext uri="{FF2B5EF4-FFF2-40B4-BE49-F238E27FC236}">
                    <a16:creationId xmlns:a16="http://schemas.microsoft.com/office/drawing/2014/main" id="{F24391EC-66EE-E42F-EE9B-6C5055A8E786}"/>
                  </a:ext>
                </a:extLst>
              </p:cNvPr>
              <p:cNvSpPr txBox="1">
                <a:spLocks noRot="1" noChangeAspect="1" noMove="1" noResize="1" noEditPoints="1" noAdjustHandles="1" noChangeArrowheads="1" noChangeShapeType="1" noTextEdit="1"/>
              </p:cNvSpPr>
              <p:nvPr>
                <p:custDataLst>
                  <p:tags r:id="rId23"/>
                </p:custDataLst>
              </p:nvPr>
            </p:nvSpPr>
            <p:spPr>
              <a:xfrm>
                <a:off x="2438400" y="3643313"/>
                <a:ext cx="8534400" cy="642938"/>
              </a:xfrm>
              <a:prstGeom prst="rect">
                <a:avLst/>
              </a:prstGeom>
              <a:blipFill>
                <a:blip r:embed="rId24"/>
                <a:stretch>
                  <a:fillRect l="-743" t="-11765" b="-215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D3D8778-8F88-9BEC-BB16-7131A13EC396}"/>
                  </a:ext>
                </a:extLst>
              </p:cNvPr>
              <p:cNvSpPr txBox="1"/>
              <p:nvPr>
                <p:custDataLst>
                  <p:tags r:id="rId6"/>
                </p:custDataLst>
              </p:nvPr>
            </p:nvSpPr>
            <p:spPr>
              <a:xfrm>
                <a:off x="2438400" y="4500563"/>
                <a:ext cx="8534400" cy="642938"/>
              </a:xfrm>
              <a:prstGeom prst="rect">
                <a:avLst/>
              </a:prstGeom>
              <a:noFill/>
            </p:spPr>
            <p:txBody>
              <a:bodyPr vert="horz" rtlCol="0" anchor="ctr" anchorCtr="0">
                <a:noAutofit/>
              </a:bodyPr>
              <a:lstStyle/>
              <a:p>
                <a:r>
                  <a:rPr lang="en-US" sz="2000" dirty="0"/>
                  <a:t>Excluding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𝑋</m:t>
                        </m:r>
                      </m:e>
                      <m:sub>
                        <m:r>
                          <a:rPr lang="en-US" sz="2000" i="1" dirty="0" smtClean="0">
                            <a:latin typeface="Cambria Math" panose="02040503050406030204" pitchFamily="18" charset="0"/>
                          </a:rPr>
                          <m:t>2</m:t>
                        </m:r>
                      </m:sub>
                    </m:sSub>
                  </m:oMath>
                </a14:m>
                <a:r>
                  <a:rPr lang="en-US" sz="2000" dirty="0"/>
                  <a:t> from the model will always improve prediction in a new sample</a:t>
                </a:r>
              </a:p>
              <a:p>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14" name="TextBox 13">
                <a:extLst>
                  <a:ext uri="{FF2B5EF4-FFF2-40B4-BE49-F238E27FC236}">
                    <a16:creationId xmlns:a16="http://schemas.microsoft.com/office/drawing/2014/main" id="{7D3D8778-8F88-9BEC-BB16-7131A13EC396}"/>
                  </a:ext>
                </a:extLst>
              </p:cNvPr>
              <p:cNvSpPr txBox="1">
                <a:spLocks noRot="1" noChangeAspect="1" noMove="1" noResize="1" noEditPoints="1" noAdjustHandles="1" noChangeArrowheads="1" noChangeShapeType="1" noTextEdit="1"/>
              </p:cNvSpPr>
              <p:nvPr>
                <p:custDataLst>
                  <p:tags r:id="rId25"/>
                </p:custDataLst>
              </p:nvPr>
            </p:nvSpPr>
            <p:spPr>
              <a:xfrm>
                <a:off x="2438400" y="4500563"/>
                <a:ext cx="8534400" cy="642938"/>
              </a:xfrm>
              <a:prstGeom prst="rect">
                <a:avLst/>
              </a:prstGeom>
              <a:blipFill>
                <a:blip r:embed="rId26"/>
                <a:stretch>
                  <a:fillRect l="-743" t="-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D8CD6B7-25C1-1231-AFAE-F2D760024532}"/>
                  </a:ext>
                </a:extLst>
              </p:cNvPr>
              <p:cNvSpPr txBox="1"/>
              <p:nvPr>
                <p:custDataLst>
                  <p:tags r:id="rId7"/>
                </p:custDataLst>
              </p:nvPr>
            </p:nvSpPr>
            <p:spPr>
              <a:xfrm>
                <a:off x="2438400" y="5357813"/>
                <a:ext cx="8534400" cy="642938"/>
              </a:xfrm>
              <a:prstGeom prst="rect">
                <a:avLst/>
              </a:prstGeom>
              <a:noFill/>
            </p:spPr>
            <p:txBody>
              <a:bodyPr vert="horz" rtlCol="0" anchor="ctr" anchorCtr="0">
                <a:noAutofit/>
              </a:bodyPr>
              <a:lstStyle/>
              <a:p>
                <a:r>
                  <a:rPr lang="en-US" sz="2000" dirty="0"/>
                  <a:t>The multiple c</a:t>
                </a:r>
                <a:r>
                  <a:rPr lang="en-US" altLang="zh-CN" sz="2000" dirty="0"/>
                  <a:t>orrelation</a:t>
                </a:r>
                <a:r>
                  <a:rPr lang="zh-CN" altLang="en-US" sz="2000" dirty="0"/>
                  <a:t> </a:t>
                </a:r>
                <a:r>
                  <a:rPr lang="en-US" altLang="zh-CN" sz="2000" dirty="0"/>
                  <a:t>(</a:t>
                </a:r>
                <a14:m>
                  <m:oMath xmlns:m="http://schemas.openxmlformats.org/officeDocument/2006/math">
                    <m:r>
                      <a:rPr lang="en-US" altLang="zh-CN" sz="2000" i="1" dirty="0" smtClean="0">
                        <a:latin typeface="Cambria Math" panose="02040503050406030204" pitchFamily="18" charset="0"/>
                      </a:rPr>
                      <m:t>𝑅</m:t>
                    </m:r>
                  </m:oMath>
                </a14:m>
                <a:r>
                  <a:rPr lang="en-US" altLang="zh-CN" sz="2000" dirty="0"/>
                  <a:t>)</a:t>
                </a:r>
                <a:r>
                  <a:rPr lang="en-US" sz="2000" dirty="0"/>
                  <a:t> between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𝑋</m:t>
                        </m:r>
                      </m:e>
                      <m:sub>
                        <m:r>
                          <a:rPr lang="en-US" sz="2000" i="1" dirty="0" smtClean="0">
                            <a:latin typeface="Cambria Math" panose="02040503050406030204" pitchFamily="18" charset="0"/>
                          </a:rPr>
                          <m:t>2</m:t>
                        </m:r>
                      </m:sub>
                    </m:sSub>
                  </m:oMath>
                </a14:m>
                <a:r>
                  <a:rPr lang="en-US" sz="2000" dirty="0"/>
                  <a:t> and the other predictors is approximately 0.97.</a:t>
                </a:r>
              </a:p>
            </p:txBody>
          </p:sp>
        </mc:Choice>
        <mc:Fallback xmlns="">
          <p:sp>
            <p:nvSpPr>
              <p:cNvPr id="15" name="TextBox 14">
                <a:extLst>
                  <a:ext uri="{FF2B5EF4-FFF2-40B4-BE49-F238E27FC236}">
                    <a16:creationId xmlns:a16="http://schemas.microsoft.com/office/drawing/2014/main" id="{8D8CD6B7-25C1-1231-AFAE-F2D760024532}"/>
                  </a:ext>
                </a:extLst>
              </p:cNvPr>
              <p:cNvSpPr txBox="1">
                <a:spLocks noRot="1" noChangeAspect="1" noMove="1" noResize="1" noEditPoints="1" noAdjustHandles="1" noChangeArrowheads="1" noChangeShapeType="1" noTextEdit="1"/>
              </p:cNvSpPr>
              <p:nvPr>
                <p:custDataLst>
                  <p:tags r:id="rId27"/>
                </p:custDataLst>
              </p:nvPr>
            </p:nvSpPr>
            <p:spPr>
              <a:xfrm>
                <a:off x="2438400" y="5357813"/>
                <a:ext cx="8534400" cy="642938"/>
              </a:xfrm>
              <a:prstGeom prst="rect">
                <a:avLst/>
              </a:prstGeom>
              <a:blipFill>
                <a:blip r:embed="rId28"/>
                <a:stretch>
                  <a:fillRect l="-743" t="-7692" r="-1189" b="-21154"/>
                </a:stretch>
              </a:blipFill>
            </p:spPr>
            <p:txBody>
              <a:bodyPr/>
              <a:lstStyle/>
              <a:p>
                <a:r>
                  <a:rPr lang="en-US">
                    <a:noFill/>
                  </a:rPr>
                  <a:t> </a:t>
                </a:r>
              </a:p>
            </p:txBody>
          </p:sp>
        </mc:Fallback>
      </mc:AlternateContent>
      <p:sp>
        <p:nvSpPr>
          <p:cNvPr id="16" name="Rectangle 15">
            <a:extLst>
              <a:ext uri="{FF2B5EF4-FFF2-40B4-BE49-F238E27FC236}">
                <a16:creationId xmlns:a16="http://schemas.microsoft.com/office/drawing/2014/main" id="{93684343-054C-F35C-A62F-FBC0273F76D3}"/>
              </a:ext>
            </a:extLst>
          </p:cNvPr>
          <p:cNvSpPr>
            <a:spLocks noChangeAspect="1"/>
          </p:cNvSpPr>
          <p:nvPr>
            <p:custDataLst>
              <p:tags r:id="rId8"/>
            </p:custDataLst>
          </p:nvPr>
        </p:nvSpPr>
        <p:spPr>
          <a:xfrm>
            <a:off x="1571625" y="2850356"/>
            <a:ext cx="514350" cy="514350"/>
          </a:xfrm>
          <a:prstGeom prst="rect">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7" name="Rectangle 16">
            <a:extLst>
              <a:ext uri="{FF2B5EF4-FFF2-40B4-BE49-F238E27FC236}">
                <a16:creationId xmlns:a16="http://schemas.microsoft.com/office/drawing/2014/main" id="{9582A2B6-8CD1-9258-FE7E-88377A75F2D5}"/>
              </a:ext>
            </a:extLst>
          </p:cNvPr>
          <p:cNvSpPr>
            <a:spLocks noChangeAspect="1"/>
          </p:cNvSpPr>
          <p:nvPr>
            <p:custDataLst>
              <p:tags r:id="rId9"/>
            </p:custDataLst>
          </p:nvPr>
        </p:nvSpPr>
        <p:spPr>
          <a:xfrm>
            <a:off x="1571625" y="3707606"/>
            <a:ext cx="514350" cy="514350"/>
          </a:xfrm>
          <a:prstGeom prst="rect">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18" name="Rectangle 17">
            <a:extLst>
              <a:ext uri="{FF2B5EF4-FFF2-40B4-BE49-F238E27FC236}">
                <a16:creationId xmlns:a16="http://schemas.microsoft.com/office/drawing/2014/main" id="{FFF72C9C-88E7-4461-57A5-A4F518030CA0}"/>
              </a:ext>
            </a:extLst>
          </p:cNvPr>
          <p:cNvSpPr>
            <a:spLocks noChangeAspect="1"/>
          </p:cNvSpPr>
          <p:nvPr>
            <p:custDataLst>
              <p:tags r:id="rId10"/>
            </p:custDataLst>
          </p:nvPr>
        </p:nvSpPr>
        <p:spPr>
          <a:xfrm>
            <a:off x="1571625" y="4564856"/>
            <a:ext cx="514350" cy="514350"/>
          </a:xfrm>
          <a:prstGeom prst="rect">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p>
        </p:txBody>
      </p:sp>
      <p:sp>
        <p:nvSpPr>
          <p:cNvPr id="19" name="Rectangle 18">
            <a:extLst>
              <a:ext uri="{FF2B5EF4-FFF2-40B4-BE49-F238E27FC236}">
                <a16:creationId xmlns:a16="http://schemas.microsoft.com/office/drawing/2014/main" id="{1A2930DC-C7D1-6D93-BF2D-B748DC5EB45A}"/>
              </a:ext>
            </a:extLst>
          </p:cNvPr>
          <p:cNvSpPr>
            <a:spLocks noChangeAspect="1"/>
          </p:cNvSpPr>
          <p:nvPr>
            <p:custDataLst>
              <p:tags r:id="rId11"/>
            </p:custDataLst>
          </p:nvPr>
        </p:nvSpPr>
        <p:spPr>
          <a:xfrm>
            <a:off x="1571625" y="5422106"/>
            <a:ext cx="514350" cy="514350"/>
          </a:xfrm>
          <a:prstGeom prst="rect">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p>
        </p:txBody>
      </p:sp>
      <p:sp>
        <p:nvSpPr>
          <p:cNvPr id="20" name="Rounded Rectangle 19">
            <a:extLst>
              <a:ext uri="{FF2B5EF4-FFF2-40B4-BE49-F238E27FC236}">
                <a16:creationId xmlns:a16="http://schemas.microsoft.com/office/drawing/2014/main" id="{D1B6A5D6-D622-D16D-B7AC-321DB8495BDC}"/>
              </a:ext>
            </a:extLst>
          </p:cNvPr>
          <p:cNvSpPr/>
          <p:nvPr>
            <p:custDataLst>
              <p:tags r:id="rId1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pic>
        <p:nvPicPr>
          <p:cNvPr id="5" name="Picture 4">
            <a:extLst>
              <a:ext uri="{FF2B5EF4-FFF2-40B4-BE49-F238E27FC236}">
                <a16:creationId xmlns:a16="http://schemas.microsoft.com/office/drawing/2014/main" id="{38D481D8-71AA-778A-6511-6B8ED9E13569}"/>
              </a:ext>
            </a:extLst>
          </p:cNvPr>
          <p:cNvPicPr>
            <a:picLocks/>
          </p:cNvPicPr>
          <p:nvPr>
            <p:custDataLst>
              <p:tags r:id="rId13"/>
            </p:custDataLst>
          </p:nvPr>
        </p:nvPicPr>
        <p:blipFill>
          <a:blip r:embed="rId29"/>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265668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Interpretation changes with different covariates</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mc:AlternateContent xmlns:mc="http://schemas.openxmlformats.org/markup-compatibility/2006" xmlns:a14="http://schemas.microsoft.com/office/drawing/2010/main">
        <mc:Choice Requires="a14">
          <p:sp>
            <p:nvSpPr>
              <p:cNvPr id="8195" name="内容占位符 2">
                <a:extLst>
                  <a:ext uri="{FF2B5EF4-FFF2-40B4-BE49-F238E27FC236}">
                    <a16:creationId xmlns:a16="http://schemas.microsoft.com/office/drawing/2014/main" id="{A0293DA8-2870-C84B-90F0-70EC544611AC}"/>
                  </a:ext>
                </a:extLst>
              </p:cNvPr>
              <p:cNvSpPr>
                <a:spLocks noGrp="1" noChangeArrowheads="1"/>
              </p:cNvSpPr>
              <p:nvPr>
                <p:ph idx="1"/>
              </p:nvPr>
            </p:nvSpPr>
            <p:spPr>
              <a:xfrm>
                <a:off x="914400" y="1463040"/>
                <a:ext cx="8261351" cy="4656139"/>
              </a:xfrm>
              <a:ln>
                <a:noFill/>
              </a:ln>
            </p:spPr>
            <p:txBody>
              <a:bodyPr>
                <a:normAutofit lnSpcReduction="10000"/>
              </a:bodyPr>
              <a:lstStyle/>
              <a:p>
                <a:pPr>
                  <a:lnSpc>
                    <a:spcPct val="150000"/>
                  </a:lnSpc>
                  <a:buClr>
                    <a:schemeClr val="tx1"/>
                  </a:buClr>
                </a:pPr>
                <a:r>
                  <a:rPr lang="en-US" altLang="zh-CN" sz="2400" dirty="0">
                    <a:ea typeface="Arial Unicode MS" panose="020B0604020202020204" pitchFamily="34" charset="-128"/>
                    <a:cs typeface="Arial Unicode MS" panose="020B0604020202020204" pitchFamily="34" charset="-128"/>
                  </a:rPr>
                  <a:t>If models are correct</a:t>
                </a:r>
                <a:endParaRPr lang="en-US" altLang="zh-CN" sz="2400" b="0" i="1" dirty="0">
                  <a:latin typeface="Cambria Math" panose="02040503050406030204" pitchFamily="18" charset="0"/>
                  <a:ea typeface="Arial Unicode MS" panose="020B0604020202020204" pitchFamily="34" charset="-128"/>
                  <a:cs typeface="Arial Unicode MS" panose="020B0604020202020204" pitchFamily="34" charset="-128"/>
                </a:endParaRPr>
              </a:p>
              <a:p>
                <a:pPr lvl="1">
                  <a:lnSpc>
                    <a:spcPct val="150000"/>
                  </a:lnSpc>
                  <a:buClr>
                    <a:schemeClr val="tx1"/>
                  </a:buClr>
                </a:pPr>
                <a:r>
                  <a:rPr lang="en-US" altLang="zh-CN" sz="2000" b="0" dirty="0">
                    <a:ea typeface="Arial Unicode MS" panose="020B0604020202020204" pitchFamily="34" charset="-128"/>
                    <a:cs typeface="Arial Unicode MS" panose="020B0604020202020204" pitchFamily="34" charset="-128"/>
                  </a:rPr>
                  <a:t>Model 1: </a:t>
                </a:r>
                <a14:m>
                  <m:oMath xmlns:m="http://schemas.openxmlformats.org/officeDocument/2006/math">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𝑦</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𝑖</m:t>
                        </m:r>
                      </m:sub>
                    </m:s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𝛽</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0</m:t>
                        </m:r>
                      </m:sub>
                    </m:s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𝛽</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1</m:t>
                            </m:r>
                          </m:sub>
                        </m:s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𝑥</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𝑖</m:t>
                        </m:r>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1</m:t>
                        </m:r>
                      </m:sub>
                    </m:s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𝜖</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𝑖</m:t>
                        </m:r>
                      </m:sub>
                    </m:sSub>
                  </m:oMath>
                </a14:m>
                <a:r>
                  <a:rPr lang="en-US" altLang="zh-CN" sz="2000" dirty="0">
                    <a:ea typeface="Arial Unicode MS" panose="020B0604020202020204" pitchFamily="34" charset="-128"/>
                    <a:cs typeface="Arial Unicode MS" panose="020B0604020202020204" pitchFamily="34" charset="-128"/>
                  </a:rPr>
                  <a:t>, </a:t>
                </a:r>
                <a14:m>
                  <m:oMath xmlns:m="http://schemas.openxmlformats.org/officeDocument/2006/math">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𝛽</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1</m:t>
                        </m:r>
                      </m:sub>
                    </m:s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m:t>
                    </m:r>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𝐸</m:t>
                    </m:r>
                    <m:d>
                      <m:dPr>
                        <m:sepChr m:val="∣"/>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dPr>
                      <m:e>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𝑦</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𝑖</m:t>
                            </m:r>
                          </m:sub>
                        </m:sSub>
                      </m:e>
                      <m:e>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𝑥</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𝑖</m:t>
                            </m:r>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1</m:t>
                            </m:r>
                          </m:sub>
                        </m:s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=1</m:t>
                        </m:r>
                      </m:e>
                    </m:d>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m:t>
                    </m:r>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𝐸</m:t>
                    </m:r>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𝑦</m:t>
                        </m:r>
                      </m:e>
                      <m: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𝑖</m:t>
                        </m:r>
                      </m:sub>
                    </m:s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𝑥</m:t>
                        </m:r>
                      </m:e>
                      <m: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𝑖</m:t>
                        </m:r>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1</m:t>
                        </m:r>
                      </m:sub>
                    </m:s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m:t>
                    </m:r>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0</m:t>
                    </m:r>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m:t>
                    </m:r>
                  </m:oMath>
                </a14:m>
                <a:endParaRPr lang="en-US" altLang="zh-CN" sz="2000" dirty="0">
                  <a:ea typeface="Arial Unicode MS" panose="020B0604020202020204" pitchFamily="34" charset="-128"/>
                  <a:cs typeface="Arial Unicode MS" panose="020B0604020202020204" pitchFamily="34" charset="-128"/>
                </a:endParaRPr>
              </a:p>
              <a:p>
                <a:pPr lvl="1">
                  <a:lnSpc>
                    <a:spcPct val="150000"/>
                  </a:lnSpc>
                  <a:buClr>
                    <a:schemeClr val="tx1"/>
                  </a:buClr>
                </a:pPr>
                <a:r>
                  <a:rPr lang="en-US" altLang="zh-CN" sz="2000" b="0" dirty="0">
                    <a:ea typeface="Arial Unicode MS" panose="020B0604020202020204" pitchFamily="34" charset="-128"/>
                    <a:cs typeface="Arial Unicode MS" panose="020B0604020202020204" pitchFamily="34" charset="-128"/>
                  </a:rPr>
                  <a:t>Model 2: </a:t>
                </a:r>
                <a14:m>
                  <m:oMath xmlns:m="http://schemas.openxmlformats.org/officeDocument/2006/math">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𝑦</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𝑖</m:t>
                        </m:r>
                      </m:sub>
                    </m:s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𝛽</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0</m:t>
                        </m:r>
                      </m:sub>
                    </m:s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𝛽</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1</m:t>
                            </m:r>
                          </m:sub>
                        </m:s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𝑥</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𝑖</m:t>
                        </m:r>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1</m:t>
                        </m:r>
                      </m:sub>
                    </m:s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𝛽</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2</m:t>
                        </m:r>
                      </m:sub>
                    </m:sSub>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𝑥</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𝑖</m:t>
                        </m:r>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2</m:t>
                        </m:r>
                      </m:sub>
                    </m:s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𝜖</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𝑖</m:t>
                        </m:r>
                      </m:sub>
                    </m:sSub>
                  </m:oMath>
                </a14:m>
                <a:r>
                  <a:rPr lang="en-US" altLang="zh-CN" sz="2000" dirty="0">
                    <a:ea typeface="Arial Unicode MS" panose="020B0604020202020204" pitchFamily="34" charset="-128"/>
                    <a:cs typeface="Arial Unicode MS" panose="020B0604020202020204" pitchFamily="34" charset="-128"/>
                  </a:rPr>
                  <a:t>, </a:t>
                </a:r>
                <a14:m>
                  <m:oMath xmlns:m="http://schemas.openxmlformats.org/officeDocument/2006/math">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𝛽</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1</m:t>
                        </m:r>
                      </m:sub>
                    </m:s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m:t>
                    </m:r>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𝐸</m:t>
                    </m:r>
                    <m:d>
                      <m:dPr>
                        <m:sepChr m:val="∣"/>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dPr>
                      <m:e>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𝑦</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𝑖</m:t>
                            </m:r>
                          </m:sub>
                        </m:sSub>
                      </m:e>
                      <m:e>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𝑥</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𝑖</m:t>
                            </m:r>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1</m:t>
                            </m:r>
                          </m:sub>
                        </m:s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=1,</m:t>
                        </m:r>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𝑥</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𝑖</m:t>
                            </m:r>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2</m:t>
                            </m:r>
                          </m:sub>
                        </m:s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𝑥</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2</m:t>
                            </m:r>
                          </m:sub>
                        </m:sSub>
                      </m:e>
                    </m:d>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m:t>
                    </m:r>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𝐸</m:t>
                    </m:r>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𝑦</m:t>
                        </m:r>
                      </m:e>
                      <m: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𝑖</m:t>
                        </m:r>
                      </m:sub>
                    </m:s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𝑥</m:t>
                        </m:r>
                      </m:e>
                      <m: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𝑖</m:t>
                        </m:r>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1</m:t>
                        </m:r>
                      </m:sub>
                    </m:s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m:t>
                    </m:r>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0,</m:t>
                    </m:r>
                    <m:sSub>
                      <m:sSubPr>
                        <m:ctrlP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𝑥</m:t>
                        </m:r>
                      </m:e>
                      <m: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𝑖</m:t>
                        </m:r>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2</m:t>
                        </m:r>
                      </m:sub>
                    </m:s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𝑥</m:t>
                        </m:r>
                      </m:e>
                      <m: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2</m:t>
                        </m:r>
                      </m:sub>
                    </m:s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m:t>
                    </m:r>
                  </m:oMath>
                </a14:m>
                <a:endParaRPr lang="en-US" altLang="zh-CN" sz="2000" dirty="0">
                  <a:ea typeface="Arial Unicode MS" panose="020B0604020202020204" pitchFamily="34" charset="-128"/>
                  <a:cs typeface="Arial Unicode MS" panose="020B0604020202020204" pitchFamily="34" charset="-128"/>
                </a:endParaRPr>
              </a:p>
              <a:p>
                <a:pPr lvl="1">
                  <a:lnSpc>
                    <a:spcPct val="150000"/>
                  </a:lnSpc>
                  <a:buClr>
                    <a:schemeClr val="tx1"/>
                  </a:buClr>
                </a:pPr>
                <a14:m>
                  <m:oMath xmlns:m="http://schemas.openxmlformats.org/officeDocument/2006/math">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𝛽</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1</m:t>
                        </m:r>
                      </m:sub>
                    </m:sSub>
                  </m:oMath>
                </a14:m>
                <a:r>
                  <a:rPr lang="en-US" altLang="zh-CN" sz="2000" dirty="0">
                    <a:ea typeface="Arial Unicode MS" panose="020B0604020202020204" pitchFamily="34" charset="-128"/>
                    <a:cs typeface="Arial Unicode MS" panose="020B0604020202020204" pitchFamily="34" charset="-128"/>
                  </a:rPr>
                  <a:t> in two models correspond to different quantities</a:t>
                </a:r>
              </a:p>
              <a:p>
                <a:pPr>
                  <a:lnSpc>
                    <a:spcPct val="150000"/>
                  </a:lnSpc>
                  <a:buClr>
                    <a:schemeClr val="tx1"/>
                  </a:buClr>
                </a:pPr>
                <a:r>
                  <a:rPr lang="en-US" altLang="zh-CN" sz="2400" dirty="0">
                    <a:ea typeface="Arial Unicode MS" panose="020B0604020202020204" pitchFamily="34" charset="-128"/>
                    <a:cs typeface="Arial Unicode MS" panose="020B0604020202020204" pitchFamily="34" charset="-128"/>
                  </a:rPr>
                  <a:t>Will the model hold with different covariates?</a:t>
                </a:r>
              </a:p>
              <a:p>
                <a:pPr lvl="1">
                  <a:lnSpc>
                    <a:spcPct val="150000"/>
                  </a:lnSpc>
                  <a:buClr>
                    <a:schemeClr val="tx1"/>
                  </a:buClr>
                </a:pPr>
                <a:r>
                  <a:rPr lang="en-US" altLang="zh-CN" sz="2000" dirty="0">
                    <a:ea typeface="Arial Unicode MS" panose="020B0604020202020204" pitchFamily="34" charset="-128"/>
                    <a:cs typeface="Arial Unicode MS" panose="020B0604020202020204" pitchFamily="34" charset="-128"/>
                  </a:rPr>
                  <a:t>Suppose </a:t>
                </a:r>
                <a14:m>
                  <m:oMath xmlns:m="http://schemas.openxmlformats.org/officeDocument/2006/math">
                    <m:sSub>
                      <m:sSubPr>
                        <m:ctrlP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𝑦</m:t>
                        </m:r>
                      </m:e>
                      <m: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𝑖</m:t>
                        </m:r>
                      </m:sub>
                    </m:s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𝛽</m:t>
                        </m:r>
                      </m:e>
                      <m: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0</m:t>
                        </m:r>
                      </m:sub>
                    </m:s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ctrlPr>
                      </m:sSubPr>
                      <m:e>
                        <m:sSub>
                          <m:sSubPr>
                            <m:ctrlP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𝛽</m:t>
                            </m:r>
                          </m:e>
                          <m: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1</m:t>
                            </m:r>
                          </m:sub>
                        </m:s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𝑥</m:t>
                        </m:r>
                      </m:e>
                      <m: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𝑖</m:t>
                        </m:r>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1</m:t>
                        </m:r>
                      </m:sub>
                    </m:s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𝛽</m:t>
                        </m:r>
                      </m:e>
                      <m: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2</m:t>
                        </m:r>
                      </m:sub>
                    </m:sSub>
                    <m:sSub>
                      <m:sSubPr>
                        <m:ctrlP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𝑥</m:t>
                        </m:r>
                      </m:e>
                      <m: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𝑖</m:t>
                        </m:r>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2</m:t>
                        </m:r>
                      </m:sub>
                    </m:s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𝜖</m:t>
                        </m:r>
                      </m:e>
                      <m: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𝑖</m:t>
                        </m:r>
                      </m:sub>
                    </m:s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 </m:t>
                    </m:r>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𝐸</m:t>
                    </m:r>
                    <m:d>
                      <m:dPr>
                        <m:sepChr m:val="∣"/>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dPr>
                      <m:e>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𝜖</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𝑖</m:t>
                            </m:r>
                          </m:sub>
                        </m:sSub>
                      </m:e>
                      <m:e>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𝑥</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𝑖</m:t>
                            </m:r>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1</m:t>
                            </m:r>
                          </m:sub>
                        </m:s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𝑥</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𝑖</m:t>
                            </m:r>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2</m:t>
                            </m:r>
                          </m:sub>
                        </m:sSub>
                      </m:e>
                    </m:d>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=0</m:t>
                    </m:r>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 </m:t>
                    </m:r>
                  </m:oMath>
                </a14:m>
                <a:endParaRPr lang="en-US" altLang="zh-CN" sz="2000" dirty="0">
                  <a:ea typeface="Arial Unicode MS" panose="020B0604020202020204" pitchFamily="34" charset="-128"/>
                  <a:cs typeface="Arial Unicode MS" panose="020B0604020202020204" pitchFamily="34" charset="-128"/>
                </a:endParaRPr>
              </a:p>
              <a:p>
                <a:pPr lvl="1">
                  <a:lnSpc>
                    <a:spcPct val="150000"/>
                  </a:lnSpc>
                  <a:buClr>
                    <a:schemeClr val="tx1"/>
                  </a:buClr>
                </a:pPr>
                <a14:m>
                  <m:oMath xmlns:m="http://schemas.openxmlformats.org/officeDocument/2006/math">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𝐸</m:t>
                    </m:r>
                    <m:d>
                      <m:dPr>
                        <m:sepChr m:val="∣"/>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dPr>
                      <m:e>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𝑦</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𝑖</m:t>
                            </m:r>
                          </m:sub>
                        </m:sSub>
                      </m:e>
                      <m:e>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𝑥</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𝑖</m:t>
                            </m:r>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1</m:t>
                            </m:r>
                          </m:sub>
                        </m:sSub>
                      </m:e>
                    </m:d>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𝛽</m:t>
                        </m:r>
                      </m:e>
                      <m: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0</m:t>
                        </m:r>
                      </m:sub>
                    </m:s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ctrlPr>
                      </m:sSubPr>
                      <m:e>
                        <m:sSub>
                          <m:sSubPr>
                            <m:ctrlP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𝛽</m:t>
                            </m:r>
                          </m:e>
                          <m: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1</m:t>
                            </m:r>
                          </m:sub>
                        </m:s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𝑥</m:t>
                        </m:r>
                      </m:e>
                      <m: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𝑖</m:t>
                        </m:r>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1</m:t>
                        </m:r>
                      </m:sub>
                    </m:s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𝛽</m:t>
                        </m:r>
                      </m:e>
                      <m: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2</m:t>
                        </m:r>
                      </m:sub>
                    </m:sSub>
                    <m:sSub>
                      <m:sSubPr>
                        <m:ctrlP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𝐸</m:t>
                        </m:r>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m:t>
                        </m:r>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𝑥</m:t>
                        </m:r>
                      </m:e>
                      <m:sub>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𝑖</m:t>
                        </m:r>
                        <m:r>
                          <a:rPr lang="en-US" altLang="zh-CN" sz="2000" i="1">
                            <a:latin typeface="Cambria Math" panose="02040503050406030204" pitchFamily="18" charset="0"/>
                            <a:ea typeface="Arial Unicode MS" panose="020B0604020202020204" pitchFamily="34" charset="-128"/>
                            <a:cs typeface="Arial Unicode MS" panose="020B0604020202020204" pitchFamily="34" charset="-128"/>
                          </a:rPr>
                          <m:t>2</m:t>
                        </m:r>
                      </m:sub>
                    </m:s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𝑥</m:t>
                        </m:r>
                      </m:e>
                      <m: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𝑖</m:t>
                        </m:r>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1</m:t>
                        </m:r>
                      </m:sub>
                    </m:sSub>
                    <m:r>
                      <a:rPr lang="en-US" altLang="zh-CN" sz="2000" b="0" i="1" smtClean="0">
                        <a:latin typeface="Cambria Math" panose="02040503050406030204" pitchFamily="18" charset="0"/>
                        <a:ea typeface="Arial Unicode MS" panose="020B0604020202020204" pitchFamily="34" charset="-128"/>
                        <a:cs typeface="Arial Unicode MS" panose="020B0604020202020204" pitchFamily="34" charset="-128"/>
                      </a:rPr>
                      <m:t>)</m:t>
                    </m:r>
                  </m:oMath>
                </a14:m>
                <a:endParaRPr lang="en-US" altLang="zh-CN" sz="2000" dirty="0">
                  <a:ea typeface="Arial Unicode MS" panose="020B0604020202020204" pitchFamily="34" charset="-128"/>
                  <a:cs typeface="Arial Unicode MS" panose="020B0604020202020204" pitchFamily="34" charset="-128"/>
                </a:endParaRPr>
              </a:p>
              <a:p>
                <a:pPr lvl="1">
                  <a:lnSpc>
                    <a:spcPct val="150000"/>
                  </a:lnSpc>
                  <a:buClr>
                    <a:srgbClr val="FF0000"/>
                  </a:buClr>
                  <a:buFont typeface="Wingdings" pitchFamily="2" charset="2"/>
                  <a:buChar char="v"/>
                </a:pPr>
                <a:endParaRPr lang="en-US" altLang="zh-CN" sz="1800" dirty="0">
                  <a:ea typeface="Arial Unicode MS" panose="020B0604020202020204" pitchFamily="34" charset="-128"/>
                  <a:cs typeface="Arial Unicode MS" panose="020B0604020202020204" pitchFamily="34" charset="-128"/>
                </a:endParaRPr>
              </a:p>
              <a:p>
                <a:pPr>
                  <a:lnSpc>
                    <a:spcPct val="150000"/>
                  </a:lnSpc>
                  <a:buFont typeface="Wingdings" pitchFamily="2" charset="2"/>
                  <a:buChar char="u"/>
                </a:pPr>
                <a:endParaRPr lang="en-US" altLang="zh-CN" sz="1800" dirty="0">
                  <a:ea typeface="Arial Unicode MS" panose="020B0604020202020204" pitchFamily="34" charset="-128"/>
                  <a:cs typeface="Arial Unicode MS" panose="020B0604020202020204" pitchFamily="34" charset="-128"/>
                </a:endParaRPr>
              </a:p>
              <a:p>
                <a:pPr>
                  <a:buFont typeface="Wingdings" pitchFamily="2" charset="2"/>
                  <a:buNone/>
                </a:pPr>
                <a:endParaRPr lang="en-US" altLang="zh-CN" dirty="0">
                  <a:ea typeface="Arial Unicode MS" panose="020B0604020202020204" pitchFamily="34" charset="-128"/>
                  <a:cs typeface="Arial Unicode MS" panose="020B0604020202020204" pitchFamily="34" charset="-128"/>
                </a:endParaRPr>
              </a:p>
              <a:p>
                <a:endParaRPr lang="zh-CN" altLang="en-US" dirty="0">
                  <a:ea typeface="Arial Unicode MS" panose="020B0604020202020204" pitchFamily="34" charset="-128"/>
                  <a:cs typeface="Arial Unicode MS" panose="020B0604020202020204" pitchFamily="34" charset="-128"/>
                </a:endParaRPr>
              </a:p>
            </p:txBody>
          </p:sp>
        </mc:Choice>
        <mc:Fallback xmlns="">
          <p:sp>
            <p:nvSpPr>
              <p:cNvPr id="8195" name="内容占位符 2">
                <a:extLst>
                  <a:ext uri="{FF2B5EF4-FFF2-40B4-BE49-F238E27FC236}">
                    <a16:creationId xmlns:a16="http://schemas.microsoft.com/office/drawing/2014/main" id="{A0293DA8-2870-C84B-90F0-70EC544611AC}"/>
                  </a:ext>
                </a:extLst>
              </p:cNvPr>
              <p:cNvSpPr>
                <a:spLocks noGrp="1" noRot="1" noChangeAspect="1" noMove="1" noResize="1" noEditPoints="1" noAdjustHandles="1" noChangeArrowheads="1" noChangeShapeType="1" noTextEdit="1"/>
              </p:cNvSpPr>
              <p:nvPr>
                <p:ph idx="1"/>
              </p:nvPr>
            </p:nvSpPr>
            <p:spPr>
              <a:xfrm>
                <a:off x="914400" y="1463040"/>
                <a:ext cx="8261351" cy="4656139"/>
              </a:xfrm>
              <a:blipFill>
                <a:blip r:embed="rId3"/>
                <a:stretch>
                  <a:fillRect l="-1075"/>
                </a:stretch>
              </a:blipFill>
              <a:ln>
                <a:noFill/>
              </a:ln>
            </p:spPr>
            <p:txBody>
              <a:bodyPr/>
              <a:lstStyle/>
              <a:p>
                <a:r>
                  <a:rPr lang="en-US">
                    <a:noFill/>
                  </a:rPr>
                  <a:t> </a:t>
                </a:r>
              </a:p>
            </p:txBody>
          </p:sp>
        </mc:Fallback>
      </mc:AlternateContent>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7</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1CA46CF-C468-384E-8A62-1696F2B661E7}"/>
              </a:ext>
            </a:extLst>
          </p:cNvPr>
          <p:cNvSpPr txBox="1"/>
          <p:nvPr/>
        </p:nvSpPr>
        <p:spPr>
          <a:xfrm>
            <a:off x="5636794" y="2971800"/>
            <a:ext cx="65" cy="276999"/>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284739012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Bias-variance trade-off</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8</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8C77B99-4EBA-4D42-BE3F-16CE0F0ED500}"/>
                  </a:ext>
                </a:extLst>
              </p:cNvPr>
              <p:cNvSpPr txBox="1"/>
              <p:nvPr/>
            </p:nvSpPr>
            <p:spPr>
              <a:xfrm>
                <a:off x="838200" y="2049076"/>
                <a:ext cx="9868471" cy="830997"/>
              </a:xfrm>
              <a:prstGeom prst="rect">
                <a:avLst/>
              </a:prstGeom>
              <a:noFill/>
            </p:spPr>
            <p:txBody>
              <a:bodyPr wrap="none" rtlCol="0">
                <a:spAutoFit/>
              </a:bodyPr>
              <a:lstStyle/>
              <a:p>
                <a:pPr marL="285750" indent="-285750">
                  <a:buFont typeface="Arial" panose="020B0604020202020204" pitchFamily="34" charset="0"/>
                  <a:buChar char="•"/>
                </a:pPr>
                <a:r>
                  <a:rPr lang="en-US" sz="2400" dirty="0"/>
                  <a:t>In general, a more complex model is closer to the true mean function </a:t>
                </a:r>
                <a14:m>
                  <m:oMath xmlns:m="http://schemas.openxmlformats.org/officeDocument/2006/math">
                    <m:r>
                      <a:rPr lang="en-US" sz="2400" i="1" dirty="0" smtClean="0">
                        <a:latin typeface="Cambria Math" panose="02040503050406030204" pitchFamily="18" charset="0"/>
                      </a:rPr>
                      <m:t>𝑓</m:t>
                    </m:r>
                    <m:r>
                      <a:rPr lang="en-US" sz="2400" i="1" dirty="0" smtClean="0">
                        <a:latin typeface="Cambria Math" panose="02040503050406030204" pitchFamily="18" charset="0"/>
                      </a:rPr>
                      <m:t>(</m:t>
                    </m:r>
                    <m:sSub>
                      <m:sSubPr>
                        <m:ctrlPr>
                          <a:rPr lang="en-US" sz="2400" i="1" dirty="0" smtClean="0">
                            <a:latin typeface="Cambria Math" panose="02040503050406030204" pitchFamily="18" charset="0"/>
                          </a:rPr>
                        </m:ctrlPr>
                      </m:sSubPr>
                      <m:e>
                        <m:r>
                          <a:rPr lang="en-US" sz="2400" b="0" i="1" dirty="0" smtClean="0">
                            <a:latin typeface="Cambria Math" panose="02040503050406030204" pitchFamily="18" charset="0"/>
                          </a:rPr>
                          <m:t>𝑥</m:t>
                        </m:r>
                      </m:e>
                      <m:sub>
                        <m:r>
                          <a:rPr lang="en-US" sz="2400" b="0" i="1" dirty="0" smtClean="0">
                            <a:latin typeface="Cambria Math" panose="02040503050406030204" pitchFamily="18" charset="0"/>
                          </a:rPr>
                          <m:t>𝑖</m:t>
                        </m:r>
                      </m:sub>
                    </m:sSub>
                    <m:r>
                      <a:rPr lang="en-US" sz="2400" i="1" dirty="0" smtClean="0">
                        <a:latin typeface="Cambria Math" panose="02040503050406030204" pitchFamily="18" charset="0"/>
                      </a:rPr>
                      <m:t>)</m:t>
                    </m:r>
                  </m:oMath>
                </a14:m>
                <a:endParaRPr lang="en-US" sz="2400" dirty="0"/>
              </a:p>
              <a:p>
                <a:pPr marL="285750" indent="-285750">
                  <a:buFont typeface="Arial" panose="020B0604020202020204" pitchFamily="34" charset="0"/>
                  <a:buChar char="•"/>
                </a:pPr>
                <a:r>
                  <a:rPr lang="en-US" sz="2400" dirty="0"/>
                  <a:t>But a more complex model results in larger variance of the OLS coefficients</a:t>
                </a:r>
              </a:p>
            </p:txBody>
          </p:sp>
        </mc:Choice>
        <mc:Fallback xmlns="">
          <p:sp>
            <p:nvSpPr>
              <p:cNvPr id="4" name="TextBox 3">
                <a:extLst>
                  <a:ext uri="{FF2B5EF4-FFF2-40B4-BE49-F238E27FC236}">
                    <a16:creationId xmlns:a16="http://schemas.microsoft.com/office/drawing/2014/main" id="{58C77B99-4EBA-4D42-BE3F-16CE0F0ED500}"/>
                  </a:ext>
                </a:extLst>
              </p:cNvPr>
              <p:cNvSpPr txBox="1">
                <a:spLocks noRot="1" noChangeAspect="1" noMove="1" noResize="1" noEditPoints="1" noAdjustHandles="1" noChangeArrowheads="1" noChangeShapeType="1" noTextEdit="1"/>
              </p:cNvSpPr>
              <p:nvPr/>
            </p:nvSpPr>
            <p:spPr>
              <a:xfrm>
                <a:off x="838200" y="2049076"/>
                <a:ext cx="9868471" cy="830997"/>
              </a:xfrm>
              <a:prstGeom prst="rect">
                <a:avLst/>
              </a:prstGeom>
              <a:blipFill>
                <a:blip r:embed="rId2"/>
                <a:stretch>
                  <a:fillRect l="-771" t="-4478" b="-14925"/>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56E1FDC0-6FB8-5F4A-B7B8-12FFD0302F79}"/>
              </a:ext>
            </a:extLst>
          </p:cNvPr>
          <p:cNvPicPr>
            <a:picLocks noChangeAspect="1"/>
          </p:cNvPicPr>
          <p:nvPr/>
        </p:nvPicPr>
        <p:blipFill>
          <a:blip r:embed="rId3"/>
          <a:stretch>
            <a:fillRect/>
          </a:stretch>
        </p:blipFill>
        <p:spPr>
          <a:xfrm>
            <a:off x="3923678" y="3567943"/>
            <a:ext cx="4089400" cy="558800"/>
          </a:xfrm>
          <a:prstGeom prst="rect">
            <a:avLst/>
          </a:prstGeom>
        </p:spPr>
      </p:pic>
      <p:pic>
        <p:nvPicPr>
          <p:cNvPr id="3" name="Picture 2">
            <a:extLst>
              <a:ext uri="{FF2B5EF4-FFF2-40B4-BE49-F238E27FC236}">
                <a16:creationId xmlns:a16="http://schemas.microsoft.com/office/drawing/2014/main" id="{4D76C790-32B7-CE41-973D-5D012B4317D2}"/>
              </a:ext>
            </a:extLst>
          </p:cNvPr>
          <p:cNvPicPr>
            <a:picLocks noChangeAspect="1"/>
          </p:cNvPicPr>
          <p:nvPr/>
        </p:nvPicPr>
        <p:blipFill>
          <a:blip r:embed="rId4"/>
          <a:stretch>
            <a:fillRect/>
          </a:stretch>
        </p:blipFill>
        <p:spPr>
          <a:xfrm>
            <a:off x="4049772" y="4193498"/>
            <a:ext cx="3924300" cy="508000"/>
          </a:xfrm>
          <a:prstGeom prst="rect">
            <a:avLst/>
          </a:prstGeom>
        </p:spPr>
      </p:pic>
      <p:pic>
        <p:nvPicPr>
          <p:cNvPr id="6" name="Picture 5">
            <a:extLst>
              <a:ext uri="{FF2B5EF4-FFF2-40B4-BE49-F238E27FC236}">
                <a16:creationId xmlns:a16="http://schemas.microsoft.com/office/drawing/2014/main" id="{EBD07D43-5AA6-6A4E-8157-2B96AF5FF77E}"/>
              </a:ext>
            </a:extLst>
          </p:cNvPr>
          <p:cNvPicPr>
            <a:picLocks noChangeAspect="1"/>
          </p:cNvPicPr>
          <p:nvPr/>
        </p:nvPicPr>
        <p:blipFill>
          <a:blip r:embed="rId5"/>
          <a:stretch>
            <a:fillRect/>
          </a:stretch>
        </p:blipFill>
        <p:spPr>
          <a:xfrm>
            <a:off x="8795658" y="4321406"/>
            <a:ext cx="609600" cy="317500"/>
          </a:xfrm>
          <a:prstGeom prst="rect">
            <a:avLst/>
          </a:prstGeom>
        </p:spPr>
      </p:pic>
      <p:pic>
        <p:nvPicPr>
          <p:cNvPr id="7" name="Picture 6">
            <a:extLst>
              <a:ext uri="{FF2B5EF4-FFF2-40B4-BE49-F238E27FC236}">
                <a16:creationId xmlns:a16="http://schemas.microsoft.com/office/drawing/2014/main" id="{F151BEEF-492B-C141-860A-C417FE8550F7}"/>
              </a:ext>
            </a:extLst>
          </p:cNvPr>
          <p:cNvPicPr>
            <a:picLocks noChangeAspect="1"/>
          </p:cNvPicPr>
          <p:nvPr/>
        </p:nvPicPr>
        <p:blipFill>
          <a:blip r:embed="rId6"/>
          <a:stretch>
            <a:fillRect/>
          </a:stretch>
        </p:blipFill>
        <p:spPr>
          <a:xfrm>
            <a:off x="4117808" y="4820538"/>
            <a:ext cx="3810000" cy="431800"/>
          </a:xfrm>
          <a:prstGeom prst="rect">
            <a:avLst/>
          </a:prstGeom>
        </p:spPr>
      </p:pic>
      <p:pic>
        <p:nvPicPr>
          <p:cNvPr id="8" name="Picture 7">
            <a:extLst>
              <a:ext uri="{FF2B5EF4-FFF2-40B4-BE49-F238E27FC236}">
                <a16:creationId xmlns:a16="http://schemas.microsoft.com/office/drawing/2014/main" id="{8A7BED74-D7CE-074E-B7A6-BC965C851D48}"/>
              </a:ext>
            </a:extLst>
          </p:cNvPr>
          <p:cNvPicPr>
            <a:picLocks noChangeAspect="1"/>
          </p:cNvPicPr>
          <p:nvPr/>
        </p:nvPicPr>
        <p:blipFill>
          <a:blip r:embed="rId7"/>
          <a:stretch>
            <a:fillRect/>
          </a:stretch>
        </p:blipFill>
        <p:spPr>
          <a:xfrm>
            <a:off x="8817430" y="4871336"/>
            <a:ext cx="596900" cy="304800"/>
          </a:xfrm>
          <a:prstGeom prst="rect">
            <a:avLst/>
          </a:prstGeom>
        </p:spPr>
      </p:pic>
      <p:sp>
        <p:nvSpPr>
          <p:cNvPr id="9" name="TextBox 8">
            <a:extLst>
              <a:ext uri="{FF2B5EF4-FFF2-40B4-BE49-F238E27FC236}">
                <a16:creationId xmlns:a16="http://schemas.microsoft.com/office/drawing/2014/main" id="{029EC13F-2E01-5F44-B40C-D64E7C286EB7}"/>
              </a:ext>
            </a:extLst>
          </p:cNvPr>
          <p:cNvSpPr txBox="1"/>
          <p:nvPr/>
        </p:nvSpPr>
        <p:spPr>
          <a:xfrm>
            <a:off x="1763486" y="3733798"/>
            <a:ext cx="1247329" cy="369332"/>
          </a:xfrm>
          <a:prstGeom prst="rect">
            <a:avLst/>
          </a:prstGeom>
          <a:noFill/>
        </p:spPr>
        <p:txBody>
          <a:bodyPr wrap="none" rtlCol="0">
            <a:spAutoFit/>
          </a:bodyPr>
          <a:lstStyle/>
          <a:p>
            <a:r>
              <a:rPr lang="en-US" dirty="0"/>
              <a:t>True model</a:t>
            </a:r>
          </a:p>
        </p:txBody>
      </p:sp>
      <p:sp>
        <p:nvSpPr>
          <p:cNvPr id="10" name="TextBox 9">
            <a:extLst>
              <a:ext uri="{FF2B5EF4-FFF2-40B4-BE49-F238E27FC236}">
                <a16:creationId xmlns:a16="http://schemas.microsoft.com/office/drawing/2014/main" id="{902AAD20-91C4-7846-B97C-87187B750743}"/>
              </a:ext>
            </a:extLst>
          </p:cNvPr>
          <p:cNvSpPr txBox="1"/>
          <p:nvPr/>
        </p:nvSpPr>
        <p:spPr>
          <a:xfrm>
            <a:off x="1755130" y="4295490"/>
            <a:ext cx="1883849" cy="369332"/>
          </a:xfrm>
          <a:prstGeom prst="rect">
            <a:avLst/>
          </a:prstGeom>
          <a:noFill/>
        </p:spPr>
        <p:txBody>
          <a:bodyPr wrap="none" rtlCol="0">
            <a:spAutoFit/>
          </a:bodyPr>
          <a:lstStyle/>
          <a:p>
            <a:r>
              <a:rPr lang="en-US" dirty="0"/>
              <a:t>Underfitted model</a:t>
            </a:r>
          </a:p>
        </p:txBody>
      </p:sp>
      <p:sp>
        <p:nvSpPr>
          <p:cNvPr id="11" name="TextBox 10">
            <a:extLst>
              <a:ext uri="{FF2B5EF4-FFF2-40B4-BE49-F238E27FC236}">
                <a16:creationId xmlns:a16="http://schemas.microsoft.com/office/drawing/2014/main" id="{11963CDE-A3DC-EF40-B63D-ADD508ABDA1A}"/>
              </a:ext>
            </a:extLst>
          </p:cNvPr>
          <p:cNvSpPr txBox="1"/>
          <p:nvPr/>
        </p:nvSpPr>
        <p:spPr>
          <a:xfrm>
            <a:off x="1763486" y="4857182"/>
            <a:ext cx="1768433" cy="369332"/>
          </a:xfrm>
          <a:prstGeom prst="rect">
            <a:avLst/>
          </a:prstGeom>
          <a:noFill/>
        </p:spPr>
        <p:txBody>
          <a:bodyPr wrap="none" rtlCol="0">
            <a:spAutoFit/>
          </a:bodyPr>
          <a:lstStyle/>
          <a:p>
            <a:r>
              <a:rPr lang="en-US" dirty="0"/>
              <a:t>Overfitted model</a:t>
            </a:r>
          </a:p>
        </p:txBody>
      </p:sp>
    </p:spTree>
    <p:extLst>
      <p:ext uri="{BB962C8B-B14F-4D97-AF65-F5344CB8AC3E}">
        <p14:creationId xmlns:p14="http://schemas.microsoft.com/office/powerpoint/2010/main" val="2843716749"/>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Prediction</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5" name="内容占位符 2">
            <a:extLst>
              <a:ext uri="{FF2B5EF4-FFF2-40B4-BE49-F238E27FC236}">
                <a16:creationId xmlns:a16="http://schemas.microsoft.com/office/drawing/2014/main" id="{A0293DA8-2870-C84B-90F0-70EC544611AC}"/>
              </a:ext>
            </a:extLst>
          </p:cNvPr>
          <p:cNvSpPr>
            <a:spLocks noGrp="1" noChangeArrowheads="1"/>
          </p:cNvSpPr>
          <p:nvPr>
            <p:ph idx="1"/>
          </p:nvPr>
        </p:nvSpPr>
        <p:spPr>
          <a:xfrm>
            <a:off x="914400" y="1463040"/>
            <a:ext cx="8261351" cy="4656139"/>
          </a:xfrm>
          <a:ln>
            <a:noFill/>
          </a:ln>
        </p:spPr>
        <p:txBody>
          <a:bodyPr>
            <a:normAutofit lnSpcReduction="10000"/>
          </a:bodyPr>
          <a:lstStyle/>
          <a:p>
            <a:pPr>
              <a:lnSpc>
                <a:spcPct val="150000"/>
              </a:lnSpc>
              <a:buClr>
                <a:schemeClr val="tx1"/>
              </a:buClr>
            </a:pPr>
            <a:r>
              <a:rPr lang="en-US" altLang="zh-CN" sz="2400" dirty="0">
                <a:ea typeface="Arial Unicode MS" panose="020B0604020202020204" pitchFamily="34" charset="-128"/>
                <a:cs typeface="Arial Unicode MS" panose="020B0604020202020204" pitchFamily="34" charset="-128"/>
              </a:rPr>
              <a:t>In-sample prediction: </a:t>
            </a:r>
            <a:r>
              <a:rPr lang="en-US" sz="2400" dirty="0">
                <a:ea typeface="Arial Unicode MS" panose="020B0604020202020204" pitchFamily="34" charset="-128"/>
                <a:cs typeface="Arial Unicode MS" panose="020B0604020202020204" pitchFamily="34" charset="-128"/>
              </a:rPr>
              <a:t>Evaluate model performance on the same data used for fitting</a:t>
            </a:r>
            <a:endParaRPr lang="en-US" altLang="zh-CN" sz="2400" dirty="0">
              <a:ea typeface="Arial Unicode MS" panose="020B0604020202020204" pitchFamily="34" charset="-128"/>
              <a:cs typeface="Arial Unicode MS" panose="020B0604020202020204" pitchFamily="34" charset="-128"/>
            </a:endParaRPr>
          </a:p>
          <a:p>
            <a:pPr>
              <a:lnSpc>
                <a:spcPct val="150000"/>
              </a:lnSpc>
              <a:buClr>
                <a:schemeClr val="tx1"/>
              </a:buClr>
            </a:pPr>
            <a:r>
              <a:rPr lang="en-US" altLang="zh-CN" sz="2400" dirty="0">
                <a:ea typeface="Arial Unicode MS" panose="020B0604020202020204" pitchFamily="34" charset="-128"/>
                <a:cs typeface="Arial Unicode MS" panose="020B0604020202020204" pitchFamily="34" charset="-128"/>
              </a:rPr>
              <a:t>Out-sample prediction: </a:t>
            </a:r>
            <a:r>
              <a:rPr lang="en-US" sz="2400" dirty="0">
                <a:ea typeface="Arial Unicode MS" panose="020B0604020202020204" pitchFamily="34" charset="-128"/>
                <a:cs typeface="Arial Unicode MS" panose="020B0604020202020204" pitchFamily="34" charset="-128"/>
              </a:rPr>
              <a:t>Evaluate model performance on a new dataset</a:t>
            </a:r>
            <a:endParaRPr lang="en-US" altLang="zh-CN" sz="2400" dirty="0">
              <a:ea typeface="Arial Unicode MS" panose="020B0604020202020204" pitchFamily="34" charset="-128"/>
              <a:cs typeface="Arial Unicode MS" panose="020B0604020202020204" pitchFamily="34" charset="-128"/>
            </a:endParaRPr>
          </a:p>
          <a:p>
            <a:pPr lvl="1">
              <a:lnSpc>
                <a:spcPct val="150000"/>
              </a:lnSpc>
              <a:buClr>
                <a:schemeClr val="tx1"/>
              </a:buClr>
            </a:pPr>
            <a:r>
              <a:rPr lang="en-US" altLang="zh-CN" sz="2000" dirty="0">
                <a:ea typeface="Arial Unicode MS" panose="020B0604020202020204" pitchFamily="34" charset="-128"/>
                <a:cs typeface="Arial Unicode MS" panose="020B0604020202020204" pitchFamily="34" charset="-128"/>
              </a:rPr>
              <a:t>Training data: used to fit the OLS </a:t>
            </a:r>
          </a:p>
          <a:p>
            <a:pPr lvl="1">
              <a:lnSpc>
                <a:spcPct val="150000"/>
              </a:lnSpc>
              <a:buClr>
                <a:schemeClr val="tx1"/>
              </a:buClr>
            </a:pPr>
            <a:r>
              <a:rPr lang="en-US" altLang="zh-CN" sz="2000" dirty="0">
                <a:ea typeface="Arial Unicode MS" panose="020B0604020202020204" pitchFamily="34" charset="-128"/>
                <a:cs typeface="Arial Unicode MS" panose="020B0604020202020204" pitchFamily="34" charset="-128"/>
              </a:rPr>
              <a:t>Testing data: used to assess the prediction performance</a:t>
            </a:r>
          </a:p>
          <a:p>
            <a:pPr>
              <a:lnSpc>
                <a:spcPct val="150000"/>
              </a:lnSpc>
              <a:buClr>
                <a:schemeClr val="tx1"/>
              </a:buClr>
            </a:pPr>
            <a:r>
              <a:rPr lang="en-US" altLang="zh-CN" sz="2600" dirty="0">
                <a:ea typeface="Arial Unicode MS" panose="020B0604020202020204" pitchFamily="34" charset="-128"/>
                <a:cs typeface="Arial Unicode MS" panose="020B0604020202020204" pitchFamily="34" charset="-128"/>
              </a:rPr>
              <a:t>Overfitting</a:t>
            </a:r>
          </a:p>
          <a:p>
            <a:pPr lvl="1"/>
            <a:r>
              <a:rPr lang="en-US" sz="2000" dirty="0"/>
              <a:t>A model that performs well on the training data may perform poorly on new data</a:t>
            </a:r>
          </a:p>
          <a:p>
            <a:pPr>
              <a:lnSpc>
                <a:spcPct val="150000"/>
              </a:lnSpc>
              <a:buFont typeface="Wingdings" pitchFamily="2" charset="2"/>
              <a:buChar char="u"/>
            </a:pPr>
            <a:endParaRPr lang="en-US" altLang="zh-CN" sz="1800" dirty="0">
              <a:ea typeface="Arial Unicode MS" panose="020B0604020202020204" pitchFamily="34" charset="-128"/>
              <a:cs typeface="Arial Unicode MS" panose="020B0604020202020204" pitchFamily="34" charset="-128"/>
            </a:endParaRPr>
          </a:p>
          <a:p>
            <a:pPr>
              <a:buFont typeface="Wingdings" pitchFamily="2" charset="2"/>
              <a:buNone/>
            </a:pPr>
            <a:endParaRPr lang="en-US" altLang="zh-CN" dirty="0">
              <a:ea typeface="Arial Unicode MS" panose="020B0604020202020204" pitchFamily="34" charset="-128"/>
              <a:cs typeface="Arial Unicode MS" panose="020B0604020202020204" pitchFamily="34" charset="-128"/>
            </a:endParaRPr>
          </a:p>
          <a:p>
            <a:endParaRPr lang="zh-CN" altLang="en-US" dirty="0">
              <a:ea typeface="Arial Unicode MS" panose="020B0604020202020204" pitchFamily="34" charset="-128"/>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9</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1CA46CF-C468-384E-8A62-1696F2B661E7}"/>
              </a:ext>
            </a:extLst>
          </p:cNvPr>
          <p:cNvSpPr txBox="1"/>
          <p:nvPr/>
        </p:nvSpPr>
        <p:spPr>
          <a:xfrm>
            <a:off x="5636794" y="2971800"/>
            <a:ext cx="65" cy="276999"/>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3178685573"/>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Simulation</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10</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D58A88B-A73B-EE4B-9E70-509D2115AB1A}"/>
                  </a:ext>
                </a:extLst>
              </p:cNvPr>
              <p:cNvSpPr txBox="1"/>
              <p:nvPr/>
            </p:nvSpPr>
            <p:spPr>
              <a:xfrm>
                <a:off x="906325" y="1690690"/>
                <a:ext cx="10447475" cy="4462760"/>
              </a:xfrm>
              <a:prstGeom prst="rect">
                <a:avLst/>
              </a:prstGeom>
              <a:noFill/>
            </p:spPr>
            <p:txBody>
              <a:bodyPr wrap="none" rtlCol="0">
                <a:spAutoFit/>
              </a:bodyPr>
              <a:lstStyle/>
              <a:p>
                <a:pPr marL="285750" indent="-285750">
                  <a:buFont typeface="Arial" panose="020B0604020202020204" pitchFamily="34" charset="0"/>
                  <a:buChar char="•"/>
                </a:pPr>
                <a:r>
                  <a:rPr lang="en-US" altLang="zh-CN" sz="2400" dirty="0"/>
                  <a:t>Consider</a:t>
                </a:r>
                <a:r>
                  <a:rPr lang="zh-CN" altLang="en-US" sz="2400" dirty="0"/>
                  <a:t> </a:t>
                </a:r>
                <a:r>
                  <a:rPr lang="en-US" altLang="zh-CN" sz="2400" dirty="0"/>
                  <a:t>nested models containing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1</m:t>
                        </m:r>
                      </m:e>
                      <m:sub>
                        <m:r>
                          <a:rPr lang="en-US" altLang="zh-CN" sz="2400" b="0" i="1" smtClean="0">
                            <a:latin typeface="Cambria Math" panose="02040503050406030204" pitchFamily="18" charset="0"/>
                          </a:rPr>
                          <m:t>𝑛</m:t>
                        </m:r>
                      </m:sub>
                    </m:sSub>
                  </m:oMath>
                </a14:m>
                <a:r>
                  <a:rPr lang="en-US" sz="2400" dirty="0"/>
                  <a:t> and covariates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True model                                with </a:t>
                </a:r>
                <a14:m>
                  <m:oMath xmlns:m="http://schemas.openxmlformats.org/officeDocument/2006/math">
                    <m:r>
                      <a:rPr lang="en-US" sz="2400" i="1" dirty="0" smtClean="0">
                        <a:latin typeface="Cambria Math" panose="02040503050406030204" pitchFamily="18" charset="0"/>
                      </a:rPr>
                      <m:t>𝑝</m:t>
                    </m:r>
                    <m:r>
                      <a:rPr lang="en-US" sz="2400" i="1" dirty="0" smtClean="0">
                        <a:latin typeface="Cambria Math" panose="02040503050406030204" pitchFamily="18" charset="0"/>
                      </a:rPr>
                      <m:t>=40</m:t>
                    </m:r>
                  </m:oMath>
                </a14:m>
                <a:r>
                  <a:rPr lang="en-US" sz="2400" dirty="0"/>
                  <a:t> but only the first 10 covariates have </a:t>
                </a:r>
              </a:p>
              <a:p>
                <a:r>
                  <a:rPr lang="en-US" sz="2400" dirty="0"/>
                  <a:t>     non-zero coefficients 1 and all other covariates have coefficients 0</a:t>
                </a:r>
              </a:p>
              <a:p>
                <a:endParaRPr lang="en-US" sz="2000" dirty="0"/>
              </a:p>
              <a:p>
                <a:pPr marL="342900" indent="-342900">
                  <a:buFont typeface="Arial" panose="020B0604020202020204" pitchFamily="34" charset="0"/>
                  <a:buChar char="•"/>
                </a:pPr>
                <a:r>
                  <a:rPr lang="en-US" altLang="zh-CN" sz="2400" dirty="0"/>
                  <a:t>Generate</a:t>
                </a:r>
                <a:r>
                  <a:rPr lang="zh-CN" altLang="en-US" sz="2400" dirty="0"/>
                  <a:t> </a:t>
                </a:r>
                <a:r>
                  <a:rPr lang="en-US" altLang="zh-CN" sz="2400" dirty="0"/>
                  <a:t>two datasets with </a:t>
                </a:r>
                <a14:m>
                  <m:oMath xmlns:m="http://schemas.openxmlformats.org/officeDocument/2006/math">
                    <m:r>
                      <a:rPr lang="en-US" altLang="zh-CN" sz="2400" i="1" dirty="0" smtClean="0">
                        <a:latin typeface="Cambria Math" panose="02040503050406030204" pitchFamily="18" charset="0"/>
                      </a:rPr>
                      <m:t>𝑛</m:t>
                    </m:r>
                    <m:r>
                      <a:rPr lang="en-US" altLang="zh-CN" sz="2400" i="1" dirty="0" smtClean="0">
                        <a:latin typeface="Cambria Math" panose="02040503050406030204" pitchFamily="18" charset="0"/>
                      </a:rPr>
                      <m:t>=200</m:t>
                    </m:r>
                  </m:oMath>
                </a14:m>
                <a:endParaRPr lang="en-US" sz="2400" dirty="0"/>
              </a:p>
              <a:p>
                <a:pPr marL="800100" lvl="1" indent="-342900">
                  <a:buFont typeface="Arial" panose="020B0604020202020204" pitchFamily="34" charset="0"/>
                  <a:buChar char="•"/>
                </a:pPr>
                <a:r>
                  <a:rPr lang="en-US" sz="2000" dirty="0"/>
                  <a:t>Training dataset: fit the OLS</a:t>
                </a:r>
              </a:p>
              <a:p>
                <a:pPr marL="800100" lvl="1" indent="-342900">
                  <a:buFont typeface="Arial" panose="020B0604020202020204" pitchFamily="34" charset="0"/>
                  <a:buChar char="•"/>
                </a:pPr>
                <a:r>
                  <a:rPr lang="en-US" sz="2000" dirty="0"/>
                  <a:t>Testing dataset: assess the performance of the fitted OLS</a:t>
                </a:r>
              </a:p>
              <a:p>
                <a:pPr marL="800100" lvl="1"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Plot the residual sum of squares against the number of covariates</a:t>
                </a:r>
              </a:p>
            </p:txBody>
          </p:sp>
        </mc:Choice>
        <mc:Fallback xmlns="">
          <p:sp>
            <p:nvSpPr>
              <p:cNvPr id="12" name="TextBox 11">
                <a:extLst>
                  <a:ext uri="{FF2B5EF4-FFF2-40B4-BE49-F238E27FC236}">
                    <a16:creationId xmlns:a16="http://schemas.microsoft.com/office/drawing/2014/main" id="{8D58A88B-A73B-EE4B-9E70-509D2115AB1A}"/>
                  </a:ext>
                </a:extLst>
              </p:cNvPr>
              <p:cNvSpPr txBox="1">
                <a:spLocks noRot="1" noChangeAspect="1" noMove="1" noResize="1" noEditPoints="1" noAdjustHandles="1" noChangeArrowheads="1" noChangeShapeType="1" noTextEdit="1"/>
              </p:cNvSpPr>
              <p:nvPr/>
            </p:nvSpPr>
            <p:spPr>
              <a:xfrm>
                <a:off x="906325" y="1690690"/>
                <a:ext cx="10447475" cy="4462760"/>
              </a:xfrm>
              <a:prstGeom prst="rect">
                <a:avLst/>
              </a:prstGeom>
              <a:blipFill>
                <a:blip r:embed="rId3"/>
                <a:stretch>
                  <a:fillRect l="-850" t="-850"/>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3F499155-5F94-3D40-A804-54FAC61928D3}"/>
              </a:ext>
            </a:extLst>
          </p:cNvPr>
          <p:cNvPicPr>
            <a:picLocks noChangeAspect="1"/>
          </p:cNvPicPr>
          <p:nvPr/>
        </p:nvPicPr>
        <p:blipFill>
          <a:blip r:embed="rId4"/>
          <a:stretch>
            <a:fillRect/>
          </a:stretch>
        </p:blipFill>
        <p:spPr>
          <a:xfrm>
            <a:off x="3555088" y="2200093"/>
            <a:ext cx="4102100" cy="482600"/>
          </a:xfrm>
          <a:prstGeom prst="rect">
            <a:avLst/>
          </a:prstGeom>
        </p:spPr>
      </p:pic>
      <p:pic>
        <p:nvPicPr>
          <p:cNvPr id="15" name="Picture 14">
            <a:extLst>
              <a:ext uri="{FF2B5EF4-FFF2-40B4-BE49-F238E27FC236}">
                <a16:creationId xmlns:a16="http://schemas.microsoft.com/office/drawing/2014/main" id="{085883CA-042C-8042-ACE0-BDB299F2E390}"/>
              </a:ext>
            </a:extLst>
          </p:cNvPr>
          <p:cNvPicPr>
            <a:picLocks noChangeAspect="1"/>
          </p:cNvPicPr>
          <p:nvPr/>
        </p:nvPicPr>
        <p:blipFill>
          <a:blip r:embed="rId5"/>
          <a:stretch>
            <a:fillRect/>
          </a:stretch>
        </p:blipFill>
        <p:spPr>
          <a:xfrm>
            <a:off x="2791273" y="3228904"/>
            <a:ext cx="2328186" cy="334876"/>
          </a:xfrm>
          <a:prstGeom prst="rect">
            <a:avLst/>
          </a:prstGeom>
        </p:spPr>
      </p:pic>
    </p:spTree>
    <p:extLst>
      <p:ext uri="{BB962C8B-B14F-4D97-AF65-F5344CB8AC3E}">
        <p14:creationId xmlns:p14="http://schemas.microsoft.com/office/powerpoint/2010/main" val="1524602387"/>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Simulation</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11</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C437C2B0-3A69-CF4F-BCAF-9918CA880B57}"/>
              </a:ext>
            </a:extLst>
          </p:cNvPr>
          <p:cNvPicPr>
            <a:picLocks noChangeAspect="1"/>
          </p:cNvPicPr>
          <p:nvPr/>
        </p:nvPicPr>
        <p:blipFill>
          <a:blip r:embed="rId3"/>
          <a:stretch>
            <a:fillRect/>
          </a:stretch>
        </p:blipFill>
        <p:spPr>
          <a:xfrm>
            <a:off x="1980293" y="1479552"/>
            <a:ext cx="7251700" cy="4876800"/>
          </a:xfrm>
          <a:prstGeom prst="rect">
            <a:avLst/>
          </a:prstGeom>
        </p:spPr>
      </p:pic>
    </p:spTree>
    <p:extLst>
      <p:ext uri="{BB962C8B-B14F-4D97-AF65-F5344CB8AC3E}">
        <p14:creationId xmlns:p14="http://schemas.microsoft.com/office/powerpoint/2010/main" val="1037744371"/>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Simulation: non-linear true model</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12</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B3E60A3-667A-4949-8035-D24B800AF033}"/>
                  </a:ext>
                </a:extLst>
              </p:cNvPr>
              <p:cNvSpPr txBox="1"/>
              <p:nvPr/>
            </p:nvSpPr>
            <p:spPr>
              <a:xfrm>
                <a:off x="947058" y="1799983"/>
                <a:ext cx="9631611" cy="830997"/>
              </a:xfrm>
              <a:prstGeom prst="rect">
                <a:avLst/>
              </a:prstGeom>
              <a:noFill/>
            </p:spPr>
            <p:txBody>
              <a:bodyPr wrap="none" rtlCol="0">
                <a:spAutoFit/>
              </a:bodyPr>
              <a:lstStyle/>
              <a:p>
                <a:pPr marL="285750" indent="-285750">
                  <a:buFont typeface="Arial" panose="020B0604020202020204" pitchFamily="34" charset="0"/>
                  <a:buChar char="•"/>
                </a:pPr>
                <a:r>
                  <a:rPr lang="en-US" sz="2400" dirty="0"/>
                  <a:t>The true model is			    with the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𝑖</m:t>
                        </m:r>
                      </m:sub>
                    </m:sSub>
                  </m:oMath>
                </a14:m>
                <a:r>
                  <a:rPr lang="en-US" sz="2400" dirty="0"/>
                  <a:t>’s equally spaced in </a:t>
                </a:r>
                <a14:m>
                  <m:oMath xmlns:m="http://schemas.openxmlformats.org/officeDocument/2006/math">
                    <m:r>
                      <a:rPr lang="en-US" sz="2400" i="1" dirty="0" smtClean="0">
                        <a:latin typeface="Cambria Math" panose="02040503050406030204" pitchFamily="18" charset="0"/>
                      </a:rPr>
                      <m:t>[0,1]</m:t>
                    </m:r>
                  </m:oMath>
                </a14:m>
                <a:r>
                  <a:rPr lang="en-US" sz="2400" dirty="0"/>
                  <a:t> </a:t>
                </a:r>
              </a:p>
              <a:p>
                <a:pPr marL="285750" indent="-285750">
                  <a:buFont typeface="Arial" panose="020B0604020202020204" pitchFamily="34" charset="0"/>
                  <a:buChar char="•"/>
                </a:pPr>
                <a:r>
                  <a:rPr lang="en-US" sz="2400" dirty="0"/>
                  <a:t>The OLS model </a:t>
                </a:r>
              </a:p>
            </p:txBody>
          </p:sp>
        </mc:Choice>
        <mc:Fallback xmlns="">
          <p:sp>
            <p:nvSpPr>
              <p:cNvPr id="3" name="TextBox 2">
                <a:extLst>
                  <a:ext uri="{FF2B5EF4-FFF2-40B4-BE49-F238E27FC236}">
                    <a16:creationId xmlns:a16="http://schemas.microsoft.com/office/drawing/2014/main" id="{8B3E60A3-667A-4949-8035-D24B800AF033}"/>
                  </a:ext>
                </a:extLst>
              </p:cNvPr>
              <p:cNvSpPr txBox="1">
                <a:spLocks noRot="1" noChangeAspect="1" noMove="1" noResize="1" noEditPoints="1" noAdjustHandles="1" noChangeArrowheads="1" noChangeShapeType="1" noTextEdit="1"/>
              </p:cNvSpPr>
              <p:nvPr/>
            </p:nvSpPr>
            <p:spPr>
              <a:xfrm>
                <a:off x="947058" y="1799983"/>
                <a:ext cx="9631611" cy="830997"/>
              </a:xfrm>
              <a:prstGeom prst="rect">
                <a:avLst/>
              </a:prstGeom>
              <a:blipFill>
                <a:blip r:embed="rId3"/>
                <a:stretch>
                  <a:fillRect l="-791" t="-5970" b="-14925"/>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BBF7A52B-7463-A64F-9A0D-AAAB3B120705}"/>
              </a:ext>
            </a:extLst>
          </p:cNvPr>
          <p:cNvPicPr>
            <a:picLocks noChangeAspect="1"/>
          </p:cNvPicPr>
          <p:nvPr/>
        </p:nvPicPr>
        <p:blipFill>
          <a:blip r:embed="rId4"/>
          <a:stretch>
            <a:fillRect/>
          </a:stretch>
        </p:blipFill>
        <p:spPr>
          <a:xfrm>
            <a:off x="3217638" y="1887691"/>
            <a:ext cx="2704190" cy="279744"/>
          </a:xfrm>
          <a:prstGeom prst="rect">
            <a:avLst/>
          </a:prstGeom>
        </p:spPr>
      </p:pic>
      <p:pic>
        <p:nvPicPr>
          <p:cNvPr id="6" name="Picture 5">
            <a:extLst>
              <a:ext uri="{FF2B5EF4-FFF2-40B4-BE49-F238E27FC236}">
                <a16:creationId xmlns:a16="http://schemas.microsoft.com/office/drawing/2014/main" id="{62F158CC-EEDF-7341-A6A7-00D995BB5AE3}"/>
              </a:ext>
            </a:extLst>
          </p:cNvPr>
          <p:cNvPicPr>
            <a:picLocks noChangeAspect="1"/>
          </p:cNvPicPr>
          <p:nvPr/>
        </p:nvPicPr>
        <p:blipFill>
          <a:blip r:embed="rId5"/>
          <a:stretch>
            <a:fillRect/>
          </a:stretch>
        </p:blipFill>
        <p:spPr>
          <a:xfrm>
            <a:off x="3915228" y="2360199"/>
            <a:ext cx="2006600" cy="812800"/>
          </a:xfrm>
          <a:prstGeom prst="rect">
            <a:avLst/>
          </a:prstGeom>
        </p:spPr>
      </p:pic>
      <p:pic>
        <p:nvPicPr>
          <p:cNvPr id="7" name="Picture 6">
            <a:extLst>
              <a:ext uri="{FF2B5EF4-FFF2-40B4-BE49-F238E27FC236}">
                <a16:creationId xmlns:a16="http://schemas.microsoft.com/office/drawing/2014/main" id="{7E521632-4607-9F45-9839-0383302576EC}"/>
              </a:ext>
            </a:extLst>
          </p:cNvPr>
          <p:cNvPicPr>
            <a:picLocks noChangeAspect="1"/>
          </p:cNvPicPr>
          <p:nvPr/>
        </p:nvPicPr>
        <p:blipFill>
          <a:blip r:embed="rId6"/>
          <a:stretch>
            <a:fillRect/>
          </a:stretch>
        </p:blipFill>
        <p:spPr>
          <a:xfrm>
            <a:off x="2525486" y="3158222"/>
            <a:ext cx="5344885" cy="3563256"/>
          </a:xfrm>
          <a:prstGeom prst="rect">
            <a:avLst/>
          </a:prstGeom>
        </p:spPr>
      </p:pic>
    </p:spTree>
    <p:extLst>
      <p:ext uri="{BB962C8B-B14F-4D97-AF65-F5344CB8AC3E}">
        <p14:creationId xmlns:p14="http://schemas.microsoft.com/office/powerpoint/2010/main" val="139532665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Model selection</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13</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4956460-221D-A641-80B6-9B700B58EE36}"/>
                  </a:ext>
                </a:extLst>
              </p:cNvPr>
              <p:cNvSpPr txBox="1"/>
              <p:nvPr/>
            </p:nvSpPr>
            <p:spPr>
              <a:xfrm>
                <a:off x="708723" y="1795738"/>
                <a:ext cx="9947980" cy="4154984"/>
              </a:xfrm>
              <a:prstGeom prst="rect">
                <a:avLst/>
              </a:prstGeom>
              <a:noFill/>
            </p:spPr>
            <p:txBody>
              <a:bodyPr wrap="none" rtlCol="0">
                <a:spAutoFit/>
              </a:bodyPr>
              <a:lstStyle/>
              <a:p>
                <a:pPr marL="285750" indent="-285750">
                  <a:buFont typeface="Arial" panose="020B0604020202020204" pitchFamily="34" charset="0"/>
                  <a:buChar char="•"/>
                </a:pPr>
                <a:r>
                  <a:rPr lang="en-US" sz="2400" dirty="0"/>
                  <a:t>With a large number of covariates, we need to select a model that has </a:t>
                </a:r>
              </a:p>
              <a:p>
                <a:r>
                  <a:rPr lang="en-US" sz="2400" dirty="0"/>
                  <a:t>     the best performance for prediction</a:t>
                </a:r>
              </a:p>
              <a:p>
                <a:endParaRPr lang="en-US" sz="2400" dirty="0"/>
              </a:p>
              <a:p>
                <a:pPr marL="342900" indent="-342900">
                  <a:buFont typeface="Arial" panose="020B0604020202020204" pitchFamily="34" charset="0"/>
                  <a:buChar char="•"/>
                </a:pPr>
                <a:r>
                  <a:rPr lang="en-US" sz="2400" dirty="0"/>
                  <a:t>In total, we have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2</m:t>
                        </m:r>
                      </m:e>
                      <m:sup>
                        <m:r>
                          <a:rPr lang="en-US" sz="2400" b="0" i="1" smtClean="0">
                            <a:latin typeface="Cambria Math" panose="02040503050406030204" pitchFamily="18" charset="0"/>
                          </a:rPr>
                          <m:t>𝑝</m:t>
                        </m:r>
                      </m:sup>
                    </m:sSup>
                  </m:oMath>
                </a14:m>
                <a:r>
                  <a:rPr lang="en-US" sz="2400" dirty="0"/>
                  <a:t> possible models</a:t>
                </a:r>
              </a:p>
              <a:p>
                <a:pPr marL="342900" indent="-342900">
                  <a:buFont typeface="Arial" panose="020B0604020202020204" pitchFamily="34" charset="0"/>
                  <a:buChar char="•"/>
                </a:pPr>
                <a:r>
                  <a:rPr lang="en-US" sz="2400" dirty="0"/>
                  <a:t>Ideally, we want to have the best prediction performance of our linear </a:t>
                </a:r>
              </a:p>
              <a:p>
                <a:r>
                  <a:rPr lang="en-US" sz="2400" dirty="0"/>
                  <a:t>     model in a new dataset </a:t>
                </a:r>
              </a:p>
              <a:p>
                <a:pPr marL="342900" indent="-342900">
                  <a:buFont typeface="Arial" panose="020B0604020202020204" pitchFamily="34" charset="0"/>
                  <a:buChar char="•"/>
                </a:pPr>
                <a:r>
                  <a:rPr lang="en-US" sz="2400" dirty="0"/>
                  <a:t>But we do not have the new dataset</a:t>
                </a:r>
              </a:p>
              <a:p>
                <a:pPr marL="342900" indent="-34290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We need to find criteria that are good proxies for the prediction performance </a:t>
                </a:r>
              </a:p>
              <a:p>
                <a:pPr marL="342900" indent="-342900">
                  <a:buFont typeface="Arial" panose="020B0604020202020204" pitchFamily="34" charset="0"/>
                  <a:buChar char="•"/>
                </a:pPr>
                <a:endParaRPr lang="en-US" sz="2400" dirty="0"/>
              </a:p>
              <a:p>
                <a:endParaRPr lang="en-US" sz="2400" dirty="0"/>
              </a:p>
            </p:txBody>
          </p:sp>
        </mc:Choice>
        <mc:Fallback xmlns="">
          <p:sp>
            <p:nvSpPr>
              <p:cNvPr id="2" name="TextBox 1">
                <a:extLst>
                  <a:ext uri="{FF2B5EF4-FFF2-40B4-BE49-F238E27FC236}">
                    <a16:creationId xmlns:a16="http://schemas.microsoft.com/office/drawing/2014/main" id="{44956460-221D-A641-80B6-9B700B58EE36}"/>
                  </a:ext>
                </a:extLst>
              </p:cNvPr>
              <p:cNvSpPr txBox="1">
                <a:spLocks noRot="1" noChangeAspect="1" noMove="1" noResize="1" noEditPoints="1" noAdjustHandles="1" noChangeArrowheads="1" noChangeShapeType="1" noTextEdit="1"/>
              </p:cNvSpPr>
              <p:nvPr/>
            </p:nvSpPr>
            <p:spPr>
              <a:xfrm>
                <a:off x="708723" y="1795738"/>
                <a:ext cx="9947980" cy="4154984"/>
              </a:xfrm>
              <a:prstGeom prst="rect">
                <a:avLst/>
              </a:prstGeom>
              <a:blipFill>
                <a:blip r:embed="rId2"/>
                <a:stretch>
                  <a:fillRect l="-892" t="-1220"/>
                </a:stretch>
              </a:blipFill>
            </p:spPr>
            <p:txBody>
              <a:bodyPr/>
              <a:lstStyle/>
              <a:p>
                <a:r>
                  <a:rPr lang="en-US">
                    <a:noFill/>
                  </a:rPr>
                  <a:t> </a:t>
                </a:r>
              </a:p>
            </p:txBody>
          </p:sp>
        </mc:Fallback>
      </mc:AlternateContent>
    </p:spTree>
    <p:extLst>
      <p:ext uri="{BB962C8B-B14F-4D97-AF65-F5344CB8AC3E}">
        <p14:creationId xmlns:p14="http://schemas.microsoft.com/office/powerpoint/2010/main" val="3737793002"/>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Model selection</a:t>
            </a:r>
            <a:r>
              <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 </a:t>
            </a:r>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criteria</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14</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4956460-221D-A641-80B6-9B700B58EE36}"/>
                  </a:ext>
                </a:extLst>
              </p:cNvPr>
              <p:cNvSpPr txBox="1"/>
              <p:nvPr/>
            </p:nvSpPr>
            <p:spPr>
              <a:xfrm>
                <a:off x="708723" y="1795738"/>
                <a:ext cx="6606296" cy="3424655"/>
              </a:xfrm>
              <a:prstGeom prst="rect">
                <a:avLst/>
              </a:prstGeom>
              <a:noFill/>
            </p:spPr>
            <p:txBody>
              <a:bodyPr wrap="none" rtlCol="0">
                <a:spAutoFit/>
              </a:bodyPr>
              <a:lstStyle/>
              <a:p>
                <a:pPr marL="342900" indent="-342900">
                  <a:buFont typeface="Arial" panose="020B0604020202020204" pitchFamily="34" charset="0"/>
                  <a:buChar char="•"/>
                </a:pPr>
                <a:r>
                  <a:rPr lang="en-US" altLang="zh-CN" sz="2400" dirty="0"/>
                  <a:t>RSS, </a:t>
                </a:r>
                <a14:m>
                  <m:oMath xmlns:m="http://schemas.openxmlformats.org/officeDocument/2006/math">
                    <m:sSup>
                      <m:sSupPr>
                        <m:ctrlPr>
                          <a:rPr lang="en-US" altLang="zh-CN" sz="2400" i="1">
                            <a:latin typeface="Cambria Math" panose="02040503050406030204" pitchFamily="18" charset="0"/>
                          </a:rPr>
                        </m:ctrlPr>
                      </m:sSupPr>
                      <m:e>
                        <m:r>
                          <a:rPr lang="en-US" altLang="zh-CN" sz="2400" b="0" i="1">
                            <a:latin typeface="Cambria Math" panose="02040503050406030204" pitchFamily="18" charset="0"/>
                          </a:rPr>
                          <m:t>𝑅</m:t>
                        </m:r>
                      </m:e>
                      <m:sup>
                        <m:r>
                          <a:rPr lang="en-US" altLang="zh-CN" sz="2400" b="0" i="1">
                            <a:latin typeface="Cambria Math" panose="02040503050406030204" pitchFamily="18" charset="0"/>
                          </a:rPr>
                          <m:t>2</m:t>
                        </m:r>
                      </m:sup>
                    </m:sSup>
                  </m:oMath>
                </a14:m>
                <a:r>
                  <a:rPr lang="en-US" altLang="zh-CN" sz="2400" dirty="0"/>
                  <a:t>, and adjusted </a:t>
                </a:r>
                <a14:m>
                  <m:oMath xmlns:m="http://schemas.openxmlformats.org/officeDocument/2006/math">
                    <m:sSup>
                      <m:sSupPr>
                        <m:ctrlPr>
                          <a:rPr lang="en-US" altLang="zh-CN" sz="2400" i="1">
                            <a:latin typeface="Cambria Math" panose="02040503050406030204" pitchFamily="18" charset="0"/>
                          </a:rPr>
                        </m:ctrlPr>
                      </m:sSupPr>
                      <m:e>
                        <m:r>
                          <a:rPr lang="en-US" altLang="zh-CN" sz="2400" b="0" i="1">
                            <a:latin typeface="Cambria Math" panose="02040503050406030204" pitchFamily="18" charset="0"/>
                          </a:rPr>
                          <m:t>𝑅</m:t>
                        </m:r>
                      </m:e>
                      <m:sup>
                        <m:r>
                          <a:rPr lang="en-US" altLang="zh-CN" sz="2400" b="0" i="1">
                            <a:latin typeface="Cambria Math" panose="02040503050406030204" pitchFamily="18" charset="0"/>
                          </a:rPr>
                          <m:t>2</m:t>
                        </m:r>
                      </m:sup>
                    </m:sSup>
                  </m:oMath>
                </a14:m>
                <a:endParaRPr lang="en-US" sz="2400" dirty="0"/>
              </a:p>
              <a:p>
                <a:endParaRPr lang="en-US" sz="2400" dirty="0"/>
              </a:p>
              <a:p>
                <a:pPr marL="342900" indent="-342900">
                  <a:buFont typeface="Arial" panose="020B0604020202020204" pitchFamily="34" charset="0"/>
                  <a:buChar char="•"/>
                </a:pPr>
                <a:r>
                  <a:rPr lang="en-US" altLang="zh-CN" sz="2400" dirty="0"/>
                  <a:t>Information criteria</a:t>
                </a:r>
                <a:endParaRPr lang="en-US" sz="240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altLang="zh-CN" sz="2400" dirty="0"/>
                  <a:t>Cross validation</a:t>
                </a:r>
              </a:p>
              <a:p>
                <a:pPr marL="342900" indent="-342900">
                  <a:buFont typeface="Arial" panose="020B0604020202020204" pitchFamily="34" charset="0"/>
                  <a:buChar char="•"/>
                </a:pPr>
                <a:endParaRPr lang="en-US" sz="24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idea of these criteria apply to general models</a:t>
                </a:r>
              </a:p>
              <a:p>
                <a:endParaRPr lang="en-US" sz="2400" dirty="0"/>
              </a:p>
            </p:txBody>
          </p:sp>
        </mc:Choice>
        <mc:Fallback xmlns="">
          <p:sp>
            <p:nvSpPr>
              <p:cNvPr id="2" name="TextBox 1">
                <a:extLst>
                  <a:ext uri="{FF2B5EF4-FFF2-40B4-BE49-F238E27FC236}">
                    <a16:creationId xmlns:a16="http://schemas.microsoft.com/office/drawing/2014/main" id="{44956460-221D-A641-80B6-9B700B58EE36}"/>
                  </a:ext>
                </a:extLst>
              </p:cNvPr>
              <p:cNvSpPr txBox="1">
                <a:spLocks noRot="1" noChangeAspect="1" noMove="1" noResize="1" noEditPoints="1" noAdjustHandles="1" noChangeArrowheads="1" noChangeShapeType="1" noTextEdit="1"/>
              </p:cNvSpPr>
              <p:nvPr/>
            </p:nvSpPr>
            <p:spPr>
              <a:xfrm>
                <a:off x="708723" y="1795738"/>
                <a:ext cx="6606296" cy="3424655"/>
              </a:xfrm>
              <a:prstGeom prst="rect">
                <a:avLst/>
              </a:prstGeom>
              <a:blipFill>
                <a:blip r:embed="rId3"/>
                <a:stretch>
                  <a:fillRect l="-1152" t="-1111" r="-576"/>
                </a:stretch>
              </a:blipFill>
            </p:spPr>
            <p:txBody>
              <a:bodyPr/>
              <a:lstStyle/>
              <a:p>
                <a:r>
                  <a:rPr lang="en-US">
                    <a:noFill/>
                  </a:rPr>
                  <a:t> </a:t>
                </a:r>
              </a:p>
            </p:txBody>
          </p:sp>
        </mc:Fallback>
      </mc:AlternateContent>
    </p:spTree>
    <p:extLst>
      <p:ext uri="{BB962C8B-B14F-4D97-AF65-F5344CB8AC3E}">
        <p14:creationId xmlns:p14="http://schemas.microsoft.com/office/powerpoint/2010/main" val="422003990"/>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RSS, </a:t>
                </a:r>
                <a14:m>
                  <m:oMath xmlns:m="http://schemas.openxmlformats.org/officeDocument/2006/math">
                    <m:sSup>
                      <m:sSupPr>
                        <m:ctrlPr>
                          <a:rPr lang="en-US" altLang="zh-CN" sz="3200" b="1" i="1" smtClean="0">
                            <a:solidFill>
                              <a:srgbClr val="005825"/>
                            </a:solidFill>
                            <a:latin typeface="Cambria Math" panose="02040503050406030204" pitchFamily="18" charset="0"/>
                            <a:ea typeface="Microsoft YaHei" panose="020B0503020204020204" pitchFamily="34" charset="-122"/>
                            <a:cs typeface="Arial Unicode MS" panose="020B0604020202020204" pitchFamily="34" charset="-128"/>
                          </a:rPr>
                        </m:ctrlPr>
                      </m:sSupPr>
                      <m:e>
                        <m:r>
                          <a:rPr lang="en-US" altLang="zh-CN" sz="3200" b="1" i="1" smtClean="0">
                            <a:solidFill>
                              <a:srgbClr val="005825"/>
                            </a:solidFill>
                            <a:latin typeface="Cambria Math" panose="02040503050406030204" pitchFamily="18" charset="0"/>
                            <a:ea typeface="Microsoft YaHei" panose="020B0503020204020204" pitchFamily="34" charset="-122"/>
                            <a:cs typeface="Arial Unicode MS" panose="020B0604020202020204" pitchFamily="34" charset="-128"/>
                          </a:rPr>
                          <m:t>𝑹</m:t>
                        </m:r>
                      </m:e>
                      <m:sup>
                        <m:r>
                          <a:rPr lang="en-US" altLang="zh-CN" sz="3200" b="1" i="1" smtClean="0">
                            <a:solidFill>
                              <a:srgbClr val="005825"/>
                            </a:solidFill>
                            <a:latin typeface="Cambria Math" panose="02040503050406030204" pitchFamily="18" charset="0"/>
                            <a:ea typeface="Microsoft YaHei" panose="020B0503020204020204" pitchFamily="34" charset="-122"/>
                            <a:cs typeface="Arial Unicode MS" panose="020B0604020202020204" pitchFamily="34" charset="-128"/>
                          </a:rPr>
                          <m:t>𝟐</m:t>
                        </m:r>
                      </m:sup>
                    </m:sSup>
                  </m:oMath>
                </a14:m>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 and adjusted </a:t>
                </a:r>
                <a14:m>
                  <m:oMath xmlns:m="http://schemas.openxmlformats.org/officeDocument/2006/math">
                    <m:sSup>
                      <m:sSupPr>
                        <m:ctrlPr>
                          <a:rPr lang="en-US" altLang="zh-CN" sz="3200" b="1" i="1">
                            <a:solidFill>
                              <a:srgbClr val="005825"/>
                            </a:solidFill>
                            <a:latin typeface="Cambria Math" panose="02040503050406030204" pitchFamily="18" charset="0"/>
                            <a:ea typeface="Microsoft YaHei" panose="020B0503020204020204" pitchFamily="34" charset="-122"/>
                            <a:cs typeface="Arial Unicode MS" panose="020B0604020202020204" pitchFamily="34" charset="-128"/>
                          </a:rPr>
                        </m:ctrlPr>
                      </m:sSupPr>
                      <m:e>
                        <m:r>
                          <a:rPr lang="en-US" altLang="zh-CN" sz="3200" b="1" i="1">
                            <a:solidFill>
                              <a:srgbClr val="005825"/>
                            </a:solidFill>
                            <a:latin typeface="Cambria Math" panose="02040503050406030204" pitchFamily="18" charset="0"/>
                            <a:ea typeface="Microsoft YaHei" panose="020B0503020204020204" pitchFamily="34" charset="-122"/>
                            <a:cs typeface="Arial Unicode MS" panose="020B0604020202020204" pitchFamily="34" charset="-128"/>
                          </a:rPr>
                          <m:t>𝑹</m:t>
                        </m:r>
                      </m:e>
                      <m:sup>
                        <m:r>
                          <a:rPr lang="en-US" altLang="zh-CN" sz="3200" b="1" i="1">
                            <a:solidFill>
                              <a:srgbClr val="005825"/>
                            </a:solidFill>
                            <a:latin typeface="Cambria Math" panose="02040503050406030204" pitchFamily="18" charset="0"/>
                            <a:ea typeface="Microsoft YaHei" panose="020B0503020204020204" pitchFamily="34" charset="-122"/>
                            <a:cs typeface="Arial Unicode MS" panose="020B0604020202020204" pitchFamily="34" charset="-128"/>
                          </a:rPr>
                          <m:t>𝟐</m:t>
                        </m:r>
                      </m:sup>
                    </m:sSup>
                  </m:oMath>
                </a14:m>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mc:Choice>
        <mc:Fallback xmlns="">
          <p:sp>
            <p:nvSpPr>
              <p:cNvPr id="8194" name="标题 1">
                <a:extLst>
                  <a:ext uri="{FF2B5EF4-FFF2-40B4-BE49-F238E27FC236}">
                    <a16:creationId xmlns:a16="http://schemas.microsoft.com/office/drawing/2014/main" id="{EEBF282F-030B-264B-922C-B5D0902A1D17}"/>
                  </a:ext>
                </a:extLst>
              </p:cNvPr>
              <p:cNvSpPr>
                <a:spLocks noGrp="1" noRot="1" noChangeAspect="1" noMove="1" noResize="1" noEditPoints="1" noAdjustHandles="1" noChangeArrowheads="1" noChangeShapeType="1" noTextEdit="1"/>
              </p:cNvSpPr>
              <p:nvPr>
                <p:ph type="title"/>
              </p:nvPr>
            </p:nvSpPr>
            <p:spPr>
              <a:blipFill>
                <a:blip r:embed="rId3"/>
                <a:stretch>
                  <a:fillRect l="-1448"/>
                </a:stretch>
              </a:blipFill>
            </p:spPr>
            <p:txBody>
              <a:bodyPr/>
              <a:lstStyle/>
              <a:p>
                <a:r>
                  <a:rPr lang="en-US">
                    <a:noFill/>
                  </a:rPr>
                  <a:t> </a:t>
                </a:r>
              </a:p>
            </p:txBody>
          </p:sp>
        </mc:Fallback>
      </mc:AlternateContent>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15</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EE1FB51-4D06-064E-A29B-BD91978BF29B}"/>
                  </a:ext>
                </a:extLst>
              </p:cNvPr>
              <p:cNvSpPr txBox="1"/>
              <p:nvPr/>
            </p:nvSpPr>
            <p:spPr>
              <a:xfrm>
                <a:off x="936172" y="1730093"/>
                <a:ext cx="8312853" cy="3935501"/>
              </a:xfrm>
              <a:prstGeom prst="rect">
                <a:avLst/>
              </a:prstGeom>
              <a:noFill/>
            </p:spPr>
            <p:txBody>
              <a:bodyPr wrap="none" rtlCol="0">
                <a:spAutoFit/>
              </a:bodyPr>
              <a:lstStyle/>
              <a:p>
                <a:pPr marL="285750" indent="-285750">
                  <a:buFont typeface="Arial" panose="020B0604020202020204" pitchFamily="34" charset="0"/>
                  <a:buChar char="•"/>
                </a:pPr>
                <a:r>
                  <a:rPr lang="en-US" sz="2400" dirty="0"/>
                  <a:t>RSS and </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𝑅</m:t>
                        </m:r>
                      </m:e>
                      <m:sup>
                        <m:r>
                          <a:rPr lang="en-US" altLang="zh-CN" sz="2400" i="1">
                            <a:latin typeface="Cambria Math" panose="02040503050406030204" pitchFamily="18" charset="0"/>
                          </a:rPr>
                          <m:t>2</m:t>
                        </m:r>
                      </m:sup>
                    </m:sSup>
                    <m:r>
                      <a:rPr lang="en-US" altLang="zh-CN" sz="2400" i="1">
                        <a:latin typeface="Cambria Math" panose="02040503050406030204" pitchFamily="18" charset="0"/>
                      </a:rPr>
                      <m:t> </m:t>
                    </m:r>
                  </m:oMath>
                </a14:m>
                <a:r>
                  <a:rPr lang="en-US" sz="2400" dirty="0"/>
                  <a:t>favor the largest model</a:t>
                </a:r>
              </a:p>
              <a:p>
                <a:pPr marL="285750" indent="-285750">
                  <a:buFont typeface="Arial" panose="020B0604020202020204" pitchFamily="34" charset="0"/>
                  <a:buChar char="•"/>
                </a:pPr>
                <a:r>
                  <a:rPr lang="en-US" altLang="zh-CN" sz="2400" dirty="0"/>
                  <a:t>The</a:t>
                </a:r>
                <a:r>
                  <a:rPr lang="zh-CN" altLang="en-US" sz="2400" dirty="0"/>
                  <a:t> </a:t>
                </a:r>
                <a:r>
                  <a:rPr lang="en-US" altLang="zh-CN" sz="2400" dirty="0"/>
                  <a:t>adjusted </a:t>
                </a:r>
                <a14:m>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𝑅</m:t>
                        </m:r>
                      </m:e>
                      <m:sup>
                        <m:r>
                          <a:rPr lang="en-US" altLang="zh-CN" sz="2400" b="0" i="1" smtClean="0">
                            <a:latin typeface="Cambria Math" panose="02040503050406030204" pitchFamily="18" charset="0"/>
                          </a:rPr>
                          <m:t>2</m:t>
                        </m:r>
                      </m:sup>
                    </m:sSup>
                  </m:oMath>
                </a14:m>
                <a:r>
                  <a:rPr lang="en-US" sz="2400" dirty="0"/>
                  <a:t> takes into account the complexity of the model</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Based on </a:t>
                </a:r>
                <a14:m>
                  <m:oMath xmlns:m="http://schemas.openxmlformats.org/officeDocument/2006/math">
                    <m:sSup>
                      <m:sSupPr>
                        <m:ctrlPr>
                          <a:rPr lang="en-US" sz="2400" i="1" smtClean="0">
                            <a:latin typeface="Cambria Math" panose="02040503050406030204" pitchFamily="18" charset="0"/>
                          </a:rPr>
                        </m:ctrlPr>
                      </m:sSup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𝑅</m:t>
                            </m:r>
                          </m:e>
                        </m:acc>
                      </m:e>
                      <m:sup>
                        <m:r>
                          <a:rPr lang="en-US" sz="2400" b="0" i="1" smtClean="0">
                            <a:latin typeface="Cambria Math" panose="02040503050406030204" pitchFamily="18" charset="0"/>
                          </a:rPr>
                          <m:t>2</m:t>
                        </m:r>
                      </m:sup>
                    </m:sSup>
                  </m:oMath>
                </a14:m>
                <a:r>
                  <a:rPr lang="en-US" sz="2400" dirty="0"/>
                  <a:t>, the best model has the smallest </a:t>
                </a:r>
                <a14:m>
                  <m:oMath xmlns:m="http://schemas.openxmlformats.org/officeDocument/2006/math">
                    <m:sSup>
                      <m:sSupPr>
                        <m:ctrlPr>
                          <a:rPr lang="en-US" sz="2400" i="1" smtClean="0">
                            <a:latin typeface="Cambria Math" panose="02040503050406030204" pitchFamily="18" charset="0"/>
                          </a:rPr>
                        </m:ctrlPr>
                      </m:sSup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𝜎</m:t>
                            </m:r>
                          </m:e>
                        </m:acc>
                      </m:e>
                      <m:sup>
                        <m:r>
                          <a:rPr lang="en-US" sz="2400" b="0" i="1" smtClean="0">
                            <a:latin typeface="Cambria Math" panose="02040503050406030204" pitchFamily="18" charset="0"/>
                          </a:rPr>
                          <m:t>2</m:t>
                        </m:r>
                      </m:sup>
                    </m:sSup>
                  </m:oMath>
                </a14:m>
                <a:endParaRPr lang="en-US" sz="2400" dirty="0"/>
              </a:p>
            </p:txBody>
          </p:sp>
        </mc:Choice>
        <mc:Fallback xmlns="">
          <p:sp>
            <p:nvSpPr>
              <p:cNvPr id="3" name="TextBox 2">
                <a:extLst>
                  <a:ext uri="{FF2B5EF4-FFF2-40B4-BE49-F238E27FC236}">
                    <a16:creationId xmlns:a16="http://schemas.microsoft.com/office/drawing/2014/main" id="{DEE1FB51-4D06-064E-A29B-BD91978BF29B}"/>
                  </a:ext>
                </a:extLst>
              </p:cNvPr>
              <p:cNvSpPr txBox="1">
                <a:spLocks noRot="1" noChangeAspect="1" noMove="1" noResize="1" noEditPoints="1" noAdjustHandles="1" noChangeArrowheads="1" noChangeShapeType="1" noTextEdit="1"/>
              </p:cNvSpPr>
              <p:nvPr/>
            </p:nvSpPr>
            <p:spPr>
              <a:xfrm>
                <a:off x="936172" y="1730093"/>
                <a:ext cx="8312853" cy="3935501"/>
              </a:xfrm>
              <a:prstGeom prst="rect">
                <a:avLst/>
              </a:prstGeom>
              <a:blipFill>
                <a:blip r:embed="rId4"/>
                <a:stretch>
                  <a:fillRect l="-916" t="-965" r="-153"/>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B972322C-2ABD-1E4E-A9D6-F7B4C2ADF3FB}"/>
              </a:ext>
            </a:extLst>
          </p:cNvPr>
          <p:cNvPicPr>
            <a:picLocks noChangeAspect="1"/>
          </p:cNvPicPr>
          <p:nvPr/>
        </p:nvPicPr>
        <p:blipFill>
          <a:blip r:embed="rId5"/>
          <a:stretch>
            <a:fillRect/>
          </a:stretch>
        </p:blipFill>
        <p:spPr>
          <a:xfrm>
            <a:off x="3525158" y="2915558"/>
            <a:ext cx="3683000" cy="2006600"/>
          </a:xfrm>
          <a:prstGeom prst="rect">
            <a:avLst/>
          </a:prstGeom>
        </p:spPr>
      </p:pic>
    </p:spTree>
    <p:extLst>
      <p:ext uri="{BB962C8B-B14F-4D97-AF65-F5344CB8AC3E}">
        <p14:creationId xmlns:p14="http://schemas.microsoft.com/office/powerpoint/2010/main" val="820110591"/>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RSS, </a:t>
                </a:r>
                <a14:m>
                  <m:oMath xmlns:m="http://schemas.openxmlformats.org/officeDocument/2006/math">
                    <m:sSup>
                      <m:sSupPr>
                        <m:ctrlPr>
                          <a:rPr lang="en-US" altLang="zh-CN" sz="3200" b="1" i="1" smtClean="0">
                            <a:solidFill>
                              <a:srgbClr val="005825"/>
                            </a:solidFill>
                            <a:latin typeface="Cambria Math" panose="02040503050406030204" pitchFamily="18" charset="0"/>
                            <a:ea typeface="Microsoft YaHei" panose="020B0503020204020204" pitchFamily="34" charset="-122"/>
                            <a:cs typeface="Arial Unicode MS" panose="020B0604020202020204" pitchFamily="34" charset="-128"/>
                          </a:rPr>
                        </m:ctrlPr>
                      </m:sSupPr>
                      <m:e>
                        <m:r>
                          <a:rPr lang="en-US" altLang="zh-CN" sz="3200" b="1" i="1" smtClean="0">
                            <a:solidFill>
                              <a:srgbClr val="005825"/>
                            </a:solidFill>
                            <a:latin typeface="Cambria Math" panose="02040503050406030204" pitchFamily="18" charset="0"/>
                            <a:ea typeface="Microsoft YaHei" panose="020B0503020204020204" pitchFamily="34" charset="-122"/>
                            <a:cs typeface="Arial Unicode MS" panose="020B0604020202020204" pitchFamily="34" charset="-128"/>
                          </a:rPr>
                          <m:t>𝑹</m:t>
                        </m:r>
                      </m:e>
                      <m:sup>
                        <m:r>
                          <a:rPr lang="en-US" altLang="zh-CN" sz="3200" b="1" i="1" smtClean="0">
                            <a:solidFill>
                              <a:srgbClr val="005825"/>
                            </a:solidFill>
                            <a:latin typeface="Cambria Math" panose="02040503050406030204" pitchFamily="18" charset="0"/>
                            <a:ea typeface="Microsoft YaHei" panose="020B0503020204020204" pitchFamily="34" charset="-122"/>
                            <a:cs typeface="Arial Unicode MS" panose="020B0604020202020204" pitchFamily="34" charset="-128"/>
                          </a:rPr>
                          <m:t>𝟐</m:t>
                        </m:r>
                      </m:sup>
                    </m:sSup>
                  </m:oMath>
                </a14:m>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 and adjusted </a:t>
                </a:r>
                <a14:m>
                  <m:oMath xmlns:m="http://schemas.openxmlformats.org/officeDocument/2006/math">
                    <m:sSup>
                      <m:sSupPr>
                        <m:ctrlPr>
                          <a:rPr lang="en-US" altLang="zh-CN" sz="3200" b="1" i="1">
                            <a:solidFill>
                              <a:srgbClr val="005825"/>
                            </a:solidFill>
                            <a:latin typeface="Cambria Math" panose="02040503050406030204" pitchFamily="18" charset="0"/>
                            <a:ea typeface="Microsoft YaHei" panose="020B0503020204020204" pitchFamily="34" charset="-122"/>
                            <a:cs typeface="Arial Unicode MS" panose="020B0604020202020204" pitchFamily="34" charset="-128"/>
                          </a:rPr>
                        </m:ctrlPr>
                      </m:sSupPr>
                      <m:e>
                        <m:r>
                          <a:rPr lang="en-US" altLang="zh-CN" sz="3200" b="1" i="1">
                            <a:solidFill>
                              <a:srgbClr val="005825"/>
                            </a:solidFill>
                            <a:latin typeface="Cambria Math" panose="02040503050406030204" pitchFamily="18" charset="0"/>
                            <a:ea typeface="Microsoft YaHei" panose="020B0503020204020204" pitchFamily="34" charset="-122"/>
                            <a:cs typeface="Arial Unicode MS" panose="020B0604020202020204" pitchFamily="34" charset="-128"/>
                          </a:rPr>
                          <m:t>𝑹</m:t>
                        </m:r>
                      </m:e>
                      <m:sup>
                        <m:r>
                          <a:rPr lang="en-US" altLang="zh-CN" sz="3200" b="1" i="1">
                            <a:solidFill>
                              <a:srgbClr val="005825"/>
                            </a:solidFill>
                            <a:latin typeface="Cambria Math" panose="02040503050406030204" pitchFamily="18" charset="0"/>
                            <a:ea typeface="Microsoft YaHei" panose="020B0503020204020204" pitchFamily="34" charset="-122"/>
                            <a:cs typeface="Arial Unicode MS" panose="020B0604020202020204" pitchFamily="34" charset="-128"/>
                          </a:rPr>
                          <m:t>𝟐</m:t>
                        </m:r>
                      </m:sup>
                    </m:sSup>
                  </m:oMath>
                </a14:m>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mc:Choice>
        <mc:Fallback xmlns="">
          <p:sp>
            <p:nvSpPr>
              <p:cNvPr id="8194" name="标题 1">
                <a:extLst>
                  <a:ext uri="{FF2B5EF4-FFF2-40B4-BE49-F238E27FC236}">
                    <a16:creationId xmlns:a16="http://schemas.microsoft.com/office/drawing/2014/main" id="{EEBF282F-030B-264B-922C-B5D0902A1D17}"/>
                  </a:ext>
                </a:extLst>
              </p:cNvPr>
              <p:cNvSpPr>
                <a:spLocks noGrp="1" noRot="1" noChangeAspect="1" noMove="1" noResize="1" noEditPoints="1" noAdjustHandles="1" noChangeArrowheads="1" noChangeShapeType="1" noTextEdit="1"/>
              </p:cNvSpPr>
              <p:nvPr>
                <p:ph type="title"/>
              </p:nvPr>
            </p:nvSpPr>
            <p:spPr>
              <a:blipFill>
                <a:blip r:embed="rId3"/>
                <a:stretch>
                  <a:fillRect l="-1448"/>
                </a:stretch>
              </a:blipFill>
            </p:spPr>
            <p:txBody>
              <a:bodyPr/>
              <a:lstStyle/>
              <a:p>
                <a:r>
                  <a:rPr lang="en-US">
                    <a:noFill/>
                  </a:rPr>
                  <a:t> </a:t>
                </a:r>
              </a:p>
            </p:txBody>
          </p:sp>
        </mc:Fallback>
      </mc:AlternateContent>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16</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980787F-4841-594F-8912-FE5AF490902F}"/>
                  </a:ext>
                </a:extLst>
              </p:cNvPr>
              <p:cNvSpPr txBox="1"/>
              <p:nvPr/>
            </p:nvSpPr>
            <p:spPr>
              <a:xfrm>
                <a:off x="1001486" y="1690690"/>
                <a:ext cx="8695026" cy="4159985"/>
              </a:xfrm>
              <a:prstGeom prst="rect">
                <a:avLst/>
              </a:prstGeom>
              <a:noFill/>
            </p:spPr>
            <p:txBody>
              <a:bodyPr wrap="square" rtlCol="0">
                <a:spAutoFit/>
              </a:bodyPr>
              <a:lstStyle/>
              <a:p>
                <a:pPr marL="285750" indent="-285750">
                  <a:buFont typeface="Arial" panose="020B0604020202020204" pitchFamily="34" charset="0"/>
                  <a:buChar char="•"/>
                </a:pPr>
                <a:r>
                  <a:rPr lang="en-US" altLang="zh-CN" sz="2000" dirty="0"/>
                  <a:t>C</a:t>
                </a:r>
                <a:r>
                  <a:rPr lang="en-US" altLang="zh-CN" sz="2400" dirty="0"/>
                  <a:t>onsider two nested models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altLang="zh-CN" sz="2400" dirty="0"/>
                  <a:t>Test</a:t>
                </a:r>
                <a:r>
                  <a:rPr lang="zh-CN" altLang="en-US" sz="2400" dirty="0"/>
                  <a:t>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i="1" smtClean="0">
                            <a:latin typeface="Cambria Math" panose="02040503050406030204" pitchFamily="18" charset="0"/>
                            <a:ea typeface="Cambria Math" panose="02040503050406030204" pitchFamily="18" charset="0"/>
                          </a:rPr>
                          <m:t>𝛽</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=0</m:t>
                    </m:r>
                  </m:oMath>
                </a14:m>
                <a:r>
                  <a:rPr lang="en-US" sz="2400" dirty="0"/>
                  <a:t>: F statistics</a:t>
                </a:r>
              </a:p>
              <a:p>
                <a:pPr marL="285750" indent="-285750">
                  <a:buFont typeface="Arial" panose="020B0604020202020204" pitchFamily="34" charset="0"/>
                  <a:buChar char="•"/>
                </a:pPr>
                <a:r>
                  <a:rPr lang="en-US" sz="2400" dirty="0"/>
                  <a:t>Adjusted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𝑅</m:t>
                        </m:r>
                      </m:e>
                      <m:sup>
                        <m:r>
                          <a:rPr lang="en-US" sz="2400" b="0" i="1" smtClean="0">
                            <a:latin typeface="Cambria Math" panose="02040503050406030204" pitchFamily="18" charset="0"/>
                          </a:rPr>
                          <m:t>2</m:t>
                        </m:r>
                      </m:sup>
                    </m:sSup>
                  </m:oMath>
                </a14:m>
                <a:r>
                  <a:rPr lang="en-US" sz="2400" dirty="0"/>
                  <a:t> for the two models: </a:t>
                </a:r>
                <a14:m>
                  <m:oMath xmlns:m="http://schemas.openxmlformats.org/officeDocument/2006/math">
                    <m:sSubSup>
                      <m:sSubSupPr>
                        <m:ctrlPr>
                          <a:rPr lang="en-US" sz="2400" i="1" smtClean="0">
                            <a:latin typeface="Cambria Math" panose="02040503050406030204" pitchFamily="18" charset="0"/>
                          </a:rPr>
                        </m:ctrlPr>
                      </m:sSubSupPr>
                      <m:e>
                        <m:acc>
                          <m:accPr>
                            <m:chr m:val="̅"/>
                            <m:ctrlPr>
                              <a:rPr lang="en-US" altLang="zh-CN" sz="2400" b="0" i="1" smtClean="0">
                                <a:latin typeface="Cambria Math" panose="02040503050406030204" pitchFamily="18" charset="0"/>
                              </a:rPr>
                            </m:ctrlPr>
                          </m:accPr>
                          <m:e>
                            <m:r>
                              <a:rPr lang="en-US" altLang="zh-CN" sz="2400" b="0" i="1" smtClean="0">
                                <a:latin typeface="Cambria Math" panose="02040503050406030204" pitchFamily="18" charset="0"/>
                              </a:rPr>
                              <m:t>𝑅</m:t>
                            </m:r>
                          </m:e>
                        </m:acc>
                      </m:e>
                      <m:sub>
                        <m:r>
                          <a:rPr lang="en-US" sz="2400" b="0" i="1" smtClean="0">
                            <a:latin typeface="Cambria Math" panose="02040503050406030204" pitchFamily="18" charset="0"/>
                          </a:rPr>
                          <m:t>1</m:t>
                        </m:r>
                      </m:sub>
                      <m:sup>
                        <m:r>
                          <a:rPr lang="en-US" sz="2400" b="0" i="1" smtClean="0">
                            <a:latin typeface="Cambria Math" panose="02040503050406030204" pitchFamily="18" charset="0"/>
                          </a:rPr>
                          <m:t>2</m:t>
                        </m:r>
                      </m:sup>
                    </m:sSubSup>
                  </m:oMath>
                </a14:m>
                <a:r>
                  <a:rPr lang="en-US" sz="2400" dirty="0"/>
                  <a:t>  and </a:t>
                </a:r>
                <a14:m>
                  <m:oMath xmlns:m="http://schemas.openxmlformats.org/officeDocument/2006/math">
                    <m:sSubSup>
                      <m:sSubSupPr>
                        <m:ctrlPr>
                          <a:rPr lang="en-US" sz="2400" i="1">
                            <a:latin typeface="Cambria Math" panose="02040503050406030204" pitchFamily="18" charset="0"/>
                          </a:rPr>
                        </m:ctrlPr>
                      </m:sSubSup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𝑅</m:t>
                            </m:r>
                          </m:e>
                        </m:acc>
                      </m:e>
                      <m:sub>
                        <m:r>
                          <a:rPr lang="en-US" altLang="zh-CN" sz="2400" b="0" i="1" smtClean="0">
                            <a:latin typeface="Cambria Math" panose="02040503050406030204" pitchFamily="18" charset="0"/>
                          </a:rPr>
                          <m:t>2</m:t>
                        </m:r>
                      </m:sub>
                      <m:sup>
                        <m:r>
                          <a:rPr lang="en-US" sz="2400" i="1">
                            <a:latin typeface="Cambria Math" panose="02040503050406030204" pitchFamily="18" charset="0"/>
                          </a:rPr>
                          <m:t>2</m:t>
                        </m:r>
                      </m:sup>
                    </m:sSubSup>
                  </m:oMath>
                </a14:m>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14:m>
                  <m:oMath xmlns:m="http://schemas.openxmlformats.org/officeDocument/2006/math">
                    <m:sSup>
                      <m:sSupPr>
                        <m:ctrlPr>
                          <a:rPr lang="en-US" altLang="zh-CN" sz="2000" b="0" i="1" dirty="0" smtClean="0">
                            <a:latin typeface="Cambria Math" panose="02040503050406030204" pitchFamily="18" charset="0"/>
                          </a:rPr>
                        </m:ctrlPr>
                      </m:sSupPr>
                      <m:e>
                        <m:acc>
                          <m:accPr>
                            <m:chr m:val="̅"/>
                            <m:ctrlPr>
                              <a:rPr lang="en-US" altLang="zh-CN" sz="2400" b="0" i="1" smtClean="0">
                                <a:latin typeface="Cambria Math" panose="02040503050406030204" pitchFamily="18" charset="0"/>
                              </a:rPr>
                            </m:ctrlPr>
                          </m:accPr>
                          <m:e>
                            <m:r>
                              <a:rPr lang="en-US" altLang="zh-CN" sz="2400" b="0" i="1" smtClean="0">
                                <a:latin typeface="Cambria Math" panose="02040503050406030204" pitchFamily="18" charset="0"/>
                              </a:rPr>
                              <m:t>𝑅</m:t>
                            </m:r>
                          </m:e>
                        </m:acc>
                      </m:e>
                      <m:sup>
                        <m:r>
                          <a:rPr lang="en-US" altLang="zh-CN" sz="2000" b="0" i="1" dirty="0" smtClean="0">
                            <a:latin typeface="Cambria Math" panose="02040503050406030204" pitchFamily="18" charset="0"/>
                          </a:rPr>
                          <m:t>2</m:t>
                        </m:r>
                      </m:sup>
                    </m:sSup>
                  </m:oMath>
                </a14:m>
                <a:r>
                  <a:rPr lang="en-US" sz="2400" dirty="0"/>
                  <a:t> still favors large models </a:t>
                </a:r>
              </a:p>
            </p:txBody>
          </p:sp>
        </mc:Choice>
        <mc:Fallback xmlns="">
          <p:sp>
            <p:nvSpPr>
              <p:cNvPr id="2" name="TextBox 1">
                <a:extLst>
                  <a:ext uri="{FF2B5EF4-FFF2-40B4-BE49-F238E27FC236}">
                    <a16:creationId xmlns:a16="http://schemas.microsoft.com/office/drawing/2014/main" id="{B980787F-4841-594F-8912-FE5AF490902F}"/>
                  </a:ext>
                </a:extLst>
              </p:cNvPr>
              <p:cNvSpPr txBox="1">
                <a:spLocks noRot="1" noChangeAspect="1" noMove="1" noResize="1" noEditPoints="1" noAdjustHandles="1" noChangeArrowheads="1" noChangeShapeType="1" noTextEdit="1"/>
              </p:cNvSpPr>
              <p:nvPr/>
            </p:nvSpPr>
            <p:spPr>
              <a:xfrm>
                <a:off x="1001486" y="1690690"/>
                <a:ext cx="8695026" cy="4159985"/>
              </a:xfrm>
              <a:prstGeom prst="rect">
                <a:avLst/>
              </a:prstGeom>
              <a:blipFill>
                <a:blip r:embed="rId4"/>
                <a:stretch>
                  <a:fillRect l="-875" t="-912" b="-2736"/>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26C71400-0FD5-8B4B-AD09-689E03665AD0}"/>
              </a:ext>
            </a:extLst>
          </p:cNvPr>
          <p:cNvPicPr>
            <a:picLocks noChangeAspect="1"/>
          </p:cNvPicPr>
          <p:nvPr/>
        </p:nvPicPr>
        <p:blipFill>
          <a:blip r:embed="rId5"/>
          <a:stretch>
            <a:fillRect/>
          </a:stretch>
        </p:blipFill>
        <p:spPr>
          <a:xfrm>
            <a:off x="3889829" y="4625624"/>
            <a:ext cx="2476500" cy="495300"/>
          </a:xfrm>
          <a:prstGeom prst="rect">
            <a:avLst/>
          </a:prstGeom>
        </p:spPr>
      </p:pic>
      <p:pic>
        <p:nvPicPr>
          <p:cNvPr id="3" name="Picture 2">
            <a:extLst>
              <a:ext uri="{FF2B5EF4-FFF2-40B4-BE49-F238E27FC236}">
                <a16:creationId xmlns:a16="http://schemas.microsoft.com/office/drawing/2014/main" id="{D92408C2-D5B0-484F-B262-6D9838D7BD9D}"/>
              </a:ext>
            </a:extLst>
          </p:cNvPr>
          <p:cNvPicPr>
            <a:picLocks noChangeAspect="1"/>
          </p:cNvPicPr>
          <p:nvPr/>
        </p:nvPicPr>
        <p:blipFill>
          <a:blip r:embed="rId6"/>
          <a:stretch>
            <a:fillRect/>
          </a:stretch>
        </p:blipFill>
        <p:spPr>
          <a:xfrm>
            <a:off x="3748314" y="2232821"/>
            <a:ext cx="4343400" cy="1193800"/>
          </a:xfrm>
          <a:prstGeom prst="rect">
            <a:avLst/>
          </a:prstGeom>
        </p:spPr>
      </p:pic>
    </p:spTree>
    <p:extLst>
      <p:ext uri="{BB962C8B-B14F-4D97-AF65-F5344CB8AC3E}">
        <p14:creationId xmlns:p14="http://schemas.microsoft.com/office/powerpoint/2010/main" val="1926201805"/>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Information criteria</a:t>
            </a:r>
            <a:endParaRPr lang="zh-CN" altLang="en-US" sz="3200"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17</a:t>
            </a:fld>
            <a:endParaRPr lang="en-US" altLang="zh-CN" dirty="0">
              <a:solidFill>
                <a:schemeClr val="tx1"/>
              </a:solidFill>
              <a:ea typeface="Arial Unicode MS" panose="020B0604020202020204" pitchFamily="34" charset="-128"/>
              <a:cs typeface="Arial Unicode MS" panose="020B0604020202020204" pitchFamily="34" charset="-128"/>
            </a:endParaRPr>
          </a:p>
        </p:txBody>
      </p:sp>
      <p:cxnSp>
        <p:nvCxnSpPr>
          <p:cNvPr id="14" name="直接连接符 4">
            <a:extLst>
              <a:ext uri="{FF2B5EF4-FFF2-40B4-BE49-F238E27FC236}">
                <a16:creationId xmlns:a16="http://schemas.microsoft.com/office/drawing/2014/main" id="{63B26065-44AF-44A7-8B41-2A4E1EE5915E}"/>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17" name="内容占位符 2">
            <a:extLst>
              <a:ext uri="{FF2B5EF4-FFF2-40B4-BE49-F238E27FC236}">
                <a16:creationId xmlns:a16="http://schemas.microsoft.com/office/drawing/2014/main" id="{D4382DFF-92CE-2D42-8477-6FBD08D6928E}"/>
              </a:ext>
            </a:extLst>
          </p:cNvPr>
          <p:cNvSpPr txBox="1">
            <a:spLocks noChangeArrowheads="1"/>
          </p:cNvSpPr>
          <p:nvPr/>
        </p:nvSpPr>
        <p:spPr>
          <a:xfrm>
            <a:off x="914400" y="1554480"/>
            <a:ext cx="9677400" cy="4933493"/>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ea typeface="Arial Unicode MS" panose="020B0604020202020204" pitchFamily="34" charset="-128"/>
              <a:cs typeface="Arial Unicode MS" panose="020B0604020202020204" pitchFamily="34" charset="-128"/>
            </a:endParaRPr>
          </a:p>
        </p:txBody>
      </p:sp>
      <mc:AlternateContent xmlns:mc="http://schemas.openxmlformats.org/markup-compatibility/2006" xmlns:a14="http://schemas.microsoft.com/office/drawing/2010/main">
        <mc:Choice Requires="a14">
          <p:sp>
            <p:nvSpPr>
              <p:cNvPr id="13" name="内容占位符 2">
                <a:extLst>
                  <a:ext uri="{FF2B5EF4-FFF2-40B4-BE49-F238E27FC236}">
                    <a16:creationId xmlns:a16="http://schemas.microsoft.com/office/drawing/2014/main" id="{9FBF0AD3-CD04-3543-BC5E-B472D03EA7F4}"/>
                  </a:ext>
                </a:extLst>
              </p:cNvPr>
              <p:cNvSpPr txBox="1">
                <a:spLocks noChangeArrowheads="1"/>
              </p:cNvSpPr>
              <p:nvPr/>
            </p:nvSpPr>
            <p:spPr>
              <a:xfrm>
                <a:off x="914400" y="1554480"/>
                <a:ext cx="9437914" cy="4656139"/>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a:lnSpc>
                    <a:spcPct val="150000"/>
                  </a:lnSpc>
                  <a:spcBef>
                    <a:spcPts val="0"/>
                  </a:spcBef>
                  <a:buClr>
                    <a:srgbClr val="005825"/>
                  </a:buClr>
                  <a:buSzPct val="125000"/>
                </a:pPr>
                <a:r>
                  <a:rPr lang="en-US" dirty="0"/>
                  <a:t>Akaike’s information criterion</a:t>
                </a:r>
              </a:p>
              <a:p>
                <a:pPr marL="0" lvl="1">
                  <a:lnSpc>
                    <a:spcPct val="150000"/>
                  </a:lnSpc>
                  <a:spcBef>
                    <a:spcPts val="0"/>
                  </a:spcBef>
                  <a:buClr>
                    <a:srgbClr val="005825"/>
                  </a:buClr>
                  <a:buSzPct val="125000"/>
                </a:pPr>
                <a:r>
                  <a:rPr lang="en-US" dirty="0"/>
                  <a:t>Bayesian information criterion</a:t>
                </a:r>
              </a:p>
              <a:p>
                <a:pPr>
                  <a:buFont typeface="Wingdings" pitchFamily="2" charset="2"/>
                  <a:buNone/>
                </a:pPr>
                <a:endParaRPr lang="en-US" altLang="zh-CN" dirty="0">
                  <a:ea typeface="Arial Unicode MS" panose="020B0604020202020204" pitchFamily="34" charset="-128"/>
                  <a:cs typeface="Arial Unicode MS" panose="020B0604020202020204" pitchFamily="34" charset="-128"/>
                </a:endParaRPr>
              </a:p>
              <a:p>
                <a:r>
                  <a:rPr lang="en-US" sz="2400" dirty="0"/>
                  <a:t>Monotone functions of the RSS penalized by the number of parameters </a:t>
                </a:r>
                <a14:m>
                  <m:oMath xmlns:m="http://schemas.openxmlformats.org/officeDocument/2006/math">
                    <m:r>
                      <a:rPr lang="en-US" sz="2400" i="1" dirty="0">
                        <a:latin typeface="Cambria Math" panose="02040503050406030204" pitchFamily="18" charset="0"/>
                      </a:rPr>
                      <m:t>𝑝</m:t>
                    </m:r>
                    <m:r>
                      <a:rPr lang="en-US" sz="2400" i="1" dirty="0">
                        <a:latin typeface="Cambria Math" panose="02040503050406030204" pitchFamily="18" charset="0"/>
                      </a:rPr>
                      <m:t> </m:t>
                    </m:r>
                  </m:oMath>
                </a14:m>
                <a:endParaRPr lang="en-US" altLang="zh-CN" sz="2400" dirty="0">
                  <a:ea typeface="Arial Unicode MS" panose="020B0604020202020204" pitchFamily="34" charset="-128"/>
                  <a:cs typeface="Arial Unicode MS" panose="020B0604020202020204" pitchFamily="34" charset="-128"/>
                </a:endParaRPr>
              </a:p>
              <a:p>
                <a:pPr marL="285750" indent="-285750"/>
                <a:r>
                  <a:rPr lang="en-US" sz="2400" dirty="0"/>
                  <a:t>Shao (1997)’s results suggested that BIC can consistently select the true model if the linear model is correctly specified. But AIC can select the model that minimizes the prediction error if the linear model is misspecified</a:t>
                </a:r>
              </a:p>
              <a:p>
                <a:endParaRPr lang="zh-CN" altLang="en-US" dirty="0">
                  <a:ea typeface="Arial Unicode MS" panose="020B0604020202020204" pitchFamily="34" charset="-128"/>
                  <a:cs typeface="Arial Unicode MS" panose="020B0604020202020204" pitchFamily="34" charset="-128"/>
                </a:endParaRPr>
              </a:p>
            </p:txBody>
          </p:sp>
        </mc:Choice>
        <mc:Fallback xmlns="">
          <p:sp>
            <p:nvSpPr>
              <p:cNvPr id="13" name="内容占位符 2">
                <a:extLst>
                  <a:ext uri="{FF2B5EF4-FFF2-40B4-BE49-F238E27FC236}">
                    <a16:creationId xmlns:a16="http://schemas.microsoft.com/office/drawing/2014/main" id="{9FBF0AD3-CD04-3543-BC5E-B472D03EA7F4}"/>
                  </a:ext>
                </a:extLst>
              </p:cNvPr>
              <p:cNvSpPr txBox="1">
                <a:spLocks noRot="1" noChangeAspect="1" noMove="1" noResize="1" noEditPoints="1" noAdjustHandles="1" noChangeArrowheads="1" noChangeShapeType="1" noTextEdit="1"/>
              </p:cNvSpPr>
              <p:nvPr/>
            </p:nvSpPr>
            <p:spPr>
              <a:xfrm>
                <a:off x="914400" y="1554480"/>
                <a:ext cx="9437914" cy="4656139"/>
              </a:xfrm>
              <a:prstGeom prst="rect">
                <a:avLst/>
              </a:prstGeom>
              <a:blipFill>
                <a:blip r:embed="rId3"/>
                <a:stretch>
                  <a:fillRect l="-1478" r="-269"/>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2DB3A1A7-A4BD-CD90-98C4-0B498A82F7DC}"/>
              </a:ext>
            </a:extLst>
          </p:cNvPr>
          <p:cNvPicPr>
            <a:picLocks noChangeAspect="1"/>
          </p:cNvPicPr>
          <p:nvPr/>
        </p:nvPicPr>
        <p:blipFill>
          <a:blip r:embed="rId4"/>
          <a:stretch>
            <a:fillRect/>
          </a:stretch>
        </p:blipFill>
        <p:spPr>
          <a:xfrm>
            <a:off x="5499099" y="1648052"/>
            <a:ext cx="2413000" cy="558800"/>
          </a:xfrm>
          <a:prstGeom prst="rect">
            <a:avLst/>
          </a:prstGeom>
        </p:spPr>
      </p:pic>
      <p:pic>
        <p:nvPicPr>
          <p:cNvPr id="3" name="Picture 2">
            <a:extLst>
              <a:ext uri="{FF2B5EF4-FFF2-40B4-BE49-F238E27FC236}">
                <a16:creationId xmlns:a16="http://schemas.microsoft.com/office/drawing/2014/main" id="{D425EEA8-6993-5B3C-5E77-9D1A1011AD49}"/>
              </a:ext>
            </a:extLst>
          </p:cNvPr>
          <p:cNvPicPr>
            <a:picLocks noChangeAspect="1"/>
          </p:cNvPicPr>
          <p:nvPr/>
        </p:nvPicPr>
        <p:blipFill>
          <a:blip r:embed="rId5"/>
          <a:stretch>
            <a:fillRect/>
          </a:stretch>
        </p:blipFill>
        <p:spPr>
          <a:xfrm>
            <a:off x="5542643" y="2214063"/>
            <a:ext cx="2654300" cy="520700"/>
          </a:xfrm>
          <a:prstGeom prst="rect">
            <a:avLst/>
          </a:prstGeom>
        </p:spPr>
      </p:pic>
    </p:spTree>
    <p:extLst>
      <p:ext uri="{BB962C8B-B14F-4D97-AF65-F5344CB8AC3E}">
        <p14:creationId xmlns:p14="http://schemas.microsoft.com/office/powerpoint/2010/main" val="17229353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Cross validation</a:t>
            </a:r>
            <a:endParaRPr lang="zh-CN" altLang="en-US" sz="3200"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18</a:t>
            </a:fld>
            <a:endParaRPr lang="en-US" altLang="zh-CN" dirty="0">
              <a:solidFill>
                <a:schemeClr val="tx1"/>
              </a:solidFill>
              <a:ea typeface="Arial Unicode MS" panose="020B0604020202020204" pitchFamily="34" charset="-128"/>
              <a:cs typeface="Arial Unicode MS" panose="020B0604020202020204" pitchFamily="34" charset="-128"/>
            </a:endParaRPr>
          </a:p>
        </p:txBody>
      </p:sp>
      <p:cxnSp>
        <p:nvCxnSpPr>
          <p:cNvPr id="14" name="直接连接符 4">
            <a:extLst>
              <a:ext uri="{FF2B5EF4-FFF2-40B4-BE49-F238E27FC236}">
                <a16:creationId xmlns:a16="http://schemas.microsoft.com/office/drawing/2014/main" id="{63B26065-44AF-44A7-8B41-2A4E1EE5915E}"/>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17" name="内容占位符 2">
            <a:extLst>
              <a:ext uri="{FF2B5EF4-FFF2-40B4-BE49-F238E27FC236}">
                <a16:creationId xmlns:a16="http://schemas.microsoft.com/office/drawing/2014/main" id="{D4382DFF-92CE-2D42-8477-6FBD08D6928E}"/>
              </a:ext>
            </a:extLst>
          </p:cNvPr>
          <p:cNvSpPr txBox="1">
            <a:spLocks noChangeArrowheads="1"/>
          </p:cNvSpPr>
          <p:nvPr/>
        </p:nvSpPr>
        <p:spPr>
          <a:xfrm>
            <a:off x="914400" y="1554480"/>
            <a:ext cx="9677400" cy="4933493"/>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ea typeface="Arial Unicode MS" panose="020B0604020202020204" pitchFamily="34" charset="-128"/>
              <a:cs typeface="Arial Unicode MS" panose="020B0604020202020204" pitchFamily="34" charset="-128"/>
            </a:endParaRPr>
          </a:p>
        </p:txBody>
      </p:sp>
      <p:sp>
        <p:nvSpPr>
          <p:cNvPr id="13" name="内容占位符 2">
            <a:extLst>
              <a:ext uri="{FF2B5EF4-FFF2-40B4-BE49-F238E27FC236}">
                <a16:creationId xmlns:a16="http://schemas.microsoft.com/office/drawing/2014/main" id="{9FBF0AD3-CD04-3543-BC5E-B472D03EA7F4}"/>
              </a:ext>
            </a:extLst>
          </p:cNvPr>
          <p:cNvSpPr txBox="1">
            <a:spLocks noChangeArrowheads="1"/>
          </p:cNvSpPr>
          <p:nvPr/>
        </p:nvSpPr>
        <p:spPr>
          <a:xfrm>
            <a:off x="914400" y="1554480"/>
            <a:ext cx="8782111" cy="4656139"/>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2400" dirty="0"/>
              <a:t>Leave-one-out cross validation based on the predicted residuals</a:t>
            </a:r>
          </a:p>
          <a:p>
            <a:pPr marL="285750" indent="-285750"/>
            <a:r>
              <a:rPr lang="en-US" sz="2400" dirty="0"/>
              <a:t>Predicted residual error sum of squares</a:t>
            </a:r>
          </a:p>
          <a:p>
            <a:pPr marL="285750" indent="-285750">
              <a:buFont typeface="Arial" panose="020B0604020202020204" pitchFamily="34" charset="0"/>
              <a:buChar char="•"/>
            </a:pPr>
            <a:endParaRPr lang="en-US" sz="2400" dirty="0"/>
          </a:p>
          <a:p>
            <a:pPr>
              <a:buFont typeface="Wingdings" pitchFamily="2" charset="2"/>
              <a:buNone/>
            </a:pPr>
            <a:endParaRPr lang="en-US" altLang="zh-CN" dirty="0">
              <a:ea typeface="Arial Unicode MS" panose="020B0604020202020204" pitchFamily="34" charset="-128"/>
              <a:cs typeface="Arial Unicode MS" panose="020B0604020202020204" pitchFamily="34" charset="-128"/>
            </a:endParaRPr>
          </a:p>
          <a:p>
            <a:pPr marL="285750" indent="-285750"/>
            <a:r>
              <a:rPr lang="en-US" sz="2400" dirty="0"/>
              <a:t>Approximate PRESS by generalized cross validation (GCV)</a:t>
            </a:r>
          </a:p>
          <a:p>
            <a:pPr marL="285750" indent="-285750"/>
            <a:endParaRPr lang="en-US" sz="2400" dirty="0"/>
          </a:p>
          <a:p>
            <a:endParaRPr lang="zh-CN" altLang="en-US" dirty="0">
              <a:ea typeface="Arial Unicode MS" panose="020B0604020202020204" pitchFamily="34" charset="-128"/>
              <a:cs typeface="Arial Unicode MS" panose="020B0604020202020204" pitchFamily="34" charset="-128"/>
            </a:endParaRPr>
          </a:p>
        </p:txBody>
      </p:sp>
      <p:pic>
        <p:nvPicPr>
          <p:cNvPr id="4" name="Picture 3">
            <a:extLst>
              <a:ext uri="{FF2B5EF4-FFF2-40B4-BE49-F238E27FC236}">
                <a16:creationId xmlns:a16="http://schemas.microsoft.com/office/drawing/2014/main" id="{45B1F309-B7BB-CE94-14EA-4689E5160E1F}"/>
              </a:ext>
            </a:extLst>
          </p:cNvPr>
          <p:cNvPicPr>
            <a:picLocks noChangeAspect="1"/>
          </p:cNvPicPr>
          <p:nvPr/>
        </p:nvPicPr>
        <p:blipFill>
          <a:blip r:embed="rId3"/>
          <a:stretch>
            <a:fillRect/>
          </a:stretch>
        </p:blipFill>
        <p:spPr>
          <a:xfrm>
            <a:off x="3329698" y="2454593"/>
            <a:ext cx="3581400" cy="850900"/>
          </a:xfrm>
          <a:prstGeom prst="rect">
            <a:avLst/>
          </a:prstGeom>
        </p:spPr>
      </p:pic>
      <p:pic>
        <p:nvPicPr>
          <p:cNvPr id="5" name="Picture 4">
            <a:extLst>
              <a:ext uri="{FF2B5EF4-FFF2-40B4-BE49-F238E27FC236}">
                <a16:creationId xmlns:a16="http://schemas.microsoft.com/office/drawing/2014/main" id="{0686DE50-9B48-478E-048E-39BEF79FE782}"/>
              </a:ext>
            </a:extLst>
          </p:cNvPr>
          <p:cNvPicPr>
            <a:picLocks noChangeAspect="1"/>
          </p:cNvPicPr>
          <p:nvPr/>
        </p:nvPicPr>
        <p:blipFill>
          <a:blip r:embed="rId4"/>
          <a:stretch>
            <a:fillRect/>
          </a:stretch>
        </p:blipFill>
        <p:spPr>
          <a:xfrm>
            <a:off x="3329698" y="3882549"/>
            <a:ext cx="4330700" cy="787400"/>
          </a:xfrm>
          <a:prstGeom prst="rect">
            <a:avLst/>
          </a:prstGeom>
        </p:spPr>
      </p:pic>
      <p:pic>
        <p:nvPicPr>
          <p:cNvPr id="6" name="Picture 5">
            <a:extLst>
              <a:ext uri="{FF2B5EF4-FFF2-40B4-BE49-F238E27FC236}">
                <a16:creationId xmlns:a16="http://schemas.microsoft.com/office/drawing/2014/main" id="{2B12ED83-37E9-8662-6B9A-60ACCD7F28DD}"/>
              </a:ext>
            </a:extLst>
          </p:cNvPr>
          <p:cNvPicPr>
            <a:picLocks noChangeAspect="1"/>
          </p:cNvPicPr>
          <p:nvPr/>
        </p:nvPicPr>
        <p:blipFill>
          <a:blip r:embed="rId5"/>
          <a:stretch>
            <a:fillRect/>
          </a:stretch>
        </p:blipFill>
        <p:spPr>
          <a:xfrm>
            <a:off x="1333500" y="5037364"/>
            <a:ext cx="7277100" cy="1092200"/>
          </a:xfrm>
          <a:prstGeom prst="rect">
            <a:avLst/>
          </a:prstGeom>
        </p:spPr>
      </p:pic>
    </p:spTree>
    <p:extLst>
      <p:ext uri="{BB962C8B-B14F-4D97-AF65-F5344CB8AC3E}">
        <p14:creationId xmlns:p14="http://schemas.microsoft.com/office/powerpoint/2010/main" val="2212536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Cross validation</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19</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980787F-4841-594F-8912-FE5AF490902F}"/>
                  </a:ext>
                </a:extLst>
              </p:cNvPr>
              <p:cNvSpPr txBox="1"/>
              <p:nvPr/>
            </p:nvSpPr>
            <p:spPr>
              <a:xfrm>
                <a:off x="1001486" y="1690690"/>
                <a:ext cx="8695026" cy="6001643"/>
              </a:xfrm>
              <a:prstGeom prst="rect">
                <a:avLst/>
              </a:prstGeom>
              <a:noFill/>
            </p:spPr>
            <p:txBody>
              <a:bodyPr wrap="square" rtlCol="0">
                <a:spAutoFit/>
              </a:bodyPr>
              <a:lstStyle/>
              <a:p>
                <a:pPr marL="285750" indent="-285750">
                  <a:buFont typeface="Arial" panose="020B0604020202020204" pitchFamily="34" charset="0"/>
                  <a:buChar char="•"/>
                </a:pPr>
                <a:r>
                  <a:rPr lang="en-US" altLang="zh-CN" sz="2400" dirty="0"/>
                  <a:t>For</a:t>
                </a:r>
                <a:r>
                  <a:rPr lang="zh-CN" altLang="en-US" sz="2400" dirty="0"/>
                  <a:t> </a:t>
                </a:r>
                <a:r>
                  <a:rPr lang="en-US" altLang="zh-CN" sz="2400" dirty="0"/>
                  <a:t>general</a:t>
                </a:r>
                <a:r>
                  <a:rPr lang="zh-CN" altLang="en-US" sz="2400" dirty="0"/>
                  <a:t> </a:t>
                </a:r>
                <a:r>
                  <a:rPr lang="en-US" altLang="zh-CN" sz="2400" dirty="0"/>
                  <a:t>models without simple leave-one-out formulas, it is computationally intensive to obtain PRESS </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altLang="zh-CN" sz="2400" dirty="0"/>
                  <a:t>K-fold</a:t>
                </a:r>
                <a:r>
                  <a:rPr lang="zh-CN" altLang="en-US" sz="2400" dirty="0"/>
                  <a:t> </a:t>
                </a:r>
                <a:r>
                  <a:rPr lang="en-US" altLang="zh-CN" sz="2400" dirty="0"/>
                  <a:t>cross validation</a:t>
                </a:r>
              </a:p>
              <a:p>
                <a:pPr marL="285750" indent="-285750">
                  <a:buFont typeface="Arial" panose="020B0604020202020204" pitchFamily="34" charset="0"/>
                  <a:buChar char="•"/>
                </a:pPr>
                <a:endParaRPr lang="en-US" altLang="zh-CN" sz="2400" dirty="0"/>
              </a:p>
              <a:p>
                <a:pPr marL="285750" indent="-285750">
                  <a:buFont typeface="Arial" panose="020B0604020202020204" pitchFamily="34" charset="0"/>
                  <a:buChar char="•"/>
                </a:pPr>
                <a:endParaRPr lang="en-US" altLang="zh-CN" sz="2400" dirty="0"/>
              </a:p>
              <a:p>
                <a:pPr marL="285750" indent="-285750">
                  <a:buFont typeface="Arial" panose="020B0604020202020204" pitchFamily="34" charset="0"/>
                  <a:buChar char="•"/>
                </a:pPr>
                <a:endParaRPr lang="en-US" altLang="zh-CN" sz="2400" dirty="0"/>
              </a:p>
              <a:p>
                <a:pPr marL="285750" indent="-285750">
                  <a:buFont typeface="Arial" panose="020B0604020202020204" pitchFamily="34" charset="0"/>
                  <a:buChar char="•"/>
                </a:pPr>
                <a:endParaRPr lang="en-US" altLang="zh-CN" sz="2400" dirty="0"/>
              </a:p>
              <a:p>
                <a:pPr marL="285750" indent="-285750">
                  <a:buFont typeface="Arial" panose="020B0604020202020204" pitchFamily="34" charset="0"/>
                  <a:buChar char="•"/>
                </a:pPr>
                <a:endParaRPr lang="en-US" altLang="zh-CN" sz="2400" dirty="0"/>
              </a:p>
              <a:p>
                <a:pPr marL="285750" indent="-285750">
                  <a:buFont typeface="Arial" panose="020B0604020202020204" pitchFamily="34" charset="0"/>
                  <a:buChar char="•"/>
                </a:pPr>
                <a:endParaRPr lang="en-US" altLang="zh-CN"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Usually, people choose </a:t>
                </a:r>
                <a14:m>
                  <m:oMath xmlns:m="http://schemas.openxmlformats.org/officeDocument/2006/math">
                    <m:r>
                      <a:rPr lang="en-US" sz="2400" i="1" dirty="0" smtClean="0">
                        <a:latin typeface="Cambria Math" panose="02040503050406030204" pitchFamily="18" charset="0"/>
                      </a:rPr>
                      <m:t>𝐾</m:t>
                    </m:r>
                    <m:r>
                      <a:rPr lang="en-US" sz="2400" i="1" dirty="0" smtClean="0">
                        <a:latin typeface="Cambria Math" panose="02040503050406030204" pitchFamily="18" charset="0"/>
                      </a:rPr>
                      <m:t>=5 </m:t>
                    </m:r>
                  </m:oMath>
                </a14:m>
                <a:r>
                  <a:rPr lang="en-US" sz="2400" dirty="0"/>
                  <a:t>or </a:t>
                </a:r>
                <a14:m>
                  <m:oMath xmlns:m="http://schemas.openxmlformats.org/officeDocument/2006/math">
                    <m:r>
                      <a:rPr lang="en-US" sz="2400" i="1" dirty="0" smtClean="0">
                        <a:latin typeface="Cambria Math" panose="02040503050406030204" pitchFamily="18" charset="0"/>
                      </a:rPr>
                      <m:t>10</m:t>
                    </m:r>
                  </m:oMath>
                </a14:m>
                <a:endParaRPr lang="en-US" sz="2400" dirty="0"/>
              </a:p>
              <a:p>
                <a:pPr marL="285750" indent="-285750">
                  <a:buFont typeface="Arial" panose="020B0604020202020204" pitchFamily="34" charset="0"/>
                  <a:buChar char="•"/>
                </a:pPr>
                <a:endParaRPr lang="en-US" altLang="zh-CN"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p:txBody>
          </p:sp>
        </mc:Choice>
        <mc:Fallback xmlns="">
          <p:sp>
            <p:nvSpPr>
              <p:cNvPr id="2" name="TextBox 1">
                <a:extLst>
                  <a:ext uri="{FF2B5EF4-FFF2-40B4-BE49-F238E27FC236}">
                    <a16:creationId xmlns:a16="http://schemas.microsoft.com/office/drawing/2014/main" id="{B980787F-4841-594F-8912-FE5AF490902F}"/>
                  </a:ext>
                </a:extLst>
              </p:cNvPr>
              <p:cNvSpPr txBox="1">
                <a:spLocks noRot="1" noChangeAspect="1" noMove="1" noResize="1" noEditPoints="1" noAdjustHandles="1" noChangeArrowheads="1" noChangeShapeType="1" noTextEdit="1"/>
              </p:cNvSpPr>
              <p:nvPr/>
            </p:nvSpPr>
            <p:spPr>
              <a:xfrm>
                <a:off x="1001486" y="1690690"/>
                <a:ext cx="8695026" cy="6001643"/>
              </a:xfrm>
              <a:prstGeom prst="rect">
                <a:avLst/>
              </a:prstGeom>
              <a:blipFill>
                <a:blip r:embed="rId3"/>
                <a:stretch>
                  <a:fillRect l="-875" t="-633"/>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EEF2883E-F024-31CA-213F-D6DBCBE5FB13}"/>
              </a:ext>
            </a:extLst>
          </p:cNvPr>
          <p:cNvPicPr>
            <a:picLocks noChangeAspect="1"/>
          </p:cNvPicPr>
          <p:nvPr/>
        </p:nvPicPr>
        <p:blipFill>
          <a:blip r:embed="rId4"/>
          <a:stretch>
            <a:fillRect/>
          </a:stretch>
        </p:blipFill>
        <p:spPr>
          <a:xfrm>
            <a:off x="1218874" y="3302696"/>
            <a:ext cx="7848600" cy="2082800"/>
          </a:xfrm>
          <a:prstGeom prst="rect">
            <a:avLst/>
          </a:prstGeom>
        </p:spPr>
      </p:pic>
    </p:spTree>
    <p:extLst>
      <p:ext uri="{BB962C8B-B14F-4D97-AF65-F5344CB8AC3E}">
        <p14:creationId xmlns:p14="http://schemas.microsoft.com/office/powerpoint/2010/main" val="107315784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Best subset</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20</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AD6DA3C-405F-8448-95BC-2CE0B637C6DE}"/>
              </a:ext>
            </a:extLst>
          </p:cNvPr>
          <p:cNvSpPr txBox="1"/>
          <p:nvPr/>
        </p:nvSpPr>
        <p:spPr>
          <a:xfrm>
            <a:off x="1001486" y="3864429"/>
            <a:ext cx="184731" cy="369332"/>
          </a:xfrm>
          <a:prstGeom prst="rect">
            <a:avLst/>
          </a:prstGeom>
          <a:noFill/>
        </p:spPr>
        <p:txBody>
          <a:bodyPr wrap="none" rtlCol="0">
            <a:spAutoFit/>
          </a:bodyPr>
          <a:lstStyle/>
          <a:p>
            <a:endParaRPr lang="en-US"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F334CA9-43E4-1C4D-8AE0-C56FF4FD3C5D}"/>
                  </a:ext>
                </a:extLst>
              </p:cNvPr>
              <p:cNvSpPr txBox="1"/>
              <p:nvPr/>
            </p:nvSpPr>
            <p:spPr>
              <a:xfrm>
                <a:off x="925286" y="1509776"/>
                <a:ext cx="6495817" cy="707886"/>
              </a:xfrm>
              <a:prstGeom prst="rect">
                <a:avLst/>
              </a:prstGeom>
              <a:noFill/>
            </p:spPr>
            <p:txBody>
              <a:bodyPr wrap="none" rtlCol="0">
                <a:spAutoFit/>
              </a:bodyPr>
              <a:lstStyle/>
              <a:p>
                <a:pPr marL="285750" indent="-285750">
                  <a:buFont typeface="Arial" panose="020B0604020202020204" pitchFamily="34" charset="0"/>
                  <a:buChar char="•"/>
                </a:pPr>
                <a:r>
                  <a:rPr lang="en-US" altLang="zh-CN" sz="2000" dirty="0"/>
                  <a:t>For small </a:t>
                </a:r>
                <a14:m>
                  <m:oMath xmlns:m="http://schemas.openxmlformats.org/officeDocument/2006/math">
                    <m:r>
                      <a:rPr lang="en-US" altLang="zh-CN" sz="2000" i="1" dirty="0" smtClean="0">
                        <a:latin typeface="Cambria Math" panose="02040503050406030204" pitchFamily="18" charset="0"/>
                      </a:rPr>
                      <m:t>𝑝</m:t>
                    </m:r>
                  </m:oMath>
                </a14:m>
                <a:r>
                  <a:rPr lang="en-US" sz="2000" dirty="0"/>
                  <a:t>, we can enumerate all the possible models</a:t>
                </a:r>
              </a:p>
              <a:p>
                <a:pPr marL="285750" indent="-285750">
                  <a:buFont typeface="Arial" panose="020B0604020202020204" pitchFamily="34" charset="0"/>
                  <a:buChar char="•"/>
                </a:pPr>
                <a:r>
                  <a:rPr lang="en-US" sz="2000" dirty="0"/>
                  <a:t>The function </a:t>
                </a:r>
                <a:r>
                  <a:rPr lang="en-US" sz="2000" i="1" dirty="0" err="1"/>
                  <a:t>regsubsets</a:t>
                </a:r>
                <a:r>
                  <a:rPr lang="en-US" sz="2000" i="1" dirty="0"/>
                  <a:t> in </a:t>
                </a:r>
                <a:r>
                  <a:rPr lang="en-US" sz="2000" dirty="0"/>
                  <a:t>R package</a:t>
                </a:r>
                <a:r>
                  <a:rPr lang="en-US" sz="2000" i="1" dirty="0"/>
                  <a:t> leaps </a:t>
                </a:r>
                <a:r>
                  <a:rPr lang="en-US" sz="2000" dirty="0"/>
                  <a:t>implement this</a:t>
                </a:r>
              </a:p>
            </p:txBody>
          </p:sp>
        </mc:Choice>
        <mc:Fallback xmlns="">
          <p:sp>
            <p:nvSpPr>
              <p:cNvPr id="2" name="TextBox 1">
                <a:extLst>
                  <a:ext uri="{FF2B5EF4-FFF2-40B4-BE49-F238E27FC236}">
                    <a16:creationId xmlns:a16="http://schemas.microsoft.com/office/drawing/2014/main" id="{1F334CA9-43E4-1C4D-8AE0-C56FF4FD3C5D}"/>
                  </a:ext>
                </a:extLst>
              </p:cNvPr>
              <p:cNvSpPr txBox="1">
                <a:spLocks noRot="1" noChangeAspect="1" noMove="1" noResize="1" noEditPoints="1" noAdjustHandles="1" noChangeArrowheads="1" noChangeShapeType="1" noTextEdit="1"/>
              </p:cNvSpPr>
              <p:nvPr/>
            </p:nvSpPr>
            <p:spPr>
              <a:xfrm>
                <a:off x="925286" y="1509776"/>
                <a:ext cx="6495817" cy="707886"/>
              </a:xfrm>
              <a:prstGeom prst="rect">
                <a:avLst/>
              </a:prstGeom>
              <a:blipFill>
                <a:blip r:embed="rId3"/>
                <a:stretch>
                  <a:fillRect l="-781" t="-3509" r="-391" b="-12281"/>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2D9CC323-A318-FD48-AF24-0B0D27686B73}"/>
              </a:ext>
            </a:extLst>
          </p:cNvPr>
          <p:cNvPicPr>
            <a:picLocks noChangeAspect="1"/>
          </p:cNvPicPr>
          <p:nvPr/>
        </p:nvPicPr>
        <p:blipFill>
          <a:blip r:embed="rId4"/>
          <a:stretch>
            <a:fillRect/>
          </a:stretch>
        </p:blipFill>
        <p:spPr>
          <a:xfrm>
            <a:off x="2311138" y="2200093"/>
            <a:ext cx="5109965" cy="4607210"/>
          </a:xfrm>
          <a:prstGeom prst="rect">
            <a:avLst/>
          </a:prstGeom>
        </p:spPr>
      </p:pic>
    </p:spTree>
    <p:extLst>
      <p:ext uri="{BB962C8B-B14F-4D97-AF65-F5344CB8AC3E}">
        <p14:creationId xmlns:p14="http://schemas.microsoft.com/office/powerpoint/2010/main" val="384470938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Forward/backward selection</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21</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AD6DA3C-405F-8448-95BC-2CE0B637C6DE}"/>
              </a:ext>
            </a:extLst>
          </p:cNvPr>
          <p:cNvSpPr txBox="1"/>
          <p:nvPr/>
        </p:nvSpPr>
        <p:spPr>
          <a:xfrm>
            <a:off x="1001486" y="3864429"/>
            <a:ext cx="184731" cy="369332"/>
          </a:xfrm>
          <a:prstGeom prst="rect">
            <a:avLst/>
          </a:prstGeom>
          <a:noFill/>
        </p:spPr>
        <p:txBody>
          <a:bodyPr wrap="none" rtlCol="0">
            <a:spAutoFit/>
          </a:bodyPr>
          <a:lstStyle/>
          <a:p>
            <a:endParaRPr lang="en-US"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F334CA9-43E4-1C4D-8AE0-C56FF4FD3C5D}"/>
                  </a:ext>
                </a:extLst>
              </p:cNvPr>
              <p:cNvSpPr txBox="1"/>
              <p:nvPr/>
            </p:nvSpPr>
            <p:spPr>
              <a:xfrm>
                <a:off x="925286" y="1509776"/>
                <a:ext cx="10007868" cy="4708981"/>
              </a:xfrm>
              <a:prstGeom prst="rect">
                <a:avLst/>
              </a:prstGeom>
              <a:noFill/>
            </p:spPr>
            <p:txBody>
              <a:bodyPr wrap="none" rtlCol="0">
                <a:spAutoFit/>
              </a:bodyPr>
              <a:lstStyle/>
              <a:p>
                <a:pPr marL="285750" indent="-285750">
                  <a:buFont typeface="Arial" panose="020B0604020202020204" pitchFamily="34" charset="0"/>
                  <a:buChar char="•"/>
                </a:pPr>
                <a:r>
                  <a:rPr lang="en-US" sz="2400" dirty="0"/>
                  <a:t>Forward regressions</a:t>
                </a:r>
              </a:p>
              <a:p>
                <a:pPr marL="742950" lvl="1" indent="-285750">
                  <a:buFont typeface="Arial" panose="020B0604020202020204" pitchFamily="34" charset="0"/>
                  <a:buChar char="•"/>
                </a:pPr>
                <a:r>
                  <a:rPr lang="en-US" sz="2000" dirty="0"/>
                  <a:t>Start with a model with only the intercept</a:t>
                </a:r>
              </a:p>
              <a:p>
                <a:pPr marL="742950" lvl="1" indent="-285750">
                  <a:buFont typeface="Arial" panose="020B0604020202020204" pitchFamily="34" charset="0"/>
                  <a:buChar char="•"/>
                </a:pPr>
                <a:r>
                  <a:rPr lang="en-US" sz="2000" dirty="0"/>
                  <a:t>In step one, it finds the best covariate among the </a:t>
                </a:r>
                <a14:m>
                  <m:oMath xmlns:m="http://schemas.openxmlformats.org/officeDocument/2006/math">
                    <m:r>
                      <a:rPr lang="en-US" sz="2000" i="1" dirty="0" smtClean="0">
                        <a:latin typeface="Cambria Math" panose="02040503050406030204" pitchFamily="18" charset="0"/>
                      </a:rPr>
                      <m:t>𝑝</m:t>
                    </m:r>
                  </m:oMath>
                </a14:m>
                <a:r>
                  <a:rPr lang="en-US" sz="2000" dirty="0"/>
                  <a:t> candidates based on </a:t>
                </a:r>
              </a:p>
              <a:p>
                <a:pPr lvl="1"/>
                <a:r>
                  <a:rPr lang="en-US" sz="2000" dirty="0"/>
                  <a:t>     the prespecified criterion</a:t>
                </a:r>
              </a:p>
              <a:p>
                <a:pPr marL="800100" lvl="1" indent="-342900">
                  <a:buFont typeface="Arial" panose="020B0604020202020204" pitchFamily="34" charset="0"/>
                  <a:buChar char="•"/>
                </a:pPr>
                <a:r>
                  <a:rPr lang="en-US" sz="2000" dirty="0"/>
                  <a:t>It proceeds by adding the next best covariate one by one</a:t>
                </a:r>
              </a:p>
              <a:p>
                <a:pPr marL="342900" indent="-342900">
                  <a:buFont typeface="Arial" panose="020B0604020202020204" pitchFamily="34" charset="0"/>
                  <a:buChar char="•"/>
                </a:pPr>
                <a:r>
                  <a:rPr lang="en-US" sz="2400" dirty="0"/>
                  <a:t>Backward regressions</a:t>
                </a:r>
              </a:p>
              <a:p>
                <a:pPr marL="800100" lvl="1" indent="-342900">
                  <a:buFont typeface="Arial" panose="020B0604020202020204" pitchFamily="34" charset="0"/>
                  <a:buChar char="•"/>
                </a:pPr>
                <a:r>
                  <a:rPr lang="en-US" sz="2000" dirty="0"/>
                  <a:t>Start with all covariates</a:t>
                </a:r>
              </a:p>
              <a:p>
                <a:pPr marL="800100" lvl="1" indent="-342900">
                  <a:buFont typeface="Arial" panose="020B0604020202020204" pitchFamily="34" charset="0"/>
                  <a:buChar char="•"/>
                </a:pPr>
                <a:r>
                  <a:rPr lang="en-US" sz="2000" dirty="0"/>
                  <a:t>In step one, it drops the worst covariate among the p candidates based on</a:t>
                </a:r>
              </a:p>
              <a:p>
                <a:pPr lvl="1"/>
                <a:r>
                  <a:rPr lang="en-US" sz="2000" dirty="0"/>
                  <a:t>     the prespecified criterion</a:t>
                </a:r>
              </a:p>
              <a:p>
                <a:pPr marL="800100" lvl="1" indent="-342900">
                  <a:buFont typeface="Arial" panose="020B0604020202020204" pitchFamily="34" charset="0"/>
                  <a:buChar char="•"/>
                </a:pPr>
                <a:r>
                  <a:rPr lang="en-US" sz="2000" dirty="0"/>
                  <a:t>It proceeds by dropping the next worst covariate one by one</a:t>
                </a:r>
              </a:p>
              <a:p>
                <a:pPr marL="800100" lvl="1"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400" dirty="0"/>
                  <a:t>Both models generate a sequence of models and select the best one based on </a:t>
                </a:r>
              </a:p>
              <a:p>
                <a:r>
                  <a:rPr lang="en-US" sz="2400" dirty="0"/>
                  <a:t>      the prespecified criterion</a:t>
                </a:r>
              </a:p>
              <a:p>
                <a:pPr marL="342900" indent="-342900">
                  <a:buFont typeface="Arial" panose="020B0604020202020204" pitchFamily="34" charset="0"/>
                  <a:buChar char="•"/>
                </a:pPr>
                <a:r>
                  <a:rPr lang="en-US" sz="2400" dirty="0"/>
                  <a:t>The functions </a:t>
                </a:r>
                <a:r>
                  <a:rPr lang="en-US" sz="2400" i="1" dirty="0"/>
                  <a:t>step</a:t>
                </a:r>
                <a:r>
                  <a:rPr lang="en-US" sz="2400" dirty="0"/>
                  <a:t> or </a:t>
                </a:r>
                <a:r>
                  <a:rPr lang="en-US" sz="2400" i="1" dirty="0" err="1"/>
                  <a:t>stepAIC</a:t>
                </a:r>
                <a:r>
                  <a:rPr lang="en-US" sz="2400" dirty="0"/>
                  <a:t> in the </a:t>
                </a:r>
                <a:r>
                  <a:rPr lang="en-US" sz="2400" i="1" dirty="0"/>
                  <a:t>MASS</a:t>
                </a:r>
                <a:r>
                  <a:rPr lang="en-US" sz="2400" dirty="0"/>
                  <a:t> package implement these</a:t>
                </a:r>
              </a:p>
            </p:txBody>
          </p:sp>
        </mc:Choice>
        <mc:Fallback xmlns="">
          <p:sp>
            <p:nvSpPr>
              <p:cNvPr id="2" name="TextBox 1">
                <a:extLst>
                  <a:ext uri="{FF2B5EF4-FFF2-40B4-BE49-F238E27FC236}">
                    <a16:creationId xmlns:a16="http://schemas.microsoft.com/office/drawing/2014/main" id="{1F334CA9-43E4-1C4D-8AE0-C56FF4FD3C5D}"/>
                  </a:ext>
                </a:extLst>
              </p:cNvPr>
              <p:cNvSpPr txBox="1">
                <a:spLocks noRot="1" noChangeAspect="1" noMove="1" noResize="1" noEditPoints="1" noAdjustHandles="1" noChangeArrowheads="1" noChangeShapeType="1" noTextEdit="1"/>
              </p:cNvSpPr>
              <p:nvPr/>
            </p:nvSpPr>
            <p:spPr>
              <a:xfrm>
                <a:off x="925286" y="1509776"/>
                <a:ext cx="10007868" cy="4708981"/>
              </a:xfrm>
              <a:prstGeom prst="rect">
                <a:avLst/>
              </a:prstGeom>
              <a:blipFill>
                <a:blip r:embed="rId3"/>
                <a:stretch>
                  <a:fillRect l="-760" t="-1078" b="-2156"/>
                </a:stretch>
              </a:blipFill>
            </p:spPr>
            <p:txBody>
              <a:bodyPr/>
              <a:lstStyle/>
              <a:p>
                <a:r>
                  <a:rPr lang="en-US">
                    <a:noFill/>
                  </a:rPr>
                  <a:t> </a:t>
                </a:r>
              </a:p>
            </p:txBody>
          </p:sp>
        </mc:Fallback>
      </mc:AlternateContent>
    </p:spTree>
    <p:extLst>
      <p:ext uri="{BB962C8B-B14F-4D97-AF65-F5344CB8AC3E}">
        <p14:creationId xmlns:p14="http://schemas.microsoft.com/office/powerpoint/2010/main" val="2406670926"/>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
  <p:tag name="PROBLEMSCORE_HALF" val="0"/>
  <p:tag name="PROBLEMHASREMARK" val="False"/>
</p:tagLst>
</file>

<file path=ppt/tags/tag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
  <p:tag name="PROBLEMSCORE_HALF" val="0"/>
  <p:tag name="PROBLEMHASREMARK" val="False"/>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18308</TotalTime>
  <Words>1691</Words>
  <Application>Microsoft Office PowerPoint</Application>
  <PresentationFormat>宽屏</PresentationFormat>
  <Paragraphs>231</Paragraphs>
  <Slides>21</Slides>
  <Notes>14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21</vt:i4>
      </vt:variant>
    </vt:vector>
  </HeadingPairs>
  <TitlesOfParts>
    <vt:vector size="31" baseType="lpstr">
      <vt:lpstr>Arial Unicode MS</vt:lpstr>
      <vt:lpstr>微软雅黑</vt:lpstr>
      <vt:lpstr>微软雅黑</vt:lpstr>
      <vt:lpstr>微软雅黑</vt:lpstr>
      <vt:lpstr>Arial</vt:lpstr>
      <vt:lpstr>Calibri</vt:lpstr>
      <vt:lpstr>Cambria Math</vt:lpstr>
      <vt:lpstr>Times New Roman</vt:lpstr>
      <vt:lpstr>Wingdings</vt:lpstr>
      <vt:lpstr>Office Theme</vt:lpstr>
      <vt:lpstr>Overfitting</vt:lpstr>
      <vt:lpstr>PowerPoint 演示文稿</vt:lpstr>
      <vt:lpstr>Issue of overfitting</vt:lpstr>
      <vt:lpstr>Variance inflation factor</vt:lpstr>
      <vt:lpstr>Variance inflation factor</vt:lpstr>
      <vt:lpstr>PowerPoint 演示文稿</vt:lpstr>
      <vt:lpstr>Interpretation changes with different covariates</vt:lpstr>
      <vt:lpstr>Bias-variance trade-off</vt:lpstr>
      <vt:lpstr>Prediction</vt:lpstr>
      <vt:lpstr>Simulation</vt:lpstr>
      <vt:lpstr>Simulation</vt:lpstr>
      <vt:lpstr>Simulation: non-linear true model</vt:lpstr>
      <vt:lpstr>Model selection</vt:lpstr>
      <vt:lpstr>Model selection criteria</vt:lpstr>
      <vt:lpstr>RSS, R^2, and adjusted R^2</vt:lpstr>
      <vt:lpstr>RSS, R^2, and adjusted R^2</vt:lpstr>
      <vt:lpstr>Information criteria</vt:lpstr>
      <vt:lpstr>Cross validation</vt:lpstr>
      <vt:lpstr>Cross validation</vt:lpstr>
      <vt:lpstr>Best subset</vt:lpstr>
      <vt:lpstr>Forward/backward selection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求职汇报</dc:title>
  <dc:creator>Microsoft Office User</dc:creator>
  <cp:lastModifiedBy>gl1der easy</cp:lastModifiedBy>
  <cp:revision>198</cp:revision>
  <dcterms:created xsi:type="dcterms:W3CDTF">2022-01-07T20:32:42Z</dcterms:created>
  <dcterms:modified xsi:type="dcterms:W3CDTF">2025-11-03T09:45:26Z</dcterms:modified>
</cp:coreProperties>
</file>