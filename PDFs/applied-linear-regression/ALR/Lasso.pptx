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697" r:id="rId3"/>
    <p:sldId id="698" r:id="rId4"/>
    <p:sldId id="699" r:id="rId5"/>
    <p:sldId id="700" r:id="rId6"/>
    <p:sldId id="701" r:id="rId7"/>
    <p:sldId id="702" r:id="rId8"/>
    <p:sldId id="715" r:id="rId9"/>
    <p:sldId id="714" r:id="rId10"/>
    <p:sldId id="703" r:id="rId11"/>
    <p:sldId id="705" r:id="rId12"/>
    <p:sldId id="704" r:id="rId13"/>
    <p:sldId id="706" r:id="rId14"/>
    <p:sldId id="707" r:id="rId15"/>
    <p:sldId id="708" r:id="rId16"/>
    <p:sldId id="709" r:id="rId17"/>
    <p:sldId id="710" r:id="rId18"/>
    <p:sldId id="711" r:id="rId19"/>
    <p:sldId id="712" r:id="rId20"/>
    <p:sldId id="71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825"/>
    <a:srgbClr val="A0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7" autoAdjust="0"/>
    <p:restoredTop sz="92313"/>
  </p:normalViewPr>
  <p:slideViewPr>
    <p:cSldViewPr snapToGrid="0" snapToObjects="1">
      <p:cViewPr varScale="1">
        <p:scale>
          <a:sx n="88" d="100"/>
          <a:sy n="88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D128-213F-6F4E-ABC7-E697D995B16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D76FB-495F-DB45-B1C0-BAC6DBEDE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Ridge regression </a:t>
            </a:r>
            <a:r>
              <a:rPr lang="zh-CN" altLang="en-US" dirty="0"/>
              <a:t>主流是做预测，效果不错，但不一定能帮你选到真模型。如果</a:t>
            </a:r>
            <a:r>
              <a:rPr lang="en-US" altLang="zh-CN" dirty="0"/>
              <a:t>p&gt;n</a:t>
            </a:r>
            <a:r>
              <a:rPr lang="zh-CN" altLang="en-US" dirty="0"/>
              <a:t>，它并不能告诉你哪些参数</a:t>
            </a:r>
            <a:r>
              <a:rPr lang="en-US" altLang="zh-CN" dirty="0"/>
              <a:t>X=0</a:t>
            </a:r>
            <a:r>
              <a:rPr lang="zh-CN" altLang="en-US" dirty="0"/>
              <a:t>，它可以帮你缩小某些</a:t>
            </a:r>
            <a:r>
              <a:rPr lang="en-US" altLang="zh-CN" dirty="0"/>
              <a:t>beta</a:t>
            </a:r>
            <a:r>
              <a:rPr lang="zh-CN" altLang="en-US" dirty="0"/>
              <a:t>的估计，只能把它变得很小。但是</a:t>
            </a:r>
            <a:r>
              <a:rPr lang="en-US" altLang="zh-CN" dirty="0"/>
              <a:t>lasso </a:t>
            </a:r>
            <a:r>
              <a:rPr lang="zh-CN" altLang="en-US" dirty="0"/>
              <a:t>可以帮你选择哪些是正确的</a:t>
            </a:r>
            <a:r>
              <a:rPr lang="en-US" altLang="zh-CN" dirty="0"/>
              <a:t>X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06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Ridge regression</a:t>
            </a:r>
            <a:r>
              <a:rPr lang="zh-CN" altLang="en-US" dirty="0"/>
              <a:t>的区别是</a:t>
            </a:r>
            <a:r>
              <a:rPr lang="en-US" altLang="zh-CN" dirty="0"/>
              <a:t>b</a:t>
            </a:r>
            <a:r>
              <a:rPr lang="zh-CN" altLang="en-US" dirty="0"/>
              <a:t>的平方变成了</a:t>
            </a:r>
            <a:r>
              <a:rPr lang="en-US" altLang="zh-CN" dirty="0"/>
              <a:t>b</a:t>
            </a:r>
            <a:r>
              <a:rPr lang="zh-CN" altLang="en-US" dirty="0"/>
              <a:t>的绝对值。它的缺点是绝对值不可导，需要用一些凸优化的方法去求解；它的解是不唯一的，</a:t>
            </a:r>
            <a:r>
              <a:rPr lang="en-US" altLang="zh-CN" dirty="0"/>
              <a:t>p&gt;n</a:t>
            </a:r>
            <a:r>
              <a:rPr lang="zh-CN" altLang="en-US" dirty="0"/>
              <a:t>的时候</a:t>
            </a:r>
            <a:r>
              <a:rPr lang="en-US" altLang="zh-CN" dirty="0"/>
              <a:t>lasso</a:t>
            </a:r>
            <a:r>
              <a:rPr lang="zh-CN" altLang="en-US" dirty="0"/>
              <a:t>不一定有唯一解，但是他们对应的值是一样的。</a:t>
            </a:r>
            <a:endParaRPr lang="en-US" altLang="zh-CN" dirty="0"/>
          </a:p>
          <a:p>
            <a:r>
              <a:rPr lang="zh-CN" altLang="en-US" dirty="0"/>
              <a:t>带有惩罚项的回归都是有偏的。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64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为什么</a:t>
            </a:r>
            <a:r>
              <a:rPr lang="en-US" altLang="zh-CN" dirty="0"/>
              <a:t>lasso</a:t>
            </a:r>
            <a:r>
              <a:rPr lang="zh-CN" altLang="en-US" dirty="0"/>
              <a:t>改了这个惩罚项就这么有名？和</a:t>
            </a:r>
            <a:r>
              <a:rPr lang="en-US" altLang="zh-CN" dirty="0"/>
              <a:t>Ridge</a:t>
            </a:r>
            <a:r>
              <a:rPr lang="zh-CN" altLang="en-US" dirty="0"/>
              <a:t>有什么区别？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7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这个切点很有可能是切在端点处的，端点就意味着有一个参数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dirty="0"/>
              <a:t>lasso</a:t>
            </a:r>
            <a:r>
              <a:rPr lang="zh-CN" altLang="en-US" dirty="0"/>
              <a:t>相比</a:t>
            </a:r>
            <a:r>
              <a:rPr lang="en-US" altLang="zh-CN" dirty="0"/>
              <a:t>Ridge</a:t>
            </a:r>
            <a:r>
              <a:rPr lang="zh-CN" altLang="en-US" dirty="0"/>
              <a:t>更能说明，某些参数是不需要选择的。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6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20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60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54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of cycle through coordinates is arbitrary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F79CE-CD64-3E46-8DDE-E612CD09D8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11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i="1" dirty="0" err="1"/>
              <a:t>glmnet</a:t>
            </a:r>
            <a:r>
              <a:rPr lang="en-US" dirty="0"/>
              <a:t> package in R uses the coordinate descent algorithm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077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82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05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54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0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62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加入了两百个噪声（随机生成数据），可以看到</a:t>
            </a:r>
            <a:r>
              <a:rPr lang="en-US" altLang="zh-CN" dirty="0"/>
              <a:t>Ridge</a:t>
            </a:r>
            <a:r>
              <a:rPr lang="zh-CN" altLang="en-US" dirty="0"/>
              <a:t>很多都是接近</a:t>
            </a:r>
            <a:r>
              <a:rPr lang="en-US" altLang="zh-CN" dirty="0"/>
              <a:t>0</a:t>
            </a:r>
            <a:r>
              <a:rPr lang="zh-CN" altLang="en-US" dirty="0"/>
              <a:t>，没有选择参数。但是</a:t>
            </a:r>
            <a:r>
              <a:rPr lang="en-US" altLang="zh-CN" dirty="0"/>
              <a:t>lasso</a:t>
            </a:r>
            <a:r>
              <a:rPr lang="zh-CN" altLang="en-US" dirty="0"/>
              <a:t>很多都是</a:t>
            </a:r>
            <a:r>
              <a:rPr lang="en-US" altLang="zh-CN" dirty="0"/>
              <a:t>0</a:t>
            </a:r>
            <a:r>
              <a:rPr lang="zh-CN" altLang="en-US" dirty="0"/>
              <a:t>，选择了参数。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93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99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019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044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D76FB-495F-DB45-B1C0-BAC6DBEDEA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9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C8A-1FB6-3041-A418-D61E2C3DA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47742-DAB1-C14E-A5BA-70F7F796B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F0F5-1172-4443-B1D2-5FA4A3CB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7974-E7D6-B34D-9439-F9FBE61E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9B4C7-B3E7-2249-9AAE-D0EE3D2B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B802-5C9D-5D40-9713-8F0AF3E9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7CEE-95B7-784A-8744-013528B7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651F-9F0D-CE47-A7C3-72ADEC6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990C-26CF-5340-9185-412EDD20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0482D-EE59-6B44-B09D-54DF378E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DE8B-08E4-6746-B7C6-2D6F7D77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37A5-9526-B64C-B0B3-EC555F758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1C4E4-A98D-7F4C-A038-86F2454F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DB87-08F0-6645-91C0-90A36E9E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2DCD8-FACC-EF40-A476-D4C9F098E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3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3A11-2C38-6345-9832-CD9E4234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66E1-8E61-EB4F-98F1-2A3FD59E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D906-8014-9840-917B-BB1BE8DA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7BADE-2CE5-5944-BEA5-62B1C3EC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CA7E-B3F3-234F-8843-CF1B52B7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34860-30EA-0542-8960-CB71E62C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9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8B9-4FB0-594D-A3C8-B920561F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7FA0D-47CF-804B-ADFF-C1FBCED7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A6630-46C1-304B-A31B-F683D3BB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70E5B-079D-3F45-BA01-C9AD653DD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44FE20-58B7-C04B-89A7-8A255F953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9B889-CD5B-FB44-BD7D-2E3DE550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387C38-F33E-E940-9D72-4F662511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AD557-D134-064A-A446-E4906B19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0F00-4145-DC48-8A29-69BD407C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F20B2-462E-F746-BEE4-DA5D2AEA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A5F02-D3A0-BC45-924B-F537F687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F2EDE-B42D-1C45-90AC-640331E1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4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AF63A-2A34-9443-B3A1-F7AD5557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C7C21-24A3-624B-A109-AFC30D88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15E5C-B91F-6D4D-8F8C-60C86E7D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2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C247-E86B-7E4B-85FF-22E97905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3CF5-B7AC-6344-BEDE-C1DC558C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479-0A31-E74C-8CFF-F83A73719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65952-1887-1242-A818-B48F8B40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7D4EC-6C26-3343-BE5B-4618E517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067B4-9192-2B4D-B6BA-824E8525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6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44F99-0279-E64B-A930-DD2DFE16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7E41E-F499-FD45-AA09-8683F0D29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69A72-A800-F842-8071-88E5094D6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FD681-5220-164D-B93A-853D489B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C564-BE03-8440-959E-1F518EC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54D9-1620-D64C-AF60-D151063F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C499A-DD86-D24E-A290-0B13D2D7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5DDCF-0EB5-0B42-9F19-70570301C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2CFB8-64A2-6243-A467-76379B3B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5434-A072-D245-8271-A14B1A4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4B9DA-DDF0-C34D-8AFE-B5CAAEF3A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15942-F520-8140-82C2-549925B91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EF6AE-3D2E-074D-80D3-C0295DA0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591-4801-7644-BB66-3C5CEB6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98A03-9EC2-5942-8AF7-4EE129F9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53ECD-47F7-6640-A418-41363373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6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98E4-3EF4-B940-93C1-1851E23A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4DF2-BE2A-2040-9A6C-84673A481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B57D-0C15-8044-9772-0CEEEAA1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38502-F17E-DC4B-9F41-BAD476EB8CD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FF6CD-B256-804D-A913-74F1B54B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41D8-076E-4C4E-BD9C-F12DD0F4B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03370-4F3B-144B-8ABA-B36C9E3D55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8180ED6-2ACB-A649-8746-79EC78125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8380" y="1260489"/>
            <a:ext cx="8075240" cy="1710011"/>
          </a:xfrm>
          <a:prstGeom prst="roundRect">
            <a:avLst/>
          </a:prstGeom>
          <a:solidFill>
            <a:srgbClr val="005825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Lasso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65B63C4A-E74D-EC4E-82DE-0EDC1FB3D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7501"/>
            <a:ext cx="9144000" cy="1373086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蒋智超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endParaRPr lang="en-US" altLang="zh-CN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秋   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62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2"/>
    </mc:Choice>
    <mc:Fallback xmlns="">
      <p:transition spd="slow" advTm="25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Motivation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6594E3-7E8F-E048-8A2C-DFFA3212C37D}"/>
              </a:ext>
            </a:extLst>
          </p:cNvPr>
          <p:cNvSpPr txBox="1"/>
          <p:nvPr/>
        </p:nvSpPr>
        <p:spPr>
          <a:xfrm>
            <a:off x="838200" y="1828274"/>
            <a:ext cx="107550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Ridge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 works well for prediction, but it is difficult to interpret many small but non-zero</a:t>
            </a:r>
            <a:r>
              <a:rPr lang="zh-CN" altLang="en-US" sz="2400" dirty="0"/>
              <a:t> </a:t>
            </a:r>
            <a:r>
              <a:rPr lang="en-US" sz="2400" dirty="0"/>
              <a:t>coefficients</a:t>
            </a:r>
          </a:p>
          <a:p>
            <a:pPr lvl="1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Tibshirani</a:t>
            </a:r>
            <a:r>
              <a:rPr lang="en-US" sz="2400" dirty="0"/>
              <a:t> (1996) proposed to use the lasso, the acronym for the Least Absolute Shrinkage</a:t>
            </a:r>
            <a:r>
              <a:rPr lang="zh-CN" altLang="en-US" sz="2400" dirty="0"/>
              <a:t> </a:t>
            </a:r>
            <a:r>
              <a:rPr lang="en-US" sz="2400" dirty="0"/>
              <a:t>and Selection Operator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Simultaneously estimate parameters and select important variables in the linear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By changing the penalty in the ridge regression, the lasso automatically estimates some </a:t>
            </a:r>
          </a:p>
          <a:p>
            <a:pPr lvl="1"/>
            <a:r>
              <a:rPr lang="en-US" sz="2000" dirty="0"/>
              <a:t>     parameter as zero, dropping them out of the model and thus selecting the remaining variables</a:t>
            </a:r>
          </a:p>
          <a:p>
            <a:pPr lvl="1"/>
            <a:r>
              <a:rPr lang="en-US" sz="2000" dirty="0"/>
              <a:t>     as important predictors</a:t>
            </a:r>
          </a:p>
        </p:txBody>
      </p:sp>
    </p:spTree>
    <p:extLst>
      <p:ext uri="{BB962C8B-B14F-4D97-AF65-F5344CB8AC3E}">
        <p14:creationId xmlns:p14="http://schemas.microsoft.com/office/powerpoint/2010/main" val="371010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Definition 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6594E3-7E8F-E048-8A2C-DFFA3212C37D}"/>
                  </a:ext>
                </a:extLst>
              </p:cNvPr>
              <p:cNvSpPr txBox="1"/>
              <p:nvPr/>
            </p:nvSpPr>
            <p:spPr>
              <a:xfrm>
                <a:off x="838200" y="1828274"/>
                <a:ext cx="11097333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Tibshirani (1996) defined the lasso as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Osborne et al. (2000) studied its dual form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Covariates and outcome are standardized so we can drop the intercept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two forms are equivalent in the sense that for a given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, there exists 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/>
                  <a:t> with the same solution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solution may not be unique especially when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but the resulting predictor is always unique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6594E3-7E8F-E048-8A2C-DFFA3212C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274"/>
                <a:ext cx="11097333" cy="4524315"/>
              </a:xfrm>
              <a:prstGeom prst="rect">
                <a:avLst/>
              </a:prstGeom>
              <a:blipFill>
                <a:blip r:embed="rId3"/>
                <a:stretch>
                  <a:fillRect l="-801" t="-1120" r="-572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FFCC2A2-018C-674C-A5C6-E5EC645E1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093" y="2200093"/>
            <a:ext cx="4610100" cy="1485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3609DD-7D58-AD42-9DC4-8A131D99D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556" y="4311594"/>
            <a:ext cx="59436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geometric perspective of the lasso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FD71A9-1B33-1D47-BA05-352C76BF040F}"/>
              </a:ext>
            </a:extLst>
          </p:cNvPr>
          <p:cNvSpPr txBox="1"/>
          <p:nvPr/>
        </p:nvSpPr>
        <p:spPr>
          <a:xfrm>
            <a:off x="1110343" y="1796143"/>
            <a:ext cx="9300944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OLS minimizes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With the penalty, the OLS coefficient may not satisfy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lasso</a:t>
            </a:r>
            <a:r>
              <a:rPr lang="zh-CN" altLang="en-US" sz="2400" dirty="0"/>
              <a:t> </a:t>
            </a:r>
            <a:r>
              <a:rPr lang="en-US" altLang="zh-CN" sz="2400" dirty="0"/>
              <a:t>can give sparse solutions due to the non-smooth penalty term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C7D8B3-B0D1-3641-BA1C-48ACC38A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616" y="5165024"/>
            <a:ext cx="1640049" cy="392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32AFFA-0A74-E54E-869F-838EC281B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806" y="2315997"/>
            <a:ext cx="6769100" cy="444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C89AA69-F11B-3481-A062-BF817C0E5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461" y="3302123"/>
            <a:ext cx="1083232" cy="68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9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geometric perspective of the lasso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8D2B80-D6A5-F34C-8669-B5FAA7A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1690187"/>
            <a:ext cx="61341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5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geometric perspective of the lasso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5785E-9C76-CB41-B8BD-713F35FB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15" y="1566071"/>
            <a:ext cx="57404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5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A geometric perspective of the ridge</a:t>
            </a:r>
            <a:r>
              <a:rPr lang="zh-CN" altLang="en-US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 </a:t>
            </a:r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regression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AAE36-470B-B14B-ACE2-6C9402D22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521" y="1573893"/>
            <a:ext cx="5930900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9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Computing the lasso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Clr>
                    <a:schemeClr val="tx1"/>
                  </a:buClr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marL="0" indent="0">
                  <a:lnSpc>
                    <a:spcPct val="150000"/>
                  </a:lnSpc>
                  <a:buClr>
                    <a:schemeClr val="tx1"/>
                  </a:buClr>
                  <a:buNone/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Key challenge: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|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is not differentiable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Optimization via coordinate descent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9333F0-A9E8-BFAB-C5FD-02E344C4B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928" y="1731327"/>
            <a:ext cx="59436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4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Coordinate descent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A simple optimization approach for convex functions: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𝑓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𝑡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1−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≤</m:t>
                    </m:r>
                    <m:func>
                      <m:func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t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𝑓</m:t>
                        </m:r>
                      </m:fName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Arial Unicode MS" panose="020B0604020202020204" pitchFamily="34" charset="-128"/>
                                    <a:cs typeface="Arial Unicode MS" panose="020B0604020202020204" pitchFamily="34" charset="-128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1−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𝑡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𝑓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2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Minimize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𝑔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Arial Unicode MS" panose="020B0604020202020204" pitchFamily="34" charset="-128"/>
                                <a:cs typeface="Arial Unicode MS" panose="020B0604020202020204" pitchFamily="34" charset="-128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)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,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𝑔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is convex and differentiable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h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Arial Unicode MS" panose="020B0604020202020204" pitchFamily="34" charset="-128"/>
                        <a:cs typeface="Arial Unicode MS" panose="020B0604020202020204" pitchFamily="34" charset="-128"/>
                      </a:rPr>
                      <m:t>)</m:t>
                    </m:r>
                  </m:oMath>
                </a14:m>
                <a:r>
                  <a:rPr lang="en-US" altLang="zh-CN" sz="24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 convex</a:t>
                </a: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Start with a initial guess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rPr>
                          <m:t>(0)</m:t>
                        </m:r>
                      </m:sup>
                    </m:sSup>
                  </m:oMath>
                </a14:m>
                <a:endParaRPr lang="en-US" altLang="zh-CN" sz="20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zh-CN" sz="2000" dirty="0"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Repeat </a:t>
                </a:r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Clr>
                    <a:srgbClr val="FF0000"/>
                  </a:buClr>
                </a:pPr>
                <a:endParaRPr lang="en-US" altLang="zh-CN" sz="24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 lvl="1">
                  <a:lnSpc>
                    <a:spcPct val="150000"/>
                  </a:lnSpc>
                  <a:buClr>
                    <a:srgbClr val="FF0000"/>
                  </a:buClr>
                  <a:buFont typeface="Wingdings" pitchFamily="2" charset="2"/>
                  <a:buChar char="v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u"/>
                </a:pPr>
                <a:endParaRPr lang="en-US" altLang="zh-CN" sz="1800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pPr>
                  <a:buFont typeface="Wingdings" pitchFamily="2" charset="2"/>
                  <a:buNone/>
                </a:pPr>
                <a:endParaRPr lang="en-US" altLang="zh-CN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  <a:p>
                <a:endParaRPr lang="zh-CN" altLang="en-US" dirty="0"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</mc:Choice>
        <mc:Fallback xmlns="">
          <p:sp>
            <p:nvSpPr>
              <p:cNvPr id="8195" name="内容占位符 2">
                <a:extLst>
                  <a:ext uri="{FF2B5EF4-FFF2-40B4-BE49-F238E27FC236}">
                    <a16:creationId xmlns:a16="http://schemas.microsoft.com/office/drawing/2014/main" id="{A0293DA8-2870-C84B-90F0-70EC54461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463040"/>
                <a:ext cx="8261351" cy="4656139"/>
              </a:xfrm>
              <a:blipFill>
                <a:blip r:embed="rId3"/>
                <a:stretch>
                  <a:fillRect l="-10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CA46CF-C468-384E-8A62-1696F2B661E7}"/>
              </a:ext>
            </a:extLst>
          </p:cNvPr>
          <p:cNvSpPr txBox="1"/>
          <p:nvPr/>
        </p:nvSpPr>
        <p:spPr>
          <a:xfrm>
            <a:off x="5636794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48097F-C731-449D-DEB3-4C1E0CA12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998" y="4492895"/>
            <a:ext cx="3894951" cy="216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74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Computing the lasso via coordinate descent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C8B80-1AF9-CC42-98FB-A919BC8E9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60" y="1711143"/>
            <a:ext cx="7874000" cy="97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AA34C9-3F1A-594D-9B92-3EE32BD47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706" y="3026317"/>
            <a:ext cx="7861300" cy="21971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6" y="3026317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ED577E-D6E4-9E45-9748-51508E24A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300" y="5560691"/>
            <a:ext cx="3175000" cy="431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C8ABDC-7A49-9649-AD75-9D0D57964381}"/>
              </a:ext>
            </a:extLst>
          </p:cNvPr>
          <p:cNvSpPr txBox="1"/>
          <p:nvPr/>
        </p:nvSpPr>
        <p:spPr>
          <a:xfrm>
            <a:off x="2393520" y="5560691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Denote </a:t>
            </a:r>
          </a:p>
        </p:txBody>
      </p:sp>
    </p:spTree>
    <p:extLst>
      <p:ext uri="{BB962C8B-B14F-4D97-AF65-F5344CB8AC3E}">
        <p14:creationId xmlns:p14="http://schemas.microsoft.com/office/powerpoint/2010/main" val="207734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Soft thresholding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6D5E5B-A037-6546-A77F-95DBAF856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1511300"/>
            <a:ext cx="81280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4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Coordinate descent for the lasso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CB16D9-CF00-EC40-9B17-04DFF08E1068}"/>
                  </a:ext>
                </a:extLst>
              </p:cNvPr>
              <p:cNvSpPr txBox="1"/>
              <p:nvPr/>
            </p:nvSpPr>
            <p:spPr>
              <a:xfrm>
                <a:off x="979714" y="2054747"/>
                <a:ext cx="10951029" cy="3805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Standardize the data, so we only need to solve the lasso without the intercept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Change the scale of the residual sum of squares without essentially changing the problem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Initialize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CB16D9-CF00-EC40-9B17-04DFF08E1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" y="2054747"/>
                <a:ext cx="10951029" cy="3805657"/>
              </a:xfrm>
              <a:prstGeom prst="rect">
                <a:avLst/>
              </a:prstGeom>
              <a:blipFill>
                <a:blip r:embed="rId3"/>
                <a:stretch>
                  <a:fillRect l="-811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8B3F23A-5A98-A445-A3B7-DB0D0A788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200" y="3723141"/>
            <a:ext cx="54356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4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Coordinate descent for the lasso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13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68B3E3-5D1A-BA40-AADD-0D7BD7988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793" y="1485922"/>
            <a:ext cx="7683500" cy="1651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08D597-CBDA-BF40-A739-82620FC80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193" y="3182722"/>
            <a:ext cx="3873500" cy="850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43AB67-E2E5-E041-9930-37D5CBFCE0A5}"/>
              </a:ext>
            </a:extLst>
          </p:cNvPr>
          <p:cNvSpPr txBox="1"/>
          <p:nvPr/>
        </p:nvSpPr>
        <p:spPr>
          <a:xfrm>
            <a:off x="2441611" y="3429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8CAEE6-B15D-FC4E-8B74-7FF95ABE0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420" y="3949678"/>
            <a:ext cx="7099300" cy="1422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A2ABF-9DAE-1E4D-917D-C0982F09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2072" y="5346176"/>
            <a:ext cx="1701800" cy="469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08E010-B93B-E845-8E96-BE5999458898}"/>
              </a:ext>
            </a:extLst>
          </p:cNvPr>
          <p:cNvSpPr txBox="1"/>
          <p:nvPr/>
        </p:nvSpPr>
        <p:spPr>
          <a:xfrm>
            <a:off x="3987194" y="5816076"/>
            <a:ext cx="2788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Iterate until convergence </a:t>
            </a:r>
          </a:p>
        </p:txBody>
      </p:sp>
    </p:spTree>
    <p:extLst>
      <p:ext uri="{BB962C8B-B14F-4D97-AF65-F5344CB8AC3E}">
        <p14:creationId xmlns:p14="http://schemas.microsoft.com/office/powerpoint/2010/main" val="266857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Coordinate descent for the lasso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108377-6448-6647-A342-AD4AE392A555}"/>
                  </a:ext>
                </a:extLst>
              </p:cNvPr>
              <p:cNvSpPr txBox="1"/>
              <p:nvPr/>
            </p:nvSpPr>
            <p:spPr>
              <a:xfrm>
                <a:off x="914400" y="1926771"/>
                <a:ext cx="9131859" cy="3231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theory of Tseng (2001) ensures the convergence of the algorithm</a:t>
                </a: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Start with a large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 and all zero coefficients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Gradually decrease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, for each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, we apply the algorithm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mbria Math" panose="02040503050406030204" pitchFamily="18" charset="0"/>
                  </a:rPr>
                  <a:t>Select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 via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-fold CV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Since we gradually decrease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, the initial values of from the last step</a:t>
                </a:r>
              </a:p>
              <a:p>
                <a:r>
                  <a:rPr lang="en-US" sz="2400" dirty="0"/>
                  <a:t>    are very close to the minimizer and the algorithm converges fairly fast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108377-6448-6647-A342-AD4AE392A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26771"/>
                <a:ext cx="9131859" cy="3231654"/>
              </a:xfrm>
              <a:prstGeom prst="rect">
                <a:avLst/>
              </a:prstGeom>
              <a:blipFill>
                <a:blip r:embed="rId3"/>
                <a:stretch>
                  <a:fillRect l="-972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12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Boston housing data analysis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15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DED76C-B434-5C4D-90E7-67E152518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60121"/>
            <a:ext cx="8001000" cy="3695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474C56-9375-584C-AEA8-CDBC8E6A7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864902"/>
            <a:ext cx="50038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Boston housing data analysis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1B680-DD36-094B-9A61-C7FC382F0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1882140"/>
            <a:ext cx="8039100" cy="3695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25FFE7-DA09-2147-AB6D-BC9CE0877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651" y="5772152"/>
            <a:ext cx="43815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27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Other shrinkage estimator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847D4B-A358-5B4D-AAFB-7B117782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457" y="1640523"/>
            <a:ext cx="8280400" cy="1930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CA101D-1B72-5142-8672-9D09B70AE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478" y="4170363"/>
            <a:ext cx="4330700" cy="139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68FCDA-210B-6140-89EA-7E277B76890F}"/>
              </a:ext>
            </a:extLst>
          </p:cNvPr>
          <p:cNvSpPr txBox="1"/>
          <p:nvPr/>
        </p:nvSpPr>
        <p:spPr>
          <a:xfrm>
            <a:off x="1708077" y="427808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form</a:t>
            </a:r>
          </a:p>
        </p:txBody>
      </p:sp>
    </p:spTree>
    <p:extLst>
      <p:ext uri="{BB962C8B-B14F-4D97-AF65-F5344CB8AC3E}">
        <p14:creationId xmlns:p14="http://schemas.microsoft.com/office/powerpoint/2010/main" val="160763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Other shrinkage estimator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B8BBD8-5DFA-884A-A25A-97AB8F0D0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157" y="2003879"/>
            <a:ext cx="82550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6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Other shrinkage estimator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DE0EB0-9C40-3F46-845C-6050FFE3C3F1}"/>
              </a:ext>
            </a:extLst>
          </p:cNvPr>
          <p:cNvSpPr txBox="1"/>
          <p:nvPr/>
        </p:nvSpPr>
        <p:spPr>
          <a:xfrm>
            <a:off x="1066800" y="1915886"/>
            <a:ext cx="10863871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Zou and Hastie (2005) proposed the elastic net, which combines the penalties of the </a:t>
            </a:r>
          </a:p>
          <a:p>
            <a:r>
              <a:rPr lang="en-US" sz="2400" dirty="0"/>
              <a:t>     lasso and ridge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Because the constraint is not smooth, it encourages sparse solution as the lasso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Due to the ridge penalty, it can deal with collinearity of the covariates better than </a:t>
            </a:r>
          </a:p>
          <a:p>
            <a:pPr lvl="1"/>
            <a:r>
              <a:rPr lang="en-US" sz="2000" dirty="0"/>
              <a:t>      the lasso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Implemented in </a:t>
            </a:r>
            <a:r>
              <a:rPr lang="en-US" sz="2000" i="1" dirty="0" err="1"/>
              <a:t>glmnet</a:t>
            </a:r>
            <a:r>
              <a:rPr lang="en-US" sz="2000" dirty="0"/>
              <a:t> package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F2A50-FEDC-954E-BEE2-E5716EA15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407" y="2838082"/>
            <a:ext cx="75565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4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EBF282F-030B-264B-922C-B5D0902A1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solidFill>
                  <a:srgbClr val="0058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Unicode MS" panose="020B0604020202020204" pitchFamily="34" charset="-128"/>
              </a:rPr>
              <a:t>Other shrinkage estimator</a:t>
            </a:r>
            <a:endParaRPr lang="zh-CN" altLang="en-US" sz="3200" b="1" dirty="0">
              <a:solidFill>
                <a:srgbClr val="00582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 Unicode MS" panose="020B0604020202020204" pitchFamily="34" charset="-128"/>
            </a:endParaRP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EE7BDD73-DD09-124F-9C0F-E4524FD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32" indent="-28574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2971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160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349" indent="-228594"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8914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588FD2E-32F7-E244-AA23-3ABBFBA339D8}" type="slidenum">
              <a:rPr lang="zh-CN" altLang="en-US" smtClean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pPr/>
              <a:t>20</a:t>
            </a:fld>
            <a:endParaRPr lang="en-US" altLang="zh-CN">
              <a:solidFill>
                <a:schemeClr val="tx1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BF993CF-7201-3D4F-B2C9-6665BA768E54}"/>
              </a:ext>
            </a:extLst>
          </p:cNvPr>
          <p:cNvCxnSpPr>
            <a:cxnSpLocks/>
          </p:cNvCxnSpPr>
          <p:nvPr/>
        </p:nvCxnSpPr>
        <p:spPr>
          <a:xfrm>
            <a:off x="838200" y="1280160"/>
            <a:ext cx="8858312" cy="4900"/>
          </a:xfrm>
          <a:prstGeom prst="line">
            <a:avLst/>
          </a:prstGeom>
          <a:ln w="34925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AEB04-452D-E144-A50C-2AC938E334B1}"/>
              </a:ext>
            </a:extLst>
          </p:cNvPr>
          <p:cNvSpPr/>
          <p:nvPr/>
        </p:nvSpPr>
        <p:spPr>
          <a:xfrm>
            <a:off x="10167257" y="2961092"/>
            <a:ext cx="163286" cy="1304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5395C-441D-5047-8DE0-A0FB8809CC48}"/>
              </a:ext>
            </a:extLst>
          </p:cNvPr>
          <p:cNvSpPr/>
          <p:nvPr/>
        </p:nvSpPr>
        <p:spPr>
          <a:xfrm>
            <a:off x="1336707" y="3119725"/>
            <a:ext cx="1511426" cy="309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F0844-7022-DB41-B8E2-D831FC157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578" y="1349373"/>
            <a:ext cx="8064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5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19813</TotalTime>
  <Words>760</Words>
  <Application>Microsoft Office PowerPoint</Application>
  <PresentationFormat>宽屏</PresentationFormat>
  <Paragraphs>149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 Unicode MS</vt:lpstr>
      <vt:lpstr>Microsoft YaHei</vt:lpstr>
      <vt:lpstr>Microsoft YaHei</vt:lpstr>
      <vt:lpstr>Arial</vt:lpstr>
      <vt:lpstr>Calibri</vt:lpstr>
      <vt:lpstr>Cambria Math</vt:lpstr>
      <vt:lpstr>Times New Roman</vt:lpstr>
      <vt:lpstr>Wingdings</vt:lpstr>
      <vt:lpstr>Office Theme</vt:lpstr>
      <vt:lpstr>Lasso</vt:lpstr>
      <vt:lpstr>Motivation</vt:lpstr>
      <vt:lpstr>Definition </vt:lpstr>
      <vt:lpstr>A geometric perspective of the lasso</vt:lpstr>
      <vt:lpstr>A geometric perspective of the lasso</vt:lpstr>
      <vt:lpstr>A geometric perspective of the lasso</vt:lpstr>
      <vt:lpstr>A geometric perspective of the ridge regression</vt:lpstr>
      <vt:lpstr>Computing the lasso</vt:lpstr>
      <vt:lpstr>Coordinate descent</vt:lpstr>
      <vt:lpstr>Computing the lasso via coordinate descent</vt:lpstr>
      <vt:lpstr>Soft thresholding</vt:lpstr>
      <vt:lpstr>Coordinate descent for the lasso</vt:lpstr>
      <vt:lpstr>Coordinate descent for the lasso</vt:lpstr>
      <vt:lpstr>Coordinate descent for the lasso</vt:lpstr>
      <vt:lpstr>Boston housing data analysis</vt:lpstr>
      <vt:lpstr>Boston housing data analysis</vt:lpstr>
      <vt:lpstr>Other shrinkage estimator</vt:lpstr>
      <vt:lpstr>Other shrinkage estimator</vt:lpstr>
      <vt:lpstr>Other shrinkage estimator</vt:lpstr>
      <vt:lpstr>Other shrinkage estimator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求职汇报</dc:title>
  <dc:creator>Microsoft Office User</dc:creator>
  <cp:lastModifiedBy>gl1der easy</cp:lastModifiedBy>
  <cp:revision>182</cp:revision>
  <dcterms:created xsi:type="dcterms:W3CDTF">2022-01-07T20:32:42Z</dcterms:created>
  <dcterms:modified xsi:type="dcterms:W3CDTF">2025-11-10T10:16:45Z</dcterms:modified>
</cp:coreProperties>
</file>