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697" r:id="rId3"/>
    <p:sldId id="698" r:id="rId4"/>
    <p:sldId id="699" r:id="rId5"/>
    <p:sldId id="714" r:id="rId6"/>
    <p:sldId id="715" r:id="rId7"/>
    <p:sldId id="716" r:id="rId8"/>
    <p:sldId id="717" r:id="rId9"/>
    <p:sldId id="718" r:id="rId10"/>
    <p:sldId id="705" r:id="rId11"/>
    <p:sldId id="719" r:id="rId12"/>
    <p:sldId id="720" r:id="rId13"/>
    <p:sldId id="721" r:id="rId14"/>
    <p:sldId id="722" r:id="rId15"/>
    <p:sldId id="723" r:id="rId16"/>
    <p:sldId id="724" r:id="rId17"/>
    <p:sldId id="72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5825"/>
    <a:srgbClr val="A014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395"/>
    <p:restoredTop sz="92313"/>
  </p:normalViewPr>
  <p:slideViewPr>
    <p:cSldViewPr snapToGrid="0" snapToObjects="1">
      <p:cViewPr varScale="1">
        <p:scale>
          <a:sx n="118" d="100"/>
          <a:sy n="118" d="100"/>
        </p:scale>
        <p:origin x="21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A4D128-213F-6F4E-ABC7-E697D995B169}" type="datetimeFigureOut">
              <a:rPr lang="en-US" smtClean="0"/>
              <a:t>11/1/25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8D76FB-495F-DB45-B1C0-BAC6DBEDE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460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0591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061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8766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F79CE-CD64-3E46-8DDE-E612CD09D8A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2111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F79CE-CD64-3E46-8DDE-E612CD09D8A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1396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F79CE-CD64-3E46-8DDE-E612CD09D8A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3472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F79CE-CD64-3E46-8DDE-E612CD09D8A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7851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000000"/>
                </a:solidFill>
                <a:effectLst/>
                <a:latin typeface="Helvetica" pitchFamily="2" charset="0"/>
              </a:rPr>
              <a:t>In step 2   we can change the model based on our understanding of heteroskedasticity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F79CE-CD64-3E46-8DDE-E612CD09D8A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5201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suggests that the linear model may be misspecified. 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9384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solidFill>
                <a:srgbClr val="000000"/>
              </a:solidFill>
              <a:effectLst/>
              <a:latin typeface="Helvetica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F79CE-CD64-3E46-8DDE-E612CD09D8A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8225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solidFill>
                <a:srgbClr val="000000"/>
              </a:solidFill>
              <a:effectLst/>
              <a:latin typeface="Helvetica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F79CE-CD64-3E46-8DDE-E612CD09D8A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1148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solidFill>
                <a:srgbClr val="000000"/>
              </a:solidFill>
              <a:effectLst/>
              <a:latin typeface="Helvetica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F79CE-CD64-3E46-8DDE-E612CD09D8A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2415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solidFill>
                <a:srgbClr val="000000"/>
              </a:solidFill>
              <a:effectLst/>
              <a:latin typeface="Helvetica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F79CE-CD64-3E46-8DDE-E612CD09D8A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3113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solidFill>
                <a:srgbClr val="000000"/>
              </a:solidFill>
              <a:effectLst/>
              <a:latin typeface="Helvetica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F79CE-CD64-3E46-8DDE-E612CD09D8A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8736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solidFill>
                <a:srgbClr val="000000"/>
              </a:solidFill>
              <a:effectLst/>
              <a:latin typeface="Helvetica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F79CE-CD64-3E46-8DDE-E612CD09D8A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4634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solidFill>
                <a:srgbClr val="000000"/>
              </a:solidFill>
              <a:effectLst/>
              <a:latin typeface="Helvetica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F79CE-CD64-3E46-8DDE-E612CD09D8A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3669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5FC8A-1FB6-3041-A418-D61E2C3DA4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F47742-DAB1-C14E-A5BA-70F7F796B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6F0F5-1172-4443-B1D2-5FA4A3CBB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11/1/25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EB7974-E7D6-B34D-9439-F9FBE61ED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A9B4C7-B3E7-2249-9AAE-D0EE3D2B7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99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0B802-5C9D-5D40-9713-8F0AF3E96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E7CEE-95B7-784A-8744-013528B7E0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87651F-9F0D-CE47-A7C3-72ADEC6D5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11/1/25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39990C-26CF-5340-9185-412EDD20B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80482D-EE59-6B44-B09D-54DF378E2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530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8DE8B-08E4-6746-B7C6-2D6F7D77D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B837A5-9526-B64C-B0B3-EC555F7584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81C4E4-A98D-7F4C-A038-86F2454F7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11/1/25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3ADB87-08F0-6645-91C0-90A36E9EF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B2DCD8-FACC-EF40-A476-D4C9F098E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738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B3A11-2C38-6345-9832-CD9E4234C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966E1-8E61-EB4F-98F1-2A3FD59E97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9BD906-8014-9840-917B-BB1BE8DAFC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27BADE-2CE5-5944-BEA5-62B1C3EC9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11/1/25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03CA7E-B3F3-234F-8843-CF1B52B77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134860-30EA-0542-8960-CB71E62C2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89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C88B9-4FB0-594D-A3C8-B920561FA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7FA0D-47CF-804B-ADFF-C1FBCED749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8A6630-46C1-304B-A31B-F683D3BB03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370E5B-079D-3F45-BA01-C9AD653DD8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44FE20-58B7-C04B-89A7-8A255F953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F9B889-CD5B-FB44-BD7D-2E3DE5505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11/1/25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387C38-F33E-E940-9D72-4F6625110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7AD557-D134-064A-A446-E4906B196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858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40F00-4145-DC48-8A29-69BD407CC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1F20B2-462E-F746-BEE4-DA5D2AEAF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11/1/25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4A5F02-D3A0-BC45-924B-F537F6879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CF2EDE-B42D-1C45-90AC-640331E15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854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6AF63A-2A34-9443-B3A1-F7AD55578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11/1/25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3C7C21-24A3-624B-A109-AFC30D880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615E5C-B91F-6D4D-8F8C-60C86E7D4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729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9C247-E86B-7E4B-85FF-22E979058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83CF5-B7AC-6344-BEDE-C1DC558C5D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1ED479-0A31-E74C-8CFF-F83A737191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865952-1887-1242-A818-B48F8B40E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11/1/25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17D4EC-6C26-3343-BE5B-4618E517A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A067B4-9192-2B4D-B6BA-824E85256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164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44F99-0279-E64B-A930-DD2DFE162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C7E41E-F499-FD45-AA09-8683F0D29C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769A72-A800-F842-8071-88E5094D6D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4FD681-5220-164D-B93A-853D489B8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11/1/25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E4C564-BE03-8440-959E-1F518EC84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C254D9-1620-D64C-AF60-D151063F3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719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C499A-DD86-D24E-A290-0B13D2D72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35DDCF-0EB5-0B42-9F19-70570301C1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52CFB8-64A2-6243-A467-76379B3B6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11/1/25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925434-A072-D245-8271-A14B1A4D6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4B9DA-DDF0-C34D-8AFE-B5CAAEF3A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313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D15942-F520-8140-82C2-549925B917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1EF6AE-3D2E-074D-80D3-C0295DA011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09591-4801-7644-BB66-3C5CEB6BF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11/1/25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498A03-9EC2-5942-8AF7-4EE129F90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D53ECD-47F7-6640-A418-41363373A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868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D098E4-3EF4-B940-93C1-1851E23AD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1D4DF2-BE2A-2040-9A6C-84673A4812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C1B57D-0C15-8044-9772-0CEEEAA1C9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338502-F17E-DC4B-9F41-BAD476EB8CDC}" type="datetimeFigureOut">
              <a:rPr lang="en-US" smtClean="0"/>
              <a:t>11/1/25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1FF6CD-B256-804D-A913-74F1B54B8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141D8-076E-4C4E-BD9C-F12DD0F4B4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29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C8180ED6-2ACB-A649-8746-79EC781250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58380" y="1260489"/>
            <a:ext cx="8075240" cy="1710011"/>
          </a:xfrm>
          <a:prstGeom prst="roundRect">
            <a:avLst/>
          </a:prstGeom>
          <a:solidFill>
            <a:srgbClr val="005825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r>
              <a:rPr lang="en-US" altLang="zh-CN" sz="4000" b="1" dirty="0">
                <a:latin typeface="微软雅黑" pitchFamily="34" charset="-122"/>
                <a:ea typeface="微软雅黑" pitchFamily="34" charset="-122"/>
              </a:rPr>
              <a:t>Weighted least squares</a:t>
            </a:r>
            <a:endParaRPr lang="zh-CN" altLang="en-US" sz="40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副标题 2">
            <a:extLst>
              <a:ext uri="{FF2B5EF4-FFF2-40B4-BE49-F238E27FC236}">
                <a16:creationId xmlns:a16="http://schemas.microsoft.com/office/drawing/2014/main" id="{65B63C4A-E74D-EC4E-82DE-0EDC1FB3D0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87501"/>
            <a:ext cx="9144000" cy="1373086"/>
          </a:xfrm>
        </p:spPr>
        <p:txBody>
          <a:bodyPr>
            <a:normAutofit/>
          </a:bodyPr>
          <a:lstStyle/>
          <a:p>
            <a:r>
              <a:rPr lang="zh-CN" altLang="en-US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蒋智超</a:t>
            </a:r>
            <a:endParaRPr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en-US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</a:t>
            </a:r>
            <a:endParaRPr lang="en-US" altLang="zh-CN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2025</a:t>
            </a:r>
            <a:r>
              <a:rPr lang="zh-CN" altLang="en-US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年 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秋    </a:t>
            </a:r>
            <a:endParaRPr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68624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72"/>
    </mc:Choice>
    <mc:Fallback xmlns="">
      <p:transition spd="slow" advTm="257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Generalized least squares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2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C6594E3-7E8F-E048-8A2C-DFFA3212C37D}"/>
              </a:ext>
            </a:extLst>
          </p:cNvPr>
          <p:cNvSpPr txBox="1"/>
          <p:nvPr/>
        </p:nvSpPr>
        <p:spPr>
          <a:xfrm>
            <a:off x="838200" y="1828274"/>
            <a:ext cx="4709944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/>
              <a:t>Generalized Gauss-Markov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/>
              <a:t>Two leading cases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endParaRPr lang="en-US" sz="2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054866C-4A84-7349-BAB9-F5797ED757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1206" y="2384504"/>
            <a:ext cx="4432300" cy="457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43E976E-36F4-B240-958F-0E3CABFD26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3856" y="2887818"/>
            <a:ext cx="7747000" cy="6477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0D1A6E8-28C7-CB4C-9A5E-8BB93542AE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4400" y="4491346"/>
            <a:ext cx="2641600" cy="4826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55E6339-8066-4546-A042-FDB1BCB636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15178" y="5158740"/>
            <a:ext cx="24765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105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OLS estimator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3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5A8CAFA-8DF7-1146-8C91-D220F721C23C}"/>
              </a:ext>
            </a:extLst>
          </p:cNvPr>
          <p:cNvSpPr txBox="1"/>
          <p:nvPr/>
        </p:nvSpPr>
        <p:spPr>
          <a:xfrm>
            <a:off x="838200" y="1799983"/>
            <a:ext cx="7835799" cy="3293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We can still use the OLS estimator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It is not BLUE under the Generalized Gauss-Markov model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C6C8B7-1ABF-7D4A-81FC-FE7B725E0E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6250" y="1843925"/>
            <a:ext cx="1993900" cy="3937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E13252E-2C93-4740-971E-D304FC24FE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3264" y="2468196"/>
            <a:ext cx="5105400" cy="431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25753AF-57FE-8F4F-8447-F795BD88EE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9936" y="3150366"/>
            <a:ext cx="4305300" cy="118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858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BLUE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4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5B5FB42-497D-EA49-863E-D19F95E093A3}"/>
              </a:ext>
            </a:extLst>
          </p:cNvPr>
          <p:cNvSpPr txBox="1"/>
          <p:nvPr/>
        </p:nvSpPr>
        <p:spPr>
          <a:xfrm>
            <a:off x="838200" y="1799983"/>
            <a:ext cx="11175880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/>
              <a:t>We</a:t>
            </a:r>
            <a:r>
              <a:rPr lang="zh-CN" altLang="en-US" sz="2400" dirty="0"/>
              <a:t> </a:t>
            </a:r>
            <a:r>
              <a:rPr lang="en-US" altLang="zh-CN" sz="2400" dirty="0"/>
              <a:t>can transform the Generalized Gauss-Markov model into the Gauss-Markov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 BLUE is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1E3BA9-CDBF-5D44-91A1-C8C49FAFEE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1364" y="2339023"/>
            <a:ext cx="3365500" cy="533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34F5D5A-6890-2741-B4BE-66A097179D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0546" y="4849498"/>
            <a:ext cx="6908800" cy="4826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0159A5C-F1F8-5542-A17E-5937EA8666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29110" y="5277756"/>
            <a:ext cx="6045200" cy="15367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A513E20-3656-3D46-B27D-0061B4BC7B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45184" y="2865939"/>
            <a:ext cx="6400800" cy="4318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21C767B-F527-E04D-A86D-7EC8D98FC61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79484" y="3342424"/>
            <a:ext cx="5740400" cy="571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02EC6F0-B77A-1846-A634-07893B386EE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08085" y="4335729"/>
            <a:ext cx="5055236" cy="48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535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Weighted least squares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5" name="内容占位符 2">
            <a:extLst>
              <a:ext uri="{FF2B5EF4-FFF2-40B4-BE49-F238E27FC236}">
                <a16:creationId xmlns:a16="http://schemas.microsoft.com/office/drawing/2014/main" id="{A0293DA8-2870-C84B-90F0-70EC544611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14400" y="1463040"/>
            <a:ext cx="8261351" cy="4656139"/>
          </a:xfrm>
          <a:ln>
            <a:noFill/>
          </a:ln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altLang="zh-CN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We focus on the covariance structure </a:t>
            </a:r>
          </a:p>
          <a:p>
            <a:pPr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Weighted least squares (WLS) estimator</a:t>
            </a:r>
          </a:p>
          <a:p>
            <a:pPr lvl="1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v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u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buFont typeface="Wingdings" pitchFamily="2" charset="2"/>
              <a:buNone/>
            </a:pPr>
            <a:endParaRPr lang="en-US" altLang="zh-CN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endParaRPr lang="zh-CN" altLang="en-US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5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1CA46CF-C468-384E-8A62-1696F2B661E7}"/>
              </a:ext>
            </a:extLst>
          </p:cNvPr>
          <p:cNvSpPr txBox="1"/>
          <p:nvPr/>
        </p:nvSpPr>
        <p:spPr>
          <a:xfrm>
            <a:off x="5636794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FB0321C-FBB4-15C9-0376-02F6CBBB33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9000" y="1652770"/>
            <a:ext cx="2641600" cy="431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E0D5A8A-8C10-7E67-44A0-E83AF97F0C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2335" y="2749324"/>
            <a:ext cx="6591300" cy="9017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C9802E1-1F06-FDE9-FD54-9974E0BB2E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7106" y="3566479"/>
            <a:ext cx="4000500" cy="25527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31965EF-7291-B463-B1C0-ABB03FE100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81401" y="6081259"/>
            <a:ext cx="30226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760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Weighted least squares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195" name="内容占位符 2">
                <a:extLst>
                  <a:ext uri="{FF2B5EF4-FFF2-40B4-BE49-F238E27FC236}">
                    <a16:creationId xmlns:a16="http://schemas.microsoft.com/office/drawing/2014/main" id="{A0293DA8-2870-C84B-90F0-70EC544611AC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914400" y="1463040"/>
                <a:ext cx="8261351" cy="4656139"/>
              </a:xfrm>
              <a:ln>
                <a:noFill/>
              </a:ln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  <a:buClr>
                    <a:schemeClr val="tx1"/>
                  </a:buClr>
                </a:pPr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Generalized Normal linear model</a:t>
                </a:r>
              </a:p>
              <a:p>
                <a:pPr>
                  <a:lnSpc>
                    <a:spcPct val="150000"/>
                  </a:lnSpc>
                  <a:buClr>
                    <a:schemeClr val="tx1"/>
                  </a:buClr>
                </a:pPr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>
                  <a:lnSpc>
                    <a:spcPct val="150000"/>
                  </a:lnSpc>
                  <a:buClr>
                    <a:schemeClr val="tx1"/>
                  </a:buClr>
                </a:pPr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The </a:t>
                </a:r>
                <a:r>
                  <a:rPr lang="en-US" sz="2400" i="1" dirty="0" err="1"/>
                  <a:t>lm</a:t>
                </a:r>
                <a:r>
                  <a:rPr lang="en-US" sz="2400" dirty="0"/>
                  <a:t> function with </a:t>
                </a:r>
                <a:r>
                  <a:rPr lang="en-US" sz="2400" i="1" dirty="0"/>
                  <a:t>weights</a:t>
                </a:r>
                <a:r>
                  <a:rPr lang="en-US" sz="2400" dirty="0"/>
                  <a:t> reports the standard errors, t-statistics,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400" dirty="0"/>
                  <a:t> values based on this model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This</a:t>
                </a:r>
                <a:r>
                  <a:rPr lang="zh-CN" altLang="en-US" sz="2400" dirty="0"/>
                  <a:t> </a:t>
                </a:r>
                <a:r>
                  <a:rPr lang="en-US" altLang="zh-CN" sz="2400" dirty="0"/>
                  <a:t>assumes that the weights fully capture the heteroskedasticity, which is unrealistic </a:t>
                </a:r>
                <a:r>
                  <a:rPr lang="en-US" sz="2400" dirty="0"/>
                  <a:t>in many problems</a:t>
                </a:r>
              </a:p>
              <a:p>
                <a:pPr>
                  <a:lnSpc>
                    <a:spcPct val="150000"/>
                  </a:lnSpc>
                  <a:buClr>
                    <a:schemeClr val="tx1"/>
                  </a:buClr>
                </a:pPr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>
                  <a:lnSpc>
                    <a:spcPct val="150000"/>
                  </a:lnSpc>
                  <a:buClr>
                    <a:srgbClr val="FF0000"/>
                  </a:buClr>
                </a:pPr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lvl="1">
                  <a:lnSpc>
                    <a:spcPct val="150000"/>
                  </a:lnSpc>
                  <a:buClr>
                    <a:srgbClr val="FF0000"/>
                  </a:buClr>
                  <a:buFont typeface="Wingdings" pitchFamily="2" charset="2"/>
                  <a:buChar char="v"/>
                </a:pPr>
                <a:endParaRPr lang="en-US" altLang="zh-CN" sz="18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>
                  <a:lnSpc>
                    <a:spcPct val="150000"/>
                  </a:lnSpc>
                  <a:buFont typeface="Wingdings" pitchFamily="2" charset="2"/>
                  <a:buChar char="u"/>
                </a:pPr>
                <a:endParaRPr lang="en-US" altLang="zh-CN" sz="18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>
                  <a:buFont typeface="Wingdings" pitchFamily="2" charset="2"/>
                  <a:buNone/>
                </a:pPr>
                <a:endParaRPr lang="en-US" altLang="zh-CN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endParaRPr lang="zh-CN" altLang="en-US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</p:txBody>
          </p:sp>
        </mc:Choice>
        <mc:Fallback>
          <p:sp>
            <p:nvSpPr>
              <p:cNvPr id="8195" name="内容占位符 2">
                <a:extLst>
                  <a:ext uri="{FF2B5EF4-FFF2-40B4-BE49-F238E27FC236}">
                    <a16:creationId xmlns:a16="http://schemas.microsoft.com/office/drawing/2014/main" id="{A0293DA8-2870-C84B-90F0-70EC544611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4400" y="1463040"/>
                <a:ext cx="8261351" cy="4656139"/>
              </a:xfrm>
              <a:blipFill>
                <a:blip r:embed="rId3"/>
                <a:stretch>
                  <a:fillRect l="-10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6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1CA46CF-C468-384E-8A62-1696F2B661E7}"/>
              </a:ext>
            </a:extLst>
          </p:cNvPr>
          <p:cNvSpPr txBox="1"/>
          <p:nvPr/>
        </p:nvSpPr>
        <p:spPr>
          <a:xfrm>
            <a:off x="5636794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7F04B20-8026-6553-6662-AFF91789ED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1520" y="2172470"/>
            <a:ext cx="3619500" cy="3937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B95E221-002A-85FD-7F98-6A89A80779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2003" y="2626499"/>
            <a:ext cx="5626100" cy="62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26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Weighted least squares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195" name="内容占位符 2">
                <a:extLst>
                  <a:ext uri="{FF2B5EF4-FFF2-40B4-BE49-F238E27FC236}">
                    <a16:creationId xmlns:a16="http://schemas.microsoft.com/office/drawing/2014/main" id="{A0293DA8-2870-C84B-90F0-70EC544611AC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914400" y="1463040"/>
                <a:ext cx="8261351" cy="4656139"/>
              </a:xfrm>
              <a:ln>
                <a:noFill/>
              </a:ln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  <a:buClr>
                    <a:schemeClr val="tx1"/>
                  </a:buClr>
                </a:pPr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Asymptotic inference based on the heteroskedastic linear model</a:t>
                </a:r>
              </a:p>
              <a:p>
                <a:pPr marL="0" indent="0">
                  <a:lnSpc>
                    <a:spcPct val="150000"/>
                  </a:lnSpc>
                  <a:buClr>
                    <a:schemeClr val="tx1"/>
                  </a:buClr>
                  <a:buNone/>
                </a:pPr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lvl="1">
                  <a:lnSpc>
                    <a:spcPct val="150000"/>
                  </a:lnSpc>
                  <a:buClr>
                    <a:schemeClr val="tx1"/>
                  </a:buCl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𝜖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0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 are independent errors with mean zero and variances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sSub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𝜎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𝑖</m:t>
                        </m:r>
                      </m:sub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2</m:t>
                        </m:r>
                      </m:sup>
                    </m:sSubSup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.</m:t>
                    </m:r>
                  </m:oMath>
                </a14:m>
                <a:endParaRPr lang="en-US" altLang="zh-CN" sz="20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>
                  <a:lnSpc>
                    <a:spcPct val="150000"/>
                  </a:lnSpc>
                  <a:buClr>
                    <a:schemeClr val="tx1"/>
                  </a:buClr>
                </a:pPr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It is possible that the variances in the WLS estimator is misspecified: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1/</m:t>
                    </m:r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>
                  <a:lnSpc>
                    <a:spcPct val="150000"/>
                  </a:lnSpc>
                  <a:buClr>
                    <a:srgbClr val="FF0000"/>
                  </a:buClr>
                </a:pPr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lvl="1">
                  <a:lnSpc>
                    <a:spcPct val="150000"/>
                  </a:lnSpc>
                  <a:buClr>
                    <a:srgbClr val="FF0000"/>
                  </a:buClr>
                  <a:buFont typeface="Wingdings" pitchFamily="2" charset="2"/>
                  <a:buChar char="v"/>
                </a:pPr>
                <a:endParaRPr lang="en-US" altLang="zh-CN" sz="18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>
                  <a:lnSpc>
                    <a:spcPct val="150000"/>
                  </a:lnSpc>
                  <a:buFont typeface="Wingdings" pitchFamily="2" charset="2"/>
                  <a:buChar char="u"/>
                </a:pPr>
                <a:endParaRPr lang="en-US" altLang="zh-CN" sz="18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>
                  <a:buFont typeface="Wingdings" pitchFamily="2" charset="2"/>
                  <a:buNone/>
                </a:pPr>
                <a:endParaRPr lang="en-US" altLang="zh-CN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endParaRPr lang="zh-CN" altLang="en-US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</p:txBody>
          </p:sp>
        </mc:Choice>
        <mc:Fallback>
          <p:sp>
            <p:nvSpPr>
              <p:cNvPr id="8195" name="内容占位符 2">
                <a:extLst>
                  <a:ext uri="{FF2B5EF4-FFF2-40B4-BE49-F238E27FC236}">
                    <a16:creationId xmlns:a16="http://schemas.microsoft.com/office/drawing/2014/main" id="{A0293DA8-2870-C84B-90F0-70EC544611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4400" y="1463040"/>
                <a:ext cx="8261351" cy="4656139"/>
              </a:xfrm>
              <a:blipFill>
                <a:blip r:embed="rId3"/>
                <a:stretch>
                  <a:fillRect l="-1075" r="-30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7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1CA46CF-C468-384E-8A62-1696F2B661E7}"/>
              </a:ext>
            </a:extLst>
          </p:cNvPr>
          <p:cNvSpPr txBox="1"/>
          <p:nvPr/>
        </p:nvSpPr>
        <p:spPr>
          <a:xfrm>
            <a:off x="5636794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D095758-BF4C-05FF-382D-1759A0ABA7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1581" y="2140433"/>
            <a:ext cx="1844543" cy="51647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5DE81F2-F0DA-7FC0-44BE-6E099045A5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6276" y="4490976"/>
            <a:ext cx="4306723" cy="2208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737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Weighted least squares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195" name="内容占位符 2">
                <a:extLst>
                  <a:ext uri="{FF2B5EF4-FFF2-40B4-BE49-F238E27FC236}">
                    <a16:creationId xmlns:a16="http://schemas.microsoft.com/office/drawing/2014/main" id="{A0293DA8-2870-C84B-90F0-70EC544611AC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914400" y="1463040"/>
                <a:ext cx="8261351" cy="4656139"/>
              </a:xfrm>
              <a:ln>
                <a:noFill/>
              </a:ln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  <a:buClr>
                    <a:schemeClr val="tx1"/>
                  </a:buClr>
                </a:pPr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There is no guarantee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altLang="zh-CN" sz="2400" dirty="0"/>
                  <a:t> is BLUE, but it is still unbiased</a:t>
                </a:r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>
                  <a:lnSpc>
                    <a:spcPct val="150000"/>
                  </a:lnSpc>
                  <a:buClr>
                    <a:schemeClr val="tx1"/>
                  </a:buClr>
                </a:pPr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We can apply LLN to show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altLang="zh-CN" sz="2400" dirty="0"/>
                  <a:t> is consistent for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>
                  <a:lnSpc>
                    <a:spcPct val="150000"/>
                  </a:lnSpc>
                  <a:buClr>
                    <a:schemeClr val="tx1"/>
                  </a:buClr>
                </a:pPr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We can apply CLT to show</a:t>
                </a:r>
              </a:p>
              <a:p>
                <a:pPr>
                  <a:lnSpc>
                    <a:spcPct val="150000"/>
                  </a:lnSpc>
                  <a:buClr>
                    <a:srgbClr val="FF0000"/>
                  </a:buClr>
                </a:pPr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lvl="1">
                  <a:lnSpc>
                    <a:spcPct val="150000"/>
                  </a:lnSpc>
                  <a:buClr>
                    <a:srgbClr val="FF0000"/>
                  </a:buClr>
                  <a:buFont typeface="Wingdings" pitchFamily="2" charset="2"/>
                  <a:buChar char="v"/>
                </a:pPr>
                <a:endParaRPr lang="en-US" altLang="zh-CN" sz="18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>
                  <a:lnSpc>
                    <a:spcPct val="150000"/>
                  </a:lnSpc>
                  <a:buFont typeface="Wingdings" pitchFamily="2" charset="2"/>
                  <a:buChar char="u"/>
                </a:pPr>
                <a:endParaRPr lang="en-US" altLang="zh-CN" sz="18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>
                  <a:buFont typeface="Wingdings" pitchFamily="2" charset="2"/>
                  <a:buNone/>
                </a:pPr>
                <a:endParaRPr lang="en-US" altLang="zh-CN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endParaRPr lang="zh-CN" altLang="en-US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</p:txBody>
          </p:sp>
        </mc:Choice>
        <mc:Fallback>
          <p:sp>
            <p:nvSpPr>
              <p:cNvPr id="8195" name="内容占位符 2">
                <a:extLst>
                  <a:ext uri="{FF2B5EF4-FFF2-40B4-BE49-F238E27FC236}">
                    <a16:creationId xmlns:a16="http://schemas.microsoft.com/office/drawing/2014/main" id="{A0293DA8-2870-C84B-90F0-70EC544611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4400" y="1463040"/>
                <a:ext cx="8261351" cy="4656139"/>
              </a:xfrm>
              <a:blipFill>
                <a:blip r:embed="rId3"/>
                <a:stretch>
                  <a:fillRect l="-10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8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1CA46CF-C468-384E-8A62-1696F2B661E7}"/>
              </a:ext>
            </a:extLst>
          </p:cNvPr>
          <p:cNvSpPr txBox="1"/>
          <p:nvPr/>
        </p:nvSpPr>
        <p:spPr>
          <a:xfrm>
            <a:off x="5636794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65145B-976B-8E21-3225-02673A6558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7644" y="3026549"/>
            <a:ext cx="1638300" cy="444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E0AE970-2C3B-E1A4-3420-77682B2631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3579" y="3555396"/>
            <a:ext cx="7366000" cy="914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C57626E-5F25-302D-4499-BDDD53D88F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06183" y="4469796"/>
            <a:ext cx="7835900" cy="97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221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Feasible generalized least squares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195" name="内容占位符 2">
                <a:extLst>
                  <a:ext uri="{FF2B5EF4-FFF2-40B4-BE49-F238E27FC236}">
                    <a16:creationId xmlns:a16="http://schemas.microsoft.com/office/drawing/2014/main" id="{A0293DA8-2870-C84B-90F0-70EC544611AC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914400" y="1463040"/>
                <a:ext cx="8261351" cy="4656139"/>
              </a:xfrm>
              <a:ln>
                <a:noFill/>
              </a:ln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  <a:buClr>
                    <a:schemeClr val="tx1"/>
                  </a:buClr>
                </a:pPr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Assume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𝜖</m:t>
                    </m:r>
                  </m:oMath>
                </a14:m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 </a:t>
                </a:r>
                <a:r>
                  <a:rPr lang="en-US" sz="2400" dirty="0"/>
                  <a:t>has mean zero and covariance </a:t>
                </a:r>
                <a:r>
                  <a:rPr lang="en-US" sz="2400" dirty="0" err="1"/>
                  <a:t>diag</a:t>
                </a:r>
                <a:r>
                  <a:rPr lang="en-US" sz="2400" dirty="0"/>
                  <a:t>{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400" i="1">
                        <a:latin typeface="Cambria Math" panose="02040503050406030204" pitchFamily="18" charset="0"/>
                      </a:rPr>
                      <m:t>,…,</m:t>
                    </m:r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2400" dirty="0"/>
                  <a:t>}</a:t>
                </a:r>
              </a:p>
              <a:p>
                <a:pPr lvl="1">
                  <a:lnSpc>
                    <a:spcPct val="150000"/>
                  </a:lnSpc>
                  <a:buClr>
                    <a:schemeClr val="tx1"/>
                  </a:buClr>
                </a:pPr>
                <a:r>
                  <a:rPr lang="en-US" altLang="zh-CN" sz="20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If we know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sSub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𝜎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𝑖</m:t>
                        </m:r>
                      </m:sub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altLang="zh-CN" sz="20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, then we can apply WLS</a:t>
                </a:r>
              </a:p>
              <a:p>
                <a:pPr lvl="1">
                  <a:lnSpc>
                    <a:spcPct val="150000"/>
                  </a:lnSpc>
                  <a:buClr>
                    <a:schemeClr val="tx1"/>
                  </a:buClr>
                </a:pPr>
                <a:r>
                  <a:rPr lang="en-US" altLang="zh-CN" sz="20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If we do not know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sSub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𝜎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𝑖</m:t>
                        </m:r>
                      </m:sub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altLang="zh-CN" sz="20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, then we need to estimate them first</a:t>
                </a:r>
              </a:p>
              <a:p>
                <a:pPr>
                  <a:lnSpc>
                    <a:spcPct val="150000"/>
                  </a:lnSpc>
                  <a:buClr>
                    <a:schemeClr val="tx1"/>
                  </a:buClr>
                </a:pPr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Feasible generalized least squares (GLS)</a:t>
                </a:r>
              </a:p>
              <a:p>
                <a:pPr>
                  <a:lnSpc>
                    <a:spcPct val="150000"/>
                  </a:lnSpc>
                  <a:buClr>
                    <a:srgbClr val="FF0000"/>
                  </a:buClr>
                </a:pPr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lvl="1">
                  <a:lnSpc>
                    <a:spcPct val="150000"/>
                  </a:lnSpc>
                  <a:buClr>
                    <a:srgbClr val="FF0000"/>
                  </a:buClr>
                  <a:buFont typeface="Wingdings" pitchFamily="2" charset="2"/>
                  <a:buChar char="v"/>
                </a:pPr>
                <a:endParaRPr lang="en-US" altLang="zh-CN" sz="18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>
                  <a:lnSpc>
                    <a:spcPct val="150000"/>
                  </a:lnSpc>
                  <a:buFont typeface="Wingdings" pitchFamily="2" charset="2"/>
                  <a:buChar char="u"/>
                </a:pPr>
                <a:endParaRPr lang="en-US" altLang="zh-CN" sz="18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>
                  <a:buFont typeface="Wingdings" pitchFamily="2" charset="2"/>
                  <a:buNone/>
                </a:pPr>
                <a:endParaRPr lang="en-US" altLang="zh-CN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endParaRPr lang="zh-CN" altLang="en-US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</p:txBody>
          </p:sp>
        </mc:Choice>
        <mc:Fallback>
          <p:sp>
            <p:nvSpPr>
              <p:cNvPr id="8195" name="内容占位符 2">
                <a:extLst>
                  <a:ext uri="{FF2B5EF4-FFF2-40B4-BE49-F238E27FC236}">
                    <a16:creationId xmlns:a16="http://schemas.microsoft.com/office/drawing/2014/main" id="{A0293DA8-2870-C84B-90F0-70EC544611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4400" y="1463040"/>
                <a:ext cx="8261351" cy="4656139"/>
              </a:xfrm>
              <a:blipFill>
                <a:blip r:embed="rId3"/>
                <a:stretch>
                  <a:fillRect l="-10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9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1CA46CF-C468-384E-8A62-1696F2B661E7}"/>
              </a:ext>
            </a:extLst>
          </p:cNvPr>
          <p:cNvSpPr txBox="1"/>
          <p:nvPr/>
        </p:nvSpPr>
        <p:spPr>
          <a:xfrm>
            <a:off x="5636794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87D821F-25E7-08A4-2C80-7FFC1993BC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2043" y="3845098"/>
            <a:ext cx="7273708" cy="2392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05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Feasible generalized least squares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10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4522FB14-2FD6-394D-BBFF-17F87462E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46" y="1434706"/>
            <a:ext cx="7616203" cy="5177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148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Remark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5" name="内容占位符 2">
            <a:extLst>
              <a:ext uri="{FF2B5EF4-FFF2-40B4-BE49-F238E27FC236}">
                <a16:creationId xmlns:a16="http://schemas.microsoft.com/office/drawing/2014/main" id="{A0293DA8-2870-C84B-90F0-70EC544611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14400" y="1463040"/>
            <a:ext cx="8261351" cy="4656139"/>
          </a:xfrm>
          <a:ln>
            <a:noFill/>
          </a:ln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altLang="zh-CN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We can change the model on the variances in step 2 based on our understanding of heteroskedasticity</a:t>
            </a:r>
            <a:endParaRPr lang="en-US" sz="2400" dirty="0"/>
          </a:p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altLang="zh-CN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It is unusual for practitioners to use FGLS</a:t>
            </a:r>
          </a:p>
          <a:p>
            <a:pPr lvl="1">
              <a:lnSpc>
                <a:spcPct val="150000"/>
              </a:lnSpc>
              <a:buClr>
                <a:schemeClr val="tx1"/>
              </a:buClr>
            </a:pPr>
            <a:r>
              <a:rPr lang="en-US" altLang="zh-CN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EHW standard errors are convenient under heteroskedasticity</a:t>
            </a:r>
          </a:p>
          <a:p>
            <a:pPr lvl="1">
              <a:lnSpc>
                <a:spcPct val="150000"/>
              </a:lnSpc>
              <a:buClr>
                <a:schemeClr val="tx1"/>
              </a:buClr>
            </a:pPr>
            <a:r>
              <a:rPr lang="en-US" altLang="zh-CN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Efficiency gain is usually small</a:t>
            </a:r>
          </a:p>
          <a:p>
            <a:pPr lvl="1">
              <a:lnSpc>
                <a:spcPct val="150000"/>
              </a:lnSpc>
              <a:buClr>
                <a:schemeClr val="tx1"/>
              </a:buClr>
            </a:pPr>
            <a:r>
              <a:rPr lang="en-US" altLang="zh-CN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Linear model is likely to be misspecified. If so, OLS and FGLS estimate different parameters. The OLS has the interpretation of best linear approximations.</a:t>
            </a:r>
          </a:p>
          <a:p>
            <a:pPr>
              <a:lnSpc>
                <a:spcPct val="150000"/>
              </a:lnSpc>
              <a:buClr>
                <a:srgbClr val="FF0000"/>
              </a:buClr>
            </a:pPr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v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u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buFont typeface="Wingdings" pitchFamily="2" charset="2"/>
              <a:buNone/>
            </a:pPr>
            <a:endParaRPr lang="en-US" altLang="zh-CN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endParaRPr lang="zh-CN" altLang="en-US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11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1CA46CF-C468-384E-8A62-1696F2B661E7}"/>
              </a:ext>
            </a:extLst>
          </p:cNvPr>
          <p:cNvSpPr txBox="1"/>
          <p:nvPr/>
        </p:nvSpPr>
        <p:spPr>
          <a:xfrm>
            <a:off x="5636794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5963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Aggregate data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195" name="内容占位符 2">
                <a:extLst>
                  <a:ext uri="{FF2B5EF4-FFF2-40B4-BE49-F238E27FC236}">
                    <a16:creationId xmlns:a16="http://schemas.microsoft.com/office/drawing/2014/main" id="{A0293DA8-2870-C84B-90F0-70EC544611AC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914400" y="1463040"/>
                <a:ext cx="8261351" cy="4656139"/>
              </a:xfrm>
              <a:ln>
                <a:noFill/>
              </a:ln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  <a:buClr>
                    <a:schemeClr val="tx1"/>
                  </a:buClr>
                </a:pPr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In some cases,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(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𝑖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𝑦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𝑖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)</m:t>
                    </m:r>
                  </m:oMath>
                </a14:m>
                <a:r>
                  <a:rPr lang="en-US" sz="2400" dirty="0"/>
                  <a:t> come from aggregate data</a:t>
                </a:r>
              </a:p>
              <a:p>
                <a:pPr>
                  <a:lnSpc>
                    <a:spcPct val="150000"/>
                  </a:lnSpc>
                  <a:buClr>
                    <a:schemeClr val="tx1"/>
                  </a:buClr>
                </a:pPr>
                <a:endParaRPr lang="en-US" sz="2400" dirty="0"/>
              </a:p>
              <a:p>
                <a:pPr lvl="1">
                  <a:lnSpc>
                    <a:spcPct val="150000"/>
                  </a:lnSpc>
                  <a:buClr>
                    <a:schemeClr val="tx1"/>
                  </a:buClr>
                </a:pPr>
                <a:r>
                  <a:rPr lang="en-US" sz="2000" dirty="0"/>
                  <a:t>Example: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2000" dirty="0"/>
                  <a:t> is the voting status of individual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000" dirty="0"/>
                  <a:t> in precinct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2000" dirty="0"/>
                  <a:t> is the binary racial status</a:t>
                </a:r>
              </a:p>
              <a:p>
                <a:pPr lvl="1">
                  <a:lnSpc>
                    <a:spcPct val="150000"/>
                  </a:lnSpc>
                  <a:buClr>
                    <a:schemeClr val="tx1"/>
                  </a:buClr>
                </a:pPr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2000" dirty="0"/>
                  <a:t> follow a homoscedastic linear model, then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𝑣𝑎𝑟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⋅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𝑣𝑎𝑟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)/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lvl="1">
                  <a:lnSpc>
                    <a:spcPct val="150000"/>
                  </a:lnSpc>
                  <a:buClr>
                    <a:schemeClr val="tx1"/>
                  </a:buClr>
                </a:pPr>
                <a:r>
                  <a:rPr lang="en-US" altLang="zh-CN" sz="20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A natural choice of weights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𝑤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𝑖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=1/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𝑛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𝑖</m:t>
                        </m:r>
                      </m:sub>
                    </m:sSub>
                  </m:oMath>
                </a14:m>
                <a:endParaRPr lang="en-US" altLang="zh-CN" sz="20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lvl="1">
                  <a:lnSpc>
                    <a:spcPct val="150000"/>
                  </a:lnSpc>
                  <a:buClr>
                    <a:schemeClr val="tx1"/>
                  </a:buClr>
                </a:pPr>
                <a:endParaRPr lang="en-US" sz="2000" dirty="0"/>
              </a:p>
              <a:p>
                <a:pPr lvl="1">
                  <a:lnSpc>
                    <a:spcPct val="150000"/>
                  </a:lnSpc>
                  <a:buClr>
                    <a:srgbClr val="FF0000"/>
                  </a:buClr>
                  <a:buFont typeface="Wingdings" pitchFamily="2" charset="2"/>
                  <a:buChar char="v"/>
                </a:pPr>
                <a:endParaRPr lang="en-US" altLang="zh-CN" sz="18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>
                  <a:lnSpc>
                    <a:spcPct val="150000"/>
                  </a:lnSpc>
                  <a:buFont typeface="Wingdings" pitchFamily="2" charset="2"/>
                  <a:buChar char="u"/>
                </a:pPr>
                <a:endParaRPr lang="en-US" altLang="zh-CN" sz="18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>
                  <a:buFont typeface="Wingdings" pitchFamily="2" charset="2"/>
                  <a:buNone/>
                </a:pPr>
                <a:endParaRPr lang="en-US" altLang="zh-CN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endParaRPr lang="zh-CN" altLang="en-US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</p:txBody>
          </p:sp>
        </mc:Choice>
        <mc:Fallback>
          <p:sp>
            <p:nvSpPr>
              <p:cNvPr id="8195" name="内容占位符 2">
                <a:extLst>
                  <a:ext uri="{FF2B5EF4-FFF2-40B4-BE49-F238E27FC236}">
                    <a16:creationId xmlns:a16="http://schemas.microsoft.com/office/drawing/2014/main" id="{A0293DA8-2870-C84B-90F0-70EC544611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4400" y="1463040"/>
                <a:ext cx="8261351" cy="4656139"/>
              </a:xfrm>
              <a:blipFill>
                <a:blip r:embed="rId3"/>
                <a:stretch>
                  <a:fillRect l="-10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12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1CA46CF-C468-384E-8A62-1696F2B661E7}"/>
              </a:ext>
            </a:extLst>
          </p:cNvPr>
          <p:cNvSpPr txBox="1"/>
          <p:nvPr/>
        </p:nvSpPr>
        <p:spPr>
          <a:xfrm>
            <a:off x="5636794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FA5E9CD-E530-9A9B-D352-7B748C4520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1635" y="2095410"/>
            <a:ext cx="4076700" cy="78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978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28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Can we infer individual behavior from aggregate data?</a:t>
            </a:r>
            <a:endParaRPr lang="zh-CN" altLang="en-US" sz="28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195" name="内容占位符 2">
                <a:extLst>
                  <a:ext uri="{FF2B5EF4-FFF2-40B4-BE49-F238E27FC236}">
                    <a16:creationId xmlns:a16="http://schemas.microsoft.com/office/drawing/2014/main" id="{A0293DA8-2870-C84B-90F0-70EC544611AC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914400" y="1463040"/>
                <a:ext cx="8261351" cy="4656139"/>
              </a:xfrm>
              <a:ln>
                <a:noFill/>
              </a:ln>
            </p:spPr>
            <p:txBody>
              <a:bodyPr>
                <a:norm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Suppose that t</a:t>
                </a:r>
                <a:r>
                  <a:rPr lang="en-US" altLang="zh-CN" sz="2400" dirty="0"/>
                  <a:t>he</a:t>
                </a:r>
                <a:r>
                  <a:rPr lang="zh-CN" altLang="en-US" sz="2400" dirty="0"/>
                  <a:t> </a:t>
                </a:r>
                <a:r>
                  <a:rPr lang="en-US" altLang="zh-CN" sz="2400" dirty="0"/>
                  <a:t>precinct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/>
                  <a:t> has individual data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=1,…,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400" dirty="0"/>
              </a:p>
              <a:p>
                <a:pPr marL="742939" lvl="1" indent="-285750"/>
                <a:r>
                  <a:rPr lang="en-US" sz="2000" dirty="0"/>
                  <a:t>We only observe </a:t>
                </a:r>
              </a:p>
              <a:p>
                <a:pPr marL="285750" indent="-285750"/>
                <a:r>
                  <a:rPr lang="en-US" sz="2400" dirty="0"/>
                  <a:t>Goodman’s ecological regression</a:t>
                </a:r>
              </a:p>
              <a:p>
                <a:pPr marL="742939" lvl="1" indent="-285750"/>
                <a:r>
                  <a:rPr lang="en-US" sz="2000" dirty="0"/>
                  <a:t>Individual level model </a:t>
                </a:r>
              </a:p>
              <a:p>
                <a:pPr marL="742939" lvl="1" indent="-285750"/>
                <a:endParaRPr lang="en-US" sz="2000" dirty="0"/>
              </a:p>
              <a:p>
                <a:pPr marL="742939" lvl="1" indent="-285750"/>
                <a:r>
                  <a:rPr lang="en-US" sz="2000" dirty="0"/>
                  <a:t>Assume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/>
                  <a:t> are random and independent of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2000" dirty="0"/>
                  <a:t>’s, with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marL="742939" lvl="1" indent="-285750"/>
                <a:endParaRPr lang="en-US" sz="20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lvl="1">
                  <a:lnSpc>
                    <a:spcPct val="150000"/>
                  </a:lnSpc>
                  <a:buClr>
                    <a:schemeClr val="tx1"/>
                  </a:buClr>
                </a:pPr>
                <a:endParaRPr lang="en-US" altLang="zh-CN" sz="20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lvl="1">
                  <a:lnSpc>
                    <a:spcPct val="150000"/>
                  </a:lnSpc>
                  <a:buClr>
                    <a:schemeClr val="tx1"/>
                  </a:buClr>
                </a:pPr>
                <a:endParaRPr lang="en-US" sz="2000" dirty="0"/>
              </a:p>
              <a:p>
                <a:pPr lvl="1">
                  <a:lnSpc>
                    <a:spcPct val="150000"/>
                  </a:lnSpc>
                  <a:buClr>
                    <a:srgbClr val="FF0000"/>
                  </a:buClr>
                  <a:buFont typeface="Wingdings" pitchFamily="2" charset="2"/>
                  <a:buChar char="v"/>
                </a:pPr>
                <a:endParaRPr lang="en-US" altLang="zh-CN" sz="18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>
                  <a:lnSpc>
                    <a:spcPct val="150000"/>
                  </a:lnSpc>
                  <a:buFont typeface="Wingdings" pitchFamily="2" charset="2"/>
                  <a:buChar char="u"/>
                </a:pPr>
                <a:endParaRPr lang="en-US" altLang="zh-CN" sz="18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>
                  <a:buFont typeface="Wingdings" pitchFamily="2" charset="2"/>
                  <a:buNone/>
                </a:pPr>
                <a:endParaRPr lang="en-US" altLang="zh-CN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endParaRPr lang="zh-CN" altLang="en-US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</p:txBody>
          </p:sp>
        </mc:Choice>
        <mc:Fallback>
          <p:sp>
            <p:nvSpPr>
              <p:cNvPr id="8195" name="内容占位符 2">
                <a:extLst>
                  <a:ext uri="{FF2B5EF4-FFF2-40B4-BE49-F238E27FC236}">
                    <a16:creationId xmlns:a16="http://schemas.microsoft.com/office/drawing/2014/main" id="{A0293DA8-2870-C84B-90F0-70EC544611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4400" y="1463040"/>
                <a:ext cx="8261351" cy="4656139"/>
              </a:xfrm>
              <a:blipFill>
                <a:blip r:embed="rId3"/>
                <a:stretch>
                  <a:fillRect l="-1075" t="-163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13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1CA46CF-C468-384E-8A62-1696F2B661E7}"/>
              </a:ext>
            </a:extLst>
          </p:cNvPr>
          <p:cNvSpPr txBox="1"/>
          <p:nvPr/>
        </p:nvSpPr>
        <p:spPr>
          <a:xfrm>
            <a:off x="5636794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DC9417-E7C9-D1DF-2697-27180B567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5892" y="2021803"/>
            <a:ext cx="3607483" cy="6967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0F4D110-CAB9-D42E-3FEC-EF68EC9CED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8212" y="3357429"/>
            <a:ext cx="7988300" cy="431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AF24026-CD1E-4CCB-88E7-E531F6FABA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45797" y="4407405"/>
            <a:ext cx="3995058" cy="22252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56849EA-A5AE-77B7-AFFB-9178A9F8DA9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02362" y="5482094"/>
            <a:ext cx="5067300" cy="82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133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Ecological regression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195" name="内容占位符 2">
                <a:extLst>
                  <a:ext uri="{FF2B5EF4-FFF2-40B4-BE49-F238E27FC236}">
                    <a16:creationId xmlns:a16="http://schemas.microsoft.com/office/drawing/2014/main" id="{A0293DA8-2870-C84B-90F0-70EC544611AC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914400" y="1463040"/>
                <a:ext cx="9111343" cy="4656139"/>
              </a:xfrm>
              <a:ln>
                <a:noFill/>
              </a:ln>
            </p:spPr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150000"/>
                  </a:lnSpc>
                  <a:buClr>
                    <a:schemeClr val="tx1"/>
                  </a:buClr>
                </a:pPr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Linear relationship between the aggregated outcome and covariate</a:t>
                </a:r>
                <a:endParaRPr lang="en-US" sz="2400" dirty="0"/>
              </a:p>
              <a:p>
                <a:pPr>
                  <a:lnSpc>
                    <a:spcPct val="150000"/>
                  </a:lnSpc>
                  <a:buClr>
                    <a:schemeClr val="tx1"/>
                  </a:buClr>
                </a:pPr>
                <a:endParaRPr lang="en-US" sz="2400" dirty="0"/>
              </a:p>
              <a:p>
                <a:pPr lvl="1">
                  <a:lnSpc>
                    <a:spcPct val="150000"/>
                  </a:lnSpc>
                  <a:buClr>
                    <a:schemeClr val="tx1"/>
                  </a:buClr>
                </a:pPr>
                <a:r>
                  <a:rPr lang="en-US" sz="2000" dirty="0"/>
                  <a:t>Goodman (1953) suggested to use the OLS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⋅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on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000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⋅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,1−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⋅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/>
                  <a:t> to estimate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/>
                  <a:t>, and use the WLS with weights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. </a:t>
                </a:r>
              </a:p>
              <a:p>
                <a:pPr lvl="1">
                  <a:lnSpc>
                    <a:spcPct val="150000"/>
                  </a:lnSpc>
                  <a:buClr>
                    <a:schemeClr val="tx1"/>
                  </a:buClr>
                </a:pPr>
                <a:r>
                  <a:rPr lang="en-US" sz="2000" dirty="0"/>
                  <a:t>We should use the EHW standard error for inference since the variance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has a complicated form of heteroskedasticity.</a:t>
                </a:r>
              </a:p>
              <a:p>
                <a:pPr>
                  <a:lnSpc>
                    <a:spcPct val="150000"/>
                  </a:lnSpc>
                  <a:buClr>
                    <a:schemeClr val="tx1"/>
                  </a:buClr>
                </a:pPr>
                <a:r>
                  <a:rPr lang="en-US" sz="2400" dirty="0"/>
                  <a:t>Ecological fallacy: when the assumption is violated, it is possible that the regression based on aggregate data yields opposite result compared to the individual regression.</a:t>
                </a:r>
              </a:p>
              <a:p>
                <a:pPr lvl="1">
                  <a:lnSpc>
                    <a:spcPct val="150000"/>
                  </a:lnSpc>
                  <a:buClr>
                    <a:schemeClr val="tx1"/>
                  </a:buClr>
                </a:pPr>
                <a:endParaRPr lang="en-US" altLang="zh-CN" sz="20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lvl="1">
                  <a:lnSpc>
                    <a:spcPct val="150000"/>
                  </a:lnSpc>
                  <a:buClr>
                    <a:schemeClr val="tx1"/>
                  </a:buClr>
                </a:pPr>
                <a:endParaRPr lang="en-US" sz="2000" dirty="0"/>
              </a:p>
              <a:p>
                <a:pPr lvl="1">
                  <a:lnSpc>
                    <a:spcPct val="150000"/>
                  </a:lnSpc>
                  <a:buClr>
                    <a:srgbClr val="FF0000"/>
                  </a:buClr>
                  <a:buFont typeface="Wingdings" pitchFamily="2" charset="2"/>
                  <a:buChar char="v"/>
                </a:pPr>
                <a:endParaRPr lang="en-US" altLang="zh-CN" sz="18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>
                  <a:lnSpc>
                    <a:spcPct val="150000"/>
                  </a:lnSpc>
                  <a:buFont typeface="Wingdings" pitchFamily="2" charset="2"/>
                  <a:buChar char="u"/>
                </a:pPr>
                <a:endParaRPr lang="en-US" altLang="zh-CN" sz="18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>
                  <a:buFont typeface="Wingdings" pitchFamily="2" charset="2"/>
                  <a:buNone/>
                </a:pPr>
                <a:endParaRPr lang="en-US" altLang="zh-CN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endParaRPr lang="zh-CN" altLang="en-US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</p:txBody>
          </p:sp>
        </mc:Choice>
        <mc:Fallback>
          <p:sp>
            <p:nvSpPr>
              <p:cNvPr id="8195" name="内容占位符 2">
                <a:extLst>
                  <a:ext uri="{FF2B5EF4-FFF2-40B4-BE49-F238E27FC236}">
                    <a16:creationId xmlns:a16="http://schemas.microsoft.com/office/drawing/2014/main" id="{A0293DA8-2870-C84B-90F0-70EC544611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4400" y="1463040"/>
                <a:ext cx="9111343" cy="4656139"/>
              </a:xfrm>
              <a:blipFill>
                <a:blip r:embed="rId3"/>
                <a:stretch>
                  <a:fillRect l="-83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14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1CA46CF-C468-384E-8A62-1696F2B661E7}"/>
              </a:ext>
            </a:extLst>
          </p:cNvPr>
          <p:cNvSpPr txBox="1"/>
          <p:nvPr/>
        </p:nvSpPr>
        <p:spPr>
          <a:xfrm>
            <a:off x="5636794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E902A7-611E-DBCE-EF25-ECFF5DCFFC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3400" y="2200093"/>
            <a:ext cx="3022600" cy="4191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452A20A-472C-3BF1-C42B-CC424334D0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6111" y="2221865"/>
            <a:ext cx="1587500" cy="43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080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Local</a:t>
            </a:r>
            <a:r>
              <a:rPr lang="zh-CN" altLang="en-US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 </a:t>
            </a:r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linear regression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195" name="内容占位符 2">
                <a:extLst>
                  <a:ext uri="{FF2B5EF4-FFF2-40B4-BE49-F238E27FC236}">
                    <a16:creationId xmlns:a16="http://schemas.microsoft.com/office/drawing/2014/main" id="{A0293DA8-2870-C84B-90F0-70EC544611AC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914400" y="1463040"/>
                <a:ext cx="8261351" cy="4656139"/>
              </a:xfrm>
              <a:ln>
                <a:noFill/>
              </a:ln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  <a:buClr>
                    <a:schemeClr val="tx1"/>
                  </a:buClr>
                </a:pPr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We can approximate any smooth function at a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/>
                  <a:t> by a linear function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′(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pPr>
                  <a:lnSpc>
                    <a:spcPct val="150000"/>
                  </a:lnSpc>
                  <a:buClr>
                    <a:schemeClr val="tx1"/>
                  </a:buClr>
                </a:pPr>
                <a:endParaRPr lang="en-US" sz="2400" dirty="0"/>
              </a:p>
              <a:p>
                <a:pPr marL="457189" lvl="1" indent="0">
                  <a:lnSpc>
                    <a:spcPct val="150000"/>
                  </a:lnSpc>
                  <a:buClr>
                    <a:schemeClr val="tx1"/>
                  </a:buClr>
                  <a:buNone/>
                </a:pPr>
                <a:endParaRPr lang="en-US" altLang="zh-CN" sz="20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lvl="1">
                  <a:lnSpc>
                    <a:spcPct val="150000"/>
                  </a:lnSpc>
                  <a:buClr>
                    <a:schemeClr val="tx1"/>
                  </a:buClr>
                </a:pPr>
                <a:endParaRPr lang="en-US" sz="2000" dirty="0"/>
              </a:p>
              <a:p>
                <a:pPr lvl="1">
                  <a:lnSpc>
                    <a:spcPct val="150000"/>
                  </a:lnSpc>
                  <a:buClr>
                    <a:srgbClr val="FF0000"/>
                  </a:buClr>
                  <a:buFont typeface="Wingdings" pitchFamily="2" charset="2"/>
                  <a:buChar char="v"/>
                </a:pPr>
                <a:endParaRPr lang="en-US" altLang="zh-CN" sz="18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>
                  <a:lnSpc>
                    <a:spcPct val="150000"/>
                  </a:lnSpc>
                  <a:buFont typeface="Wingdings" pitchFamily="2" charset="2"/>
                  <a:buChar char="u"/>
                </a:pPr>
                <a:endParaRPr lang="en-US" altLang="zh-CN" sz="18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>
                  <a:buFont typeface="Wingdings" pitchFamily="2" charset="2"/>
                  <a:buNone/>
                </a:pPr>
                <a:endParaRPr lang="en-US" altLang="zh-CN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endParaRPr lang="zh-CN" altLang="en-US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</p:txBody>
          </p:sp>
        </mc:Choice>
        <mc:Fallback>
          <p:sp>
            <p:nvSpPr>
              <p:cNvPr id="8195" name="内容占位符 2">
                <a:extLst>
                  <a:ext uri="{FF2B5EF4-FFF2-40B4-BE49-F238E27FC236}">
                    <a16:creationId xmlns:a16="http://schemas.microsoft.com/office/drawing/2014/main" id="{A0293DA8-2870-C84B-90F0-70EC544611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4400" y="1463040"/>
                <a:ext cx="8261351" cy="4656139"/>
              </a:xfrm>
              <a:blipFill>
                <a:blip r:embed="rId3"/>
                <a:stretch>
                  <a:fillRect l="-10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15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1CA46CF-C468-384E-8A62-1696F2B661E7}"/>
              </a:ext>
            </a:extLst>
          </p:cNvPr>
          <p:cNvSpPr txBox="1"/>
          <p:nvPr/>
        </p:nvSpPr>
        <p:spPr>
          <a:xfrm>
            <a:off x="5636794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B1AF52-1A79-3E02-7CE1-BBB8BA32F5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6947" y="2792147"/>
            <a:ext cx="3595988" cy="3700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406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Local</a:t>
            </a:r>
            <a:r>
              <a:rPr lang="zh-CN" altLang="en-US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 </a:t>
            </a:r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linear regression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195" name="内容占位符 2">
                <a:extLst>
                  <a:ext uri="{FF2B5EF4-FFF2-40B4-BE49-F238E27FC236}">
                    <a16:creationId xmlns:a16="http://schemas.microsoft.com/office/drawing/2014/main" id="{A0293DA8-2870-C84B-90F0-70EC544611AC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914400" y="1463040"/>
                <a:ext cx="9231086" cy="4656139"/>
              </a:xfrm>
              <a:ln>
                <a:noFill/>
              </a:ln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  <a:buClr>
                    <a:schemeClr val="tx1"/>
                  </a:buClr>
                </a:pPr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Goal: predict the mean of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𝑦</m:t>
                    </m:r>
                  </m:oMath>
                </a14:m>
                <a:r>
                  <a:rPr lang="en-US" sz="2400" dirty="0"/>
                  <a:t> given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2400" b="0" dirty="0"/>
              </a:p>
              <a:p>
                <a:pPr>
                  <a:lnSpc>
                    <a:spcPct val="150000"/>
                  </a:lnSpc>
                  <a:buClr>
                    <a:schemeClr val="tx1"/>
                  </a:buClr>
                </a:pPr>
                <a:r>
                  <a:rPr lang="en-US" sz="2400" dirty="0"/>
                  <a:t>We can predict based on a line with the local data points close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2400" dirty="0"/>
              </a:p>
              <a:p>
                <a:pPr lvl="1">
                  <a:lnSpc>
                    <a:spcPct val="150000"/>
                  </a:lnSpc>
                  <a:buClr>
                    <a:schemeClr val="tx1"/>
                  </a:buClr>
                </a:pPr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  <a:buClr>
                    <a:schemeClr val="tx1"/>
                  </a:buCl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𝐾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r>
                  <a:rPr lang="en-US" sz="2000" dirty="0"/>
                  <a:t>, where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()</m:t>
                    </m:r>
                  </m:oMath>
                </a14:m>
                <a:r>
                  <a:rPr lang="en-US" sz="2000" dirty="0"/>
                  <a:t> is called the kernel function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2000" dirty="0"/>
                  <a:t> is called the bandwidth parameter</a:t>
                </a:r>
              </a:p>
              <a:p>
                <a:pPr lvl="1">
                  <a:lnSpc>
                    <a:spcPct val="150000"/>
                  </a:lnSpc>
                  <a:buClr>
                    <a:schemeClr val="tx1"/>
                  </a:buClr>
                </a:pPr>
                <a:r>
                  <a:rPr lang="en-US" sz="2000" dirty="0"/>
                  <a:t>With the fitted line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acc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𝑦</m:t>
                        </m:r>
                      </m:e>
                    </m:acc>
                    <m:d>
                      <m:d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d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𝑥</m:t>
                        </m:r>
                      </m:e>
                    </m:d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=</m:t>
                    </m:r>
                    <m:acc>
                      <m:accPr>
                        <m:chr m:val="̂"/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acc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𝛼</m:t>
                        </m:r>
                      </m:e>
                    </m:acc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+</m:t>
                    </m:r>
                    <m:acc>
                      <m:accPr>
                        <m:chr m:val="̂"/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acc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𝛽</m:t>
                        </m:r>
                      </m:e>
                    </m:acc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(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𝑥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−</m:t>
                    </m:r>
                    <m:sSub>
                      <m:sSub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0</m:t>
                        </m:r>
                      </m:sub>
                    </m:sSub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)</m:t>
                    </m:r>
                  </m:oMath>
                </a14:m>
                <a:r>
                  <a:rPr lang="en-US" sz="2000" dirty="0"/>
                  <a:t>, the predicted value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/>
                  <a:t> is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acc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𝛽</m:t>
                        </m:r>
                      </m:e>
                    </m:acc>
                  </m:oMath>
                </a14:m>
                <a:endParaRPr lang="en-US" sz="2000" dirty="0"/>
              </a:p>
              <a:p>
                <a:pPr lvl="1"/>
                <a:r>
                  <a:rPr lang="en-US" sz="2000" dirty="0"/>
                  <a:t>Technically,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()</m:t>
                    </m:r>
                  </m:oMath>
                </a14:m>
                <a:r>
                  <a:rPr lang="en-US" sz="2000" dirty="0"/>
                  <a:t> can be any density function. Two canonical choices are the Normal density and the </a:t>
                </a:r>
                <a:r>
                  <a:rPr lang="en-US" sz="2000" dirty="0" err="1"/>
                  <a:t>Epanechikov</a:t>
                </a:r>
                <a:r>
                  <a:rPr lang="en-US" sz="2000" dirty="0"/>
                  <a:t> kernel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𝐾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=0.75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≤1</m:t>
                        </m:r>
                      </m:e>
                    </m:d>
                  </m:oMath>
                </a14:m>
                <a:endParaRPr lang="en-US" sz="2000" dirty="0"/>
              </a:p>
              <a:p>
                <a:pPr lvl="1">
                  <a:lnSpc>
                    <a:spcPct val="150000"/>
                  </a:lnSpc>
                  <a:buClr>
                    <a:schemeClr val="tx1"/>
                  </a:buClr>
                </a:pPr>
                <a:endParaRPr lang="en-US" sz="2000" dirty="0"/>
              </a:p>
              <a:p>
                <a:pPr marL="457189" lvl="1" indent="0">
                  <a:lnSpc>
                    <a:spcPct val="150000"/>
                  </a:lnSpc>
                  <a:buClr>
                    <a:schemeClr val="tx1"/>
                  </a:buClr>
                  <a:buNone/>
                </a:pPr>
                <a:endParaRPr lang="en-US" altLang="zh-CN" sz="20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lvl="1">
                  <a:lnSpc>
                    <a:spcPct val="150000"/>
                  </a:lnSpc>
                  <a:buClr>
                    <a:schemeClr val="tx1"/>
                  </a:buClr>
                </a:pPr>
                <a:endParaRPr lang="en-US" sz="2000" dirty="0"/>
              </a:p>
              <a:p>
                <a:pPr lvl="1">
                  <a:lnSpc>
                    <a:spcPct val="150000"/>
                  </a:lnSpc>
                  <a:buClr>
                    <a:srgbClr val="FF0000"/>
                  </a:buClr>
                  <a:buFont typeface="Wingdings" pitchFamily="2" charset="2"/>
                  <a:buChar char="v"/>
                </a:pPr>
                <a:endParaRPr lang="en-US" altLang="zh-CN" sz="18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>
                  <a:lnSpc>
                    <a:spcPct val="150000"/>
                  </a:lnSpc>
                  <a:buFont typeface="Wingdings" pitchFamily="2" charset="2"/>
                  <a:buChar char="u"/>
                </a:pPr>
                <a:endParaRPr lang="en-US" altLang="zh-CN" sz="18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>
                  <a:buFont typeface="Wingdings" pitchFamily="2" charset="2"/>
                  <a:buNone/>
                </a:pPr>
                <a:endParaRPr lang="en-US" altLang="zh-CN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endParaRPr lang="zh-CN" altLang="en-US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</p:txBody>
          </p:sp>
        </mc:Choice>
        <mc:Fallback>
          <p:sp>
            <p:nvSpPr>
              <p:cNvPr id="8195" name="内容占位符 2">
                <a:extLst>
                  <a:ext uri="{FF2B5EF4-FFF2-40B4-BE49-F238E27FC236}">
                    <a16:creationId xmlns:a16="http://schemas.microsoft.com/office/drawing/2014/main" id="{A0293DA8-2870-C84B-90F0-70EC544611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4400" y="1463040"/>
                <a:ext cx="9231086" cy="4656139"/>
              </a:xfrm>
              <a:blipFill>
                <a:blip r:embed="rId3"/>
                <a:stretch>
                  <a:fillRect l="-96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16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1CA46CF-C468-384E-8A62-1696F2B661E7}"/>
              </a:ext>
            </a:extLst>
          </p:cNvPr>
          <p:cNvSpPr txBox="1"/>
          <p:nvPr/>
        </p:nvSpPr>
        <p:spPr>
          <a:xfrm>
            <a:off x="5636794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E31658C-0E76-EAB9-DA8E-D03C035755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1085" y="2667581"/>
            <a:ext cx="4393715" cy="788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544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Local</a:t>
            </a:r>
            <a:r>
              <a:rPr lang="zh-CN" altLang="en-US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 </a:t>
            </a:r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linear regression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195" name="内容占位符 2">
                <a:extLst>
                  <a:ext uri="{FF2B5EF4-FFF2-40B4-BE49-F238E27FC236}">
                    <a16:creationId xmlns:a16="http://schemas.microsoft.com/office/drawing/2014/main" id="{A0293DA8-2870-C84B-90F0-70EC544611AC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914399" y="1463040"/>
                <a:ext cx="9720943" cy="4656139"/>
              </a:xfrm>
              <a:ln>
                <a:noFill/>
              </a:ln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  <a:buClr>
                    <a:schemeClr val="tx1"/>
                  </a:buClr>
                </a:pPr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In general, we can approximate a smooth function by a polynomial near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2400" b="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>
                  <a:lnSpc>
                    <a:spcPct val="150000"/>
                  </a:lnSpc>
                  <a:buClr>
                    <a:schemeClr val="tx1"/>
                  </a:buClr>
                </a:pPr>
                <a:endParaRPr lang="en-US" altLang="zh-CN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lvl="1">
                  <a:lnSpc>
                    <a:spcPct val="150000"/>
                  </a:lnSpc>
                  <a:buClr>
                    <a:schemeClr val="tx1"/>
                  </a:buClr>
                </a:pPr>
                <a:r>
                  <a:rPr lang="en-US" altLang="zh-CN" sz="20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Local polynomial regression (Fan and </a:t>
                </a:r>
                <a:r>
                  <a:rPr lang="en-US" altLang="zh-CN" sz="2000" dirty="0" err="1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Gijbels</a:t>
                </a:r>
                <a:r>
                  <a:rPr lang="en-US" altLang="zh-CN" sz="20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, 1996)</a:t>
                </a:r>
              </a:p>
              <a:p>
                <a:pPr marL="742939" lvl="1" indent="-285750"/>
                <a:r>
                  <a:rPr lang="en-US" altLang="zh-CN" sz="20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In the R </a:t>
                </a:r>
                <a:r>
                  <a:rPr lang="en-US" altLang="zh-CN" sz="2000" dirty="0" err="1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packag</a:t>
                </a:r>
                <a:r>
                  <a:rPr lang="en-US" sz="2000" dirty="0"/>
                  <a:t> </a:t>
                </a:r>
                <a:r>
                  <a:rPr lang="en-US" sz="2000" i="1" dirty="0" err="1"/>
                  <a:t>Kernsmooth</a:t>
                </a:r>
                <a:r>
                  <a:rPr lang="en-US" sz="2000" dirty="0"/>
                  <a:t>, the function </a:t>
                </a:r>
                <a:r>
                  <a:rPr lang="en-US" sz="2000" i="1" dirty="0" err="1"/>
                  <a:t>locpoly</a:t>
                </a:r>
                <a:r>
                  <a:rPr lang="en-US" sz="2000" dirty="0"/>
                  <a:t> fits local polynomial regression, and the function </a:t>
                </a:r>
                <a:r>
                  <a:rPr lang="en-US" sz="2000" i="1" dirty="0" err="1"/>
                  <a:t>dpill</a:t>
                </a:r>
                <a:r>
                  <a:rPr lang="en-US" sz="2000" dirty="0"/>
                  <a:t> selects h based on Ruppert et al. (1995) </a:t>
                </a:r>
              </a:p>
              <a:p>
                <a:pPr lvl="1">
                  <a:lnSpc>
                    <a:spcPct val="150000"/>
                  </a:lnSpc>
                  <a:buClr>
                    <a:schemeClr val="tx1"/>
                  </a:buClr>
                </a:pPr>
                <a:endParaRPr lang="zh-CN" altLang="en-US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</p:txBody>
          </p:sp>
        </mc:Choice>
        <mc:Fallback>
          <p:sp>
            <p:nvSpPr>
              <p:cNvPr id="8195" name="内容占位符 2">
                <a:extLst>
                  <a:ext uri="{FF2B5EF4-FFF2-40B4-BE49-F238E27FC236}">
                    <a16:creationId xmlns:a16="http://schemas.microsoft.com/office/drawing/2014/main" id="{A0293DA8-2870-C84B-90F0-70EC544611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4399" y="1463040"/>
                <a:ext cx="9720943" cy="4656139"/>
              </a:xfrm>
              <a:blipFill>
                <a:blip r:embed="rId3"/>
                <a:stretch>
                  <a:fillRect l="-91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17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1CA46CF-C468-384E-8A62-1696F2B661E7}"/>
              </a:ext>
            </a:extLst>
          </p:cNvPr>
          <p:cNvSpPr txBox="1"/>
          <p:nvPr/>
        </p:nvSpPr>
        <p:spPr>
          <a:xfrm>
            <a:off x="5636794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1E097B-1344-6111-C641-7087CF10CD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4456" y="2173923"/>
            <a:ext cx="3225800" cy="863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76924CF-6C81-86CE-3AAD-7F1A1D9009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2930" y="3999802"/>
            <a:ext cx="3994928" cy="2797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231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-Times New Roman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24975</TotalTime>
  <Words>750</Words>
  <Application>Microsoft Macintosh PowerPoint</Application>
  <PresentationFormat>Widescreen</PresentationFormat>
  <Paragraphs>171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Microsoft YaHei</vt:lpstr>
      <vt:lpstr>Microsoft YaHei</vt:lpstr>
      <vt:lpstr>Arial</vt:lpstr>
      <vt:lpstr>Calibri</vt:lpstr>
      <vt:lpstr>Cambria Math</vt:lpstr>
      <vt:lpstr>Helvetica</vt:lpstr>
      <vt:lpstr>Times New Roman</vt:lpstr>
      <vt:lpstr>Verdana</vt:lpstr>
      <vt:lpstr>Wingdings</vt:lpstr>
      <vt:lpstr>Office Theme</vt:lpstr>
      <vt:lpstr>Weighted least squares</vt:lpstr>
      <vt:lpstr>Generalized least squares</vt:lpstr>
      <vt:lpstr>OLS estimator</vt:lpstr>
      <vt:lpstr>BLUE</vt:lpstr>
      <vt:lpstr>Weighted least squares</vt:lpstr>
      <vt:lpstr>Weighted least squares</vt:lpstr>
      <vt:lpstr>Weighted least squares</vt:lpstr>
      <vt:lpstr>Weighted least squares</vt:lpstr>
      <vt:lpstr>Feasible generalized least squares</vt:lpstr>
      <vt:lpstr>Feasible generalized least squares</vt:lpstr>
      <vt:lpstr>Remark</vt:lpstr>
      <vt:lpstr>Aggregate data</vt:lpstr>
      <vt:lpstr>Can we infer individual behavior from aggregate data?</vt:lpstr>
      <vt:lpstr>Ecological regression</vt:lpstr>
      <vt:lpstr>Local linear regression</vt:lpstr>
      <vt:lpstr>Local linear regression</vt:lpstr>
      <vt:lpstr>Local linear regression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求职汇报</dc:title>
  <dc:creator>Microsoft Office User</dc:creator>
  <cp:lastModifiedBy>Zhichao Jiang</cp:lastModifiedBy>
  <cp:revision>216</cp:revision>
  <dcterms:created xsi:type="dcterms:W3CDTF">2022-01-07T20:32:42Z</dcterms:created>
  <dcterms:modified xsi:type="dcterms:W3CDTF">2025-11-01T12:42:55Z</dcterms:modified>
</cp:coreProperties>
</file>