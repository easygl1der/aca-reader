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697" r:id="rId3"/>
    <p:sldId id="725" r:id="rId4"/>
    <p:sldId id="726" r:id="rId5"/>
    <p:sldId id="707" r:id="rId6"/>
    <p:sldId id="708" r:id="rId7"/>
    <p:sldId id="705" r:id="rId8"/>
    <p:sldId id="758" r:id="rId9"/>
    <p:sldId id="718" r:id="rId10"/>
    <p:sldId id="752" r:id="rId11"/>
    <p:sldId id="698" r:id="rId12"/>
    <p:sldId id="716" r:id="rId13"/>
    <p:sldId id="717" r:id="rId14"/>
    <p:sldId id="700" r:id="rId15"/>
    <p:sldId id="715" r:id="rId16"/>
    <p:sldId id="720" r:id="rId17"/>
    <p:sldId id="721" r:id="rId18"/>
    <p:sldId id="701" r:id="rId19"/>
    <p:sldId id="709" r:id="rId20"/>
    <p:sldId id="702" r:id="rId21"/>
    <p:sldId id="808" r:id="rId22"/>
    <p:sldId id="805" r:id="rId23"/>
    <p:sldId id="806" r:id="rId24"/>
    <p:sldId id="809" r:id="rId25"/>
    <p:sldId id="807" r:id="rId26"/>
    <p:sldId id="710" r:id="rId27"/>
    <p:sldId id="722" r:id="rId28"/>
    <p:sldId id="72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825"/>
    <a:srgbClr val="A014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127"/>
    <p:restoredTop sz="92361"/>
  </p:normalViewPr>
  <p:slideViewPr>
    <p:cSldViewPr snapToGrid="0" snapToObjects="1">
      <p:cViewPr varScale="1">
        <p:scale>
          <a:sx n="191" d="100"/>
          <a:sy n="191" d="100"/>
        </p:scale>
        <p:origin x="2392" y="192"/>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4D128-213F-6F4E-ABC7-E697D995B169}" type="datetimeFigureOut">
              <a:rPr lang="en-US" smtClean="0"/>
              <a:t>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8D76FB-495F-DB45-B1C0-BAC6DBEDEA01}" type="slidenum">
              <a:rPr lang="en-US" smtClean="0"/>
              <a:t>‹#›</a:t>
            </a:fld>
            <a:endParaRPr lang="en-US"/>
          </a:p>
        </p:txBody>
      </p:sp>
    </p:spTree>
    <p:extLst>
      <p:ext uri="{BB962C8B-B14F-4D97-AF65-F5344CB8AC3E}">
        <p14:creationId xmlns:p14="http://schemas.microsoft.com/office/powerpoint/2010/main" val="3251460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Normality test</a:t>
            </a:r>
          </a:p>
        </p:txBody>
      </p:sp>
      <p:sp>
        <p:nvSpPr>
          <p:cNvPr id="4" name="Slide Number Placeholder 3"/>
          <p:cNvSpPr>
            <a:spLocks noGrp="1"/>
          </p:cNvSpPr>
          <p:nvPr>
            <p:ph type="sldNum" sz="quarter" idx="5"/>
          </p:nvPr>
        </p:nvSpPr>
        <p:spPr/>
        <p:txBody>
          <a:bodyPr/>
          <a:lstStyle/>
          <a:p>
            <a:fld id="{4C8D76FB-495F-DB45-B1C0-BAC6DBEDEA01}" type="slidenum">
              <a:rPr lang="en-US" smtClean="0"/>
              <a:t>3</a:t>
            </a:fld>
            <a:endParaRPr lang="en-US"/>
          </a:p>
        </p:txBody>
      </p:sp>
    </p:spTree>
    <p:extLst>
      <p:ext uri="{BB962C8B-B14F-4D97-AF65-F5344CB8AC3E}">
        <p14:creationId xmlns:p14="http://schemas.microsoft.com/office/powerpoint/2010/main" val="996820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Breusch-Pagan test / White test</a:t>
            </a:r>
          </a:p>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4</a:t>
            </a:fld>
            <a:endParaRPr lang="en-US"/>
          </a:p>
        </p:txBody>
      </p:sp>
    </p:spTree>
    <p:extLst>
      <p:ext uri="{BB962C8B-B14F-4D97-AF65-F5344CB8AC3E}">
        <p14:creationId xmlns:p14="http://schemas.microsoft.com/office/powerpoint/2010/main" val="1658205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Repeated</a:t>
            </a:r>
            <a:r>
              <a:rPr lang="zh-CN" altLang="en-US" dirty="0"/>
              <a:t> </a:t>
            </a:r>
            <a:r>
              <a:rPr lang="en-US" altLang="zh-CN" dirty="0"/>
              <a:t>sampling</a:t>
            </a:r>
            <a:r>
              <a:rPr lang="zh-CN" altLang="en-US" dirty="0"/>
              <a:t>，  </a:t>
            </a:r>
            <a:r>
              <a:rPr lang="en-US" altLang="zh-CN" dirty="0"/>
              <a:t>normal</a:t>
            </a:r>
            <a:r>
              <a:rPr lang="zh-CN" altLang="en-US" dirty="0"/>
              <a:t> </a:t>
            </a:r>
            <a:r>
              <a:rPr lang="en-US" altLang="zh-CN" dirty="0"/>
              <a:t>distribution</a:t>
            </a:r>
            <a:r>
              <a:rPr lang="zh-CN" altLang="en-US" dirty="0"/>
              <a:t> </a:t>
            </a:r>
            <a:r>
              <a:rPr lang="en-US" altLang="zh-CN" dirty="0"/>
              <a:t>is</a:t>
            </a:r>
            <a:r>
              <a:rPr lang="zh-CN" altLang="en-US" dirty="0"/>
              <a:t> </a:t>
            </a:r>
            <a:r>
              <a:rPr lang="en-US" altLang="zh-CN" dirty="0"/>
              <a:t>not</a:t>
            </a:r>
            <a:r>
              <a:rPr lang="zh-CN" altLang="en-US" dirty="0"/>
              <a:t> </a:t>
            </a:r>
            <a:r>
              <a:rPr lang="en-US" altLang="zh-CN" dirty="0"/>
              <a:t>required</a:t>
            </a:r>
            <a:r>
              <a:rPr lang="zh-CN" altLang="en-US" dirty="0"/>
              <a:t>，  </a:t>
            </a:r>
            <a:r>
              <a:rPr lang="en-US" sz="1200" kern="1200" dirty="0">
                <a:solidFill>
                  <a:schemeClr val="tx1"/>
                </a:solidFill>
                <a:effectLst/>
                <a:latin typeface="+mn-lt"/>
                <a:ea typeface="+mn-ea"/>
                <a:cs typeface="+mn-cs"/>
              </a:rPr>
              <a:t>homoskedasticity is crucial</a:t>
            </a:r>
            <a:endParaRPr lang="en-US" dirty="0"/>
          </a:p>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6</a:t>
            </a:fld>
            <a:endParaRPr lang="en-US"/>
          </a:p>
        </p:txBody>
      </p:sp>
    </p:spTree>
    <p:extLst>
      <p:ext uri="{BB962C8B-B14F-4D97-AF65-F5344CB8AC3E}">
        <p14:creationId xmlns:p14="http://schemas.microsoft.com/office/powerpoint/2010/main" val="1743526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Gauss Markov model</a:t>
            </a:r>
          </a:p>
        </p:txBody>
      </p:sp>
      <p:sp>
        <p:nvSpPr>
          <p:cNvPr id="4" name="Slide Number Placeholder 3"/>
          <p:cNvSpPr>
            <a:spLocks noGrp="1"/>
          </p:cNvSpPr>
          <p:nvPr>
            <p:ph type="sldNum" sz="quarter" idx="5"/>
          </p:nvPr>
        </p:nvSpPr>
        <p:spPr/>
        <p:txBody>
          <a:bodyPr/>
          <a:lstStyle/>
          <a:p>
            <a:fld id="{4C8D76FB-495F-DB45-B1C0-BAC6DBEDEA01}" type="slidenum">
              <a:rPr lang="en-US" smtClean="0"/>
              <a:t>7</a:t>
            </a:fld>
            <a:endParaRPr lang="en-US"/>
          </a:p>
        </p:txBody>
      </p:sp>
    </p:spTree>
    <p:extLst>
      <p:ext uri="{BB962C8B-B14F-4D97-AF65-F5344CB8AC3E}">
        <p14:creationId xmlns:p14="http://schemas.microsoft.com/office/powerpoint/2010/main" val="686295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11</a:t>
            </a:fld>
            <a:endParaRPr lang="en-US"/>
          </a:p>
        </p:txBody>
      </p:sp>
    </p:spTree>
    <p:extLst>
      <p:ext uri="{BB962C8B-B14F-4D97-AF65-F5344CB8AC3E}">
        <p14:creationId xmlns:p14="http://schemas.microsoft.com/office/powerpoint/2010/main" val="1044737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square root  of the diagonal terms of </a:t>
            </a:r>
            <a:r>
              <a:rPr lang="en-US" sz="1200" kern="1200" dirty="0" err="1">
                <a:solidFill>
                  <a:schemeClr val="tx1"/>
                </a:solidFill>
                <a:effectLst/>
                <a:latin typeface="+mn-lt"/>
                <a:ea typeface="+mn-ea"/>
                <a:cs typeface="+mn-cs"/>
              </a:rPr>
              <a:t>Vehw</a:t>
            </a:r>
            <a:r>
              <a:rPr lang="en-US" sz="1200" kern="1200" dirty="0">
                <a:solidFill>
                  <a:schemeClr val="tx1"/>
                </a:solidFill>
                <a:effectLst/>
                <a:latin typeface="+mn-lt"/>
                <a:ea typeface="+mn-ea"/>
                <a:cs typeface="+mn-cs"/>
              </a:rPr>
              <a:t> , denoted by </a:t>
            </a:r>
            <a:r>
              <a:rPr lang="en-US" sz="1200" kern="1200" dirty="0" err="1">
                <a:solidFill>
                  <a:schemeClr val="tx1"/>
                </a:solidFill>
                <a:effectLst/>
                <a:latin typeface="+mn-lt"/>
                <a:ea typeface="+mn-ea"/>
                <a:cs typeface="+mn-cs"/>
              </a:rPr>
              <a:t>sˆeehw,j</a:t>
            </a:r>
            <a:r>
              <a:rPr lang="en-US" sz="1200" kern="1200" dirty="0">
                <a:solidFill>
                  <a:schemeClr val="tx1"/>
                </a:solidFill>
                <a:effectLst/>
                <a:latin typeface="+mn-lt"/>
                <a:ea typeface="+mn-ea"/>
                <a:cs typeface="+mn-cs"/>
              </a:rPr>
              <a:t> (j = 1, . . . , p), are called the heteroskedasticity-consistent standard errors, heteroskedasticity-robust stan- </a:t>
            </a:r>
            <a:r>
              <a:rPr lang="en-US" sz="1200" kern="1200" dirty="0" err="1">
                <a:solidFill>
                  <a:schemeClr val="tx1"/>
                </a:solidFill>
                <a:effectLst/>
                <a:latin typeface="+mn-lt"/>
                <a:ea typeface="+mn-ea"/>
                <a:cs typeface="+mn-cs"/>
              </a:rPr>
              <a:t>dard</a:t>
            </a:r>
            <a:r>
              <a:rPr lang="en-US" sz="1200" kern="1200" dirty="0">
                <a:solidFill>
                  <a:schemeClr val="tx1"/>
                </a:solidFill>
                <a:effectLst/>
                <a:latin typeface="+mn-lt"/>
                <a:ea typeface="+mn-ea"/>
                <a:cs typeface="+mn-cs"/>
              </a:rPr>
              <a:t> errors, White standard errors, Huber–White standard errors, or </a:t>
            </a:r>
            <a:r>
              <a:rPr lang="en-US" sz="1200" kern="1200" dirty="0" err="1">
                <a:solidFill>
                  <a:schemeClr val="tx1"/>
                </a:solidFill>
                <a:effectLst/>
                <a:latin typeface="+mn-lt"/>
                <a:ea typeface="+mn-ea"/>
                <a:cs typeface="+mn-cs"/>
              </a:rPr>
              <a:t>Eicker</a:t>
            </a:r>
            <a:r>
              <a:rPr lang="en-US" sz="1200" kern="1200" dirty="0">
                <a:solidFill>
                  <a:schemeClr val="tx1"/>
                </a:solidFill>
                <a:effectLst/>
                <a:latin typeface="+mn-lt"/>
                <a:ea typeface="+mn-ea"/>
                <a:cs typeface="+mn-cs"/>
              </a:rPr>
              <a:t>– Huber–White standard errors </a:t>
            </a:r>
            <a:endParaRPr lang="en-US" dirty="0"/>
          </a:p>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17</a:t>
            </a:fld>
            <a:endParaRPr lang="en-US"/>
          </a:p>
        </p:txBody>
      </p:sp>
    </p:spTree>
    <p:extLst>
      <p:ext uri="{BB962C8B-B14F-4D97-AF65-F5344CB8AC3E}">
        <p14:creationId xmlns:p14="http://schemas.microsoft.com/office/powerpoint/2010/main" val="264588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HC1 correction is similar to the degrees of freedom correction in the OLS covariance estimator. The HC2 correction was motivated by the unbiasedness of covariance when the error terms have the same variance. The HC3 correction was motivated by a method called jackknife </a:t>
            </a:r>
            <a:endParaRPr lang="en-US" dirty="0"/>
          </a:p>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19</a:t>
            </a:fld>
            <a:endParaRPr lang="en-US"/>
          </a:p>
        </p:txBody>
      </p:sp>
    </p:spTree>
    <p:extLst>
      <p:ext uri="{BB962C8B-B14F-4D97-AF65-F5344CB8AC3E}">
        <p14:creationId xmlns:p14="http://schemas.microsoft.com/office/powerpoint/2010/main" val="2559521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statistical inference, what is the difference between the asymptotic inference and the inference under the Normal linear model</a:t>
            </a:r>
          </a:p>
        </p:txBody>
      </p:sp>
      <p:sp>
        <p:nvSpPr>
          <p:cNvPr id="4" name="Slide Number Placeholder 3"/>
          <p:cNvSpPr>
            <a:spLocks noGrp="1"/>
          </p:cNvSpPr>
          <p:nvPr>
            <p:ph type="sldNum" sz="quarter" idx="5"/>
          </p:nvPr>
        </p:nvSpPr>
        <p:spPr/>
        <p:txBody>
          <a:bodyPr/>
          <a:lstStyle/>
          <a:p>
            <a:fld id="{4C8D76FB-495F-DB45-B1C0-BAC6DBEDEA01}" type="slidenum">
              <a:rPr lang="en-US" smtClean="0"/>
              <a:t>20</a:t>
            </a:fld>
            <a:endParaRPr lang="en-US"/>
          </a:p>
        </p:txBody>
      </p:sp>
    </p:spTree>
    <p:extLst>
      <p:ext uri="{BB962C8B-B14F-4D97-AF65-F5344CB8AC3E}">
        <p14:creationId xmlns:p14="http://schemas.microsoft.com/office/powerpoint/2010/main" val="1992079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B34D25-2405-114F-BF61-E1011635D0CF}" type="slidenum">
              <a:rPr lang="en-US" smtClean="0"/>
              <a:t>22</a:t>
            </a:fld>
            <a:endParaRPr lang="en-US"/>
          </a:p>
        </p:txBody>
      </p:sp>
    </p:spTree>
    <p:extLst>
      <p:ext uri="{BB962C8B-B14F-4D97-AF65-F5344CB8AC3E}">
        <p14:creationId xmlns:p14="http://schemas.microsoft.com/office/powerpoint/2010/main" val="1058497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B34D25-2405-114F-BF61-E1011635D0CF}" type="slidenum">
              <a:rPr lang="en-US" smtClean="0"/>
              <a:t>23</a:t>
            </a:fld>
            <a:endParaRPr lang="en-US"/>
          </a:p>
        </p:txBody>
      </p:sp>
    </p:spTree>
    <p:extLst>
      <p:ext uri="{BB962C8B-B14F-4D97-AF65-F5344CB8AC3E}">
        <p14:creationId xmlns:p14="http://schemas.microsoft.com/office/powerpoint/2010/main" val="4116918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B34D25-2405-114F-BF61-E1011635D0CF}" type="slidenum">
              <a:rPr lang="en-US" smtClean="0"/>
              <a:t>25</a:t>
            </a:fld>
            <a:endParaRPr lang="en-US"/>
          </a:p>
        </p:txBody>
      </p:sp>
    </p:spTree>
    <p:extLst>
      <p:ext uri="{BB962C8B-B14F-4D97-AF65-F5344CB8AC3E}">
        <p14:creationId xmlns:p14="http://schemas.microsoft.com/office/powerpoint/2010/main" val="2008029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5FC8A-1FB6-3041-A418-D61E2C3DA4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F47742-DAB1-C14E-A5BA-70F7F796BCF6}"/>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B6F0F5-1172-4443-B1D2-5FA4A3CBB556}"/>
              </a:ext>
            </a:extLst>
          </p:cNvPr>
          <p:cNvSpPr>
            <a:spLocks noGrp="1"/>
          </p:cNvSpPr>
          <p:nvPr>
            <p:ph type="dt" sz="half" idx="10"/>
          </p:nvPr>
        </p:nvSpPr>
        <p:spPr/>
        <p:txBody>
          <a:bodyPr/>
          <a:lstStyle/>
          <a:p>
            <a:fld id="{97338502-F17E-DC4B-9F41-BAD476EB8CDC}" type="datetimeFigureOut">
              <a:rPr lang="en-US" smtClean="0"/>
              <a:t>9/20/25</a:t>
            </a:fld>
            <a:endParaRPr lang="en-US"/>
          </a:p>
        </p:txBody>
      </p:sp>
      <p:sp>
        <p:nvSpPr>
          <p:cNvPr id="5" name="Footer Placeholder 4">
            <a:extLst>
              <a:ext uri="{FF2B5EF4-FFF2-40B4-BE49-F238E27FC236}">
                <a16:creationId xmlns:a16="http://schemas.microsoft.com/office/drawing/2014/main" id="{05EB7974-E7D6-B34D-9439-F9FBE61ED6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9B4C7-B3E7-2249-9AAE-D0EE3D2B7EB0}"/>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983899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0B802-5C9D-5D40-9713-8F0AF3E965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FE7CEE-95B7-784A-8744-013528B7E0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87651F-9F0D-CE47-A7C3-72ADEC6D561A}"/>
              </a:ext>
            </a:extLst>
          </p:cNvPr>
          <p:cNvSpPr>
            <a:spLocks noGrp="1"/>
          </p:cNvSpPr>
          <p:nvPr>
            <p:ph type="dt" sz="half" idx="10"/>
          </p:nvPr>
        </p:nvSpPr>
        <p:spPr/>
        <p:txBody>
          <a:bodyPr/>
          <a:lstStyle/>
          <a:p>
            <a:fld id="{97338502-F17E-DC4B-9F41-BAD476EB8CDC}" type="datetimeFigureOut">
              <a:rPr lang="en-US" smtClean="0"/>
              <a:t>9/20/25</a:t>
            </a:fld>
            <a:endParaRPr lang="en-US"/>
          </a:p>
        </p:txBody>
      </p:sp>
      <p:sp>
        <p:nvSpPr>
          <p:cNvPr id="5" name="Footer Placeholder 4">
            <a:extLst>
              <a:ext uri="{FF2B5EF4-FFF2-40B4-BE49-F238E27FC236}">
                <a16:creationId xmlns:a16="http://schemas.microsoft.com/office/drawing/2014/main" id="{2E39990C-26CF-5340-9185-412EDD20B1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80482D-EE59-6B44-B09D-54DF378E29DB}"/>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653530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8DE8B-08E4-6746-B7C6-2D6F7D77DEE5}"/>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B837A5-9526-B64C-B0B3-EC555F7584AA}"/>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81C4E4-A98D-7F4C-A038-86F2454F7AA0}"/>
              </a:ext>
            </a:extLst>
          </p:cNvPr>
          <p:cNvSpPr>
            <a:spLocks noGrp="1"/>
          </p:cNvSpPr>
          <p:nvPr>
            <p:ph type="dt" sz="half" idx="10"/>
          </p:nvPr>
        </p:nvSpPr>
        <p:spPr/>
        <p:txBody>
          <a:bodyPr/>
          <a:lstStyle/>
          <a:p>
            <a:fld id="{97338502-F17E-DC4B-9F41-BAD476EB8CDC}" type="datetimeFigureOut">
              <a:rPr lang="en-US" smtClean="0"/>
              <a:t>9/20/25</a:t>
            </a:fld>
            <a:endParaRPr lang="en-US"/>
          </a:p>
        </p:txBody>
      </p:sp>
      <p:sp>
        <p:nvSpPr>
          <p:cNvPr id="5" name="Footer Placeholder 4">
            <a:extLst>
              <a:ext uri="{FF2B5EF4-FFF2-40B4-BE49-F238E27FC236}">
                <a16:creationId xmlns:a16="http://schemas.microsoft.com/office/drawing/2014/main" id="{1A3ADB87-08F0-6645-91C0-90A36E9EF1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2DCD8-FACC-EF40-A476-D4C9F098E0DA}"/>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2656738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B3A11-2C38-6345-9832-CD9E4234C5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F966E1-8E61-EB4F-98F1-2A3FD59E97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9BD906-8014-9840-917B-BB1BE8DAFC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27BADE-2CE5-5944-BEA5-62B1C3EC9812}"/>
              </a:ext>
            </a:extLst>
          </p:cNvPr>
          <p:cNvSpPr>
            <a:spLocks noGrp="1"/>
          </p:cNvSpPr>
          <p:nvPr>
            <p:ph type="dt" sz="half" idx="10"/>
          </p:nvPr>
        </p:nvSpPr>
        <p:spPr/>
        <p:txBody>
          <a:bodyPr/>
          <a:lstStyle/>
          <a:p>
            <a:fld id="{97338502-F17E-DC4B-9F41-BAD476EB8CDC}" type="datetimeFigureOut">
              <a:rPr lang="en-US" smtClean="0"/>
              <a:t>9/20/25</a:t>
            </a:fld>
            <a:endParaRPr lang="en-US"/>
          </a:p>
        </p:txBody>
      </p:sp>
      <p:sp>
        <p:nvSpPr>
          <p:cNvPr id="6" name="Footer Placeholder 5">
            <a:extLst>
              <a:ext uri="{FF2B5EF4-FFF2-40B4-BE49-F238E27FC236}">
                <a16:creationId xmlns:a16="http://schemas.microsoft.com/office/drawing/2014/main" id="{5803CA7E-B3F3-234F-8843-CF1B52B77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134860-30EA-0542-8960-CB71E62C2A7F}"/>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607890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C88B9-4FB0-594D-A3C8-B920561FA2FF}"/>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17FA0D-47CF-804B-ADFF-C1FBCED7490C}"/>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8A6630-46C1-304B-A31B-F683D3BB0340}"/>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370E5B-079D-3F45-BA01-C9AD653DD871}"/>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44FE20-58B7-C04B-89A7-8A255F953D6D}"/>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F9B889-CD5B-FB44-BD7D-2E3DE5505226}"/>
              </a:ext>
            </a:extLst>
          </p:cNvPr>
          <p:cNvSpPr>
            <a:spLocks noGrp="1"/>
          </p:cNvSpPr>
          <p:nvPr>
            <p:ph type="dt" sz="half" idx="10"/>
          </p:nvPr>
        </p:nvSpPr>
        <p:spPr/>
        <p:txBody>
          <a:bodyPr/>
          <a:lstStyle/>
          <a:p>
            <a:fld id="{97338502-F17E-DC4B-9F41-BAD476EB8CDC}" type="datetimeFigureOut">
              <a:rPr lang="en-US" smtClean="0"/>
              <a:t>9/20/25</a:t>
            </a:fld>
            <a:endParaRPr lang="en-US"/>
          </a:p>
        </p:txBody>
      </p:sp>
      <p:sp>
        <p:nvSpPr>
          <p:cNvPr id="8" name="Footer Placeholder 7">
            <a:extLst>
              <a:ext uri="{FF2B5EF4-FFF2-40B4-BE49-F238E27FC236}">
                <a16:creationId xmlns:a16="http://schemas.microsoft.com/office/drawing/2014/main" id="{70387C38-F33E-E940-9D72-4F66251103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7AD557-D134-064A-A446-E4906B19659C}"/>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1520858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0F00-4145-DC48-8A29-69BD407CC9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1F20B2-462E-F746-BEE4-DA5D2AEAF649}"/>
              </a:ext>
            </a:extLst>
          </p:cNvPr>
          <p:cNvSpPr>
            <a:spLocks noGrp="1"/>
          </p:cNvSpPr>
          <p:nvPr>
            <p:ph type="dt" sz="half" idx="10"/>
          </p:nvPr>
        </p:nvSpPr>
        <p:spPr/>
        <p:txBody>
          <a:bodyPr/>
          <a:lstStyle/>
          <a:p>
            <a:fld id="{97338502-F17E-DC4B-9F41-BAD476EB8CDC}" type="datetimeFigureOut">
              <a:rPr lang="en-US" smtClean="0"/>
              <a:t>9/20/25</a:t>
            </a:fld>
            <a:endParaRPr lang="en-US"/>
          </a:p>
        </p:txBody>
      </p:sp>
      <p:sp>
        <p:nvSpPr>
          <p:cNvPr id="4" name="Footer Placeholder 3">
            <a:extLst>
              <a:ext uri="{FF2B5EF4-FFF2-40B4-BE49-F238E27FC236}">
                <a16:creationId xmlns:a16="http://schemas.microsoft.com/office/drawing/2014/main" id="{9D4A5F02-D3A0-BC45-924B-F537F6879F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CF2EDE-B42D-1C45-90AC-640331E15542}"/>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340854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6AF63A-2A34-9443-B3A1-F7AD55578BC1}"/>
              </a:ext>
            </a:extLst>
          </p:cNvPr>
          <p:cNvSpPr>
            <a:spLocks noGrp="1"/>
          </p:cNvSpPr>
          <p:nvPr>
            <p:ph type="dt" sz="half" idx="10"/>
          </p:nvPr>
        </p:nvSpPr>
        <p:spPr/>
        <p:txBody>
          <a:bodyPr/>
          <a:lstStyle/>
          <a:p>
            <a:fld id="{97338502-F17E-DC4B-9F41-BAD476EB8CDC}" type="datetimeFigureOut">
              <a:rPr lang="en-US" smtClean="0"/>
              <a:t>9/20/25</a:t>
            </a:fld>
            <a:endParaRPr lang="en-US"/>
          </a:p>
        </p:txBody>
      </p:sp>
      <p:sp>
        <p:nvSpPr>
          <p:cNvPr id="3" name="Footer Placeholder 2">
            <a:extLst>
              <a:ext uri="{FF2B5EF4-FFF2-40B4-BE49-F238E27FC236}">
                <a16:creationId xmlns:a16="http://schemas.microsoft.com/office/drawing/2014/main" id="{2A3C7C21-24A3-624B-A109-AFC30D8803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615E5C-B91F-6D4D-8F8C-60C86E7D4314}"/>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524729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C247-E86B-7E4B-85FF-22E979058D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D83CF5-B7AC-6344-BEDE-C1DC558C5D5B}"/>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1ED479-0A31-E74C-8CFF-F83A737191D2}"/>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865952-1887-1242-A818-B48F8B40E2D2}"/>
              </a:ext>
            </a:extLst>
          </p:cNvPr>
          <p:cNvSpPr>
            <a:spLocks noGrp="1"/>
          </p:cNvSpPr>
          <p:nvPr>
            <p:ph type="dt" sz="half" idx="10"/>
          </p:nvPr>
        </p:nvSpPr>
        <p:spPr/>
        <p:txBody>
          <a:bodyPr/>
          <a:lstStyle/>
          <a:p>
            <a:fld id="{97338502-F17E-DC4B-9F41-BAD476EB8CDC}" type="datetimeFigureOut">
              <a:rPr lang="en-US" smtClean="0"/>
              <a:t>9/20/25</a:t>
            </a:fld>
            <a:endParaRPr lang="en-US"/>
          </a:p>
        </p:txBody>
      </p:sp>
      <p:sp>
        <p:nvSpPr>
          <p:cNvPr id="6" name="Footer Placeholder 5">
            <a:extLst>
              <a:ext uri="{FF2B5EF4-FFF2-40B4-BE49-F238E27FC236}">
                <a16:creationId xmlns:a16="http://schemas.microsoft.com/office/drawing/2014/main" id="{5B17D4EC-6C26-3343-BE5B-4618E517AC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A067B4-9192-2B4D-B6BA-824E852566C4}"/>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785164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44F99-0279-E64B-A930-DD2DFE1627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C7E41E-F499-FD45-AA09-8683F0D29C82}"/>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BF769A72-A800-F842-8071-88E5094D6D5E}"/>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4FD681-5220-164D-B93A-853D489B8375}"/>
              </a:ext>
            </a:extLst>
          </p:cNvPr>
          <p:cNvSpPr>
            <a:spLocks noGrp="1"/>
          </p:cNvSpPr>
          <p:nvPr>
            <p:ph type="dt" sz="half" idx="10"/>
          </p:nvPr>
        </p:nvSpPr>
        <p:spPr/>
        <p:txBody>
          <a:bodyPr/>
          <a:lstStyle/>
          <a:p>
            <a:fld id="{97338502-F17E-DC4B-9F41-BAD476EB8CDC}" type="datetimeFigureOut">
              <a:rPr lang="en-US" smtClean="0"/>
              <a:t>9/20/25</a:t>
            </a:fld>
            <a:endParaRPr lang="en-US"/>
          </a:p>
        </p:txBody>
      </p:sp>
      <p:sp>
        <p:nvSpPr>
          <p:cNvPr id="6" name="Footer Placeholder 5">
            <a:extLst>
              <a:ext uri="{FF2B5EF4-FFF2-40B4-BE49-F238E27FC236}">
                <a16:creationId xmlns:a16="http://schemas.microsoft.com/office/drawing/2014/main" id="{88E4C564-BE03-8440-959E-1F518EC840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C254D9-1620-D64C-AF60-D151063F32C5}"/>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2759719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C499A-DD86-D24E-A290-0B13D2D72E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35DDCF-0EB5-0B42-9F19-70570301C1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52CFB8-64A2-6243-A467-76379B3B6CE1}"/>
              </a:ext>
            </a:extLst>
          </p:cNvPr>
          <p:cNvSpPr>
            <a:spLocks noGrp="1"/>
          </p:cNvSpPr>
          <p:nvPr>
            <p:ph type="dt" sz="half" idx="10"/>
          </p:nvPr>
        </p:nvSpPr>
        <p:spPr/>
        <p:txBody>
          <a:bodyPr/>
          <a:lstStyle/>
          <a:p>
            <a:fld id="{97338502-F17E-DC4B-9F41-BAD476EB8CDC}" type="datetimeFigureOut">
              <a:rPr lang="en-US" smtClean="0"/>
              <a:t>9/20/25</a:t>
            </a:fld>
            <a:endParaRPr lang="en-US"/>
          </a:p>
        </p:txBody>
      </p:sp>
      <p:sp>
        <p:nvSpPr>
          <p:cNvPr id="5" name="Footer Placeholder 4">
            <a:extLst>
              <a:ext uri="{FF2B5EF4-FFF2-40B4-BE49-F238E27FC236}">
                <a16:creationId xmlns:a16="http://schemas.microsoft.com/office/drawing/2014/main" id="{47925434-A072-D245-8271-A14B1A4D6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54B9DA-DDF0-C34D-8AFE-B5CAAEF3AE7B}"/>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954313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D15942-F520-8140-82C2-549925B9176C}"/>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1EF6AE-3D2E-074D-80D3-C0295DA011CA}"/>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509591-4801-7644-BB66-3C5CEB6BF4A1}"/>
              </a:ext>
            </a:extLst>
          </p:cNvPr>
          <p:cNvSpPr>
            <a:spLocks noGrp="1"/>
          </p:cNvSpPr>
          <p:nvPr>
            <p:ph type="dt" sz="half" idx="10"/>
          </p:nvPr>
        </p:nvSpPr>
        <p:spPr/>
        <p:txBody>
          <a:bodyPr/>
          <a:lstStyle/>
          <a:p>
            <a:fld id="{97338502-F17E-DC4B-9F41-BAD476EB8CDC}" type="datetimeFigureOut">
              <a:rPr lang="en-US" smtClean="0"/>
              <a:t>9/20/25</a:t>
            </a:fld>
            <a:endParaRPr lang="en-US"/>
          </a:p>
        </p:txBody>
      </p:sp>
      <p:sp>
        <p:nvSpPr>
          <p:cNvPr id="5" name="Footer Placeholder 4">
            <a:extLst>
              <a:ext uri="{FF2B5EF4-FFF2-40B4-BE49-F238E27FC236}">
                <a16:creationId xmlns:a16="http://schemas.microsoft.com/office/drawing/2014/main" id="{7B498A03-9EC2-5942-8AF7-4EE129F90F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53ECD-47F7-6640-A418-41363373A207}"/>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635868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D098E4-3EF4-B940-93C1-1851E23AD5A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1D4DF2-BE2A-2040-9A6C-84673A4812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C1B57D-0C15-8044-9772-0CEEEAA1C963}"/>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338502-F17E-DC4B-9F41-BAD476EB8CDC}" type="datetimeFigureOut">
              <a:rPr lang="en-US" smtClean="0"/>
              <a:t>9/20/25</a:t>
            </a:fld>
            <a:endParaRPr lang="en-US"/>
          </a:p>
        </p:txBody>
      </p:sp>
      <p:sp>
        <p:nvSpPr>
          <p:cNvPr id="5" name="Footer Placeholder 4">
            <a:extLst>
              <a:ext uri="{FF2B5EF4-FFF2-40B4-BE49-F238E27FC236}">
                <a16:creationId xmlns:a16="http://schemas.microsoft.com/office/drawing/2014/main" id="{EC1FF6CD-B256-804D-A913-74F1B54B8A56}"/>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6141D8-076E-4C4E-BD9C-F12DD0F4B423}"/>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803370-4F3B-144B-8ABA-B36C9E3D55D2}" type="slidenum">
              <a:rPr lang="en-US" smtClean="0"/>
              <a:t>‹#›</a:t>
            </a:fld>
            <a:endParaRPr lang="en-US"/>
          </a:p>
        </p:txBody>
      </p:sp>
    </p:spTree>
    <p:extLst>
      <p:ext uri="{BB962C8B-B14F-4D97-AF65-F5344CB8AC3E}">
        <p14:creationId xmlns:p14="http://schemas.microsoft.com/office/powerpoint/2010/main" val="373529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3.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4.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3.pn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notesSlide" Target="../notesSlides/notesSlide2.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80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39.png"/><Relationship Id="rId4" Type="http://schemas.openxmlformats.org/officeDocument/2006/relationships/image" Target="../media/image37.png"/><Relationship Id="rId9" Type="http://schemas.openxmlformats.org/officeDocument/2006/relationships/image" Target="../media/image44.png"/></Relationships>
</file>

<file path=ppt/slides/_rels/slide21.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2" Type="http://schemas.openxmlformats.org/officeDocument/2006/relationships/tags" Target="../tags/tag36.xml"/><Relationship Id="rId16" Type="http://schemas.openxmlformats.org/officeDocument/2006/relationships/image" Target="../media/image3.png"/><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image" Target="../media/image32.png"/><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18" Type="http://schemas.openxmlformats.org/officeDocument/2006/relationships/image" Target="../media/image47.png"/><Relationship Id="rId3" Type="http://schemas.openxmlformats.org/officeDocument/2006/relationships/tags" Target="../tags/tag50.xml"/><Relationship Id="rId7" Type="http://schemas.openxmlformats.org/officeDocument/2006/relationships/tags" Target="../tags/tag54.xml"/><Relationship Id="rId12" Type="http://schemas.openxmlformats.org/officeDocument/2006/relationships/tags" Target="../tags/tag59.xml"/><Relationship Id="rId17" Type="http://schemas.openxmlformats.org/officeDocument/2006/relationships/tags" Target="../tags/tag52.xml"/><Relationship Id="rId2" Type="http://schemas.openxmlformats.org/officeDocument/2006/relationships/tags" Target="../tags/tag49.xml"/><Relationship Id="rId16" Type="http://schemas.openxmlformats.org/officeDocument/2006/relationships/image" Target="../media/image46.png"/><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5" Type="http://schemas.openxmlformats.org/officeDocument/2006/relationships/tags" Target="../tags/tag52.xml"/><Relationship Id="rId15" Type="http://schemas.openxmlformats.org/officeDocument/2006/relationships/tags" Target="../tags/tag51.xml"/><Relationship Id="rId10" Type="http://schemas.openxmlformats.org/officeDocument/2006/relationships/tags" Target="../tags/tag57.xml"/><Relationship Id="rId19" Type="http://schemas.openxmlformats.org/officeDocument/2006/relationships/image" Target="../media/image3.png"/><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C8180ED6-2ACB-A649-8746-79EC7812504B}"/>
              </a:ext>
            </a:extLst>
          </p:cNvPr>
          <p:cNvSpPr>
            <a:spLocks noGrp="1"/>
          </p:cNvSpPr>
          <p:nvPr>
            <p:ph type="ctrTitle"/>
          </p:nvPr>
        </p:nvSpPr>
        <p:spPr>
          <a:xfrm>
            <a:off x="2058380" y="1260489"/>
            <a:ext cx="8075240" cy="1710011"/>
          </a:xfrm>
          <a:prstGeom prst="roundRect">
            <a:avLst/>
          </a:prstGeom>
          <a:solidFill>
            <a:srgbClr val="005825"/>
          </a:solidFill>
        </p:spPr>
        <p:style>
          <a:lnRef idx="0">
            <a:schemeClr val="accent1"/>
          </a:lnRef>
          <a:fillRef idx="3">
            <a:schemeClr val="accent1"/>
          </a:fillRef>
          <a:effectRef idx="3">
            <a:schemeClr val="accent1"/>
          </a:effectRef>
          <a:fontRef idx="minor">
            <a:schemeClr val="lt1"/>
          </a:fontRef>
        </p:style>
        <p:txBody>
          <a:bodyPr anchor="ctr">
            <a:noAutofit/>
          </a:bodyPr>
          <a:lstStyle/>
          <a:p>
            <a:r>
              <a:rPr lang="en-US" altLang="zh-CN" sz="4000" b="1" dirty="0">
                <a:latin typeface="微软雅黑" pitchFamily="34" charset="-122"/>
                <a:ea typeface="微软雅黑" pitchFamily="34" charset="-122"/>
              </a:rPr>
              <a:t>Asymptotic inference in OLS</a:t>
            </a:r>
            <a:endParaRPr lang="zh-CN" altLang="en-US" sz="4000" b="1" dirty="0">
              <a:latin typeface="微软雅黑" pitchFamily="34" charset="-122"/>
              <a:ea typeface="微软雅黑" pitchFamily="34" charset="-122"/>
            </a:endParaRPr>
          </a:p>
        </p:txBody>
      </p:sp>
      <p:sp>
        <p:nvSpPr>
          <p:cNvPr id="5" name="副标题 2">
            <a:extLst>
              <a:ext uri="{FF2B5EF4-FFF2-40B4-BE49-F238E27FC236}">
                <a16:creationId xmlns:a16="http://schemas.microsoft.com/office/drawing/2014/main" id="{65B63C4A-E74D-EC4E-82DE-0EDC1FB3D00F}"/>
              </a:ext>
            </a:extLst>
          </p:cNvPr>
          <p:cNvSpPr>
            <a:spLocks noGrp="1"/>
          </p:cNvSpPr>
          <p:nvPr>
            <p:ph type="subTitle" idx="1"/>
          </p:nvPr>
        </p:nvSpPr>
        <p:spPr>
          <a:xfrm>
            <a:off x="1524000" y="3887501"/>
            <a:ext cx="9144000" cy="1373086"/>
          </a:xfrm>
        </p:spPr>
        <p:txBody>
          <a:bodyPr>
            <a:normAutofit/>
          </a:bodyPr>
          <a:lstStyle/>
          <a:p>
            <a:r>
              <a:rPr lang="zh-CN" altLang="en-US" b="1" dirty="0">
                <a:solidFill>
                  <a:schemeClr val="tx1"/>
                </a:solidFill>
                <a:latin typeface="Microsoft YaHei" panose="020B0503020204020204" pitchFamily="34" charset="-122"/>
                <a:ea typeface="Microsoft YaHei" panose="020B0503020204020204" pitchFamily="34" charset="-122"/>
              </a:rPr>
              <a:t>蒋智超</a:t>
            </a:r>
            <a:endParaRPr lang="en-US" altLang="zh-CN" b="1" dirty="0">
              <a:latin typeface="Microsoft YaHei" panose="020B0503020204020204" pitchFamily="34" charset="-122"/>
              <a:ea typeface="Microsoft YaHei" panose="020B0503020204020204" pitchFamily="34" charset="-122"/>
            </a:endParaRPr>
          </a:p>
          <a:p>
            <a:r>
              <a:rPr lang="zh-CN" altLang="en-US" b="1" dirty="0">
                <a:solidFill>
                  <a:schemeClr val="tx1"/>
                </a:solidFill>
                <a:latin typeface="Microsoft YaHei" panose="020B0503020204020204" pitchFamily="34" charset="-122"/>
                <a:ea typeface="Microsoft YaHei" panose="020B0503020204020204" pitchFamily="34" charset="-122"/>
              </a:rPr>
              <a:t>          </a:t>
            </a:r>
            <a:endParaRPr lang="en-US" altLang="zh-CN" b="1" dirty="0">
              <a:solidFill>
                <a:schemeClr val="tx1"/>
              </a:solidFill>
              <a:latin typeface="Microsoft YaHei" panose="020B0503020204020204" pitchFamily="34" charset="-122"/>
              <a:ea typeface="Microsoft YaHei" panose="020B0503020204020204" pitchFamily="34" charset="-122"/>
            </a:endParaRPr>
          </a:p>
          <a:p>
            <a:r>
              <a:rPr lang="en-US" altLang="zh-CN" b="1" dirty="0">
                <a:solidFill>
                  <a:schemeClr val="tx1"/>
                </a:solidFill>
                <a:latin typeface="Microsoft YaHei" panose="020B0503020204020204" pitchFamily="34" charset="-122"/>
                <a:ea typeface="Microsoft YaHei" panose="020B0503020204020204" pitchFamily="34" charset="-122"/>
              </a:rPr>
              <a:t>2025</a:t>
            </a:r>
            <a:r>
              <a:rPr lang="zh-CN" altLang="en-US" b="1" dirty="0">
                <a:solidFill>
                  <a:schemeClr val="tx1"/>
                </a:solidFill>
                <a:latin typeface="Microsoft YaHei" panose="020B0503020204020204" pitchFamily="34" charset="-122"/>
                <a:ea typeface="Microsoft YaHei" panose="020B0503020204020204" pitchFamily="34" charset="-122"/>
              </a:rPr>
              <a:t>年 </a:t>
            </a:r>
            <a:r>
              <a:rPr lang="zh-CN" altLang="en-US" b="1" dirty="0">
                <a:latin typeface="Microsoft YaHei" panose="020B0503020204020204" pitchFamily="34" charset="-122"/>
                <a:ea typeface="Microsoft YaHei" panose="020B0503020204020204" pitchFamily="34" charset="-122"/>
              </a:rPr>
              <a:t>秋    </a:t>
            </a:r>
            <a:endParaRPr lang="en-US" altLang="zh-CN"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68624703"/>
      </p:ext>
    </p:extLst>
  </p:cSld>
  <p:clrMapOvr>
    <a:masterClrMapping/>
  </p:clrMapOvr>
  <mc:AlternateContent xmlns:mc="http://schemas.openxmlformats.org/markup-compatibility/2006" xmlns:p14="http://schemas.microsoft.com/office/powerpoint/2010/main">
    <mc:Choice Requires="p14">
      <p:transition spd="slow" p14:dur="2000" advTm="2572"/>
    </mc:Choice>
    <mc:Fallback xmlns="">
      <p:transition spd="slow" advTm="257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Motivation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914400" y="1463040"/>
                <a:ext cx="9071811" cy="4656139"/>
              </a:xfrm>
              <a:ln>
                <a:noFill/>
              </a:ln>
            </p:spPr>
            <p:txBody>
              <a:bodyPr>
                <a:normAutofit/>
              </a:bodyPr>
              <a:lstStyle/>
              <a:p>
                <a:pPr>
                  <a:lnSpc>
                    <a:spcPct val="150000"/>
                  </a:lnSpc>
                  <a:buClr>
                    <a:schemeClr val="tx1"/>
                  </a:buClr>
                </a:pPr>
                <a:r>
                  <a:rPr lang="en-US" altLang="zh-CN" sz="2400" dirty="0">
                    <a:ea typeface="Arial Unicode MS" panose="020B0604020202020204" pitchFamily="34" charset="-128"/>
                    <a:cs typeface="Arial Unicode MS" panose="020B0604020202020204" pitchFamily="34" charset="-128"/>
                  </a:rPr>
                  <a:t>Standard software packages report point estimators, standard errors, and </a:t>
                </a:r>
                <a14:m>
                  <m:oMath xmlns:m="http://schemas.openxmlformats.org/officeDocument/2006/math">
                    <m:r>
                      <a:rPr lang="en-US" altLang="zh-CN" sz="2400" i="1" dirty="0" smtClean="0">
                        <a:latin typeface="Cambria Math" panose="02040503050406030204" pitchFamily="18" charset="0"/>
                        <a:ea typeface="Arial Unicode MS" panose="020B0604020202020204" pitchFamily="34" charset="-128"/>
                        <a:cs typeface="Arial Unicode MS" panose="020B0604020202020204" pitchFamily="34" charset="-128"/>
                      </a:rPr>
                      <m:t>𝑝</m:t>
                    </m:r>
                  </m:oMath>
                </a14:m>
                <a:r>
                  <a:rPr lang="en-US" altLang="zh-CN" sz="2400" dirty="0">
                    <a:ea typeface="Arial Unicode MS" panose="020B0604020202020204" pitchFamily="34" charset="-128"/>
                    <a:cs typeface="Arial Unicode MS" panose="020B0604020202020204" pitchFamily="34" charset="-128"/>
                  </a:rPr>
                  <a:t>-values for each </a:t>
                </a:r>
                <a14:m>
                  <m:oMath xmlns:m="http://schemas.openxmlformats.org/officeDocument/2006/math">
                    <m:sSub>
                      <m:sSubPr>
                        <m:ctrlPr>
                          <a:rPr lang="en-US" altLang="zh-CN" sz="240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400" i="1" smtClean="0">
                            <a:latin typeface="Cambria Math" panose="02040503050406030204" pitchFamily="18" charset="0"/>
                            <a:ea typeface="Cambria Math" panose="02040503050406030204" pitchFamily="18" charset="0"/>
                            <a:cs typeface="Arial Unicode MS" panose="020B0604020202020204" pitchFamily="34" charset="-128"/>
                          </a:rPr>
                          <m:t>𝛽</m:t>
                        </m:r>
                      </m:e>
                      <m:sub>
                        <m:r>
                          <a:rPr lang="en-US" altLang="zh-CN" sz="2400" b="0" i="1" smtClean="0">
                            <a:latin typeface="Cambria Math" panose="02040503050406030204" pitchFamily="18" charset="0"/>
                            <a:ea typeface="Arial Unicode MS" panose="020B0604020202020204" pitchFamily="34" charset="-128"/>
                            <a:cs typeface="Arial Unicode MS" panose="020B0604020202020204" pitchFamily="34" charset="-128"/>
                          </a:rPr>
                          <m:t>𝑗</m:t>
                        </m:r>
                      </m:sub>
                    </m:sSub>
                  </m:oMath>
                </a14:m>
                <a:r>
                  <a:rPr lang="en-US" altLang="zh-CN" sz="2400" dirty="0">
                    <a:ea typeface="Arial Unicode MS" panose="020B0604020202020204" pitchFamily="34" charset="-128"/>
                    <a:cs typeface="Arial Unicode MS" panose="020B0604020202020204" pitchFamily="34" charset="-128"/>
                  </a:rPr>
                  <a:t> based on the </a:t>
                </a:r>
                <a:r>
                  <a:rPr lang="en-US" altLang="zh-CN" sz="2400" i="1" dirty="0">
                    <a:ea typeface="Arial Unicode MS" panose="020B0604020202020204" pitchFamily="34" charset="-128"/>
                    <a:cs typeface="Arial Unicode MS" panose="020B0604020202020204" pitchFamily="34" charset="-128"/>
                  </a:rPr>
                  <a:t>Normal linear model</a:t>
                </a: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r>
                  <a:rPr lang="en-US" altLang="zh-CN" sz="2400" dirty="0">
                    <a:ea typeface="Arial Unicode MS" panose="020B0604020202020204" pitchFamily="34" charset="-128"/>
                    <a:cs typeface="Arial Unicode MS" panose="020B0604020202020204" pitchFamily="34" charset="-128"/>
                  </a:rPr>
                  <a:t>The assumptions are extremely strong</a:t>
                </a:r>
              </a:p>
              <a:p>
                <a:pPr lvl="1"/>
                <a:r>
                  <a:rPr lang="en-US" altLang="zh-CN" sz="2000" dirty="0">
                    <a:ea typeface="Arial Unicode MS" panose="020B0604020202020204" pitchFamily="34" charset="-128"/>
                    <a:cs typeface="Arial Unicode MS" panose="020B0604020202020204" pitchFamily="34" charset="-128"/>
                  </a:rPr>
                  <a:t>Linear</a:t>
                </a:r>
                <a:r>
                  <a:rPr lang="zh-CN" altLang="en-US" sz="2000" dirty="0">
                    <a:ea typeface="Arial Unicode MS" panose="020B0604020202020204" pitchFamily="34" charset="-128"/>
                    <a:cs typeface="Arial Unicode MS" panose="020B0604020202020204" pitchFamily="34" charset="-128"/>
                  </a:rPr>
                  <a:t> </a:t>
                </a:r>
                <a:r>
                  <a:rPr lang="en-US" altLang="zh-CN" sz="2000" dirty="0">
                    <a:ea typeface="Arial Unicode MS" panose="020B0604020202020204" pitchFamily="34" charset="-128"/>
                    <a:cs typeface="Arial Unicode MS" panose="020B0604020202020204" pitchFamily="34" charset="-128"/>
                  </a:rPr>
                  <a:t>function</a:t>
                </a:r>
                <a:r>
                  <a:rPr lang="zh-CN" altLang="en-US" sz="2000" dirty="0">
                    <a:ea typeface="Arial Unicode MS" panose="020B0604020202020204" pitchFamily="34" charset="-128"/>
                    <a:cs typeface="Arial Unicode MS" panose="020B0604020202020204" pitchFamily="34" charset="-128"/>
                  </a:rPr>
                  <a:t> </a:t>
                </a:r>
                <a:r>
                  <a:rPr lang="en-US" altLang="zh-CN" sz="2000" dirty="0">
                    <a:ea typeface="Arial Unicode MS" panose="020B0604020202020204" pitchFamily="34" charset="-128"/>
                    <a:cs typeface="Arial Unicode MS" panose="020B0604020202020204" pitchFamily="34" charset="-128"/>
                  </a:rPr>
                  <a:t>form</a:t>
                </a:r>
              </a:p>
              <a:p>
                <a:pPr lvl="1"/>
                <a:r>
                  <a:rPr lang="en-US" altLang="zh-CN" sz="2000" dirty="0">
                    <a:ea typeface="Arial Unicode MS" panose="020B0604020202020204" pitchFamily="34" charset="-128"/>
                    <a:cs typeface="Arial Unicode MS" panose="020B0604020202020204" pitchFamily="34" charset="-128"/>
                  </a:rPr>
                  <a:t>Additive error terms not dependent on X</a:t>
                </a:r>
              </a:p>
              <a:p>
                <a:pPr lvl="1"/>
                <a:r>
                  <a:rPr lang="en-US" altLang="zh-CN" sz="2000" dirty="0">
                    <a:ea typeface="Arial Unicode MS" panose="020B0604020202020204" pitchFamily="34" charset="-128"/>
                    <a:cs typeface="Arial Unicode MS" panose="020B0604020202020204" pitchFamily="34" charset="-128"/>
                  </a:rPr>
                  <a:t>Error terms are IID Normal with the same variance</a:t>
                </a:r>
              </a:p>
              <a:p>
                <a:r>
                  <a:rPr lang="en-US" altLang="zh-CN" sz="2400" dirty="0">
                    <a:ea typeface="Arial Unicode MS" panose="020B0604020202020204" pitchFamily="34" charset="-128"/>
                    <a:cs typeface="Arial Unicode MS" panose="020B0604020202020204" pitchFamily="34" charset="-128"/>
                  </a:rPr>
                  <a:t>Can we still trust the statistical inference without some of the assumptions?</a:t>
                </a:r>
                <a:endParaRPr lang="zh-CN" altLang="en-US" sz="2400" dirty="0">
                  <a:ea typeface="Arial Unicode MS" panose="020B0604020202020204" pitchFamily="34" charset="-128"/>
                  <a:cs typeface="Arial Unicode MS" panose="020B0604020202020204" pitchFamily="34" charset="-128"/>
                </a:endParaRPr>
              </a:p>
            </p:txBody>
          </p:sp>
        </mc:Choice>
        <mc:Fallback xmlns="">
          <p:sp>
            <p:nvSpPr>
              <p:cNvPr id="8195" name="内容占位符 2">
                <a:extLst>
                  <a:ext uri="{FF2B5EF4-FFF2-40B4-BE49-F238E27FC236}">
                    <a16:creationId xmlns:a16="http://schemas.microsoft.com/office/drawing/2014/main" id="{A0293DA8-2870-C84B-90F0-70EC544611AC}"/>
                  </a:ext>
                </a:extLst>
              </p:cNvPr>
              <p:cNvSpPr>
                <a:spLocks noGrp="1" noRot="1" noChangeAspect="1" noMove="1" noResize="1" noEditPoints="1" noAdjustHandles="1" noChangeArrowheads="1" noChangeShapeType="1" noTextEdit="1"/>
              </p:cNvSpPr>
              <p:nvPr>
                <p:ph idx="1"/>
              </p:nvPr>
            </p:nvSpPr>
            <p:spPr>
              <a:xfrm>
                <a:off x="914400" y="1463040"/>
                <a:ext cx="9071811" cy="4656139"/>
              </a:xfrm>
              <a:blipFill>
                <a:blip r:embed="rId2"/>
                <a:stretch>
                  <a:fillRect l="-979"/>
                </a:stretch>
              </a:blipFill>
              <a:ln>
                <a:noFill/>
              </a:ln>
            </p:spPr>
            <p:txBody>
              <a:bodyPr/>
              <a:lstStyle/>
              <a:p>
                <a:r>
                  <a:rPr lang="en-US">
                    <a:noFill/>
                  </a:rPr>
                  <a:t> </a:t>
                </a:r>
              </a:p>
            </p:txBody>
          </p:sp>
        </mc:Fallback>
      </mc:AlternateContent>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D5DEA37F-DC40-6C45-910E-F7FFBA9FC07A}"/>
              </a:ext>
            </a:extLst>
          </p:cNvPr>
          <p:cNvPicPr>
            <a:picLocks noChangeAspect="1"/>
          </p:cNvPicPr>
          <p:nvPr/>
        </p:nvPicPr>
        <p:blipFill>
          <a:blip r:embed="rId3"/>
          <a:stretch>
            <a:fillRect/>
          </a:stretch>
        </p:blipFill>
        <p:spPr>
          <a:xfrm>
            <a:off x="3686206" y="2788603"/>
            <a:ext cx="3162300" cy="406400"/>
          </a:xfrm>
          <a:prstGeom prst="rect">
            <a:avLst/>
          </a:prstGeom>
        </p:spPr>
      </p:pic>
    </p:spTree>
    <p:extLst>
      <p:ext uri="{BB962C8B-B14F-4D97-AF65-F5344CB8AC3E}">
        <p14:creationId xmlns:p14="http://schemas.microsoft.com/office/powerpoint/2010/main" val="371010500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B8A32DA-0D0A-B7DB-5451-5A1724588E00}"/>
              </a:ext>
            </a:extLst>
          </p:cNvPr>
          <p:cNvGrpSpPr/>
          <p:nvPr>
            <p:custDataLst>
              <p:tags r:id="rId2"/>
            </p:custDataLst>
          </p:nvPr>
        </p:nvGrpSpPr>
        <p:grpSpPr>
          <a:xfrm>
            <a:off x="0" y="0"/>
            <a:ext cx="12192000" cy="635000"/>
            <a:chOff x="0" y="0"/>
            <a:chExt cx="12192000" cy="635000"/>
          </a:xfrm>
        </p:grpSpPr>
        <p:sp>
          <p:nvSpPr>
            <p:cNvPr id="6" name="TitleBackground">
              <a:extLst>
                <a:ext uri="{FF2B5EF4-FFF2-40B4-BE49-F238E27FC236}">
                  <a16:creationId xmlns:a16="http://schemas.microsoft.com/office/drawing/2014/main" id="{6470BD19-5029-AA94-22AC-247C3519D813}"/>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lorBlock">
              <a:extLst>
                <a:ext uri="{FF2B5EF4-FFF2-40B4-BE49-F238E27FC236}">
                  <a16:creationId xmlns:a16="http://schemas.microsoft.com/office/drawing/2014/main" id="{1BEC91EA-0A79-1EEB-21D0-602362429180}"/>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ypeText">
              <a:extLst>
                <a:ext uri="{FF2B5EF4-FFF2-40B4-BE49-F238E27FC236}">
                  <a16:creationId xmlns:a16="http://schemas.microsoft.com/office/drawing/2014/main" id="{D77FF1AC-9E12-C46B-988D-A1CDF4B90B36}"/>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a:extLst>
                <a:ext uri="{FF2B5EF4-FFF2-40B4-BE49-F238E27FC236}">
                  <a16:creationId xmlns:a16="http://schemas.microsoft.com/office/drawing/2014/main" id="{B2735DCB-55A3-81E3-B450-E8D727FD0B10}"/>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sp>
        <p:nvSpPr>
          <p:cNvPr id="11" name="TextBox 10">
            <a:extLst>
              <a:ext uri="{FF2B5EF4-FFF2-40B4-BE49-F238E27FC236}">
                <a16:creationId xmlns:a16="http://schemas.microsoft.com/office/drawing/2014/main" id="{62F0FA50-3F62-B5AD-E572-5F3C110D7224}"/>
              </a:ext>
            </a:extLst>
          </p:cNvPr>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r>
              <a:rPr lang="en-US" sz="2800" dirty="0"/>
              <a:t>Which of the following scenarios make the assumption of Normally distributed errors plausible?</a:t>
            </a:r>
          </a:p>
        </p:txBody>
      </p:sp>
      <p:sp>
        <p:nvSpPr>
          <p:cNvPr id="12" name="TextBox 11">
            <a:extLst>
              <a:ext uri="{FF2B5EF4-FFF2-40B4-BE49-F238E27FC236}">
                <a16:creationId xmlns:a16="http://schemas.microsoft.com/office/drawing/2014/main" id="{8FDDCD5D-5652-59B6-8217-A06F2ADCBF28}"/>
              </a:ext>
            </a:extLst>
          </p:cNvPr>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lang="en-US" sz="2800" dirty="0"/>
              <a:t>You regress college admission success (admitted = 1, not admitted = 0) on test scores </a:t>
            </a:r>
          </a:p>
        </p:txBody>
      </p:sp>
      <p:sp>
        <p:nvSpPr>
          <p:cNvPr id="13" name="TextBox 12">
            <a:extLst>
              <a:ext uri="{FF2B5EF4-FFF2-40B4-BE49-F238E27FC236}">
                <a16:creationId xmlns:a16="http://schemas.microsoft.com/office/drawing/2014/main" id="{12886B6D-EBF2-C8E8-E4DB-636820748ABD}"/>
              </a:ext>
            </a:extLst>
          </p:cNvPr>
          <p:cNvSpPr txBox="1"/>
          <p:nvPr>
            <p:custDataLst>
              <p:tags r:id="rId5"/>
            </p:custDataLst>
          </p:nvPr>
        </p:nvSpPr>
        <p:spPr>
          <a:xfrm>
            <a:off x="2438399" y="3471863"/>
            <a:ext cx="8841425" cy="642938"/>
          </a:xfrm>
          <a:prstGeom prst="rect">
            <a:avLst/>
          </a:prstGeom>
          <a:noFill/>
        </p:spPr>
        <p:txBody>
          <a:bodyPr vert="horz" rtlCol="0" anchor="ctr" anchorCtr="0">
            <a:noAutofit/>
          </a:bodyPr>
          <a:lstStyle/>
          <a:p>
            <a:r>
              <a:rPr lang="en-US" sz="2800" dirty="0"/>
              <a:t>You regress annual household income on education and age </a:t>
            </a:r>
          </a:p>
        </p:txBody>
      </p:sp>
      <p:sp>
        <p:nvSpPr>
          <p:cNvPr id="14" name="TextBox 13">
            <a:extLst>
              <a:ext uri="{FF2B5EF4-FFF2-40B4-BE49-F238E27FC236}">
                <a16:creationId xmlns:a16="http://schemas.microsoft.com/office/drawing/2014/main" id="{470C655F-7F16-0842-F66B-8D3F148D1EBE}"/>
              </a:ext>
            </a:extLst>
          </p:cNvPr>
          <p:cNvSpPr txBox="1"/>
          <p:nvPr>
            <p:custDataLst>
              <p:tags r:id="rId6"/>
            </p:custDataLst>
          </p:nvPr>
        </p:nvSpPr>
        <p:spPr>
          <a:xfrm>
            <a:off x="2438400" y="4501525"/>
            <a:ext cx="8534400" cy="642938"/>
          </a:xfrm>
          <a:prstGeom prst="rect">
            <a:avLst/>
          </a:prstGeom>
          <a:noFill/>
        </p:spPr>
        <p:txBody>
          <a:bodyPr vert="horz" rtlCol="0" anchor="ctr" anchorCtr="0">
            <a:noAutofit/>
          </a:bodyPr>
          <a:lstStyle/>
          <a:p>
            <a:r>
              <a:rPr lang="en-US" sz="2800" dirty="0"/>
              <a:t>You regress adult height on nutrition indicators</a:t>
            </a:r>
          </a:p>
          <a:p>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TextBox 14">
            <a:extLst>
              <a:ext uri="{FF2B5EF4-FFF2-40B4-BE49-F238E27FC236}">
                <a16:creationId xmlns:a16="http://schemas.microsoft.com/office/drawing/2014/main" id="{D8E31C81-451D-8D7F-F193-3CE9C9466CB6}"/>
              </a:ext>
            </a:extLst>
          </p:cNvPr>
          <p:cNvSpPr txBox="1"/>
          <p:nvPr>
            <p:custDataLst>
              <p:tags r:id="rId7"/>
            </p:custDataLst>
          </p:nvPr>
        </p:nvSpPr>
        <p:spPr>
          <a:xfrm>
            <a:off x="2438400" y="5287017"/>
            <a:ext cx="8534400" cy="642938"/>
          </a:xfrm>
          <a:prstGeom prst="rect">
            <a:avLst/>
          </a:prstGeom>
          <a:noFill/>
        </p:spPr>
        <p:txBody>
          <a:bodyPr vert="horz" rtlCol="0" anchor="ctr" anchorCtr="0">
            <a:noAutofit/>
          </a:bodyPr>
          <a:lstStyle/>
          <a:p>
            <a:r>
              <a:rPr lang="en-US" sz="2800" dirty="0"/>
              <a:t>You regress customer satisfaction ratings (1–5 stars) on service time and price</a:t>
            </a:r>
          </a:p>
        </p:txBody>
      </p:sp>
      <p:sp>
        <p:nvSpPr>
          <p:cNvPr id="16" name="Rectangle 15">
            <a:extLst>
              <a:ext uri="{FF2B5EF4-FFF2-40B4-BE49-F238E27FC236}">
                <a16:creationId xmlns:a16="http://schemas.microsoft.com/office/drawing/2014/main" id="{FEECBF7F-066C-9CB2-B565-1E5EE07B2726}"/>
              </a:ext>
            </a:extLst>
          </p:cNvPr>
          <p:cNvSpPr>
            <a:spLocks noChangeAspect="1"/>
          </p:cNvSpPr>
          <p:nvPr>
            <p:custDataLst>
              <p:tags r:id="rId8"/>
            </p:custDataLst>
          </p:nvPr>
        </p:nvSpPr>
        <p:spPr>
          <a:xfrm>
            <a:off x="1571625" y="2850356"/>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7" name="Rectangle 16">
            <a:extLst>
              <a:ext uri="{FF2B5EF4-FFF2-40B4-BE49-F238E27FC236}">
                <a16:creationId xmlns:a16="http://schemas.microsoft.com/office/drawing/2014/main" id="{10FC422B-C20F-25C8-92D7-24C2AB214FCE}"/>
              </a:ext>
            </a:extLst>
          </p:cNvPr>
          <p:cNvSpPr>
            <a:spLocks noChangeAspect="1"/>
          </p:cNvSpPr>
          <p:nvPr>
            <p:custDataLst>
              <p:tags r:id="rId9"/>
            </p:custDataLst>
          </p:nvPr>
        </p:nvSpPr>
        <p:spPr>
          <a:xfrm>
            <a:off x="1571625" y="3536156"/>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8" name="Rectangle 17">
            <a:extLst>
              <a:ext uri="{FF2B5EF4-FFF2-40B4-BE49-F238E27FC236}">
                <a16:creationId xmlns:a16="http://schemas.microsoft.com/office/drawing/2014/main" id="{8F413EF5-9B1D-534D-F3E4-BDD0D9AFF392}"/>
              </a:ext>
            </a:extLst>
          </p:cNvPr>
          <p:cNvSpPr>
            <a:spLocks noChangeAspect="1"/>
          </p:cNvSpPr>
          <p:nvPr>
            <p:custDataLst>
              <p:tags r:id="rId10"/>
            </p:custDataLst>
          </p:nvPr>
        </p:nvSpPr>
        <p:spPr>
          <a:xfrm>
            <a:off x="1571625" y="441915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9" name="Rectangle 18">
            <a:extLst>
              <a:ext uri="{FF2B5EF4-FFF2-40B4-BE49-F238E27FC236}">
                <a16:creationId xmlns:a16="http://schemas.microsoft.com/office/drawing/2014/main" id="{BDAA3AAB-0E14-91EE-042C-E36AD1F1C058}"/>
              </a:ext>
            </a:extLst>
          </p:cNvPr>
          <p:cNvSpPr>
            <a:spLocks noChangeAspect="1"/>
          </p:cNvSpPr>
          <p:nvPr>
            <p:custDataLst>
              <p:tags r:id="rId11"/>
            </p:custDataLst>
          </p:nvPr>
        </p:nvSpPr>
        <p:spPr>
          <a:xfrm>
            <a:off x="1571625" y="5302157"/>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20" name="Rounded Rectangle 19">
            <a:extLst>
              <a:ext uri="{FF2B5EF4-FFF2-40B4-BE49-F238E27FC236}">
                <a16:creationId xmlns:a16="http://schemas.microsoft.com/office/drawing/2014/main" id="{6C197943-3F45-BBB0-C614-E74B876EBA44}"/>
              </a:ext>
            </a:extLst>
          </p:cNvPr>
          <p:cNvSpPr/>
          <p:nvPr>
            <p:custDataLst>
              <p:tags r:id="rId1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5" name="Picture 4">
            <a:extLst>
              <a:ext uri="{FF2B5EF4-FFF2-40B4-BE49-F238E27FC236}">
                <a16:creationId xmlns:a16="http://schemas.microsoft.com/office/drawing/2014/main" id="{B230257C-286C-67F4-F0FE-82347ADD038E}"/>
              </a:ext>
            </a:extLst>
          </p:cNvPr>
          <p:cNvPicPr>
            <a:picLocks/>
          </p:cNvPicPr>
          <p:nvPr>
            <p:custDataLst>
              <p:tags r:id="rId13"/>
            </p:custDataLst>
          </p:nvPr>
        </p:nvPicPr>
        <p:blipFill>
          <a:blip r:embed="rId20"/>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489702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7231FF6-3875-F368-17BA-CB306FEEE2BA}"/>
              </a:ext>
            </a:extLst>
          </p:cNvPr>
          <p:cNvGrpSpPr/>
          <p:nvPr>
            <p:custDataLst>
              <p:tags r:id="rId2"/>
            </p:custDataLst>
          </p:nvPr>
        </p:nvGrpSpPr>
        <p:grpSpPr>
          <a:xfrm>
            <a:off x="0" y="0"/>
            <a:ext cx="12192000" cy="635000"/>
            <a:chOff x="0" y="0"/>
            <a:chExt cx="12192000" cy="635000"/>
          </a:xfrm>
        </p:grpSpPr>
        <p:sp>
          <p:nvSpPr>
            <p:cNvPr id="4" name="TitleBackground">
              <a:extLst>
                <a:ext uri="{FF2B5EF4-FFF2-40B4-BE49-F238E27FC236}">
                  <a16:creationId xmlns:a16="http://schemas.microsoft.com/office/drawing/2014/main" id="{55AB1597-07F0-D9E4-0640-AA4E7048D9E4}"/>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lorBlock">
              <a:extLst>
                <a:ext uri="{FF2B5EF4-FFF2-40B4-BE49-F238E27FC236}">
                  <a16:creationId xmlns:a16="http://schemas.microsoft.com/office/drawing/2014/main" id="{92DE5C35-F5DA-A072-3849-95E53949D177}"/>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ypeText">
              <a:extLst>
                <a:ext uri="{FF2B5EF4-FFF2-40B4-BE49-F238E27FC236}">
                  <a16:creationId xmlns:a16="http://schemas.microsoft.com/office/drawing/2014/main" id="{7D529680-4A75-A462-5FC8-FDF42437430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TipText">
              <a:extLst>
                <a:ext uri="{FF2B5EF4-FFF2-40B4-BE49-F238E27FC236}">
                  <a16:creationId xmlns:a16="http://schemas.microsoft.com/office/drawing/2014/main" id="{743A6B0B-08ED-99FD-DE90-03960CD0715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sp>
        <p:nvSpPr>
          <p:cNvPr id="9" name="TextBox 8">
            <a:extLst>
              <a:ext uri="{FF2B5EF4-FFF2-40B4-BE49-F238E27FC236}">
                <a16:creationId xmlns:a16="http://schemas.microsoft.com/office/drawing/2014/main" id="{A7F3BACE-E36F-4478-C14E-B69DEED621AE}"/>
              </a:ext>
            </a:extLst>
          </p:cNvPr>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r>
              <a:rPr lang="en-US" sz="2800" dirty="0"/>
              <a:t>In which of the following scenarios is the assumption of </a:t>
            </a:r>
            <a:r>
              <a:rPr lang="en-US" sz="2800" dirty="0" err="1"/>
              <a:t>homoskedastic</a:t>
            </a:r>
            <a:r>
              <a:rPr lang="en-US" sz="2800" dirty="0"/>
              <a:t> errors plausible?</a:t>
            </a:r>
          </a:p>
        </p:txBody>
      </p:sp>
      <p:sp>
        <p:nvSpPr>
          <p:cNvPr id="10" name="TextBox 9">
            <a:extLst>
              <a:ext uri="{FF2B5EF4-FFF2-40B4-BE49-F238E27FC236}">
                <a16:creationId xmlns:a16="http://schemas.microsoft.com/office/drawing/2014/main" id="{E676EE8C-0294-98EF-A9C7-0BAA08406817}"/>
              </a:ext>
            </a:extLst>
          </p:cNvPr>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lang="en-US" sz="2800" dirty="0"/>
              <a:t>The outcome is annual income, where education and experience are included as covariates</a:t>
            </a:r>
          </a:p>
          <a:p>
            <a:endParaRPr lang="en-US" sz="2800" dirty="0"/>
          </a:p>
        </p:txBody>
      </p:sp>
      <p:sp>
        <p:nvSpPr>
          <p:cNvPr id="11" name="TextBox 10">
            <a:extLst>
              <a:ext uri="{FF2B5EF4-FFF2-40B4-BE49-F238E27FC236}">
                <a16:creationId xmlns:a16="http://schemas.microsoft.com/office/drawing/2014/main" id="{831FE610-4153-3ADF-1792-1C8EA2C1E093}"/>
              </a:ext>
            </a:extLst>
          </p:cNvPr>
          <p:cNvSpPr txBox="1"/>
          <p:nvPr>
            <p:custDataLst>
              <p:tags r:id="rId5"/>
            </p:custDataLst>
          </p:nvPr>
        </p:nvSpPr>
        <p:spPr>
          <a:xfrm>
            <a:off x="2438400" y="3643313"/>
            <a:ext cx="8534400" cy="642938"/>
          </a:xfrm>
          <a:prstGeom prst="rect">
            <a:avLst/>
          </a:prstGeom>
          <a:noFill/>
        </p:spPr>
        <p:txBody>
          <a:bodyPr vert="horz" rtlCol="0" anchor="ctr" anchorCtr="0">
            <a:noAutofit/>
          </a:bodyPr>
          <a:lstStyle/>
          <a:p>
            <a:r>
              <a:rPr lang="en-US" sz="2800" dirty="0"/>
              <a:t>The outcome is a binary indicator of success or failure</a:t>
            </a:r>
          </a:p>
        </p:txBody>
      </p:sp>
      <p:sp>
        <p:nvSpPr>
          <p:cNvPr id="12" name="TextBox 11">
            <a:extLst>
              <a:ext uri="{FF2B5EF4-FFF2-40B4-BE49-F238E27FC236}">
                <a16:creationId xmlns:a16="http://schemas.microsoft.com/office/drawing/2014/main" id="{9C6E1951-32FA-1DBB-C7F0-0CDBBD86C00A}"/>
              </a:ext>
            </a:extLst>
          </p:cNvPr>
          <p:cNvSpPr txBox="1"/>
          <p:nvPr>
            <p:custDataLst>
              <p:tags r:id="rId6"/>
            </p:custDataLst>
          </p:nvPr>
        </p:nvSpPr>
        <p:spPr>
          <a:xfrm>
            <a:off x="2438400" y="4664336"/>
            <a:ext cx="8534400" cy="642938"/>
          </a:xfrm>
          <a:prstGeom prst="rect">
            <a:avLst/>
          </a:prstGeom>
          <a:noFill/>
        </p:spPr>
        <p:txBody>
          <a:bodyPr vert="horz" rtlCol="0" anchor="ctr" anchorCtr="0">
            <a:noAutofit/>
          </a:bodyPr>
          <a:lstStyle/>
          <a:p>
            <a:r>
              <a:rPr lang="en-US" sz="2800" dirty="0"/>
              <a:t>The outcome is test scores from a standardized exam</a:t>
            </a:r>
          </a:p>
          <a:p>
            <a:endParaRPr lang="en-US" sz="2800" dirty="0"/>
          </a:p>
        </p:txBody>
      </p:sp>
      <p:sp>
        <p:nvSpPr>
          <p:cNvPr id="13" name="TextBox 12">
            <a:extLst>
              <a:ext uri="{FF2B5EF4-FFF2-40B4-BE49-F238E27FC236}">
                <a16:creationId xmlns:a16="http://schemas.microsoft.com/office/drawing/2014/main" id="{E9D35BEE-858E-699D-2B28-10F42E463A39}"/>
              </a:ext>
            </a:extLst>
          </p:cNvPr>
          <p:cNvSpPr txBox="1"/>
          <p:nvPr>
            <p:custDataLst>
              <p:tags r:id="rId7"/>
            </p:custDataLst>
          </p:nvPr>
        </p:nvSpPr>
        <p:spPr>
          <a:xfrm>
            <a:off x="2438400" y="5357813"/>
            <a:ext cx="8534400" cy="642938"/>
          </a:xfrm>
          <a:prstGeom prst="rect">
            <a:avLst/>
          </a:prstGeom>
          <a:noFill/>
        </p:spPr>
        <p:txBody>
          <a:bodyPr vert="horz" rtlCol="0" anchor="ctr" anchorCtr="0">
            <a:noAutofit/>
          </a:bodyPr>
          <a:lstStyle/>
          <a:p>
            <a:r>
              <a:rPr lang="en-US" sz="2800" dirty="0"/>
              <a:t>The outcome is the number of doctor visits</a:t>
            </a:r>
          </a:p>
        </p:txBody>
      </p:sp>
      <p:sp>
        <p:nvSpPr>
          <p:cNvPr id="14" name="Rectangle 13">
            <a:extLst>
              <a:ext uri="{FF2B5EF4-FFF2-40B4-BE49-F238E27FC236}">
                <a16:creationId xmlns:a16="http://schemas.microsoft.com/office/drawing/2014/main" id="{02E4FABA-FCE4-5AE9-A6AF-9B38CAAE08B9}"/>
              </a:ext>
            </a:extLst>
          </p:cNvPr>
          <p:cNvSpPr>
            <a:spLocks noChangeAspect="1"/>
          </p:cNvSpPr>
          <p:nvPr>
            <p:custDataLst>
              <p:tags r:id="rId8"/>
            </p:custDataLst>
          </p:nvPr>
        </p:nvSpPr>
        <p:spPr>
          <a:xfrm>
            <a:off x="1571625" y="2850356"/>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5" name="Rectangle 14">
            <a:extLst>
              <a:ext uri="{FF2B5EF4-FFF2-40B4-BE49-F238E27FC236}">
                <a16:creationId xmlns:a16="http://schemas.microsoft.com/office/drawing/2014/main" id="{350B7EE7-3D3C-9ACA-FE11-B643CC751D9E}"/>
              </a:ext>
            </a:extLst>
          </p:cNvPr>
          <p:cNvSpPr>
            <a:spLocks noChangeAspect="1"/>
          </p:cNvSpPr>
          <p:nvPr>
            <p:custDataLst>
              <p:tags r:id="rId9"/>
            </p:custDataLst>
          </p:nvPr>
        </p:nvSpPr>
        <p:spPr>
          <a:xfrm>
            <a:off x="1571625" y="3707606"/>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6" name="Rectangle 15">
            <a:extLst>
              <a:ext uri="{FF2B5EF4-FFF2-40B4-BE49-F238E27FC236}">
                <a16:creationId xmlns:a16="http://schemas.microsoft.com/office/drawing/2014/main" id="{C13EEE84-822B-2C74-6527-368E16861B55}"/>
              </a:ext>
            </a:extLst>
          </p:cNvPr>
          <p:cNvSpPr>
            <a:spLocks noChangeAspect="1"/>
          </p:cNvSpPr>
          <p:nvPr>
            <p:custDataLst>
              <p:tags r:id="rId10"/>
            </p:custDataLst>
          </p:nvPr>
        </p:nvSpPr>
        <p:spPr>
          <a:xfrm>
            <a:off x="1571625" y="456485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7" name="Rectangle 16">
            <a:extLst>
              <a:ext uri="{FF2B5EF4-FFF2-40B4-BE49-F238E27FC236}">
                <a16:creationId xmlns:a16="http://schemas.microsoft.com/office/drawing/2014/main" id="{9851BEB7-6FE7-E7DD-3594-986F82A018DF}"/>
              </a:ext>
            </a:extLst>
          </p:cNvPr>
          <p:cNvSpPr>
            <a:spLocks noChangeAspect="1"/>
          </p:cNvSpPr>
          <p:nvPr>
            <p:custDataLst>
              <p:tags r:id="rId11"/>
            </p:custDataLst>
          </p:nvPr>
        </p:nvSpPr>
        <p:spPr>
          <a:xfrm>
            <a:off x="1571625" y="5422106"/>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8" name="Rounded Rectangle 17">
            <a:extLst>
              <a:ext uri="{FF2B5EF4-FFF2-40B4-BE49-F238E27FC236}">
                <a16:creationId xmlns:a16="http://schemas.microsoft.com/office/drawing/2014/main" id="{20987384-377D-8E8A-A36C-7CEC23EEB6C0}"/>
              </a:ext>
            </a:extLst>
          </p:cNvPr>
          <p:cNvSpPr/>
          <p:nvPr>
            <p:custDataLst>
              <p:tags r:id="rId1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3" name="Picture 2">
            <a:extLst>
              <a:ext uri="{FF2B5EF4-FFF2-40B4-BE49-F238E27FC236}">
                <a16:creationId xmlns:a16="http://schemas.microsoft.com/office/drawing/2014/main" id="{818F52C9-6185-908B-D596-9E3D68CE614E}"/>
              </a:ext>
            </a:extLst>
          </p:cNvPr>
          <p:cNvPicPr>
            <a:picLocks/>
          </p:cNvPicPr>
          <p:nvPr>
            <p:custDataLst>
              <p:tags r:id="rId13"/>
            </p:custDataLst>
          </p:nvPr>
        </p:nvPicPr>
        <p:blipFill>
          <a:blip r:embed="rId20"/>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18004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Simulation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5</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12" name="内容占位符 2">
            <a:extLst>
              <a:ext uri="{FF2B5EF4-FFF2-40B4-BE49-F238E27FC236}">
                <a16:creationId xmlns:a16="http://schemas.microsoft.com/office/drawing/2014/main" id="{49ABA5FB-C15E-6E48-B99C-30EEB709E992}"/>
              </a:ext>
            </a:extLst>
          </p:cNvPr>
          <p:cNvSpPr>
            <a:spLocks noGrp="1" noChangeArrowheads="1"/>
          </p:cNvSpPr>
          <p:nvPr>
            <p:ph idx="1"/>
          </p:nvPr>
        </p:nvSpPr>
        <p:spPr>
          <a:xfrm>
            <a:off x="914400" y="1463040"/>
            <a:ext cx="9071811" cy="4656139"/>
          </a:xfrm>
          <a:ln>
            <a:noFill/>
          </a:ln>
        </p:spPr>
        <p:txBody>
          <a:bodyPr>
            <a:normAutofit/>
          </a:bodyPr>
          <a:lstStyle/>
          <a:p>
            <a:r>
              <a:rPr lang="en-US" altLang="zh-CN" sz="2400" dirty="0">
                <a:ea typeface="Arial Unicode MS" panose="020B0604020202020204" pitchFamily="34" charset="-128"/>
                <a:cs typeface="Arial Unicode MS" panose="020B0604020202020204" pitchFamily="34" charset="-128"/>
              </a:rPr>
              <a:t>Four scenarios (replicate 5000 times)</a:t>
            </a:r>
          </a:p>
          <a:p>
            <a:pPr lvl="1"/>
            <a:r>
              <a:rPr lang="en-US" altLang="zh-CN" sz="2000" dirty="0">
                <a:ea typeface="Arial Unicode MS" panose="020B0604020202020204" pitchFamily="34" charset="-128"/>
                <a:cs typeface="Arial Unicode MS" panose="020B0604020202020204" pitchFamily="34" charset="-128"/>
              </a:rPr>
              <a:t>Ideal Normal linear model</a:t>
            </a:r>
          </a:p>
          <a:p>
            <a:pPr lvl="1"/>
            <a:r>
              <a:rPr lang="en-US" altLang="zh-CN" sz="2000" dirty="0">
                <a:ea typeface="Arial Unicode MS" panose="020B0604020202020204" pitchFamily="34" charset="-128"/>
                <a:cs typeface="Arial Unicode MS" panose="020B0604020202020204" pitchFamily="34" charset="-128"/>
              </a:rPr>
              <a:t>Non-Normal error terms</a:t>
            </a:r>
          </a:p>
          <a:p>
            <a:pPr lvl="1"/>
            <a:r>
              <a:rPr lang="en-US" altLang="zh-CN" sz="2000" dirty="0">
                <a:ea typeface="Arial Unicode MS" panose="020B0604020202020204" pitchFamily="34" charset="-128"/>
                <a:cs typeface="Arial Unicode MS" panose="020B0604020202020204" pitchFamily="34" charset="-128"/>
              </a:rPr>
              <a:t>Normal error terms with variances depending on X</a:t>
            </a:r>
          </a:p>
          <a:p>
            <a:pPr lvl="1"/>
            <a:r>
              <a:rPr lang="en-US" altLang="zh-CN" sz="2000" dirty="0">
                <a:ea typeface="Arial Unicode MS" panose="020B0604020202020204" pitchFamily="34" charset="-128"/>
                <a:cs typeface="Arial Unicode MS" panose="020B0604020202020204" pitchFamily="34" charset="-128"/>
              </a:rPr>
              <a:t>Non-Normal error terms with variances depending on X</a:t>
            </a:r>
          </a:p>
          <a:p>
            <a:pPr lvl="1"/>
            <a:endParaRPr lang="en-US" altLang="zh-CN" sz="2000" dirty="0">
              <a:ea typeface="Arial Unicode MS" panose="020B0604020202020204" pitchFamily="34" charset="-128"/>
              <a:cs typeface="Arial Unicode MS" panose="020B0604020202020204" pitchFamily="34" charset="-128"/>
            </a:endParaRPr>
          </a:p>
          <a:p>
            <a:r>
              <a:rPr lang="en-US" altLang="zh-CN" sz="2400" dirty="0">
                <a:ea typeface="Arial Unicode MS" panose="020B0604020202020204" pitchFamily="34" charset="-128"/>
                <a:cs typeface="Arial Unicode MS" panose="020B0604020202020204" pitchFamily="34" charset="-128"/>
              </a:rPr>
              <a:t>For each replication, we obtain </a:t>
            </a:r>
          </a:p>
          <a:p>
            <a:pPr lvl="1"/>
            <a:r>
              <a:rPr lang="en-US" altLang="zh-CN" sz="2000" dirty="0">
                <a:ea typeface="Arial Unicode MS" panose="020B0604020202020204" pitchFamily="34" charset="-128"/>
                <a:cs typeface="Arial Unicode MS" panose="020B0604020202020204" pitchFamily="34" charset="-128"/>
              </a:rPr>
              <a:t>Estimated coefficient for each replication (se0)</a:t>
            </a:r>
          </a:p>
          <a:p>
            <a:pPr lvl="1"/>
            <a:r>
              <a:rPr lang="en-US" altLang="zh-CN" sz="2000" dirty="0">
                <a:ea typeface="Arial Unicode MS" panose="020B0604020202020204" pitchFamily="34" charset="-128"/>
                <a:cs typeface="Arial Unicode MS" panose="020B0604020202020204" pitchFamily="34" charset="-128"/>
              </a:rPr>
              <a:t>Standard error based on the Normal linear model (se1)</a:t>
            </a:r>
          </a:p>
          <a:p>
            <a:pPr lvl="1"/>
            <a:r>
              <a:rPr lang="en-US" altLang="zh-CN" sz="2000" dirty="0" err="1">
                <a:solidFill>
                  <a:srgbClr val="C00000"/>
                </a:solidFill>
                <a:ea typeface="Arial Unicode MS" panose="020B0604020202020204" pitchFamily="34" charset="-128"/>
                <a:cs typeface="Arial Unicode MS" panose="020B0604020202020204" pitchFamily="34" charset="-128"/>
              </a:rPr>
              <a:t>hccm</a:t>
            </a:r>
            <a:r>
              <a:rPr lang="en-US" altLang="zh-CN" sz="2000" dirty="0">
                <a:solidFill>
                  <a:srgbClr val="C00000"/>
                </a:solidFill>
                <a:ea typeface="Arial Unicode MS" panose="020B0604020202020204" pitchFamily="34" charset="-128"/>
                <a:cs typeface="Arial Unicode MS" panose="020B0604020202020204" pitchFamily="34" charset="-128"/>
              </a:rPr>
              <a:t> standard error  </a:t>
            </a:r>
            <a:r>
              <a:rPr lang="en-US" altLang="zh-CN" sz="2000" dirty="0">
                <a:ea typeface="Arial Unicode MS" panose="020B0604020202020204" pitchFamily="34" charset="-128"/>
                <a:cs typeface="Arial Unicode MS" panose="020B0604020202020204" pitchFamily="34" charset="-128"/>
              </a:rPr>
              <a:t>(se2)</a:t>
            </a:r>
          </a:p>
          <a:p>
            <a:pPr lvl="1"/>
            <a:endParaRPr lang="zh-CN" altLang="en-US" sz="2000" dirty="0">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96153213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Simulation results</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914400" y="1463040"/>
            <a:ext cx="8261351" cy="4656139"/>
          </a:xfrm>
          <a:ln>
            <a:noFill/>
          </a:ln>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6</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4" name="Picture 3" descr="A picture containing text, boat, water, large&#10;&#10;Description automatically generated">
            <a:extLst>
              <a:ext uri="{FF2B5EF4-FFF2-40B4-BE49-F238E27FC236}">
                <a16:creationId xmlns:a16="http://schemas.microsoft.com/office/drawing/2014/main" id="{BA187988-5421-9A6D-D18B-03113755423F}"/>
              </a:ext>
            </a:extLst>
          </p:cNvPr>
          <p:cNvPicPr>
            <a:picLocks noChangeAspect="1"/>
          </p:cNvPicPr>
          <p:nvPr/>
        </p:nvPicPr>
        <p:blipFill>
          <a:blip r:embed="rId3"/>
          <a:stretch>
            <a:fillRect/>
          </a:stretch>
        </p:blipFill>
        <p:spPr>
          <a:xfrm>
            <a:off x="2562233" y="1343041"/>
            <a:ext cx="5178431" cy="5360960"/>
          </a:xfrm>
          <a:prstGeom prst="rect">
            <a:avLst/>
          </a:prstGeom>
        </p:spPr>
      </p:pic>
    </p:spTree>
    <p:extLst>
      <p:ext uri="{BB962C8B-B14F-4D97-AF65-F5344CB8AC3E}">
        <p14:creationId xmlns:p14="http://schemas.microsoft.com/office/powerpoint/2010/main" val="355115978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Heteroskedastic linear model</a:t>
            </a:r>
            <a:endParaRPr lang="zh-CN" altLang="en-US" sz="3200" b="1" dirty="0">
              <a:solidFill>
                <a:srgbClr val="C00000"/>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7</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6" name="直接连接符 4">
            <a:extLst>
              <a:ext uri="{FF2B5EF4-FFF2-40B4-BE49-F238E27FC236}">
                <a16:creationId xmlns:a16="http://schemas.microsoft.com/office/drawing/2014/main" id="{C35661B6-DCE0-48B3-8CA5-30CD883A7868}"/>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39B198CC-AE4E-3145-AEE4-7EF326D7FF82}"/>
              </a:ext>
            </a:extLst>
          </p:cNvPr>
          <p:cNvPicPr>
            <a:picLocks noChangeAspect="1"/>
          </p:cNvPicPr>
          <p:nvPr/>
        </p:nvPicPr>
        <p:blipFill>
          <a:blip r:embed="rId3"/>
          <a:stretch>
            <a:fillRect/>
          </a:stretch>
        </p:blipFill>
        <p:spPr>
          <a:xfrm>
            <a:off x="1511300" y="1690690"/>
            <a:ext cx="7797800" cy="152400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BDD18FA-3C7C-3049-8FC2-94CC5FC2BE19}"/>
                  </a:ext>
                </a:extLst>
              </p:cNvPr>
              <p:cNvSpPr txBox="1"/>
              <p:nvPr/>
            </p:nvSpPr>
            <p:spPr>
              <a:xfrm>
                <a:off x="838200" y="3965057"/>
                <a:ext cx="10649069" cy="923330"/>
              </a:xfrm>
              <a:prstGeom prst="rect">
                <a:avLst/>
              </a:prstGeom>
              <a:noFill/>
            </p:spPr>
            <p:txBody>
              <a:bodyPr wrap="none" rtlCol="0">
                <a:spAutoFit/>
              </a:bodyPr>
              <a:lstStyle/>
              <a:p>
                <a:pPr marL="285750" indent="-285750">
                  <a:buFont typeface="Arial" panose="020B0604020202020204" pitchFamily="34" charset="0"/>
                  <a:buChar char="•"/>
                </a:pPr>
                <a:r>
                  <a:rPr lang="en-US" dirty="0"/>
                  <a:t>Error terms have </a:t>
                </a:r>
                <a:r>
                  <a:rPr lang="en-US" dirty="0">
                    <a:solidFill>
                      <a:srgbClr val="C00000"/>
                    </a:solidFill>
                  </a:rPr>
                  <a:t>different variances</a:t>
                </a:r>
                <a:r>
                  <a:rPr lang="en-US" dirty="0"/>
                  <a:t>, which can depend on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a:t>
                </a:r>
              </a:p>
              <a:p>
                <a:pPr marL="285750" indent="-285750">
                  <a:buFont typeface="Arial" panose="020B0604020202020204" pitchFamily="34" charset="0"/>
                  <a:buChar char="•"/>
                </a:pPr>
                <a:r>
                  <a:rPr lang="en-US" dirty="0">
                    <a:solidFill>
                      <a:srgbClr val="C00000"/>
                    </a:solidFill>
                  </a:rPr>
                  <a:t>No Normal distribution assumption </a:t>
                </a:r>
                <a:r>
                  <a:rPr lang="en-US" dirty="0"/>
                  <a:t>on the error terms, so no finite sample exact distribution of OLS estimator</a:t>
                </a:r>
              </a:p>
              <a:p>
                <a:pPr marL="285750" indent="-285750">
                  <a:buFont typeface="Arial" panose="020B0604020202020204" pitchFamily="34" charset="0"/>
                  <a:buChar char="•"/>
                </a:pPr>
                <a:r>
                  <a:rPr lang="en-US" dirty="0"/>
                  <a:t>Need to use </a:t>
                </a:r>
                <a:r>
                  <a:rPr lang="en-US" dirty="0">
                    <a:solidFill>
                      <a:srgbClr val="C00000"/>
                    </a:solidFill>
                  </a:rPr>
                  <a:t>asymptotic analysis</a:t>
                </a:r>
                <a:r>
                  <a:rPr lang="en-US" dirty="0"/>
                  <a:t>, assuming </a:t>
                </a:r>
                <a14:m>
                  <m:oMath xmlns:m="http://schemas.openxmlformats.org/officeDocument/2006/math">
                    <m:r>
                      <a:rPr lang="en-US" b="0" i="1" smtClean="0">
                        <a:latin typeface="Cambria Math" panose="02040503050406030204" pitchFamily="18" charset="0"/>
                      </a:rPr>
                      <m:t>𝑛</m:t>
                    </m:r>
                  </m:oMath>
                </a14:m>
                <a:r>
                  <a:rPr lang="en-US" dirty="0"/>
                  <a:t> is large enough so that CLT holds</a:t>
                </a:r>
              </a:p>
            </p:txBody>
          </p:sp>
        </mc:Choice>
        <mc:Fallback xmlns="">
          <p:sp>
            <p:nvSpPr>
              <p:cNvPr id="3" name="TextBox 2">
                <a:extLst>
                  <a:ext uri="{FF2B5EF4-FFF2-40B4-BE49-F238E27FC236}">
                    <a16:creationId xmlns:a16="http://schemas.microsoft.com/office/drawing/2014/main" id="{6BDD18FA-3C7C-3049-8FC2-94CC5FC2BE19}"/>
                  </a:ext>
                </a:extLst>
              </p:cNvPr>
              <p:cNvSpPr txBox="1">
                <a:spLocks noRot="1" noChangeAspect="1" noMove="1" noResize="1" noEditPoints="1" noAdjustHandles="1" noChangeArrowheads="1" noChangeShapeType="1" noTextEdit="1"/>
              </p:cNvSpPr>
              <p:nvPr/>
            </p:nvSpPr>
            <p:spPr>
              <a:xfrm>
                <a:off x="838200" y="3965057"/>
                <a:ext cx="10649069" cy="923330"/>
              </a:xfrm>
              <a:prstGeom prst="rect">
                <a:avLst/>
              </a:prstGeom>
              <a:blipFill>
                <a:blip r:embed="rId4"/>
                <a:stretch>
                  <a:fillRect l="-357" t="-2740" b="-9589"/>
                </a:stretch>
              </a:blipFill>
            </p:spPr>
            <p:txBody>
              <a:bodyPr/>
              <a:lstStyle/>
              <a:p>
                <a:r>
                  <a:rPr lang="en-US">
                    <a:noFill/>
                  </a:rPr>
                  <a:t> </a:t>
                </a:r>
              </a:p>
            </p:txBody>
          </p:sp>
        </mc:Fallback>
      </mc:AlternateContent>
    </p:spTree>
    <p:extLst>
      <p:ext uri="{BB962C8B-B14F-4D97-AF65-F5344CB8AC3E}">
        <p14:creationId xmlns:p14="http://schemas.microsoft.com/office/powerpoint/2010/main" val="1955586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Basic asymptotics</a:t>
            </a:r>
            <a:endParaRPr lang="zh-CN" altLang="en-US" sz="3200" b="1" dirty="0">
              <a:solidFill>
                <a:srgbClr val="C00000"/>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8</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6" name="直接连接符 4">
            <a:extLst>
              <a:ext uri="{FF2B5EF4-FFF2-40B4-BE49-F238E27FC236}">
                <a16:creationId xmlns:a16="http://schemas.microsoft.com/office/drawing/2014/main" id="{C35661B6-DCE0-48B3-8CA5-30CD883A7868}"/>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76D521E-E68D-D085-D9BD-660331630825}"/>
              </a:ext>
            </a:extLst>
          </p:cNvPr>
          <p:cNvPicPr>
            <a:picLocks noChangeAspect="1"/>
          </p:cNvPicPr>
          <p:nvPr/>
        </p:nvPicPr>
        <p:blipFill>
          <a:blip r:embed="rId2"/>
          <a:stretch>
            <a:fillRect/>
          </a:stretch>
        </p:blipFill>
        <p:spPr>
          <a:xfrm>
            <a:off x="938560" y="1467822"/>
            <a:ext cx="8517673" cy="5080570"/>
          </a:xfrm>
          <a:prstGeom prst="rect">
            <a:avLst/>
          </a:prstGeom>
        </p:spPr>
      </p:pic>
    </p:spTree>
    <p:extLst>
      <p:ext uri="{BB962C8B-B14F-4D97-AF65-F5344CB8AC3E}">
        <p14:creationId xmlns:p14="http://schemas.microsoft.com/office/powerpoint/2010/main" val="4158389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Basic asymptotics</a:t>
            </a:r>
            <a:endParaRPr lang="zh-CN" altLang="en-US" sz="3200" b="1" dirty="0">
              <a:solidFill>
                <a:srgbClr val="C00000"/>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9</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6" name="直接连接符 4">
            <a:extLst>
              <a:ext uri="{FF2B5EF4-FFF2-40B4-BE49-F238E27FC236}">
                <a16:creationId xmlns:a16="http://schemas.microsoft.com/office/drawing/2014/main" id="{C35661B6-DCE0-48B3-8CA5-30CD883A7868}"/>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142E82FB-FDEB-CC46-AE72-C5D948A84E61}"/>
              </a:ext>
            </a:extLst>
          </p:cNvPr>
          <p:cNvPicPr>
            <a:picLocks noChangeAspect="1"/>
          </p:cNvPicPr>
          <p:nvPr/>
        </p:nvPicPr>
        <p:blipFill>
          <a:blip r:embed="rId2"/>
          <a:stretch>
            <a:fillRect/>
          </a:stretch>
        </p:blipFill>
        <p:spPr>
          <a:xfrm>
            <a:off x="1209842" y="1314222"/>
            <a:ext cx="7823200" cy="1727200"/>
          </a:xfrm>
          <a:prstGeom prst="rect">
            <a:avLst/>
          </a:prstGeom>
        </p:spPr>
      </p:pic>
      <p:pic>
        <p:nvPicPr>
          <p:cNvPr id="2" name="Picture 1">
            <a:extLst>
              <a:ext uri="{FF2B5EF4-FFF2-40B4-BE49-F238E27FC236}">
                <a16:creationId xmlns:a16="http://schemas.microsoft.com/office/drawing/2014/main" id="{2637B95B-298D-534A-B1E8-4DA69A656167}"/>
              </a:ext>
            </a:extLst>
          </p:cNvPr>
          <p:cNvPicPr>
            <a:picLocks noChangeAspect="1"/>
          </p:cNvPicPr>
          <p:nvPr/>
        </p:nvPicPr>
        <p:blipFill>
          <a:blip r:embed="rId3"/>
          <a:stretch>
            <a:fillRect/>
          </a:stretch>
        </p:blipFill>
        <p:spPr>
          <a:xfrm>
            <a:off x="1209842" y="2940279"/>
            <a:ext cx="9448800" cy="876300"/>
          </a:xfrm>
          <a:prstGeom prst="rect">
            <a:avLst/>
          </a:prstGeom>
        </p:spPr>
      </p:pic>
      <p:pic>
        <p:nvPicPr>
          <p:cNvPr id="3" name="Picture 2">
            <a:extLst>
              <a:ext uri="{FF2B5EF4-FFF2-40B4-BE49-F238E27FC236}">
                <a16:creationId xmlns:a16="http://schemas.microsoft.com/office/drawing/2014/main" id="{F2087226-0676-4252-614B-7043AF58BEBC}"/>
              </a:ext>
            </a:extLst>
          </p:cNvPr>
          <p:cNvPicPr>
            <a:picLocks noChangeAspect="1"/>
          </p:cNvPicPr>
          <p:nvPr/>
        </p:nvPicPr>
        <p:blipFill>
          <a:blip r:embed="rId4"/>
          <a:stretch>
            <a:fillRect/>
          </a:stretch>
        </p:blipFill>
        <p:spPr>
          <a:xfrm>
            <a:off x="1209842" y="3747942"/>
            <a:ext cx="9256678" cy="1988308"/>
          </a:xfrm>
          <a:prstGeom prst="rect">
            <a:avLst/>
          </a:prstGeom>
        </p:spPr>
      </p:pic>
      <p:pic>
        <p:nvPicPr>
          <p:cNvPr id="4" name="Picture 3">
            <a:extLst>
              <a:ext uri="{FF2B5EF4-FFF2-40B4-BE49-F238E27FC236}">
                <a16:creationId xmlns:a16="http://schemas.microsoft.com/office/drawing/2014/main" id="{10A605AB-2435-0B8E-ADDC-00056F9CB1CA}"/>
              </a:ext>
            </a:extLst>
          </p:cNvPr>
          <p:cNvPicPr>
            <a:picLocks noChangeAspect="1"/>
          </p:cNvPicPr>
          <p:nvPr/>
        </p:nvPicPr>
        <p:blipFill>
          <a:blip r:embed="rId5"/>
          <a:stretch>
            <a:fillRect/>
          </a:stretch>
        </p:blipFill>
        <p:spPr>
          <a:xfrm>
            <a:off x="1209842" y="5671322"/>
            <a:ext cx="8875256" cy="643346"/>
          </a:xfrm>
          <a:prstGeom prst="rect">
            <a:avLst/>
          </a:prstGeom>
        </p:spPr>
      </p:pic>
    </p:spTree>
    <p:extLst>
      <p:ext uri="{BB962C8B-B14F-4D97-AF65-F5344CB8AC3E}">
        <p14:creationId xmlns:p14="http://schemas.microsoft.com/office/powerpoint/2010/main" val="341843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Properties</a:t>
            </a:r>
            <a:endParaRPr lang="zh-CN" altLang="en-US" sz="3200" b="1" dirty="0">
              <a:solidFill>
                <a:srgbClr val="C00000"/>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10</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6" name="直接连接符 4">
            <a:extLst>
              <a:ext uri="{FF2B5EF4-FFF2-40B4-BE49-F238E27FC236}">
                <a16:creationId xmlns:a16="http://schemas.microsoft.com/office/drawing/2014/main" id="{C35661B6-DCE0-48B3-8CA5-30CD883A7868}"/>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94921DF9-0E96-C742-9543-5F2CD2CFEE8A}"/>
              </a:ext>
            </a:extLst>
          </p:cNvPr>
          <p:cNvPicPr>
            <a:picLocks noChangeAspect="1"/>
          </p:cNvPicPr>
          <p:nvPr/>
        </p:nvPicPr>
        <p:blipFill>
          <a:blip r:embed="rId2"/>
          <a:stretch>
            <a:fillRect/>
          </a:stretch>
        </p:blipFill>
        <p:spPr>
          <a:xfrm>
            <a:off x="1107416" y="4105163"/>
            <a:ext cx="9977167" cy="2627918"/>
          </a:xfrm>
          <a:prstGeom prst="rect">
            <a:avLst/>
          </a:prstGeom>
        </p:spPr>
      </p:pic>
      <p:pic>
        <p:nvPicPr>
          <p:cNvPr id="3" name="Picture 2">
            <a:extLst>
              <a:ext uri="{FF2B5EF4-FFF2-40B4-BE49-F238E27FC236}">
                <a16:creationId xmlns:a16="http://schemas.microsoft.com/office/drawing/2014/main" id="{74DC35D8-33D6-ED41-8F66-0A3948820D05}"/>
              </a:ext>
            </a:extLst>
          </p:cNvPr>
          <p:cNvPicPr>
            <a:picLocks noChangeAspect="1"/>
          </p:cNvPicPr>
          <p:nvPr/>
        </p:nvPicPr>
        <p:blipFill>
          <a:blip r:embed="rId3"/>
          <a:stretch>
            <a:fillRect/>
          </a:stretch>
        </p:blipFill>
        <p:spPr>
          <a:xfrm>
            <a:off x="4086148" y="2036406"/>
            <a:ext cx="3060700" cy="14224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7E6617A-F89A-254D-A3E0-9B4EECC562FF}"/>
                  </a:ext>
                </a:extLst>
              </p:cNvPr>
              <p:cNvSpPr txBox="1"/>
              <p:nvPr/>
            </p:nvSpPr>
            <p:spPr>
              <a:xfrm>
                <a:off x="838200" y="1512182"/>
                <a:ext cx="7671972" cy="2677656"/>
              </a:xfrm>
              <a:prstGeom prst="rect">
                <a:avLst/>
              </a:prstGeom>
              <a:noFill/>
            </p:spPr>
            <p:txBody>
              <a:bodyPr wrap="none" rtlCol="0">
                <a:spAutoFit/>
              </a:bodyPr>
              <a:lstStyle/>
              <a:p>
                <a:pPr marL="342900" indent="-342900">
                  <a:buFont typeface="Arial" panose="020B0604020202020204" pitchFamily="34" charset="0"/>
                  <a:buChar char="•"/>
                </a:pPr>
                <a:r>
                  <a:rPr lang="en-US" altLang="zh-CN" sz="2400" dirty="0"/>
                  <a:t>Continuous Mapping Theorem: if </a:t>
                </a:r>
                <a14:m>
                  <m:oMath xmlns:m="http://schemas.openxmlformats.org/officeDocument/2006/math">
                    <m:r>
                      <a:rPr lang="en-US" altLang="zh-CN" sz="2400" b="0" i="1" smtClean="0">
                        <a:latin typeface="Cambria Math" panose="02040503050406030204" pitchFamily="18" charset="0"/>
                      </a:rPr>
                      <m:t>𝑔</m:t>
                    </m:r>
                    <m:r>
                      <a:rPr lang="en-US" altLang="zh-CN" sz="2400" b="0" i="1" smtClean="0">
                        <a:latin typeface="Cambria Math" panose="02040503050406030204" pitchFamily="18" charset="0"/>
                      </a:rPr>
                      <m:t>(⋅)</m:t>
                    </m:r>
                  </m:oMath>
                </a14:m>
                <a:r>
                  <a:rPr lang="en-US" sz="2400" dirty="0"/>
                  <a:t> is continuous, then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Slutsky’s Theorem</a:t>
                </a:r>
              </a:p>
            </p:txBody>
          </p:sp>
        </mc:Choice>
        <mc:Fallback xmlns="">
          <p:sp>
            <p:nvSpPr>
              <p:cNvPr id="4" name="TextBox 3">
                <a:extLst>
                  <a:ext uri="{FF2B5EF4-FFF2-40B4-BE49-F238E27FC236}">
                    <a16:creationId xmlns:a16="http://schemas.microsoft.com/office/drawing/2014/main" id="{77E6617A-F89A-254D-A3E0-9B4EECC562FF}"/>
                  </a:ext>
                </a:extLst>
              </p:cNvPr>
              <p:cNvSpPr txBox="1">
                <a:spLocks noRot="1" noChangeAspect="1" noMove="1" noResize="1" noEditPoints="1" noAdjustHandles="1" noChangeArrowheads="1" noChangeShapeType="1" noTextEdit="1"/>
              </p:cNvSpPr>
              <p:nvPr/>
            </p:nvSpPr>
            <p:spPr>
              <a:xfrm>
                <a:off x="838200" y="1512182"/>
                <a:ext cx="7671972" cy="2677656"/>
              </a:xfrm>
              <a:prstGeom prst="rect">
                <a:avLst/>
              </a:prstGeom>
              <a:blipFill>
                <a:blip r:embed="rId4"/>
                <a:stretch>
                  <a:fillRect l="-992" t="-1415" r="-331" b="-4245"/>
                </a:stretch>
              </a:blipFill>
            </p:spPr>
            <p:txBody>
              <a:bodyPr/>
              <a:lstStyle/>
              <a:p>
                <a:r>
                  <a:rPr lang="en-US">
                    <a:noFill/>
                  </a:rPr>
                  <a:t> </a:t>
                </a:r>
              </a:p>
            </p:txBody>
          </p:sp>
        </mc:Fallback>
      </mc:AlternateContent>
    </p:spTree>
    <p:extLst>
      <p:ext uri="{BB962C8B-B14F-4D97-AF65-F5344CB8AC3E}">
        <p14:creationId xmlns:p14="http://schemas.microsoft.com/office/powerpoint/2010/main" val="83535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Consistency of OLS estimator</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11</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6" name="直接连接符 4">
            <a:extLst>
              <a:ext uri="{FF2B5EF4-FFF2-40B4-BE49-F238E27FC236}">
                <a16:creationId xmlns:a16="http://schemas.microsoft.com/office/drawing/2014/main" id="{EB29DDE9-18FC-475A-8B51-48E4A0F16177}"/>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8D25A5FB-C291-3E46-BBF2-629911BC596B}"/>
              </a:ext>
            </a:extLst>
          </p:cNvPr>
          <p:cNvPicPr>
            <a:picLocks noChangeAspect="1"/>
          </p:cNvPicPr>
          <p:nvPr/>
        </p:nvPicPr>
        <p:blipFill>
          <a:blip r:embed="rId3"/>
          <a:stretch>
            <a:fillRect/>
          </a:stretch>
        </p:blipFill>
        <p:spPr>
          <a:xfrm>
            <a:off x="719221" y="1551623"/>
            <a:ext cx="9550400" cy="2108200"/>
          </a:xfrm>
          <a:prstGeom prst="rect">
            <a:avLst/>
          </a:prstGeom>
        </p:spPr>
      </p:pic>
      <p:sp>
        <p:nvSpPr>
          <p:cNvPr id="7" name="Rectangle 6">
            <a:extLst>
              <a:ext uri="{FF2B5EF4-FFF2-40B4-BE49-F238E27FC236}">
                <a16:creationId xmlns:a16="http://schemas.microsoft.com/office/drawing/2014/main" id="{4D28A9D6-B373-934F-A578-1A6DB0DCB77A}"/>
              </a:ext>
            </a:extLst>
          </p:cNvPr>
          <p:cNvSpPr/>
          <p:nvPr/>
        </p:nvSpPr>
        <p:spPr>
          <a:xfrm>
            <a:off x="613611" y="1554480"/>
            <a:ext cx="10383252" cy="21053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D76F836B-F92C-B147-8D73-21D09D5C8071}"/>
              </a:ext>
            </a:extLst>
          </p:cNvPr>
          <p:cNvPicPr>
            <a:picLocks noChangeAspect="1"/>
          </p:cNvPicPr>
          <p:nvPr/>
        </p:nvPicPr>
        <p:blipFill>
          <a:blip r:embed="rId4"/>
          <a:stretch>
            <a:fillRect/>
          </a:stretch>
        </p:blipFill>
        <p:spPr>
          <a:xfrm>
            <a:off x="2298031" y="3700346"/>
            <a:ext cx="7260389" cy="3029169"/>
          </a:xfrm>
          <a:prstGeom prst="rect">
            <a:avLst/>
          </a:prstGeom>
        </p:spPr>
      </p:pic>
      <p:sp>
        <p:nvSpPr>
          <p:cNvPr id="10" name="Rectangle 9">
            <a:extLst>
              <a:ext uri="{FF2B5EF4-FFF2-40B4-BE49-F238E27FC236}">
                <a16:creationId xmlns:a16="http://schemas.microsoft.com/office/drawing/2014/main" id="{5F7F7474-6606-2A4B-9504-8A4C6BD16EDB}"/>
              </a:ext>
            </a:extLst>
          </p:cNvPr>
          <p:cNvSpPr/>
          <p:nvPr/>
        </p:nvSpPr>
        <p:spPr>
          <a:xfrm>
            <a:off x="613611" y="3845379"/>
            <a:ext cx="10383252" cy="2876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A4B4B7-DDE4-6145-AD75-FA6C19263171}"/>
              </a:ext>
            </a:extLst>
          </p:cNvPr>
          <p:cNvSpPr txBox="1"/>
          <p:nvPr/>
        </p:nvSpPr>
        <p:spPr>
          <a:xfrm>
            <a:off x="1074948" y="3926386"/>
            <a:ext cx="778803" cy="369332"/>
          </a:xfrm>
          <a:prstGeom prst="rect">
            <a:avLst/>
          </a:prstGeom>
          <a:noFill/>
        </p:spPr>
        <p:txBody>
          <a:bodyPr wrap="none" rtlCol="0">
            <a:spAutoFit/>
          </a:bodyPr>
          <a:lstStyle/>
          <a:p>
            <a:r>
              <a:rPr lang="en-US" i="1" dirty="0"/>
              <a:t>Proof:</a:t>
            </a:r>
          </a:p>
        </p:txBody>
      </p:sp>
    </p:spTree>
    <p:extLst>
      <p:ext uri="{BB962C8B-B14F-4D97-AF65-F5344CB8AC3E}">
        <p14:creationId xmlns:p14="http://schemas.microsoft.com/office/powerpoint/2010/main" val="802821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Consistency of OLS estimator</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12</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内容占位符 2">
                <a:extLst>
                  <a:ext uri="{FF2B5EF4-FFF2-40B4-BE49-F238E27FC236}">
                    <a16:creationId xmlns:a16="http://schemas.microsoft.com/office/drawing/2014/main" id="{49ABA5FB-C15E-6E48-B99C-30EEB709E992}"/>
                  </a:ext>
                </a:extLst>
              </p:cNvPr>
              <p:cNvSpPr>
                <a:spLocks noGrp="1" noChangeArrowheads="1"/>
              </p:cNvSpPr>
              <p:nvPr>
                <p:ph idx="1"/>
              </p:nvPr>
            </p:nvSpPr>
            <p:spPr>
              <a:xfrm>
                <a:off x="914400" y="1463040"/>
                <a:ext cx="9071811" cy="4656139"/>
              </a:xfrm>
              <a:ln>
                <a:noFill/>
              </a:ln>
            </p:spPr>
            <p:txBody>
              <a:bodyPr>
                <a:normAutofit/>
              </a:bodyPr>
              <a:lstStyle/>
              <a:p>
                <a:r>
                  <a:rPr lang="en-US" altLang="zh-CN" sz="2400" dirty="0">
                    <a:ea typeface="Arial Unicode MS" panose="020B0604020202020204" pitchFamily="34" charset="-128"/>
                    <a:cs typeface="Arial Unicode MS" panose="020B0604020202020204" pitchFamily="34" charset="-128"/>
                  </a:rPr>
                  <a:t>The OLS estimator is unbiased </a:t>
                </a:r>
                <a:endParaRPr lang="en-US" altLang="zh-CN" sz="2000" dirty="0">
                  <a:ea typeface="Arial Unicode MS" panose="020B0604020202020204" pitchFamily="34" charset="-128"/>
                  <a:cs typeface="Arial Unicode MS" panose="020B0604020202020204" pitchFamily="34" charset="-128"/>
                </a:endParaRPr>
              </a:p>
              <a:p>
                <a:r>
                  <a:rPr lang="en-US" altLang="zh-CN" sz="2400" dirty="0">
                    <a:ea typeface="Arial Unicode MS" panose="020B0604020202020204" pitchFamily="34" charset="-128"/>
                    <a:cs typeface="Arial Unicode MS" panose="020B0604020202020204" pitchFamily="34" charset="-128"/>
                  </a:rPr>
                  <a:t>Covariance of the OLS estimator </a:t>
                </a:r>
              </a:p>
              <a:p>
                <a:endParaRPr lang="en-US" altLang="zh-CN" sz="2400" dirty="0">
                  <a:ea typeface="Arial Unicode MS" panose="020B0604020202020204" pitchFamily="34" charset="-128"/>
                  <a:cs typeface="Arial Unicode MS" panose="020B0604020202020204" pitchFamily="34" charset="-128"/>
                </a:endParaRPr>
              </a:p>
              <a:p>
                <a:endParaRPr lang="en-US" altLang="zh-CN" sz="2400" dirty="0">
                  <a:ea typeface="Arial Unicode MS" panose="020B0604020202020204" pitchFamily="34" charset="-128"/>
                  <a:cs typeface="Arial Unicode MS" panose="020B0604020202020204" pitchFamily="34" charset="-128"/>
                </a:endParaRPr>
              </a:p>
              <a:p>
                <a:endParaRPr lang="en-US" altLang="zh-CN" sz="2400" dirty="0">
                  <a:ea typeface="Arial Unicode MS" panose="020B0604020202020204" pitchFamily="34" charset="-128"/>
                  <a:cs typeface="Arial Unicode MS" panose="020B0604020202020204" pitchFamily="34" charset="-128"/>
                </a:endParaRPr>
              </a:p>
              <a:p>
                <a:endParaRPr lang="en-US" altLang="zh-CN" sz="2400" dirty="0">
                  <a:ea typeface="Arial Unicode MS" panose="020B0604020202020204" pitchFamily="34" charset="-128"/>
                  <a:cs typeface="Arial Unicode MS" panose="020B0604020202020204" pitchFamily="34" charset="-128"/>
                </a:endParaRPr>
              </a:p>
              <a:p>
                <a:endParaRPr lang="en-US" altLang="zh-CN" sz="2400" dirty="0">
                  <a:ea typeface="Arial Unicode MS" panose="020B0604020202020204" pitchFamily="34" charset="-128"/>
                  <a:cs typeface="Arial Unicode MS" panose="020B0604020202020204" pitchFamily="34" charset="-128"/>
                </a:endParaRPr>
              </a:p>
              <a:p>
                <a:r>
                  <a:rPr lang="en-US" altLang="zh-CN" sz="2400" dirty="0">
                    <a:ea typeface="Arial Unicode MS" panose="020B0604020202020204" pitchFamily="34" charset="-128"/>
                    <a:cs typeface="Arial Unicode MS" panose="020B0604020202020204" pitchFamily="34" charset="-128"/>
                  </a:rPr>
                  <a:t>Sandwich form:  </a:t>
                </a:r>
                <a14:m>
                  <m:oMath xmlns:m="http://schemas.openxmlformats.org/officeDocument/2006/math">
                    <m:sSub>
                      <m:sSubPr>
                        <m:ctrlPr>
                          <a:rPr lang="en-US" altLang="zh-CN" sz="240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400" b="0" i="1" smtClean="0">
                            <a:latin typeface="Cambria Math" panose="02040503050406030204" pitchFamily="18" charset="0"/>
                            <a:ea typeface="Arial Unicode MS" panose="020B0604020202020204" pitchFamily="34" charset="-128"/>
                            <a:cs typeface="Arial Unicode MS" panose="020B0604020202020204" pitchFamily="34" charset="-128"/>
                          </a:rPr>
                          <m:t>𝐵</m:t>
                        </m:r>
                      </m:e>
                      <m:sub>
                        <m:r>
                          <a:rPr lang="en-US" altLang="zh-CN" sz="2400" b="0" i="1" smtClean="0">
                            <a:latin typeface="Cambria Math" panose="02040503050406030204" pitchFamily="18" charset="0"/>
                            <a:ea typeface="Arial Unicode MS" panose="020B0604020202020204" pitchFamily="34" charset="-128"/>
                            <a:cs typeface="Arial Unicode MS" panose="020B0604020202020204" pitchFamily="34" charset="-128"/>
                          </a:rPr>
                          <m:t>𝑛</m:t>
                        </m:r>
                      </m:sub>
                    </m:sSub>
                  </m:oMath>
                </a14:m>
                <a:r>
                  <a:rPr lang="en-US" altLang="zh-CN" sz="2400" dirty="0">
                    <a:ea typeface="Arial Unicode MS" panose="020B0604020202020204" pitchFamily="34" charset="-128"/>
                    <a:cs typeface="Arial Unicode MS" panose="020B0604020202020204" pitchFamily="34" charset="-128"/>
                  </a:rPr>
                  <a:t> for “bread” and </a:t>
                </a:r>
                <a14:m>
                  <m:oMath xmlns:m="http://schemas.openxmlformats.org/officeDocument/2006/math">
                    <m:sSub>
                      <m:sSubPr>
                        <m:ctrlPr>
                          <a:rPr lang="en-US" altLang="zh-CN" sz="240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400" b="0" i="1" smtClean="0">
                            <a:latin typeface="Cambria Math" panose="02040503050406030204" pitchFamily="18" charset="0"/>
                            <a:ea typeface="Arial Unicode MS" panose="020B0604020202020204" pitchFamily="34" charset="-128"/>
                            <a:cs typeface="Arial Unicode MS" panose="020B0604020202020204" pitchFamily="34" charset="-128"/>
                          </a:rPr>
                          <m:t>𝑀</m:t>
                        </m:r>
                      </m:e>
                      <m:sub>
                        <m:r>
                          <a:rPr lang="en-US" altLang="zh-CN" sz="2400" b="0" i="1" smtClean="0">
                            <a:latin typeface="Cambria Math" panose="02040503050406030204" pitchFamily="18" charset="0"/>
                            <a:ea typeface="Arial Unicode MS" panose="020B0604020202020204" pitchFamily="34" charset="-128"/>
                            <a:cs typeface="Arial Unicode MS" panose="020B0604020202020204" pitchFamily="34" charset="-128"/>
                          </a:rPr>
                          <m:t>𝑛</m:t>
                        </m:r>
                      </m:sub>
                    </m:sSub>
                  </m:oMath>
                </a14:m>
                <a:r>
                  <a:rPr lang="en-US" altLang="zh-CN" sz="2400" dirty="0">
                    <a:ea typeface="Arial Unicode MS" panose="020B0604020202020204" pitchFamily="34" charset="-128"/>
                    <a:cs typeface="Arial Unicode MS" panose="020B0604020202020204" pitchFamily="34" charset="-128"/>
                  </a:rPr>
                  <a:t> “meat”</a:t>
                </a:r>
              </a:p>
              <a:p>
                <a:pPr lvl="1"/>
                <a:endParaRPr lang="zh-CN" altLang="en-US" sz="2000" dirty="0">
                  <a:ea typeface="Arial Unicode MS" panose="020B0604020202020204" pitchFamily="34" charset="-128"/>
                  <a:cs typeface="Arial Unicode MS" panose="020B0604020202020204" pitchFamily="34" charset="-128"/>
                </a:endParaRPr>
              </a:p>
            </p:txBody>
          </p:sp>
        </mc:Choice>
        <mc:Fallback xmlns="">
          <p:sp>
            <p:nvSpPr>
              <p:cNvPr id="12" name="内容占位符 2">
                <a:extLst>
                  <a:ext uri="{FF2B5EF4-FFF2-40B4-BE49-F238E27FC236}">
                    <a16:creationId xmlns:a16="http://schemas.microsoft.com/office/drawing/2014/main" id="{49ABA5FB-C15E-6E48-B99C-30EEB709E992}"/>
                  </a:ext>
                </a:extLst>
              </p:cNvPr>
              <p:cNvSpPr>
                <a:spLocks noGrp="1" noRot="1" noChangeAspect="1" noMove="1" noResize="1" noEditPoints="1" noAdjustHandles="1" noChangeArrowheads="1" noChangeShapeType="1" noTextEdit="1"/>
              </p:cNvSpPr>
              <p:nvPr>
                <p:ph idx="1"/>
              </p:nvPr>
            </p:nvSpPr>
            <p:spPr>
              <a:xfrm>
                <a:off x="914400" y="1463040"/>
                <a:ext cx="9071811" cy="4656139"/>
              </a:xfrm>
              <a:blipFill>
                <a:blip r:embed="rId2"/>
                <a:stretch>
                  <a:fillRect l="-980" t="-1630"/>
                </a:stretch>
              </a:blipFill>
              <a:ln>
                <a:noFill/>
              </a:ln>
            </p:spPr>
            <p:txBody>
              <a:bodyPr/>
              <a:lstStyle/>
              <a:p>
                <a:r>
                  <a:rPr lang="en-US">
                    <a:noFill/>
                  </a:rPr>
                  <a:t> </a:t>
                </a:r>
              </a:p>
            </p:txBody>
          </p:sp>
        </mc:Fallback>
      </mc:AlternateContent>
      <p:pic>
        <p:nvPicPr>
          <p:cNvPr id="2" name="Picture 1">
            <a:extLst>
              <a:ext uri="{FF2B5EF4-FFF2-40B4-BE49-F238E27FC236}">
                <a16:creationId xmlns:a16="http://schemas.microsoft.com/office/drawing/2014/main" id="{2A504227-6698-2A45-BF79-E5FF4D120B5A}"/>
              </a:ext>
            </a:extLst>
          </p:cNvPr>
          <p:cNvPicPr>
            <a:picLocks noChangeAspect="1"/>
          </p:cNvPicPr>
          <p:nvPr/>
        </p:nvPicPr>
        <p:blipFill>
          <a:blip r:embed="rId3"/>
          <a:stretch>
            <a:fillRect/>
          </a:stretch>
        </p:blipFill>
        <p:spPr>
          <a:xfrm>
            <a:off x="2402305" y="2382973"/>
            <a:ext cx="6096000" cy="1790700"/>
          </a:xfrm>
          <a:prstGeom prst="rect">
            <a:avLst/>
          </a:prstGeom>
        </p:spPr>
      </p:pic>
      <p:pic>
        <p:nvPicPr>
          <p:cNvPr id="3" name="Picture 2">
            <a:extLst>
              <a:ext uri="{FF2B5EF4-FFF2-40B4-BE49-F238E27FC236}">
                <a16:creationId xmlns:a16="http://schemas.microsoft.com/office/drawing/2014/main" id="{F61104CD-76A4-7D4E-9EF5-A76570E172A0}"/>
              </a:ext>
            </a:extLst>
          </p:cNvPr>
          <p:cNvPicPr>
            <a:picLocks noChangeAspect="1"/>
          </p:cNvPicPr>
          <p:nvPr/>
        </p:nvPicPr>
        <p:blipFill>
          <a:blip r:embed="rId4"/>
          <a:stretch>
            <a:fillRect/>
          </a:stretch>
        </p:blipFill>
        <p:spPr>
          <a:xfrm>
            <a:off x="3825906" y="4161153"/>
            <a:ext cx="2882900" cy="381000"/>
          </a:xfrm>
          <a:prstGeom prst="rect">
            <a:avLst/>
          </a:prstGeom>
        </p:spPr>
      </p:pic>
    </p:spTree>
    <p:extLst>
      <p:ext uri="{BB962C8B-B14F-4D97-AF65-F5344CB8AC3E}">
        <p14:creationId xmlns:p14="http://schemas.microsoft.com/office/powerpoint/2010/main" val="276210820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Consistency of OLS estimator</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13</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10" name="内容占位符 2">
            <a:extLst>
              <a:ext uri="{FF2B5EF4-FFF2-40B4-BE49-F238E27FC236}">
                <a16:creationId xmlns:a16="http://schemas.microsoft.com/office/drawing/2014/main" id="{AAE730D1-442B-474B-BA38-9C432AD251F6}"/>
              </a:ext>
            </a:extLst>
          </p:cNvPr>
          <p:cNvSpPr>
            <a:spLocks noGrp="1" noChangeArrowheads="1"/>
          </p:cNvSpPr>
          <p:nvPr>
            <p:ph idx="1"/>
          </p:nvPr>
        </p:nvSpPr>
        <p:spPr>
          <a:xfrm>
            <a:off x="914400" y="1463040"/>
            <a:ext cx="9071811" cy="4656139"/>
          </a:xfrm>
          <a:ln>
            <a:noFill/>
          </a:ln>
        </p:spPr>
        <p:txBody>
          <a:bodyPr>
            <a:normAutofit/>
          </a:bodyPr>
          <a:lstStyle/>
          <a:p>
            <a:pPr marL="0" indent="0">
              <a:buNone/>
            </a:pPr>
            <a:r>
              <a:rPr lang="en-US" altLang="zh-CN" sz="2400" b="1" dirty="0">
                <a:ea typeface="Arial Unicode MS" panose="020B0604020202020204" pitchFamily="34" charset="-128"/>
                <a:cs typeface="Arial Unicode MS" panose="020B0604020202020204" pitchFamily="34" charset="-128"/>
              </a:rPr>
              <a:t>Assumption 1</a:t>
            </a:r>
          </a:p>
          <a:p>
            <a:endParaRPr lang="en-US" altLang="zh-CN" sz="2400" dirty="0">
              <a:ea typeface="Arial Unicode MS" panose="020B0604020202020204" pitchFamily="34" charset="-128"/>
              <a:cs typeface="Arial Unicode MS" panose="020B0604020202020204" pitchFamily="34" charset="-128"/>
            </a:endParaRPr>
          </a:p>
          <a:p>
            <a:pPr marL="0" indent="0">
              <a:buNone/>
            </a:pPr>
            <a:endParaRPr lang="en-US" altLang="zh-CN" sz="2400" dirty="0">
              <a:ea typeface="Arial Unicode MS" panose="020B0604020202020204" pitchFamily="34" charset="-128"/>
              <a:cs typeface="Arial Unicode MS" panose="020B0604020202020204" pitchFamily="34" charset="-128"/>
            </a:endParaRPr>
          </a:p>
          <a:p>
            <a:r>
              <a:rPr lang="en-US" altLang="zh-CN" sz="2400" dirty="0">
                <a:ea typeface="Arial Unicode MS" panose="020B0604020202020204" pitchFamily="34" charset="-128"/>
                <a:cs typeface="Arial Unicode MS" panose="020B0604020202020204" pitchFamily="34" charset="-128"/>
              </a:rPr>
              <a:t>Consistency of OLS estimator</a:t>
            </a:r>
          </a:p>
          <a:p>
            <a:pPr lvl="1"/>
            <a:endParaRPr lang="zh-CN" altLang="en-US" sz="2000" dirty="0">
              <a:ea typeface="Arial Unicode MS" panose="020B0604020202020204" pitchFamily="34" charset="-128"/>
              <a:cs typeface="Arial Unicode MS" panose="020B0604020202020204" pitchFamily="34" charset="-128"/>
            </a:endParaRPr>
          </a:p>
        </p:txBody>
      </p:sp>
      <p:pic>
        <p:nvPicPr>
          <p:cNvPr id="7" name="Picture 6">
            <a:extLst>
              <a:ext uri="{FF2B5EF4-FFF2-40B4-BE49-F238E27FC236}">
                <a16:creationId xmlns:a16="http://schemas.microsoft.com/office/drawing/2014/main" id="{52D48362-E030-064B-9556-D58D2DC60233}"/>
              </a:ext>
            </a:extLst>
          </p:cNvPr>
          <p:cNvPicPr>
            <a:picLocks noChangeAspect="1"/>
          </p:cNvPicPr>
          <p:nvPr/>
        </p:nvPicPr>
        <p:blipFill>
          <a:blip r:embed="rId2"/>
          <a:stretch>
            <a:fillRect/>
          </a:stretch>
        </p:blipFill>
        <p:spPr>
          <a:xfrm>
            <a:off x="1330356" y="1824173"/>
            <a:ext cx="7874000" cy="558800"/>
          </a:xfrm>
          <a:prstGeom prst="rect">
            <a:avLst/>
          </a:prstGeom>
        </p:spPr>
      </p:pic>
      <p:pic>
        <p:nvPicPr>
          <p:cNvPr id="8" name="Picture 7">
            <a:extLst>
              <a:ext uri="{FF2B5EF4-FFF2-40B4-BE49-F238E27FC236}">
                <a16:creationId xmlns:a16="http://schemas.microsoft.com/office/drawing/2014/main" id="{CC3FDE92-85EC-2740-B918-DA184F28B516}"/>
              </a:ext>
            </a:extLst>
          </p:cNvPr>
          <p:cNvPicPr>
            <a:picLocks noChangeAspect="1"/>
          </p:cNvPicPr>
          <p:nvPr/>
        </p:nvPicPr>
        <p:blipFill>
          <a:blip r:embed="rId3"/>
          <a:stretch>
            <a:fillRect/>
          </a:stretch>
        </p:blipFill>
        <p:spPr>
          <a:xfrm>
            <a:off x="1242595" y="3429000"/>
            <a:ext cx="9321800" cy="520700"/>
          </a:xfrm>
          <a:prstGeom prst="rect">
            <a:avLst/>
          </a:prstGeom>
        </p:spPr>
      </p:pic>
      <p:pic>
        <p:nvPicPr>
          <p:cNvPr id="9" name="Picture 8">
            <a:extLst>
              <a:ext uri="{FF2B5EF4-FFF2-40B4-BE49-F238E27FC236}">
                <a16:creationId xmlns:a16="http://schemas.microsoft.com/office/drawing/2014/main" id="{30FB6167-23F6-964F-BFC4-573BD0CF9FB8}"/>
              </a:ext>
            </a:extLst>
          </p:cNvPr>
          <p:cNvPicPr>
            <a:picLocks noChangeAspect="1"/>
          </p:cNvPicPr>
          <p:nvPr/>
        </p:nvPicPr>
        <p:blipFill>
          <a:blip r:embed="rId4"/>
          <a:stretch>
            <a:fillRect/>
          </a:stretch>
        </p:blipFill>
        <p:spPr>
          <a:xfrm>
            <a:off x="2471821" y="4512707"/>
            <a:ext cx="5080000" cy="304800"/>
          </a:xfrm>
          <a:prstGeom prst="rect">
            <a:avLst/>
          </a:prstGeom>
        </p:spPr>
      </p:pic>
      <p:sp>
        <p:nvSpPr>
          <p:cNvPr id="11" name="TextBox 10">
            <a:extLst>
              <a:ext uri="{FF2B5EF4-FFF2-40B4-BE49-F238E27FC236}">
                <a16:creationId xmlns:a16="http://schemas.microsoft.com/office/drawing/2014/main" id="{69B7BE3F-13ED-EA4D-B7D4-6E81C43C2D6F}"/>
              </a:ext>
            </a:extLst>
          </p:cNvPr>
          <p:cNvSpPr txBox="1"/>
          <p:nvPr/>
        </p:nvSpPr>
        <p:spPr>
          <a:xfrm>
            <a:off x="1488480" y="4480441"/>
            <a:ext cx="778803" cy="369332"/>
          </a:xfrm>
          <a:prstGeom prst="rect">
            <a:avLst/>
          </a:prstGeom>
          <a:noFill/>
        </p:spPr>
        <p:txBody>
          <a:bodyPr wrap="none" rtlCol="0">
            <a:spAutoFit/>
          </a:bodyPr>
          <a:lstStyle/>
          <a:p>
            <a:r>
              <a:rPr lang="en-US" i="1" dirty="0"/>
              <a:t>Proof:</a:t>
            </a:r>
          </a:p>
        </p:txBody>
      </p:sp>
    </p:spTree>
    <p:extLst>
      <p:ext uri="{BB962C8B-B14F-4D97-AF65-F5344CB8AC3E}">
        <p14:creationId xmlns:p14="http://schemas.microsoft.com/office/powerpoint/2010/main" val="399747910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Asymptotic Normality of OLS estimator</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14</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22" name="直接连接符 4">
            <a:extLst>
              <a:ext uri="{FF2B5EF4-FFF2-40B4-BE49-F238E27FC236}">
                <a16:creationId xmlns:a16="http://schemas.microsoft.com/office/drawing/2014/main" id="{73213F19-706B-4DE8-BD21-B987678BE3F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24" name="内容占位符 2">
            <a:extLst>
              <a:ext uri="{FF2B5EF4-FFF2-40B4-BE49-F238E27FC236}">
                <a16:creationId xmlns:a16="http://schemas.microsoft.com/office/drawing/2014/main" id="{61DE3B45-FE26-9A4C-8B09-EA25B05DA3CE}"/>
              </a:ext>
            </a:extLst>
          </p:cNvPr>
          <p:cNvSpPr txBox="1">
            <a:spLocks noChangeArrowheads="1"/>
          </p:cNvSpPr>
          <p:nvPr/>
        </p:nvSpPr>
        <p:spPr>
          <a:xfrm>
            <a:off x="914400" y="1554480"/>
            <a:ext cx="9575800"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p:pic>
        <p:nvPicPr>
          <p:cNvPr id="4" name="Picture 3">
            <a:extLst>
              <a:ext uri="{FF2B5EF4-FFF2-40B4-BE49-F238E27FC236}">
                <a16:creationId xmlns:a16="http://schemas.microsoft.com/office/drawing/2014/main" id="{AF50EECA-C9A7-4E43-9AC7-03E144C61CE2}"/>
              </a:ext>
            </a:extLst>
          </p:cNvPr>
          <p:cNvPicPr>
            <a:picLocks noChangeAspect="1"/>
          </p:cNvPicPr>
          <p:nvPr/>
        </p:nvPicPr>
        <p:blipFill>
          <a:blip r:embed="rId2"/>
          <a:stretch>
            <a:fillRect/>
          </a:stretch>
        </p:blipFill>
        <p:spPr>
          <a:xfrm>
            <a:off x="1872248" y="1690690"/>
            <a:ext cx="7340600" cy="1295400"/>
          </a:xfrm>
          <a:prstGeom prst="rect">
            <a:avLst/>
          </a:prstGeom>
        </p:spPr>
      </p:pic>
      <p:pic>
        <p:nvPicPr>
          <p:cNvPr id="12" name="Picture 11">
            <a:extLst>
              <a:ext uri="{FF2B5EF4-FFF2-40B4-BE49-F238E27FC236}">
                <a16:creationId xmlns:a16="http://schemas.microsoft.com/office/drawing/2014/main" id="{EC34BF84-D70E-534C-A490-5F46A17646B1}"/>
              </a:ext>
            </a:extLst>
          </p:cNvPr>
          <p:cNvPicPr>
            <a:picLocks noChangeAspect="1"/>
          </p:cNvPicPr>
          <p:nvPr/>
        </p:nvPicPr>
        <p:blipFill>
          <a:blip r:embed="rId3"/>
          <a:stretch>
            <a:fillRect/>
          </a:stretch>
        </p:blipFill>
        <p:spPr>
          <a:xfrm>
            <a:off x="857250" y="2852420"/>
            <a:ext cx="10477500" cy="2451100"/>
          </a:xfrm>
          <a:prstGeom prst="rect">
            <a:avLst/>
          </a:prstGeom>
        </p:spPr>
      </p:pic>
      <p:sp>
        <p:nvSpPr>
          <p:cNvPr id="13" name="TextBox 12">
            <a:extLst>
              <a:ext uri="{FF2B5EF4-FFF2-40B4-BE49-F238E27FC236}">
                <a16:creationId xmlns:a16="http://schemas.microsoft.com/office/drawing/2014/main" id="{44EE7037-C1BD-1D42-811B-E41EC8C08B75}"/>
              </a:ext>
            </a:extLst>
          </p:cNvPr>
          <p:cNvSpPr txBox="1"/>
          <p:nvPr/>
        </p:nvSpPr>
        <p:spPr>
          <a:xfrm>
            <a:off x="838200" y="5374283"/>
            <a:ext cx="3190040" cy="369332"/>
          </a:xfrm>
          <a:prstGeom prst="rect">
            <a:avLst/>
          </a:prstGeom>
          <a:noFill/>
        </p:spPr>
        <p:txBody>
          <a:bodyPr wrap="none" rtlCol="0">
            <a:spAutoFit/>
          </a:bodyPr>
          <a:lstStyle/>
          <a:p>
            <a:r>
              <a:rPr lang="en-US" i="1" dirty="0"/>
              <a:t>Proof:  </a:t>
            </a:r>
            <a:r>
              <a:rPr lang="en-US" dirty="0"/>
              <a:t>use Lindberg-Feller CLT</a:t>
            </a:r>
            <a:endParaRPr lang="en-US" i="1" dirty="0"/>
          </a:p>
        </p:txBody>
      </p:sp>
    </p:spTree>
    <p:extLst>
      <p:ext uri="{BB962C8B-B14F-4D97-AF65-F5344CB8AC3E}">
        <p14:creationId xmlns:p14="http://schemas.microsoft.com/office/powerpoint/2010/main" val="2101758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Sandwich variance estimator</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15</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22" name="直接连接符 4">
            <a:extLst>
              <a:ext uri="{FF2B5EF4-FFF2-40B4-BE49-F238E27FC236}">
                <a16:creationId xmlns:a16="http://schemas.microsoft.com/office/drawing/2014/main" id="{73213F19-706B-4DE8-BD21-B987678BE3F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24" name="内容占位符 2">
            <a:extLst>
              <a:ext uri="{FF2B5EF4-FFF2-40B4-BE49-F238E27FC236}">
                <a16:creationId xmlns:a16="http://schemas.microsoft.com/office/drawing/2014/main" id="{61DE3B45-FE26-9A4C-8B09-EA25B05DA3CE}"/>
              </a:ext>
            </a:extLst>
          </p:cNvPr>
          <p:cNvSpPr txBox="1">
            <a:spLocks noChangeArrowheads="1"/>
          </p:cNvSpPr>
          <p:nvPr/>
        </p:nvSpPr>
        <p:spPr>
          <a:xfrm>
            <a:off x="914400" y="1554480"/>
            <a:ext cx="9575800"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p:pic>
        <p:nvPicPr>
          <p:cNvPr id="3" name="Picture 2">
            <a:extLst>
              <a:ext uri="{FF2B5EF4-FFF2-40B4-BE49-F238E27FC236}">
                <a16:creationId xmlns:a16="http://schemas.microsoft.com/office/drawing/2014/main" id="{81F6F688-2DA9-8245-B721-2F0652DB166E}"/>
              </a:ext>
            </a:extLst>
          </p:cNvPr>
          <p:cNvPicPr>
            <a:picLocks noChangeAspect="1"/>
          </p:cNvPicPr>
          <p:nvPr/>
        </p:nvPicPr>
        <p:blipFill>
          <a:blip r:embed="rId2"/>
          <a:stretch>
            <a:fillRect/>
          </a:stretch>
        </p:blipFill>
        <p:spPr>
          <a:xfrm>
            <a:off x="1343526" y="1554480"/>
            <a:ext cx="7239000" cy="15494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DC262E2-750A-E342-B86C-65BA5904ECC7}"/>
                  </a:ext>
                </a:extLst>
              </p:cNvPr>
              <p:cNvSpPr txBox="1"/>
              <p:nvPr/>
            </p:nvSpPr>
            <p:spPr>
              <a:xfrm>
                <a:off x="2615315" y="3858486"/>
                <a:ext cx="2051267" cy="1268039"/>
              </a:xfrm>
              <a:prstGeom prst="rect">
                <a:avLst/>
              </a:prstGeom>
              <a:noFill/>
            </p:spPr>
            <p:txBody>
              <a:bodyPr wrap="none" rtlCol="0">
                <a:spAutoFit/>
              </a:bodyPr>
              <a:lstStyle/>
              <a:p>
                <a:r>
                  <a:rPr lang="en-US" dirty="0"/>
                  <a:t>Replace </a:t>
                </a:r>
                <a14:m>
                  <m:oMath xmlns:m="http://schemas.openxmlformats.org/officeDocument/2006/math">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oMath>
                </a14:m>
                <a:r>
                  <a:rPr lang="en-US" dirty="0"/>
                  <a:t> with </a:t>
                </a:r>
                <a14:m>
                  <m:oMath xmlns:m="http://schemas.openxmlformats.org/officeDocument/2006/math">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oMath>
                </a14:m>
                <a:r>
                  <a:rPr lang="en-US" dirty="0"/>
                  <a:t> </a:t>
                </a:r>
              </a:p>
              <a:p>
                <a:endParaRPr lang="en-US" dirty="0"/>
              </a:p>
              <a:p>
                <a:endParaRPr lang="en-US" dirty="0"/>
              </a:p>
              <a:p>
                <a:r>
                  <a:rPr lang="en-US" dirty="0"/>
                  <a:t>Replace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rPr>
                          <m:t>𝑖</m:t>
                        </m:r>
                      </m:sub>
                      <m:sup>
                        <m:r>
                          <a:rPr lang="en-US" i="1">
                            <a:latin typeface="Cambria Math" panose="02040503050406030204" pitchFamily="18" charset="0"/>
                          </a:rPr>
                          <m:t>2</m:t>
                        </m:r>
                      </m:sup>
                    </m:sSubSup>
                  </m:oMath>
                </a14:m>
                <a:r>
                  <a:rPr lang="en-US" dirty="0"/>
                  <a:t> with </a:t>
                </a:r>
                <a14:m>
                  <m:oMath xmlns:m="http://schemas.openxmlformats.org/officeDocument/2006/math">
                    <m:sSubSup>
                      <m:sSubSupPr>
                        <m:ctrlPr>
                          <a:rPr lang="en-US"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𝜀</m:t>
                            </m:r>
                          </m:e>
                        </m:acc>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oMath>
                </a14:m>
                <a:endParaRPr lang="en-US" dirty="0"/>
              </a:p>
            </p:txBody>
          </p:sp>
        </mc:Choice>
        <mc:Fallback xmlns="">
          <p:sp>
            <p:nvSpPr>
              <p:cNvPr id="5" name="TextBox 4">
                <a:extLst>
                  <a:ext uri="{FF2B5EF4-FFF2-40B4-BE49-F238E27FC236}">
                    <a16:creationId xmlns:a16="http://schemas.microsoft.com/office/drawing/2014/main" id="{2DC262E2-750A-E342-B86C-65BA5904ECC7}"/>
                  </a:ext>
                </a:extLst>
              </p:cNvPr>
              <p:cNvSpPr txBox="1">
                <a:spLocks noRot="1" noChangeAspect="1" noMove="1" noResize="1" noEditPoints="1" noAdjustHandles="1" noChangeArrowheads="1" noChangeShapeType="1" noTextEdit="1"/>
              </p:cNvSpPr>
              <p:nvPr/>
            </p:nvSpPr>
            <p:spPr>
              <a:xfrm>
                <a:off x="2615315" y="3858486"/>
                <a:ext cx="2051267" cy="1268039"/>
              </a:xfrm>
              <a:prstGeom prst="rect">
                <a:avLst/>
              </a:prstGeom>
              <a:blipFill>
                <a:blip r:embed="rId3"/>
                <a:stretch>
                  <a:fillRect l="-1852" t="-990" b="-198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08160E37-4FA8-714D-9C1B-B494E995309E}"/>
              </a:ext>
            </a:extLst>
          </p:cNvPr>
          <p:cNvPicPr>
            <a:picLocks noChangeAspect="1"/>
          </p:cNvPicPr>
          <p:nvPr/>
        </p:nvPicPr>
        <p:blipFill>
          <a:blip r:embed="rId4"/>
          <a:stretch>
            <a:fillRect/>
          </a:stretch>
        </p:blipFill>
        <p:spPr>
          <a:xfrm>
            <a:off x="5732046" y="3678116"/>
            <a:ext cx="2476500" cy="774700"/>
          </a:xfrm>
          <a:prstGeom prst="rect">
            <a:avLst/>
          </a:prstGeom>
        </p:spPr>
      </p:pic>
      <p:pic>
        <p:nvPicPr>
          <p:cNvPr id="7" name="Picture 6">
            <a:extLst>
              <a:ext uri="{FF2B5EF4-FFF2-40B4-BE49-F238E27FC236}">
                <a16:creationId xmlns:a16="http://schemas.microsoft.com/office/drawing/2014/main" id="{AA130FC5-5184-B043-AB63-236C2B384753}"/>
              </a:ext>
            </a:extLst>
          </p:cNvPr>
          <p:cNvPicPr>
            <a:picLocks noChangeAspect="1"/>
          </p:cNvPicPr>
          <p:nvPr/>
        </p:nvPicPr>
        <p:blipFill>
          <a:blip r:embed="rId5"/>
          <a:stretch>
            <a:fillRect/>
          </a:stretch>
        </p:blipFill>
        <p:spPr>
          <a:xfrm>
            <a:off x="5756779" y="4561648"/>
            <a:ext cx="2540000" cy="850900"/>
          </a:xfrm>
          <a:prstGeom prst="rect">
            <a:avLst/>
          </a:prstGeom>
        </p:spPr>
      </p:pic>
    </p:spTree>
    <p:extLst>
      <p:ext uri="{BB962C8B-B14F-4D97-AF65-F5344CB8AC3E}">
        <p14:creationId xmlns:p14="http://schemas.microsoft.com/office/powerpoint/2010/main" val="3791336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Sandwich variance estimator</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16</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22" name="直接连接符 4">
            <a:extLst>
              <a:ext uri="{FF2B5EF4-FFF2-40B4-BE49-F238E27FC236}">
                <a16:creationId xmlns:a16="http://schemas.microsoft.com/office/drawing/2014/main" id="{73213F19-706B-4DE8-BD21-B987678BE3F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24" name="内容占位符 2">
            <a:extLst>
              <a:ext uri="{FF2B5EF4-FFF2-40B4-BE49-F238E27FC236}">
                <a16:creationId xmlns:a16="http://schemas.microsoft.com/office/drawing/2014/main" id="{61DE3B45-FE26-9A4C-8B09-EA25B05DA3CE}"/>
              </a:ext>
            </a:extLst>
          </p:cNvPr>
          <p:cNvSpPr txBox="1">
            <a:spLocks noChangeArrowheads="1"/>
          </p:cNvSpPr>
          <p:nvPr/>
        </p:nvSpPr>
        <p:spPr>
          <a:xfrm>
            <a:off x="914400" y="1554480"/>
            <a:ext cx="9575800"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p:pic>
        <p:nvPicPr>
          <p:cNvPr id="2" name="Picture 1">
            <a:extLst>
              <a:ext uri="{FF2B5EF4-FFF2-40B4-BE49-F238E27FC236}">
                <a16:creationId xmlns:a16="http://schemas.microsoft.com/office/drawing/2014/main" id="{A34FA16E-774B-3A45-8BB2-05B21A60EA04}"/>
              </a:ext>
            </a:extLst>
          </p:cNvPr>
          <p:cNvPicPr>
            <a:picLocks noChangeAspect="1"/>
          </p:cNvPicPr>
          <p:nvPr/>
        </p:nvPicPr>
        <p:blipFill>
          <a:blip r:embed="rId2"/>
          <a:stretch>
            <a:fillRect/>
          </a:stretch>
        </p:blipFill>
        <p:spPr>
          <a:xfrm>
            <a:off x="838200" y="1429667"/>
            <a:ext cx="10820400" cy="1759237"/>
          </a:xfrm>
          <a:prstGeom prst="rect">
            <a:avLst/>
          </a:prstGeom>
        </p:spPr>
      </p:pic>
      <p:pic>
        <p:nvPicPr>
          <p:cNvPr id="4" name="Picture 3">
            <a:extLst>
              <a:ext uri="{FF2B5EF4-FFF2-40B4-BE49-F238E27FC236}">
                <a16:creationId xmlns:a16="http://schemas.microsoft.com/office/drawing/2014/main" id="{47310B63-F75B-9E44-8B40-455F004AEB13}"/>
              </a:ext>
            </a:extLst>
          </p:cNvPr>
          <p:cNvPicPr>
            <a:picLocks noChangeAspect="1"/>
          </p:cNvPicPr>
          <p:nvPr/>
        </p:nvPicPr>
        <p:blipFill>
          <a:blip r:embed="rId3"/>
          <a:stretch>
            <a:fillRect/>
          </a:stretch>
        </p:blipFill>
        <p:spPr>
          <a:xfrm>
            <a:off x="5060187" y="3139904"/>
            <a:ext cx="6877813" cy="344478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F728357-A4BB-274E-9116-42C93670E295}"/>
                  </a:ext>
                </a:extLst>
              </p:cNvPr>
              <p:cNvSpPr txBox="1"/>
              <p:nvPr/>
            </p:nvSpPr>
            <p:spPr>
              <a:xfrm>
                <a:off x="914399" y="3694164"/>
                <a:ext cx="3316224" cy="376770"/>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𝑀</m:t>
                            </m:r>
                          </m:e>
                        </m:acc>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sSub>
                      <m:sSubPr>
                        <m:ctrlPr>
                          <a:rPr lang="en-US" i="1">
                            <a:latin typeface="Cambria Math" panose="02040503050406030204" pitchFamily="18" charset="0"/>
                          </a:rPr>
                        </m:ctrlPr>
                      </m:sSubPr>
                      <m:e>
                        <m:r>
                          <a:rPr lang="en-US" altLang="zh-CN" b="0" i="1" smtClean="0">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𝑀</m:t>
                            </m:r>
                          </m:e>
                        </m:acc>
                      </m:e>
                      <m:sub>
                        <m:r>
                          <a:rPr lang="en-US" altLang="zh-CN" i="1">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𝑀</m:t>
                            </m:r>
                          </m:e>
                        </m:acc>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𝑀</m:t>
                            </m:r>
                          </m:e>
                        </m:acc>
                      </m:e>
                      <m:sub>
                        <m:r>
                          <a:rPr lang="en-US" altLang="zh-CN" i="1">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𝑀</m:t>
                    </m:r>
                  </m:oMath>
                </a14:m>
                <a:r>
                  <a:rPr lang="en-US" altLang="zh-CN" dirty="0"/>
                  <a:t>)</a:t>
                </a:r>
                <a:endParaRPr lang="en-US" dirty="0"/>
              </a:p>
            </p:txBody>
          </p:sp>
        </mc:Choice>
        <mc:Fallback xmlns="">
          <p:sp>
            <p:nvSpPr>
              <p:cNvPr id="8" name="TextBox 7">
                <a:extLst>
                  <a:ext uri="{FF2B5EF4-FFF2-40B4-BE49-F238E27FC236}">
                    <a16:creationId xmlns:a16="http://schemas.microsoft.com/office/drawing/2014/main" id="{BF728357-A4BB-274E-9116-42C93670E295}"/>
                  </a:ext>
                </a:extLst>
              </p:cNvPr>
              <p:cNvSpPr txBox="1">
                <a:spLocks noRot="1" noChangeAspect="1" noMove="1" noResize="1" noEditPoints="1" noAdjustHandles="1" noChangeArrowheads="1" noChangeShapeType="1" noTextEdit="1"/>
              </p:cNvSpPr>
              <p:nvPr/>
            </p:nvSpPr>
            <p:spPr>
              <a:xfrm>
                <a:off x="914399" y="3694164"/>
                <a:ext cx="3316224" cy="376770"/>
              </a:xfrm>
              <a:prstGeom prst="rect">
                <a:avLst/>
              </a:prstGeom>
              <a:blipFill>
                <a:blip r:embed="rId4"/>
                <a:stretch>
                  <a:fillRect t="-3226" r="-3831" b="-1935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53540DA-5534-4E4C-BE9E-9F848587F339}"/>
              </a:ext>
            </a:extLst>
          </p:cNvPr>
          <p:cNvSpPr txBox="1"/>
          <p:nvPr/>
        </p:nvSpPr>
        <p:spPr>
          <a:xfrm>
            <a:off x="914399" y="3243312"/>
            <a:ext cx="778803" cy="369332"/>
          </a:xfrm>
          <a:prstGeom prst="rect">
            <a:avLst/>
          </a:prstGeom>
          <a:noFill/>
        </p:spPr>
        <p:txBody>
          <a:bodyPr wrap="none" rtlCol="0">
            <a:spAutoFit/>
          </a:bodyPr>
          <a:lstStyle/>
          <a:p>
            <a:r>
              <a:rPr lang="en-US" altLang="zh-CN" i="1" dirty="0"/>
              <a:t>Proof:</a:t>
            </a:r>
            <a:endParaRPr lang="en-US" i="1" dirty="0"/>
          </a:p>
        </p:txBody>
      </p:sp>
      <p:sp>
        <p:nvSpPr>
          <p:cNvPr id="10" name="TextBox 9">
            <a:extLst>
              <a:ext uri="{FF2B5EF4-FFF2-40B4-BE49-F238E27FC236}">
                <a16:creationId xmlns:a16="http://schemas.microsoft.com/office/drawing/2014/main" id="{CDDC1D61-A1F9-164E-B9AE-78547FFA4AE4}"/>
              </a:ext>
            </a:extLst>
          </p:cNvPr>
          <p:cNvSpPr txBox="1"/>
          <p:nvPr/>
        </p:nvSpPr>
        <p:spPr>
          <a:xfrm>
            <a:off x="842106" y="4455933"/>
            <a:ext cx="4425250" cy="923330"/>
          </a:xfrm>
          <a:prstGeom prst="rect">
            <a:avLst/>
          </a:prstGeom>
          <a:noFill/>
        </p:spPr>
        <p:txBody>
          <a:bodyPr wrap="none" rtlCol="0">
            <a:spAutoFit/>
          </a:bodyPr>
          <a:lstStyle/>
          <a:p>
            <a:r>
              <a:rPr lang="en-US" altLang="zh-CN" dirty="0"/>
              <a:t>Convergence</a:t>
            </a:r>
            <a:r>
              <a:rPr lang="zh-CN" altLang="en-US" dirty="0"/>
              <a:t> </a:t>
            </a:r>
            <a:r>
              <a:rPr lang="en-US" altLang="zh-CN" dirty="0"/>
              <a:t>of</a:t>
            </a:r>
            <a:r>
              <a:rPr lang="zh-CN" altLang="en-US" dirty="0"/>
              <a:t> </a:t>
            </a:r>
            <a:r>
              <a:rPr lang="en-US" altLang="zh-CN" dirty="0"/>
              <a:t>the</a:t>
            </a:r>
            <a:r>
              <a:rPr lang="zh-CN" altLang="en-US" dirty="0"/>
              <a:t> </a:t>
            </a:r>
            <a:r>
              <a:rPr lang="en-US" altLang="zh-CN" dirty="0"/>
              <a:t>second</a:t>
            </a:r>
            <a:r>
              <a:rPr lang="zh-CN" altLang="en-US" dirty="0"/>
              <a:t> </a:t>
            </a:r>
            <a:r>
              <a:rPr lang="en-US" altLang="zh-CN" dirty="0"/>
              <a:t>term</a:t>
            </a:r>
            <a:r>
              <a:rPr lang="zh-CN" altLang="en-US" dirty="0"/>
              <a:t> </a:t>
            </a:r>
            <a:r>
              <a:rPr lang="en-US" altLang="zh-CN" dirty="0"/>
              <a:t>follows</a:t>
            </a:r>
            <a:r>
              <a:rPr lang="zh-CN" altLang="en-US" dirty="0"/>
              <a:t> </a:t>
            </a:r>
            <a:r>
              <a:rPr lang="en-US" altLang="zh-CN" dirty="0"/>
              <a:t>from</a:t>
            </a:r>
          </a:p>
          <a:p>
            <a:r>
              <a:rPr lang="en-US" altLang="zh-CN" dirty="0"/>
              <a:t>Markov’s</a:t>
            </a:r>
            <a:r>
              <a:rPr lang="zh-CN" altLang="en-US" dirty="0"/>
              <a:t> </a:t>
            </a:r>
            <a:r>
              <a:rPr lang="en-US" altLang="zh-CN" dirty="0"/>
              <a:t>inequality</a:t>
            </a:r>
            <a:r>
              <a:rPr lang="zh-CN" altLang="en-US" dirty="0"/>
              <a:t> </a:t>
            </a:r>
            <a:r>
              <a:rPr lang="en-US" altLang="zh-CN" dirty="0"/>
              <a:t>and</a:t>
            </a:r>
            <a:r>
              <a:rPr lang="zh-CN" altLang="en-US" dirty="0"/>
              <a:t> </a:t>
            </a:r>
            <a:r>
              <a:rPr lang="en-US" altLang="zh-CN" dirty="0"/>
              <a:t>the</a:t>
            </a:r>
            <a:r>
              <a:rPr lang="zh-CN" altLang="en-US" dirty="0"/>
              <a:t> </a:t>
            </a:r>
            <a:r>
              <a:rPr lang="en-US" altLang="zh-CN" dirty="0"/>
              <a:t>convergence</a:t>
            </a:r>
            <a:r>
              <a:rPr lang="zh-CN" altLang="en-US" dirty="0"/>
              <a:t> </a:t>
            </a:r>
            <a:r>
              <a:rPr lang="en-US" altLang="zh-CN" dirty="0"/>
              <a:t>of</a:t>
            </a:r>
          </a:p>
          <a:p>
            <a:endParaRPr lang="en-US" dirty="0"/>
          </a:p>
        </p:txBody>
      </p:sp>
      <p:pic>
        <p:nvPicPr>
          <p:cNvPr id="11" name="Picture 10">
            <a:extLst>
              <a:ext uri="{FF2B5EF4-FFF2-40B4-BE49-F238E27FC236}">
                <a16:creationId xmlns:a16="http://schemas.microsoft.com/office/drawing/2014/main" id="{2D0561FC-9DA0-4C4E-B560-AB51326D87D2}"/>
              </a:ext>
            </a:extLst>
          </p:cNvPr>
          <p:cNvPicPr>
            <a:picLocks noChangeAspect="1"/>
          </p:cNvPicPr>
          <p:nvPr/>
        </p:nvPicPr>
        <p:blipFill>
          <a:blip r:embed="rId5"/>
          <a:stretch>
            <a:fillRect/>
          </a:stretch>
        </p:blipFill>
        <p:spPr>
          <a:xfrm>
            <a:off x="1116837" y="5127429"/>
            <a:ext cx="2628900" cy="749300"/>
          </a:xfrm>
          <a:prstGeom prst="rect">
            <a:avLst/>
          </a:prstGeom>
        </p:spPr>
      </p:pic>
      <p:sp>
        <p:nvSpPr>
          <p:cNvPr id="17" name="Rectangle 16">
            <a:extLst>
              <a:ext uri="{FF2B5EF4-FFF2-40B4-BE49-F238E27FC236}">
                <a16:creationId xmlns:a16="http://schemas.microsoft.com/office/drawing/2014/main" id="{3292C94B-FA28-814E-8A8C-66286A92E879}"/>
              </a:ext>
            </a:extLst>
          </p:cNvPr>
          <p:cNvSpPr/>
          <p:nvPr/>
        </p:nvSpPr>
        <p:spPr>
          <a:xfrm>
            <a:off x="838201" y="3174567"/>
            <a:ext cx="4331208" cy="34101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34765A9-418B-094B-92E4-F64E35DF63D3}"/>
              </a:ext>
            </a:extLst>
          </p:cNvPr>
          <p:cNvSpPr/>
          <p:nvPr/>
        </p:nvSpPr>
        <p:spPr>
          <a:xfrm>
            <a:off x="5169409" y="3170847"/>
            <a:ext cx="6466934" cy="3413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80648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Sandwich variance estimator</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17</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22" name="直接连接符 4">
            <a:extLst>
              <a:ext uri="{FF2B5EF4-FFF2-40B4-BE49-F238E27FC236}">
                <a16:creationId xmlns:a16="http://schemas.microsoft.com/office/drawing/2014/main" id="{73213F19-706B-4DE8-BD21-B987678BE3F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24" name="内容占位符 2">
            <a:extLst>
              <a:ext uri="{FF2B5EF4-FFF2-40B4-BE49-F238E27FC236}">
                <a16:creationId xmlns:a16="http://schemas.microsoft.com/office/drawing/2014/main" id="{61DE3B45-FE26-9A4C-8B09-EA25B05DA3CE}"/>
              </a:ext>
            </a:extLst>
          </p:cNvPr>
          <p:cNvSpPr txBox="1">
            <a:spLocks noChangeArrowheads="1"/>
          </p:cNvSpPr>
          <p:nvPr/>
        </p:nvSpPr>
        <p:spPr>
          <a:xfrm>
            <a:off x="914400" y="1554480"/>
            <a:ext cx="9575800"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p:sp>
        <p:nvSpPr>
          <p:cNvPr id="4" name="TextBox 3">
            <a:extLst>
              <a:ext uri="{FF2B5EF4-FFF2-40B4-BE49-F238E27FC236}">
                <a16:creationId xmlns:a16="http://schemas.microsoft.com/office/drawing/2014/main" id="{85AE4AD6-42DC-D444-B59C-4C6F8229E60B}"/>
              </a:ext>
            </a:extLst>
          </p:cNvPr>
          <p:cNvSpPr txBox="1"/>
          <p:nvPr/>
        </p:nvSpPr>
        <p:spPr>
          <a:xfrm>
            <a:off x="914400" y="1639697"/>
            <a:ext cx="7718908" cy="369332"/>
          </a:xfrm>
          <a:prstGeom prst="rect">
            <a:avLst/>
          </a:prstGeom>
          <a:noFill/>
        </p:spPr>
        <p:txBody>
          <a:bodyPr wrap="none" rtlCol="0">
            <a:spAutoFit/>
          </a:bodyPr>
          <a:lstStyle/>
          <a:p>
            <a:r>
              <a:rPr lang="en-US" b="1" dirty="0" err="1"/>
              <a:t>Eicker</a:t>
            </a:r>
            <a:r>
              <a:rPr lang="en-US" b="1" dirty="0"/>
              <a:t>-Huber-White (EHW) heteroskedasticity robust covariance estimator</a:t>
            </a:r>
          </a:p>
        </p:txBody>
      </p:sp>
      <p:pic>
        <p:nvPicPr>
          <p:cNvPr id="5" name="Picture 4">
            <a:extLst>
              <a:ext uri="{FF2B5EF4-FFF2-40B4-BE49-F238E27FC236}">
                <a16:creationId xmlns:a16="http://schemas.microsoft.com/office/drawing/2014/main" id="{051584B6-4900-CC48-B632-0F277D40E907}"/>
              </a:ext>
            </a:extLst>
          </p:cNvPr>
          <p:cNvPicPr>
            <a:picLocks noChangeAspect="1"/>
          </p:cNvPicPr>
          <p:nvPr/>
        </p:nvPicPr>
        <p:blipFill>
          <a:blip r:embed="rId3"/>
          <a:stretch>
            <a:fillRect/>
          </a:stretch>
        </p:blipFill>
        <p:spPr>
          <a:xfrm>
            <a:off x="1606551" y="2045137"/>
            <a:ext cx="6718300" cy="1041400"/>
          </a:xfrm>
          <a:prstGeom prst="rect">
            <a:avLst/>
          </a:prstGeom>
        </p:spPr>
      </p:pic>
      <p:pic>
        <p:nvPicPr>
          <p:cNvPr id="6" name="Picture 5">
            <a:extLst>
              <a:ext uri="{FF2B5EF4-FFF2-40B4-BE49-F238E27FC236}">
                <a16:creationId xmlns:a16="http://schemas.microsoft.com/office/drawing/2014/main" id="{F92D280F-955C-9741-BC81-51A937A3215D}"/>
              </a:ext>
            </a:extLst>
          </p:cNvPr>
          <p:cNvPicPr>
            <a:picLocks noChangeAspect="1"/>
          </p:cNvPicPr>
          <p:nvPr/>
        </p:nvPicPr>
        <p:blipFill>
          <a:blip r:embed="rId4"/>
          <a:stretch>
            <a:fillRect/>
          </a:stretch>
        </p:blipFill>
        <p:spPr>
          <a:xfrm>
            <a:off x="1606551" y="3138953"/>
            <a:ext cx="3606800" cy="508000"/>
          </a:xfrm>
          <a:prstGeom prst="rect">
            <a:avLst/>
          </a:prstGeom>
        </p:spPr>
      </p:pic>
      <p:pic>
        <p:nvPicPr>
          <p:cNvPr id="7" name="Picture 6">
            <a:extLst>
              <a:ext uri="{FF2B5EF4-FFF2-40B4-BE49-F238E27FC236}">
                <a16:creationId xmlns:a16="http://schemas.microsoft.com/office/drawing/2014/main" id="{DB728126-547E-854C-A76E-98B465B7E181}"/>
              </a:ext>
            </a:extLst>
          </p:cNvPr>
          <p:cNvPicPr>
            <a:picLocks noChangeAspect="1"/>
          </p:cNvPicPr>
          <p:nvPr/>
        </p:nvPicPr>
        <p:blipFill>
          <a:blip r:embed="rId5"/>
          <a:stretch>
            <a:fillRect/>
          </a:stretch>
        </p:blipFill>
        <p:spPr>
          <a:xfrm>
            <a:off x="6096000" y="3183403"/>
            <a:ext cx="2171700" cy="41910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3A9E4CF-8F97-8740-988F-81D0E017FFDB}"/>
                  </a:ext>
                </a:extLst>
              </p:cNvPr>
              <p:cNvSpPr txBox="1"/>
              <p:nvPr/>
            </p:nvSpPr>
            <p:spPr>
              <a:xfrm>
                <a:off x="1251284" y="3934326"/>
                <a:ext cx="8719054" cy="1639551"/>
              </a:xfrm>
              <a:prstGeom prst="rect">
                <a:avLst/>
              </a:prstGeom>
              <a:noFill/>
            </p:spPr>
            <p:txBody>
              <a:bodyPr wrap="none" rtlCol="0">
                <a:spAutoFit/>
              </a:bodyPr>
              <a:lstStyle/>
              <a:p>
                <a:pPr marL="285750" indent="-285750">
                  <a:buFont typeface="Arial" panose="020B0604020202020204" pitchFamily="34" charset="0"/>
                  <a:buChar char="•"/>
                </a:pPr>
                <a:r>
                  <a:rPr lang="en-US" sz="2000" dirty="0"/>
                  <a:t> Eicher (1967) first proposed to use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𝑉</m:t>
                            </m:r>
                          </m:e>
                        </m:acc>
                      </m:e>
                      <m:sub>
                        <m:r>
                          <a:rPr lang="en-US" sz="2000" b="0" i="1" smtClean="0">
                            <a:latin typeface="Cambria Math" panose="02040503050406030204" pitchFamily="18" charset="0"/>
                          </a:rPr>
                          <m:t>𝐸𝐻𝑊</m:t>
                        </m:r>
                      </m:sub>
                    </m:sSub>
                  </m:oMath>
                </a14:m>
                <a:endParaRPr lang="en-US" sz="2000" dirty="0"/>
              </a:p>
              <a:p>
                <a:pPr marL="285750" indent="-285750">
                  <a:buFont typeface="Arial" panose="020B0604020202020204" pitchFamily="34" charset="0"/>
                  <a:buChar char="•"/>
                </a:pPr>
                <a:r>
                  <a:rPr lang="en-US" sz="2000" dirty="0"/>
                  <a:t> White (1980) popularized it in economic research</a:t>
                </a:r>
              </a:p>
              <a:p>
                <a:pPr marL="285750" indent="-285750">
                  <a:buFont typeface="Arial" panose="020B0604020202020204" pitchFamily="34" charset="0"/>
                  <a:buChar char="•"/>
                </a:pPr>
                <a:r>
                  <a:rPr lang="en-US" sz="2000" dirty="0"/>
                  <a:t> Cox (1961) and Huber (1967) discussed the sandwich variance in the context of </a:t>
                </a:r>
              </a:p>
              <a:p>
                <a:r>
                  <a:rPr lang="en-US" sz="2000" dirty="0"/>
                  <a:t>     mis-specified parametric model</a:t>
                </a:r>
              </a:p>
              <a:p>
                <a:pPr marL="342900" indent="-342900">
                  <a:buFont typeface="Arial" panose="020B0604020202020204" pitchFamily="34" charset="0"/>
                  <a:buChar char="•"/>
                </a:pPr>
                <a:r>
                  <a:rPr lang="en-US" sz="2000" dirty="0"/>
                  <a:t>Fuller (1975) proposed a more general form of </a:t>
                </a:r>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𝑉</m:t>
                            </m:r>
                          </m:e>
                        </m:acc>
                      </m:e>
                      <m:sub>
                        <m:r>
                          <a:rPr lang="en-US" sz="2000" i="1">
                            <a:latin typeface="Cambria Math" panose="02040503050406030204" pitchFamily="18" charset="0"/>
                          </a:rPr>
                          <m:t>𝐸𝐻𝑊</m:t>
                        </m:r>
                      </m:sub>
                    </m:sSub>
                  </m:oMath>
                </a14:m>
                <a:r>
                  <a:rPr lang="en-US" sz="2000" dirty="0"/>
                  <a:t> in survey sampling</a:t>
                </a:r>
              </a:p>
            </p:txBody>
          </p:sp>
        </mc:Choice>
        <mc:Fallback xmlns="">
          <p:sp>
            <p:nvSpPr>
              <p:cNvPr id="8" name="TextBox 7">
                <a:extLst>
                  <a:ext uri="{FF2B5EF4-FFF2-40B4-BE49-F238E27FC236}">
                    <a16:creationId xmlns:a16="http://schemas.microsoft.com/office/drawing/2014/main" id="{F3A9E4CF-8F97-8740-988F-81D0E017FFDB}"/>
                  </a:ext>
                </a:extLst>
              </p:cNvPr>
              <p:cNvSpPr txBox="1">
                <a:spLocks noRot="1" noChangeAspect="1" noMove="1" noResize="1" noEditPoints="1" noAdjustHandles="1" noChangeArrowheads="1" noChangeShapeType="1" noTextEdit="1"/>
              </p:cNvSpPr>
              <p:nvPr/>
            </p:nvSpPr>
            <p:spPr>
              <a:xfrm>
                <a:off x="1251284" y="3934326"/>
                <a:ext cx="8719054" cy="1639551"/>
              </a:xfrm>
              <a:prstGeom prst="rect">
                <a:avLst/>
              </a:prstGeom>
              <a:blipFill>
                <a:blip r:embed="rId6"/>
                <a:stretch>
                  <a:fillRect l="-582" t="-769" r="-437" b="-6154"/>
                </a:stretch>
              </a:blipFill>
            </p:spPr>
            <p:txBody>
              <a:bodyPr/>
              <a:lstStyle/>
              <a:p>
                <a:r>
                  <a:rPr lang="en-US">
                    <a:noFill/>
                  </a:rPr>
                  <a:t> </a:t>
                </a:r>
              </a:p>
            </p:txBody>
          </p:sp>
        </mc:Fallback>
      </mc:AlternateContent>
    </p:spTree>
    <p:extLst>
      <p:ext uri="{BB962C8B-B14F-4D97-AF65-F5344CB8AC3E}">
        <p14:creationId xmlns:p14="http://schemas.microsoft.com/office/powerpoint/2010/main" val="1275124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Asymptotic inference of OLS estimator</a:t>
            </a:r>
            <a:endParaRPr lang="zh-CN" altLang="en-US" sz="3200" dirty="0">
              <a:solidFill>
                <a:srgbClr val="005825"/>
              </a:solidFill>
              <a:ea typeface="Arial Unicode MS" panose="020B0604020202020204" pitchFamily="34" charset="-128"/>
              <a:cs typeface="Arial Unicode MS" panose="020B0604020202020204" pitchFamily="34" charset="-128"/>
            </a:endParaRPr>
          </a:p>
        </p:txBody>
      </p:sp>
      <p:cxnSp>
        <p:nvCxnSpPr>
          <p:cNvPr id="19" name="直接连接符 4">
            <a:extLst>
              <a:ext uri="{FF2B5EF4-FFF2-40B4-BE49-F238E27FC236}">
                <a16:creationId xmlns:a16="http://schemas.microsoft.com/office/drawing/2014/main" id="{C2DFBF73-3E27-46AC-8325-448C974C55C0}"/>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17" name="内容占位符 2">
            <a:extLst>
              <a:ext uri="{FF2B5EF4-FFF2-40B4-BE49-F238E27FC236}">
                <a16:creationId xmlns:a16="http://schemas.microsoft.com/office/drawing/2014/main" id="{F4089BDF-8A19-A845-82D7-4C68D5E5A53D}"/>
              </a:ext>
            </a:extLst>
          </p:cNvPr>
          <p:cNvSpPr txBox="1">
            <a:spLocks noChangeArrowheads="1"/>
          </p:cNvSpPr>
          <p:nvPr/>
        </p:nvSpPr>
        <p:spPr>
          <a:xfrm>
            <a:off x="914400" y="1554480"/>
            <a:ext cx="7919717"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p:sp>
        <p:nvSpPr>
          <p:cNvPr id="4" name="TextBox 3">
            <a:extLst>
              <a:ext uri="{FF2B5EF4-FFF2-40B4-BE49-F238E27FC236}">
                <a16:creationId xmlns:a16="http://schemas.microsoft.com/office/drawing/2014/main" id="{F2E7513F-9BF6-824E-BD90-59ADBE6C760C}"/>
              </a:ext>
            </a:extLst>
          </p:cNvPr>
          <p:cNvSpPr txBox="1"/>
          <p:nvPr/>
        </p:nvSpPr>
        <p:spPr>
          <a:xfrm>
            <a:off x="5005137" y="5137484"/>
            <a:ext cx="184731" cy="369332"/>
          </a:xfrm>
          <a:prstGeom prst="rect">
            <a:avLst/>
          </a:prstGeom>
          <a:noFill/>
        </p:spPr>
        <p:txBody>
          <a:bodyPr wrap="none" rtlCol="0">
            <a:spAutoFit/>
          </a:bodyPr>
          <a:lstStyle/>
          <a:p>
            <a:endParaRPr lang="en-US" dirty="0"/>
          </a:p>
        </p:txBody>
      </p:sp>
      <p:pic>
        <p:nvPicPr>
          <p:cNvPr id="7" name="Picture 6">
            <a:extLst>
              <a:ext uri="{FF2B5EF4-FFF2-40B4-BE49-F238E27FC236}">
                <a16:creationId xmlns:a16="http://schemas.microsoft.com/office/drawing/2014/main" id="{5DC68925-5A64-FE42-A4DB-FB570F7EBB20}"/>
              </a:ext>
            </a:extLst>
          </p:cNvPr>
          <p:cNvPicPr>
            <a:picLocks noChangeAspect="1"/>
          </p:cNvPicPr>
          <p:nvPr/>
        </p:nvPicPr>
        <p:blipFill>
          <a:blip r:embed="rId2"/>
          <a:stretch>
            <a:fillRect/>
          </a:stretch>
        </p:blipFill>
        <p:spPr>
          <a:xfrm>
            <a:off x="1759012" y="1835747"/>
            <a:ext cx="7937500" cy="1930400"/>
          </a:xfrm>
          <a:prstGeom prst="rect">
            <a:avLst/>
          </a:prstGeom>
        </p:spPr>
      </p:pic>
      <p:sp>
        <p:nvSpPr>
          <p:cNvPr id="11" name="TextBox 10">
            <a:extLst>
              <a:ext uri="{FF2B5EF4-FFF2-40B4-BE49-F238E27FC236}">
                <a16:creationId xmlns:a16="http://schemas.microsoft.com/office/drawing/2014/main" id="{7195FCD9-B8F1-D04D-9DBC-4F5EE85C3FCD}"/>
              </a:ext>
            </a:extLst>
          </p:cNvPr>
          <p:cNvSpPr txBox="1"/>
          <p:nvPr/>
        </p:nvSpPr>
        <p:spPr>
          <a:xfrm>
            <a:off x="792689" y="4306487"/>
            <a:ext cx="10606622"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Inference under Normal linear model: finite sample exact distribution</a:t>
            </a:r>
          </a:p>
          <a:p>
            <a:pPr marL="285750" indent="-285750">
              <a:buFont typeface="Arial" panose="020B0604020202020204" pitchFamily="34" charset="0"/>
              <a:buChar char="•"/>
            </a:pPr>
            <a:r>
              <a:rPr lang="en-US" sz="2400" dirty="0"/>
              <a:t>Inference under heteroskedastic linear model: large sample Normal approximation</a:t>
            </a:r>
          </a:p>
        </p:txBody>
      </p:sp>
    </p:spTree>
    <p:extLst>
      <p:ext uri="{BB962C8B-B14F-4D97-AF65-F5344CB8AC3E}">
        <p14:creationId xmlns:p14="http://schemas.microsoft.com/office/powerpoint/2010/main" val="3459658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Other</a:t>
            </a:r>
            <a:r>
              <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 “</a:t>
            </a:r>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HC</a:t>
            </a:r>
            <a:r>
              <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 </a:t>
            </a:r>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standard errors</a:t>
            </a:r>
            <a:endParaRPr lang="zh-CN" altLang="en-US" sz="3200" dirty="0">
              <a:solidFill>
                <a:srgbClr val="005825"/>
              </a:solidFill>
              <a:ea typeface="Arial Unicode MS" panose="020B0604020202020204" pitchFamily="34" charset="-128"/>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cxnSp>
        <p:nvCxnSpPr>
          <p:cNvPr id="19" name="直接连接符 4">
            <a:extLst>
              <a:ext uri="{FF2B5EF4-FFF2-40B4-BE49-F238E27FC236}">
                <a16:creationId xmlns:a16="http://schemas.microsoft.com/office/drawing/2014/main" id="{C2DFBF73-3E27-46AC-8325-448C974C55C0}"/>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70BFE0F-9765-4C4C-B2F5-F008B65F2A1B}"/>
                  </a:ext>
                </a:extLst>
              </p:cNvPr>
              <p:cNvSpPr txBox="1"/>
              <p:nvPr/>
            </p:nvSpPr>
            <p:spPr>
              <a:xfrm>
                <a:off x="838200" y="1615111"/>
                <a:ext cx="6186117" cy="376770"/>
              </a:xfrm>
              <a:prstGeom prst="rect">
                <a:avLst/>
              </a:prstGeom>
              <a:noFill/>
            </p:spPr>
            <p:txBody>
              <a:bodyPr wrap="none" rtlCol="0">
                <a:spAutoFit/>
              </a:bodyPr>
              <a:lstStyle/>
              <a:p>
                <a:r>
                  <a:rPr lang="en-US" altLang="zh-CN" dirty="0"/>
                  <a:t>Modification</a:t>
                </a:r>
                <a:r>
                  <a:rPr lang="zh-CN" altLang="en-US" dirty="0"/>
                  <a:t> </a:t>
                </a:r>
                <a:r>
                  <a:rPr lang="en-US" altLang="zh-CN" dirty="0"/>
                  <a:t>of</a:t>
                </a:r>
                <a:r>
                  <a:rPr lang="en-US" dirty="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𝐸𝐻𝑊</m:t>
                        </m:r>
                      </m:sub>
                    </m:sSub>
                  </m:oMath>
                </a14:m>
                <a:r>
                  <a:rPr lang="zh-CN" altLang="en-US" dirty="0"/>
                  <a:t> </a:t>
                </a:r>
                <a:r>
                  <a:rPr lang="en-US" altLang="zh-CN" dirty="0"/>
                  <a:t> aiming for better finite sample properties</a:t>
                </a:r>
                <a:endParaRPr lang="en-US" dirty="0"/>
              </a:p>
            </p:txBody>
          </p:sp>
        </mc:Choice>
        <mc:Fallback xmlns="">
          <p:sp>
            <p:nvSpPr>
              <p:cNvPr id="6" name="TextBox 5">
                <a:extLst>
                  <a:ext uri="{FF2B5EF4-FFF2-40B4-BE49-F238E27FC236}">
                    <a16:creationId xmlns:a16="http://schemas.microsoft.com/office/drawing/2014/main" id="{470BFE0F-9765-4C4C-B2F5-F008B65F2A1B}"/>
                  </a:ext>
                </a:extLst>
              </p:cNvPr>
              <p:cNvSpPr txBox="1">
                <a:spLocks noRot="1" noChangeAspect="1" noMove="1" noResize="1" noEditPoints="1" noAdjustHandles="1" noChangeArrowheads="1" noChangeShapeType="1" noTextEdit="1"/>
              </p:cNvSpPr>
              <p:nvPr/>
            </p:nvSpPr>
            <p:spPr>
              <a:xfrm>
                <a:off x="838200" y="1615111"/>
                <a:ext cx="6186117" cy="376770"/>
              </a:xfrm>
              <a:prstGeom prst="rect">
                <a:avLst/>
              </a:prstGeom>
              <a:blipFill>
                <a:blip r:embed="rId3"/>
                <a:stretch>
                  <a:fillRect l="-820" b="-22581"/>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CE663C70-EB52-6D46-911A-88DE8F934AF5}"/>
              </a:ext>
            </a:extLst>
          </p:cNvPr>
          <p:cNvPicPr>
            <a:picLocks noChangeAspect="1"/>
          </p:cNvPicPr>
          <p:nvPr/>
        </p:nvPicPr>
        <p:blipFill>
          <a:blip r:embed="rId4"/>
          <a:stretch>
            <a:fillRect/>
          </a:stretch>
        </p:blipFill>
        <p:spPr>
          <a:xfrm>
            <a:off x="1305896" y="1991881"/>
            <a:ext cx="8858312" cy="4341392"/>
          </a:xfrm>
          <a:prstGeom prst="rect">
            <a:avLst/>
          </a:prstGeom>
        </p:spPr>
      </p:pic>
    </p:spTree>
    <p:extLst>
      <p:ext uri="{BB962C8B-B14F-4D97-AF65-F5344CB8AC3E}">
        <p14:creationId xmlns:p14="http://schemas.microsoft.com/office/powerpoint/2010/main" val="3128871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Special case</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20</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14" name="直接连接符 4">
            <a:extLst>
              <a:ext uri="{FF2B5EF4-FFF2-40B4-BE49-F238E27FC236}">
                <a16:creationId xmlns:a16="http://schemas.microsoft.com/office/drawing/2014/main" id="{63B26065-44AF-44A7-8B41-2A4E1EE5915E}"/>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17" name="内容占位符 2">
            <a:extLst>
              <a:ext uri="{FF2B5EF4-FFF2-40B4-BE49-F238E27FC236}">
                <a16:creationId xmlns:a16="http://schemas.microsoft.com/office/drawing/2014/main" id="{D4382DFF-92CE-2D42-8477-6FBD08D6928E}"/>
              </a:ext>
            </a:extLst>
          </p:cNvPr>
          <p:cNvSpPr txBox="1">
            <a:spLocks noChangeArrowheads="1"/>
          </p:cNvSpPr>
          <p:nvPr/>
        </p:nvSpPr>
        <p:spPr>
          <a:xfrm>
            <a:off x="914400" y="1554480"/>
            <a:ext cx="9677400" cy="4933493"/>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D1B6E7E-BE93-2F4F-83FB-C933E9FF9CBF}"/>
                  </a:ext>
                </a:extLst>
              </p:cNvPr>
              <p:cNvSpPr txBox="1"/>
              <p:nvPr/>
            </p:nvSpPr>
            <p:spPr>
              <a:xfrm>
                <a:off x="914400" y="1669770"/>
                <a:ext cx="2729914" cy="384336"/>
              </a:xfrm>
              <a:prstGeom prst="rect">
                <a:avLst/>
              </a:prstGeom>
              <a:noFill/>
            </p:spPr>
            <p:txBody>
              <a:bodyPr wrap="none" rtlCol="0">
                <a:spAutoFit/>
              </a:bodyPr>
              <a:lstStyle/>
              <a:p>
                <a:r>
                  <a:rPr lang="en-US" dirty="0"/>
                  <a:t>Homoskedasticity: </a:t>
                </a:r>
                <a14:m>
                  <m:oMath xmlns:m="http://schemas.openxmlformats.org/officeDocument/2006/math">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oMath>
                </a14:m>
                <a:endParaRPr lang="en-US" dirty="0"/>
              </a:p>
            </p:txBody>
          </p:sp>
        </mc:Choice>
        <mc:Fallback xmlns="">
          <p:sp>
            <p:nvSpPr>
              <p:cNvPr id="7" name="TextBox 6">
                <a:extLst>
                  <a:ext uri="{FF2B5EF4-FFF2-40B4-BE49-F238E27FC236}">
                    <a16:creationId xmlns:a16="http://schemas.microsoft.com/office/drawing/2014/main" id="{ED1B6E7E-BE93-2F4F-83FB-C933E9FF9CBF}"/>
                  </a:ext>
                </a:extLst>
              </p:cNvPr>
              <p:cNvSpPr txBox="1">
                <a:spLocks noRot="1" noChangeAspect="1" noMove="1" noResize="1" noEditPoints="1" noAdjustHandles="1" noChangeArrowheads="1" noChangeShapeType="1" noTextEdit="1"/>
              </p:cNvSpPr>
              <p:nvPr/>
            </p:nvSpPr>
            <p:spPr>
              <a:xfrm>
                <a:off x="914400" y="1669770"/>
                <a:ext cx="2729914" cy="384336"/>
              </a:xfrm>
              <a:prstGeom prst="rect">
                <a:avLst/>
              </a:prstGeom>
              <a:blipFill>
                <a:blip r:embed="rId3"/>
                <a:stretch>
                  <a:fillRect l="-1860" b="-18750"/>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648E58A9-2F97-3249-A626-EE06807CEBB5}"/>
              </a:ext>
            </a:extLst>
          </p:cNvPr>
          <p:cNvPicPr>
            <a:picLocks noChangeAspect="1"/>
          </p:cNvPicPr>
          <p:nvPr/>
        </p:nvPicPr>
        <p:blipFill>
          <a:blip r:embed="rId4"/>
          <a:stretch>
            <a:fillRect/>
          </a:stretch>
        </p:blipFill>
        <p:spPr>
          <a:xfrm>
            <a:off x="3219451" y="1993452"/>
            <a:ext cx="3492500" cy="793887"/>
          </a:xfrm>
          <a:prstGeom prst="rect">
            <a:avLst/>
          </a:prstGeom>
        </p:spPr>
      </p:pic>
      <p:pic>
        <p:nvPicPr>
          <p:cNvPr id="11" name="Picture 10">
            <a:extLst>
              <a:ext uri="{FF2B5EF4-FFF2-40B4-BE49-F238E27FC236}">
                <a16:creationId xmlns:a16="http://schemas.microsoft.com/office/drawing/2014/main" id="{00095A12-3591-E44D-9AA4-AF6123436E40}"/>
              </a:ext>
            </a:extLst>
          </p:cNvPr>
          <p:cNvPicPr>
            <a:picLocks noChangeAspect="1"/>
          </p:cNvPicPr>
          <p:nvPr/>
        </p:nvPicPr>
        <p:blipFill>
          <a:blip r:embed="rId5"/>
          <a:stretch>
            <a:fillRect/>
          </a:stretch>
        </p:blipFill>
        <p:spPr>
          <a:xfrm>
            <a:off x="2940384" y="3647103"/>
            <a:ext cx="4241800" cy="304800"/>
          </a:xfrm>
          <a:prstGeom prst="rect">
            <a:avLst/>
          </a:prstGeom>
        </p:spPr>
      </p:pic>
      <p:pic>
        <p:nvPicPr>
          <p:cNvPr id="13" name="Picture 12">
            <a:extLst>
              <a:ext uri="{FF2B5EF4-FFF2-40B4-BE49-F238E27FC236}">
                <a16:creationId xmlns:a16="http://schemas.microsoft.com/office/drawing/2014/main" id="{A0D9425A-5784-7546-BD73-F00F45948E6A}"/>
              </a:ext>
            </a:extLst>
          </p:cNvPr>
          <p:cNvPicPr>
            <a:picLocks noChangeAspect="1"/>
          </p:cNvPicPr>
          <p:nvPr/>
        </p:nvPicPr>
        <p:blipFill>
          <a:blip r:embed="rId6"/>
          <a:stretch>
            <a:fillRect/>
          </a:stretch>
        </p:blipFill>
        <p:spPr>
          <a:xfrm>
            <a:off x="2701956" y="3974778"/>
            <a:ext cx="5130800" cy="635000"/>
          </a:xfrm>
          <a:prstGeom prst="rect">
            <a:avLst/>
          </a:prstGeom>
        </p:spPr>
      </p:pic>
      <p:pic>
        <p:nvPicPr>
          <p:cNvPr id="15" name="Picture 14">
            <a:extLst>
              <a:ext uri="{FF2B5EF4-FFF2-40B4-BE49-F238E27FC236}">
                <a16:creationId xmlns:a16="http://schemas.microsoft.com/office/drawing/2014/main" id="{773D9EE1-5402-C342-8425-868E4C95A579}"/>
              </a:ext>
            </a:extLst>
          </p:cNvPr>
          <p:cNvPicPr>
            <a:picLocks noChangeAspect="1"/>
          </p:cNvPicPr>
          <p:nvPr/>
        </p:nvPicPr>
        <p:blipFill>
          <a:blip r:embed="rId7"/>
          <a:stretch>
            <a:fillRect/>
          </a:stretch>
        </p:blipFill>
        <p:spPr>
          <a:xfrm>
            <a:off x="3219451" y="4478100"/>
            <a:ext cx="3822700" cy="1066800"/>
          </a:xfrm>
          <a:prstGeom prst="rect">
            <a:avLst/>
          </a:prstGeom>
        </p:spPr>
      </p:pic>
      <p:pic>
        <p:nvPicPr>
          <p:cNvPr id="16" name="Picture 15">
            <a:extLst>
              <a:ext uri="{FF2B5EF4-FFF2-40B4-BE49-F238E27FC236}">
                <a16:creationId xmlns:a16="http://schemas.microsoft.com/office/drawing/2014/main" id="{415902F1-0F78-9A4A-9CBD-771A2A5B0C51}"/>
              </a:ext>
            </a:extLst>
          </p:cNvPr>
          <p:cNvPicPr>
            <a:picLocks noChangeAspect="1"/>
          </p:cNvPicPr>
          <p:nvPr/>
        </p:nvPicPr>
        <p:blipFill>
          <a:blip r:embed="rId8"/>
          <a:stretch>
            <a:fillRect/>
          </a:stretch>
        </p:blipFill>
        <p:spPr>
          <a:xfrm>
            <a:off x="3568114" y="5496820"/>
            <a:ext cx="2641600" cy="635000"/>
          </a:xfrm>
          <a:prstGeom prst="rect">
            <a:avLst/>
          </a:prstGeom>
        </p:spPr>
      </p:pic>
      <p:sp>
        <p:nvSpPr>
          <p:cNvPr id="2" name="TextBox 1">
            <a:extLst>
              <a:ext uri="{FF2B5EF4-FFF2-40B4-BE49-F238E27FC236}">
                <a16:creationId xmlns:a16="http://schemas.microsoft.com/office/drawing/2014/main" id="{F02FC04F-293E-3D4D-B710-04FB12EA8583}"/>
              </a:ext>
            </a:extLst>
          </p:cNvPr>
          <p:cNvSpPr txBox="1"/>
          <p:nvPr/>
        </p:nvSpPr>
        <p:spPr>
          <a:xfrm>
            <a:off x="5130801" y="4526921"/>
            <a:ext cx="441960" cy="276999"/>
          </a:xfrm>
          <a:prstGeom prst="rect">
            <a:avLst/>
          </a:prstGeom>
          <a:noFill/>
        </p:spPr>
        <p:txBody>
          <a:bodyPr wrap="square" rtlCol="0">
            <a:spAutoFit/>
          </a:bodyPr>
          <a:lstStyle/>
          <a:p>
            <a:r>
              <a:rPr lang="en-US" altLang="zh-CN" sz="1200" dirty="0"/>
              <a:t>-1</a:t>
            </a:r>
            <a:endParaRPr lang="en-US" sz="1200" dirty="0"/>
          </a:p>
        </p:txBody>
      </p:sp>
      <p:pic>
        <p:nvPicPr>
          <p:cNvPr id="3" name="Picture 2">
            <a:extLst>
              <a:ext uri="{FF2B5EF4-FFF2-40B4-BE49-F238E27FC236}">
                <a16:creationId xmlns:a16="http://schemas.microsoft.com/office/drawing/2014/main" id="{0CDC912D-386E-FE4B-9312-D9392CB4047D}"/>
              </a:ext>
            </a:extLst>
          </p:cNvPr>
          <p:cNvPicPr>
            <a:picLocks noChangeAspect="1"/>
          </p:cNvPicPr>
          <p:nvPr/>
        </p:nvPicPr>
        <p:blipFill>
          <a:blip r:embed="rId9"/>
          <a:stretch>
            <a:fillRect/>
          </a:stretch>
        </p:blipFill>
        <p:spPr>
          <a:xfrm>
            <a:off x="3219451" y="2641835"/>
            <a:ext cx="3492500" cy="969527"/>
          </a:xfrm>
          <a:prstGeom prst="rect">
            <a:avLst/>
          </a:prstGeom>
        </p:spPr>
      </p:pic>
    </p:spTree>
    <p:extLst>
      <p:ext uri="{BB962C8B-B14F-4D97-AF65-F5344CB8AC3E}">
        <p14:creationId xmlns:p14="http://schemas.microsoft.com/office/powerpoint/2010/main" val="3071803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60EC8FF-0367-4629-1006-54ECED531B3B}"/>
              </a:ext>
            </a:extLst>
          </p:cNvPr>
          <p:cNvGrpSpPr/>
          <p:nvPr>
            <p:custDataLst>
              <p:tags r:id="rId2"/>
            </p:custDataLst>
          </p:nvPr>
        </p:nvGrpSpPr>
        <p:grpSpPr>
          <a:xfrm>
            <a:off x="0" y="0"/>
            <a:ext cx="12192000" cy="635000"/>
            <a:chOff x="0" y="0"/>
            <a:chExt cx="12192000" cy="635000"/>
          </a:xfrm>
        </p:grpSpPr>
        <p:sp>
          <p:nvSpPr>
            <p:cNvPr id="6" name="TitleBackground">
              <a:extLst>
                <a:ext uri="{FF2B5EF4-FFF2-40B4-BE49-F238E27FC236}">
                  <a16:creationId xmlns:a16="http://schemas.microsoft.com/office/drawing/2014/main" id="{D5D4A0F9-3A70-6ACE-0292-4E5E366D0CB3}"/>
                </a:ext>
              </a:extLst>
            </p:cNvPr>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lorBlock">
              <a:extLst>
                <a:ext uri="{FF2B5EF4-FFF2-40B4-BE49-F238E27FC236}">
                  <a16:creationId xmlns:a16="http://schemas.microsoft.com/office/drawing/2014/main" id="{6A443223-E356-234D-6001-ECE0FB1DDB7E}"/>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ypeText">
              <a:extLst>
                <a:ext uri="{FF2B5EF4-FFF2-40B4-BE49-F238E27FC236}">
                  <a16:creationId xmlns:a16="http://schemas.microsoft.com/office/drawing/2014/main" id="{688E6AC4-09FA-2361-4A19-A9B8DB93895E}"/>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匿名</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a:extLst>
                <a:ext uri="{FF2B5EF4-FFF2-40B4-BE49-F238E27FC236}">
                  <a16:creationId xmlns:a16="http://schemas.microsoft.com/office/drawing/2014/main" id="{6D151868-F0C6-F5AC-2153-A24791FB573B}"/>
                </a:ext>
              </a:extLst>
            </p:cNvPr>
            <p:cNvSpPr txBox="1"/>
            <p:nvPr>
              <p:custDataLst>
                <p:tags r:id="rId13"/>
              </p:custDataLst>
            </p:nvPr>
          </p:nvSpPr>
          <p:spPr>
            <a:xfrm>
              <a:off x="2075180" y="109220"/>
              <a:ext cx="2286000" cy="508000"/>
            </a:xfrm>
            <a:prstGeom prst="rect">
              <a:avLst/>
            </a:prstGeom>
            <a:noFill/>
          </p:spPr>
          <p:txBody>
            <a:bodyPr vert="horz" wrap="none" rtlCol="0" anchor="ctr" anchorCtr="0">
              <a:noAutofit/>
            </a:bodyPr>
            <a:lstStyle/>
            <a:p>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sp>
        <p:nvSpPr>
          <p:cNvPr id="11" name="TextBox 10">
            <a:extLst>
              <a:ext uri="{FF2B5EF4-FFF2-40B4-BE49-F238E27FC236}">
                <a16:creationId xmlns:a16="http://schemas.microsoft.com/office/drawing/2014/main" id="{46B53B24-845A-3DA0-1F9D-697FAEC7CABA}"/>
              </a:ext>
            </a:extLst>
          </p:cNvPr>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Can we use                                      for the homoscedastic case?               </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TextBox 11">
            <a:extLst>
              <a:ext uri="{FF2B5EF4-FFF2-40B4-BE49-F238E27FC236}">
                <a16:creationId xmlns:a16="http://schemas.microsoft.com/office/drawing/2014/main" id="{EF021B8D-A5F8-5FC2-44FD-10A6C3840E11}"/>
              </a:ext>
            </a:extLst>
          </p:cNvPr>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Yes</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TextBox 12">
            <a:extLst>
              <a:ext uri="{FF2B5EF4-FFF2-40B4-BE49-F238E27FC236}">
                <a16:creationId xmlns:a16="http://schemas.microsoft.com/office/drawing/2014/main" id="{5AD6211E-FE1F-F2D4-7111-24BE5D09AF5E}"/>
              </a:ext>
            </a:extLst>
          </p:cNvPr>
          <p:cNvSpPr txBox="1"/>
          <p:nvPr>
            <p:custDataLst>
              <p:tags r:id="rId5"/>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No</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Oval 15">
            <a:extLst>
              <a:ext uri="{FF2B5EF4-FFF2-40B4-BE49-F238E27FC236}">
                <a16:creationId xmlns:a16="http://schemas.microsoft.com/office/drawing/2014/main" id="{A3E4BAE5-4747-7CDC-17B9-BBE1C8666B0F}"/>
              </a:ext>
            </a:extLst>
          </p:cNvPr>
          <p:cNvSpPr>
            <a:spLocks noChangeAspect="1"/>
          </p:cNvSpPr>
          <p:nvPr>
            <p:custDataLst>
              <p:tags r:id="rId6"/>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7" name="Oval 16">
            <a:extLst>
              <a:ext uri="{FF2B5EF4-FFF2-40B4-BE49-F238E27FC236}">
                <a16:creationId xmlns:a16="http://schemas.microsoft.com/office/drawing/2014/main" id="{55616ED2-DEEF-0BBD-3277-03FD83EFEC11}"/>
              </a:ext>
            </a:extLst>
          </p:cNvPr>
          <p:cNvSpPr>
            <a:spLocks noChangeAspect="1"/>
          </p:cNvSpPr>
          <p:nvPr>
            <p:custDataLst>
              <p:tags r:id="rId7"/>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20" name="Rounded Rectangle 19">
            <a:extLst>
              <a:ext uri="{FF2B5EF4-FFF2-40B4-BE49-F238E27FC236}">
                <a16:creationId xmlns:a16="http://schemas.microsoft.com/office/drawing/2014/main" id="{4E2C6A59-1DD1-2F50-0630-A529D63875D3}"/>
              </a:ext>
            </a:extLst>
          </p:cNvPr>
          <p:cNvSpPr/>
          <p:nvPr>
            <p:custDataLst>
              <p:tags r:id="rId8"/>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21" name="Picture 20">
            <a:extLst>
              <a:ext uri="{FF2B5EF4-FFF2-40B4-BE49-F238E27FC236}">
                <a16:creationId xmlns:a16="http://schemas.microsoft.com/office/drawing/2014/main" id="{06FDA5AE-9326-B503-B828-ED09464257FD}"/>
              </a:ext>
            </a:extLst>
          </p:cNvPr>
          <p:cNvPicPr>
            <a:picLocks noChangeAspect="1"/>
          </p:cNvPicPr>
          <p:nvPr/>
        </p:nvPicPr>
        <p:blipFill>
          <a:blip r:embed="rId15"/>
          <a:stretch>
            <a:fillRect/>
          </a:stretch>
        </p:blipFill>
        <p:spPr>
          <a:xfrm>
            <a:off x="3098800" y="1270000"/>
            <a:ext cx="3606800" cy="508000"/>
          </a:xfrm>
          <a:prstGeom prst="rect">
            <a:avLst/>
          </a:prstGeom>
        </p:spPr>
      </p:pic>
      <p:pic>
        <p:nvPicPr>
          <p:cNvPr id="5" name="Picture 4">
            <a:extLst>
              <a:ext uri="{FF2B5EF4-FFF2-40B4-BE49-F238E27FC236}">
                <a16:creationId xmlns:a16="http://schemas.microsoft.com/office/drawing/2014/main" id="{346566C9-9E07-1D33-F38F-2A14E5CCAB32}"/>
              </a:ext>
            </a:extLst>
          </p:cNvPr>
          <p:cNvPicPr>
            <a:picLocks/>
          </p:cNvPicPr>
          <p:nvPr>
            <p:custDataLst>
              <p:tags r:id="rId9"/>
            </p:custDataLst>
          </p:nvPr>
        </p:nvPicPr>
        <p:blipFill>
          <a:blip r:embed="rId16"/>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015054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Revisit the Z test</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22</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22" name="直接连接符 4">
            <a:extLst>
              <a:ext uri="{FF2B5EF4-FFF2-40B4-BE49-F238E27FC236}">
                <a16:creationId xmlns:a16="http://schemas.microsoft.com/office/drawing/2014/main" id="{73213F19-706B-4DE8-BD21-B987678BE3F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24" name="内容占位符 2">
            <a:extLst>
              <a:ext uri="{FF2B5EF4-FFF2-40B4-BE49-F238E27FC236}">
                <a16:creationId xmlns:a16="http://schemas.microsoft.com/office/drawing/2014/main" id="{61DE3B45-FE26-9A4C-8B09-EA25B05DA3CE}"/>
              </a:ext>
            </a:extLst>
          </p:cNvPr>
          <p:cNvSpPr txBox="1">
            <a:spLocks noChangeArrowheads="1"/>
          </p:cNvSpPr>
          <p:nvPr/>
        </p:nvSpPr>
        <p:spPr>
          <a:xfrm>
            <a:off x="914400" y="1554480"/>
            <a:ext cx="9575800"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17" name="内容占位符 2">
                <a:extLst>
                  <a:ext uri="{FF2B5EF4-FFF2-40B4-BE49-F238E27FC236}">
                    <a16:creationId xmlns:a16="http://schemas.microsoft.com/office/drawing/2014/main" id="{C80DCA8C-01FA-624F-8551-E0D7956931D3}"/>
                  </a:ext>
                </a:extLst>
              </p:cNvPr>
              <p:cNvSpPr txBox="1">
                <a:spLocks noChangeArrowheads="1"/>
              </p:cNvSpPr>
              <p:nvPr/>
            </p:nvSpPr>
            <p:spPr>
              <a:xfrm>
                <a:off x="914401" y="1554480"/>
                <a:ext cx="9651998" cy="4656139"/>
              </a:xfrm>
              <a:prstGeom prst="rect">
                <a:avLst/>
              </a:prstGeom>
            </p:spPr>
            <p:txBody>
              <a:bodyPr vert="horz" lIns="91440" tIns="45720" rIns="91440" bIns="45720" rtlCol="0">
                <a:normAutofit fontScale="92500" lnSpcReduction="20000"/>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18" lvl="1" indent="-342900">
                  <a:lnSpc>
                    <a:spcPct val="150000"/>
                  </a:lnSpc>
                  <a:buClr>
                    <a:srgbClr val="005825"/>
                  </a:buClr>
                  <a:buSzPct val="125000"/>
                </a:pPr>
                <a14:m>
                  <m:oMath xmlns:m="http://schemas.openxmlformats.org/officeDocument/2006/math">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𝑋</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1</m:t>
                        </m:r>
                      </m:sub>
                    </m:s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𝑋</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𝑛</m:t>
                        </m:r>
                      </m:sub>
                    </m:sSub>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are </a:t>
                </a:r>
                <a:r>
                  <a:rPr lang="en-US" altLang="zh-CN" dirty="0" err="1">
                    <a:latin typeface="Times New Roman" panose="02020603050405020304" pitchFamily="18" charset="0"/>
                    <a:ea typeface="Microsoft YaHei" panose="020B0503020204020204" pitchFamily="34" charset="-122"/>
                    <a:cs typeface="Times New Roman" panose="02020603050405020304" pitchFamily="18" charset="0"/>
                  </a:rPr>
                  <a:t>i.i.d.</a:t>
                </a:r>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with mean </a:t>
                </a:r>
                <a14:m>
                  <m:oMath xmlns:m="http://schemas.openxmlformats.org/officeDocument/2006/math">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𝜇</m:t>
                    </m:r>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and variance </a:t>
                </a:r>
                <a14:m>
                  <m:oMath xmlns:m="http://schemas.openxmlformats.org/officeDocument/2006/math">
                    <m:sSup>
                      <m:sSup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𝜎</m:t>
                        </m:r>
                      </m:e>
                      <m:sup>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2</m:t>
                        </m:r>
                      </m:sup>
                    </m:sSup>
                  </m:oMath>
                </a14:m>
                <a:endParaRPr lang="en-US" altLang="zh-CN" dirty="0">
                  <a:latin typeface="Times New Roman" panose="02020603050405020304" pitchFamily="18" charset="0"/>
                  <a:ea typeface="Microsoft YaHei" panose="020B0503020204020204" pitchFamily="34" charset="-122"/>
                  <a:cs typeface="Times New Roman" panose="02020603050405020304" pitchFamily="18" charset="0"/>
                </a:endParaRPr>
              </a:p>
              <a:p>
                <a:pPr marL="800106" lvl="2" indent="-342900">
                  <a:lnSpc>
                    <a:spcPct val="150000"/>
                  </a:lnSpc>
                  <a:buClr>
                    <a:srgbClr val="005825"/>
                  </a:buClr>
                  <a:buSzPct val="125000"/>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Linear model: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𝑋</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𝜇</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𝜖</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sub>
                    </m:sSub>
                  </m:oMath>
                </a14:m>
                <a:r>
                  <a:rPr lang="en-US" altLang="zh-CN"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𝐸</m:t>
                    </m:r>
                    <m:d>
                      <m:d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𝜖</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sub>
                        </m:sSub>
                      </m:e>
                    </m:d>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=0, </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𝑣𝑎𝑟</m:t>
                    </m:r>
                    <m:d>
                      <m:d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𝜖</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sub>
                        </m:sSub>
                      </m:e>
                    </m:d>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𝜎</m:t>
                        </m:r>
                      </m:e>
                      <m:sup>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n-US" altLang="zh-CN" dirty="0">
                    <a:latin typeface="Times New Roman" panose="02020603050405020304" pitchFamily="18" charset="0"/>
                    <a:ea typeface="Cambria Math" panose="02040503050406030204" pitchFamily="18" charset="0"/>
                    <a:cs typeface="Times New Roman" panose="02020603050405020304" pitchFamily="18" charset="0"/>
                  </a:rPr>
                  <a:t> </a:t>
                </a:r>
              </a:p>
              <a:p>
                <a:pPr marL="800106" lvl="2" indent="-342900">
                  <a:lnSpc>
                    <a:spcPct val="150000"/>
                  </a:lnSpc>
                  <a:buClr>
                    <a:srgbClr val="005825"/>
                  </a:buClr>
                  <a:buSzPct val="125000"/>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OLS estimate: </a:t>
                </a:r>
                <a14:m>
                  <m:oMath xmlns:m="http://schemas.openxmlformats.org/officeDocument/2006/math">
                    <m:acc>
                      <m:accPr>
                        <m:chr m:val="̂"/>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𝜇</m:t>
                        </m:r>
                      </m:e>
                    </m:acc>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acc>
                      <m:accPr>
                        <m:chr m:val="̅"/>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𝑋</m:t>
                        </m:r>
                      </m:e>
                    </m:acc>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 </m:t>
                    </m:r>
                    <m:sSub>
                      <m:sSub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bPr>
                      <m:e>
                        <m:acc>
                          <m:accPr>
                            <m:chr m:val="̂"/>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𝑉</m:t>
                            </m:r>
                          </m:e>
                        </m:acc>
                      </m:e>
                      <m: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𝐸𝐻𝑊</m:t>
                        </m:r>
                      </m:sub>
                    </m:s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f>
                      <m:f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fPr>
                      <m:num>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1</m:t>
                        </m:r>
                      </m:num>
                      <m:den>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𝑛</m:t>
                        </m:r>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−1</m:t>
                        </m:r>
                      </m:den>
                    </m:f>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sSup>
                      <m:sSup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pPr>
                      <m:e>
                        <m:d>
                          <m:d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dPr>
                          <m:e>
                            <m:sSub>
                              <m:sSub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𝑋</m:t>
                                </m:r>
                              </m:e>
                              <m: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𝑖</m:t>
                                </m:r>
                              </m:sub>
                            </m:s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acc>
                              <m:accPr>
                                <m:chr m:val="̅"/>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𝑋</m:t>
                                </m:r>
                              </m:e>
                            </m:acc>
                          </m:e>
                        </m:d>
                      </m:e>
                      <m:sup>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2</m:t>
                        </m:r>
                      </m:sup>
                    </m:sSup>
                  </m:oMath>
                </a14:m>
                <a:endParaRPr lang="en-US" altLang="zh-CN" dirty="0">
                  <a:latin typeface="Times New Roman" panose="02020603050405020304" pitchFamily="18" charset="0"/>
                  <a:ea typeface="Cambria Math" panose="02040503050406030204" pitchFamily="18" charset="0"/>
                  <a:cs typeface="Times New Roman" panose="02020603050405020304" pitchFamily="18" charset="0"/>
                </a:endParaRPr>
              </a:p>
              <a:p>
                <a:pPr marL="800106" lvl="2" indent="-342900">
                  <a:lnSpc>
                    <a:spcPct val="150000"/>
                  </a:lnSpc>
                  <a:buClr>
                    <a:srgbClr val="005825"/>
                  </a:buClr>
                  <a:buSzPct val="125000"/>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Inference on </a:t>
                </a:r>
                <a14:m>
                  <m:oMath xmlns:m="http://schemas.openxmlformats.org/officeDocument/2006/math">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US" altLang="zh-CN"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f>
                      <m:fPr>
                        <m:ctrlPr>
                          <a:rPr lang="en-US" altLang="zh-CN" i="1">
                            <a:latin typeface="Cambria Math" panose="02040503050406030204" pitchFamily="18" charset="0"/>
                            <a:ea typeface="Microsoft YaHei" panose="020B0503020204020204" pitchFamily="34" charset="-122"/>
                            <a:cs typeface="Times New Roman" panose="02020603050405020304" pitchFamily="18" charset="0"/>
                          </a:rPr>
                        </m:ctrlPr>
                      </m:fPr>
                      <m:num>
                        <m:d>
                          <m:dPr>
                            <m:ctrlPr>
                              <a:rPr lang="en-US" altLang="zh-CN" i="1">
                                <a:latin typeface="Cambria Math" panose="02040503050406030204" pitchFamily="18" charset="0"/>
                                <a:ea typeface="Microsoft YaHei" panose="020B0503020204020204" pitchFamily="34" charset="-122"/>
                                <a:cs typeface="Times New Roman" panose="02020603050405020304" pitchFamily="18" charset="0"/>
                              </a:rPr>
                            </m:ctrlPr>
                          </m:dPr>
                          <m:e>
                            <m:acc>
                              <m:accPr>
                                <m:chr m:val="̅"/>
                                <m:ctrlPr>
                                  <a:rPr lang="en-US" altLang="zh-CN" i="1">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i="1">
                                    <a:latin typeface="Cambria Math" panose="02040503050406030204" pitchFamily="18" charset="0"/>
                                    <a:ea typeface="Microsoft YaHei" panose="020B0503020204020204" pitchFamily="34" charset="-122"/>
                                    <a:cs typeface="Times New Roman" panose="02020603050405020304" pitchFamily="18" charset="0"/>
                                  </a:rPr>
                                  <m:t>𝑋</m:t>
                                </m:r>
                              </m:e>
                            </m:acc>
                            <m:r>
                              <a:rPr lang="en-US" altLang="zh-CN"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i="1">
                                <a:latin typeface="Cambria Math" panose="02040503050406030204" pitchFamily="18" charset="0"/>
                                <a:ea typeface="Microsoft YaHei" panose="020B0503020204020204" pitchFamily="34" charset="-122"/>
                                <a:cs typeface="Times New Roman" panose="02020603050405020304" pitchFamily="18" charset="0"/>
                              </a:rPr>
                              <m:t>𝜇</m:t>
                            </m:r>
                          </m:e>
                        </m:d>
                      </m:num>
                      <m:den>
                        <m:rad>
                          <m:radPr>
                            <m:degHide m:val="on"/>
                            <m:ctrlPr>
                              <a:rPr lang="en-US" altLang="zh-CN" i="1" smtClean="0">
                                <a:latin typeface="Cambria Math" panose="02040503050406030204" pitchFamily="18" charset="0"/>
                                <a:ea typeface="Microsoft YaHei" panose="020B0503020204020204" pitchFamily="34" charset="-122"/>
                                <a:cs typeface="Times New Roman" panose="02020603050405020304" pitchFamily="18" charset="0"/>
                              </a:rPr>
                            </m:ctrlPr>
                          </m:radPr>
                          <m:deg/>
                          <m:e>
                            <m:sSub>
                              <m:sSubPr>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sSubPr>
                              <m:e>
                                <m:acc>
                                  <m:accPr>
                                    <m:chr m:val="̂"/>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𝑉</m:t>
                                    </m:r>
                                  </m:e>
                                </m:acc>
                              </m:e>
                              <m:sub>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𝐸𝐻𝑊</m:t>
                                </m:r>
                              </m:sub>
                            </m:sSub>
                          </m:e>
                        </m:rad>
                      </m:den>
                    </m:f>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𝑁</m:t>
                    </m:r>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(0,1)</m:t>
                    </m:r>
                  </m:oMath>
                </a14:m>
                <a:endParaRPr lang="en-US" altLang="zh-CN" dirty="0">
                  <a:latin typeface="Times New Roman" panose="02020603050405020304" pitchFamily="18" charset="0"/>
                  <a:ea typeface="Cambria Math" panose="02040503050406030204" pitchFamily="18" charset="0"/>
                  <a:cs typeface="Times New Roman" panose="02020603050405020304" pitchFamily="18" charset="0"/>
                </a:endParaRPr>
              </a:p>
              <a:p>
                <a:pPr marL="342918" lvl="1" indent="-342900">
                  <a:lnSpc>
                    <a:spcPct val="150000"/>
                  </a:lnSpc>
                  <a:buClr>
                    <a:srgbClr val="005825"/>
                  </a:buClr>
                  <a:buSzPct val="125000"/>
                </a:pPr>
                <a:r>
                  <a:rPr lang="en-US" altLang="zh-CN" b="0" dirty="0">
                    <a:ea typeface="Microsoft YaHei" panose="020B0503020204020204" pitchFamily="34" charset="-122"/>
                    <a:cs typeface="Times New Roman" panose="02020603050405020304" pitchFamily="18" charset="0"/>
                  </a:rPr>
                  <a:t>Binary </a:t>
                </a:r>
                <a14:m>
                  <m:oMath xmlns:m="http://schemas.openxmlformats.org/officeDocument/2006/math">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𝑋</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1</m:t>
                        </m:r>
                      </m:sub>
                    </m:s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𝑋</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𝑛</m:t>
                        </m:r>
                      </m:sub>
                    </m:sSub>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are </a:t>
                </a:r>
                <a:r>
                  <a:rPr lang="en-US" altLang="zh-CN" dirty="0" err="1">
                    <a:latin typeface="Times New Roman" panose="02020603050405020304" pitchFamily="18" charset="0"/>
                    <a:ea typeface="Microsoft YaHei" panose="020B0503020204020204" pitchFamily="34" charset="-122"/>
                    <a:cs typeface="Times New Roman" panose="02020603050405020304" pitchFamily="18" charset="0"/>
                  </a:rPr>
                  <a:t>i.i.d.</a:t>
                </a:r>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with mean </a:t>
                </a:r>
                <a14:m>
                  <m:oMath xmlns:m="http://schemas.openxmlformats.org/officeDocument/2006/math">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𝑝</m:t>
                    </m:r>
                  </m:oMath>
                </a14:m>
                <a:endParaRPr lang="en-US" altLang="zh-CN" dirty="0">
                  <a:latin typeface="Times New Roman" panose="02020603050405020304" pitchFamily="18" charset="0"/>
                  <a:ea typeface="Microsoft YaHei" panose="020B0503020204020204" pitchFamily="34" charset="-122"/>
                  <a:cs typeface="Times New Roman" panose="02020603050405020304" pitchFamily="18" charset="0"/>
                </a:endParaRPr>
              </a:p>
              <a:p>
                <a:pPr marL="800106" lvl="2" indent="-342900">
                  <a:lnSpc>
                    <a:spcPct val="150000"/>
                  </a:lnSpc>
                  <a:buClr>
                    <a:srgbClr val="005825"/>
                  </a:buClr>
                  <a:buSzPct val="125000"/>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Linear model: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𝑋</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𝜖</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sub>
                    </m:sSub>
                  </m:oMath>
                </a14:m>
                <a:r>
                  <a:rPr lang="en-US" altLang="zh-CN" dirty="0">
                    <a:latin typeface="Times New Roman" panose="02020603050405020304" pitchFamily="18" charset="0"/>
                    <a:ea typeface="Cambria Math" panose="02040503050406030204" pitchFamily="18" charset="0"/>
                    <a:cs typeface="Times New Roman" panose="02020603050405020304" pitchFamily="18" charset="0"/>
                  </a:rPr>
                  <a:t>,</a:t>
                </a:r>
              </a:p>
              <a:p>
                <a:pPr marL="800106" lvl="2" indent="-342900">
                  <a:lnSpc>
                    <a:spcPct val="150000"/>
                  </a:lnSpc>
                  <a:buClr>
                    <a:srgbClr val="005825"/>
                  </a:buClr>
                  <a:buSzPct val="125000"/>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OLS estimate: </a:t>
                </a:r>
                <a14:m>
                  <m:oMath xmlns:m="http://schemas.openxmlformats.org/officeDocument/2006/math">
                    <m:acc>
                      <m:accPr>
                        <m:chr m:val="̂"/>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𝑝</m:t>
                        </m:r>
                      </m:e>
                    </m:acc>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m:t>
                    </m:r>
                    <m:acc>
                      <m:accPr>
                        <m:chr m:val="̅"/>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𝑋</m:t>
                        </m:r>
                      </m:e>
                    </m:acc>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 </m:t>
                    </m:r>
                    <m:sSub>
                      <m:sSubPr>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sSubPr>
                      <m:e>
                        <m:acc>
                          <m:accPr>
                            <m:chr m:val="̂"/>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𝑉</m:t>
                            </m:r>
                          </m:e>
                        </m:acc>
                      </m:e>
                      <m:sub>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𝐸𝐻𝑊</m:t>
                        </m:r>
                      </m:sub>
                    </m:sSub>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m:t>
                    </m:r>
                    <m:f>
                      <m:fPr>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fPr>
                      <m:num>
                        <m:acc>
                          <m:accPr>
                            <m:chr m:val="̂"/>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𝑝</m:t>
                            </m:r>
                          </m:e>
                        </m:acc>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(1−</m:t>
                        </m:r>
                        <m:acc>
                          <m:accPr>
                            <m:chr m:val="̂"/>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𝑝</m:t>
                            </m:r>
                          </m:e>
                        </m:acc>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m:t>
                        </m:r>
                      </m:num>
                      <m:den>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𝑛</m:t>
                        </m:r>
                      </m:den>
                    </m:f>
                  </m:oMath>
                </a14:m>
                <a:endParaRPr lang="en-US" altLang="zh-CN" dirty="0">
                  <a:latin typeface="Times New Roman" panose="02020603050405020304" pitchFamily="18" charset="0"/>
                  <a:ea typeface="Cambria Math" panose="02040503050406030204" pitchFamily="18" charset="0"/>
                  <a:cs typeface="Times New Roman" panose="02020603050405020304" pitchFamily="18" charset="0"/>
                </a:endParaRPr>
              </a:p>
              <a:p>
                <a:pPr marL="800106" lvl="2" indent="-342900">
                  <a:lnSpc>
                    <a:spcPct val="150000"/>
                  </a:lnSpc>
                  <a:buClr>
                    <a:srgbClr val="005825"/>
                  </a:buClr>
                  <a:buSzPct val="125000"/>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Inference on </a:t>
                </a:r>
                <a14:m>
                  <m:oMath xmlns:m="http://schemas.openxmlformats.org/officeDocument/2006/math">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𝑝</m:t>
                    </m:r>
                  </m:oMath>
                </a14:m>
                <a:r>
                  <a:rPr lang="en-US" altLang="zh-CN"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f>
                      <m:fPr>
                        <m:ctrlPr>
                          <a:rPr lang="en-US" altLang="zh-CN" i="1">
                            <a:latin typeface="Cambria Math" panose="02040503050406030204" pitchFamily="18" charset="0"/>
                            <a:ea typeface="Microsoft YaHei" panose="020B0503020204020204" pitchFamily="34" charset="-122"/>
                            <a:cs typeface="Times New Roman" panose="02020603050405020304" pitchFamily="18" charset="0"/>
                          </a:rPr>
                        </m:ctrlPr>
                      </m:fPr>
                      <m:num>
                        <m:d>
                          <m:dPr>
                            <m:ctrlPr>
                              <a:rPr lang="en-US" altLang="zh-CN" i="1">
                                <a:latin typeface="Cambria Math" panose="02040503050406030204" pitchFamily="18" charset="0"/>
                                <a:ea typeface="Microsoft YaHei" panose="020B0503020204020204" pitchFamily="34" charset="-122"/>
                                <a:cs typeface="Times New Roman" panose="02020603050405020304" pitchFamily="18" charset="0"/>
                              </a:rPr>
                            </m:ctrlPr>
                          </m:dPr>
                          <m:e>
                            <m:acc>
                              <m:accPr>
                                <m:chr m:val="̅"/>
                                <m:ctrlPr>
                                  <a:rPr lang="en-US" altLang="zh-CN" i="1">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i="1">
                                    <a:latin typeface="Cambria Math" panose="02040503050406030204" pitchFamily="18" charset="0"/>
                                    <a:ea typeface="Microsoft YaHei" panose="020B0503020204020204" pitchFamily="34" charset="-122"/>
                                    <a:cs typeface="Times New Roman" panose="02020603050405020304" pitchFamily="18" charset="0"/>
                                  </a:rPr>
                                  <m:t>𝑋</m:t>
                                </m:r>
                              </m:e>
                            </m:acc>
                            <m:r>
                              <a:rPr lang="en-US" altLang="zh-CN"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𝑝</m:t>
                            </m:r>
                          </m:e>
                        </m:d>
                      </m:num>
                      <m:den>
                        <m:rad>
                          <m:radPr>
                            <m:degHide m:val="on"/>
                            <m:ctrlPr>
                              <a:rPr lang="en-US" altLang="zh-CN" i="1">
                                <a:latin typeface="Cambria Math" panose="02040503050406030204" pitchFamily="18" charset="0"/>
                                <a:ea typeface="Microsoft YaHei" panose="020B0503020204020204" pitchFamily="34" charset="-122"/>
                                <a:cs typeface="Times New Roman" panose="02020603050405020304" pitchFamily="18" charset="0"/>
                              </a:rPr>
                            </m:ctrlPr>
                          </m:radPr>
                          <m:deg/>
                          <m:e>
                            <m:sSub>
                              <m:sSubPr>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sSubPr>
                              <m:e>
                                <m:acc>
                                  <m:accPr>
                                    <m:chr m:val="̂"/>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𝑉</m:t>
                                    </m:r>
                                  </m:e>
                                </m:acc>
                              </m:e>
                              <m:sub>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𝐸𝐻𝑊</m:t>
                                </m:r>
                              </m:sub>
                            </m:sSub>
                          </m:e>
                        </m:rad>
                      </m:den>
                    </m:f>
                    <m:r>
                      <a:rPr lang="en-US" altLang="zh-CN"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i="1">
                        <a:latin typeface="Cambria Math" panose="02040503050406030204" pitchFamily="18" charset="0"/>
                        <a:ea typeface="Microsoft YaHei" panose="020B0503020204020204" pitchFamily="34" charset="-122"/>
                        <a:cs typeface="Times New Roman" panose="02020603050405020304" pitchFamily="18" charset="0"/>
                      </a:rPr>
                      <m:t>𝑁</m:t>
                    </m:r>
                    <m:r>
                      <a:rPr lang="en-US" altLang="zh-CN" i="1">
                        <a:latin typeface="Cambria Math" panose="02040503050406030204" pitchFamily="18" charset="0"/>
                        <a:ea typeface="Microsoft YaHei" panose="020B0503020204020204" pitchFamily="34" charset="-122"/>
                        <a:cs typeface="Times New Roman" panose="02020603050405020304" pitchFamily="18" charset="0"/>
                      </a:rPr>
                      <m:t>(0,1)</m:t>
                    </m:r>
                  </m:oMath>
                </a14:m>
                <a:endParaRPr lang="en-US" altLang="zh-CN" dirty="0">
                  <a:latin typeface="Times New Roman" panose="02020603050405020304" pitchFamily="18" charset="0"/>
                  <a:ea typeface="Cambria Math" panose="02040503050406030204" pitchFamily="18" charset="0"/>
                  <a:cs typeface="Times New Roman" panose="02020603050405020304" pitchFamily="18" charset="0"/>
                </a:endParaRPr>
              </a:p>
              <a:p>
                <a:pPr>
                  <a:buFont typeface="Wingdings" pitchFamily="2" charset="2"/>
                  <a:buNone/>
                </a:pPr>
                <a:endParaRPr lang="en-US" altLang="zh-CN" sz="2000"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mc:Choice>
        <mc:Fallback xmlns="">
          <p:sp>
            <p:nvSpPr>
              <p:cNvPr id="17" name="内容占位符 2">
                <a:extLst>
                  <a:ext uri="{FF2B5EF4-FFF2-40B4-BE49-F238E27FC236}">
                    <a16:creationId xmlns:a16="http://schemas.microsoft.com/office/drawing/2014/main" id="{C80DCA8C-01FA-624F-8551-E0D7956931D3}"/>
                  </a:ext>
                </a:extLst>
              </p:cNvPr>
              <p:cNvSpPr txBox="1">
                <a:spLocks noRot="1" noChangeAspect="1" noMove="1" noResize="1" noEditPoints="1" noAdjustHandles="1" noChangeArrowheads="1" noChangeShapeType="1" noTextEdit="1"/>
              </p:cNvSpPr>
              <p:nvPr/>
            </p:nvSpPr>
            <p:spPr>
              <a:xfrm>
                <a:off x="914401" y="1554480"/>
                <a:ext cx="9651998" cy="4656139"/>
              </a:xfrm>
              <a:prstGeom prst="rect">
                <a:avLst/>
              </a:prstGeom>
              <a:blipFill>
                <a:blip r:embed="rId3"/>
                <a:stretch>
                  <a:fillRect l="-1184" t="-815"/>
                </a:stretch>
              </a:blipFill>
            </p:spPr>
            <p:txBody>
              <a:bodyPr/>
              <a:lstStyle/>
              <a:p>
                <a:r>
                  <a:rPr lang="en-US">
                    <a:noFill/>
                  </a:rPr>
                  <a:t> </a:t>
                </a:r>
              </a:p>
            </p:txBody>
          </p:sp>
        </mc:Fallback>
      </mc:AlternateContent>
    </p:spTree>
    <p:extLst>
      <p:ext uri="{BB962C8B-B14F-4D97-AF65-F5344CB8AC3E}">
        <p14:creationId xmlns:p14="http://schemas.microsoft.com/office/powerpoint/2010/main" val="1840665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Revisit the two</a:t>
            </a:r>
            <a:r>
              <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 </a:t>
            </a:r>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sample test</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23</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22" name="直接连接符 4">
            <a:extLst>
              <a:ext uri="{FF2B5EF4-FFF2-40B4-BE49-F238E27FC236}">
                <a16:creationId xmlns:a16="http://schemas.microsoft.com/office/drawing/2014/main" id="{73213F19-706B-4DE8-BD21-B987678BE3F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24" name="内容占位符 2">
            <a:extLst>
              <a:ext uri="{FF2B5EF4-FFF2-40B4-BE49-F238E27FC236}">
                <a16:creationId xmlns:a16="http://schemas.microsoft.com/office/drawing/2014/main" id="{61DE3B45-FE26-9A4C-8B09-EA25B05DA3CE}"/>
              </a:ext>
            </a:extLst>
          </p:cNvPr>
          <p:cNvSpPr txBox="1">
            <a:spLocks noChangeArrowheads="1"/>
          </p:cNvSpPr>
          <p:nvPr/>
        </p:nvSpPr>
        <p:spPr>
          <a:xfrm>
            <a:off x="914400" y="1554480"/>
            <a:ext cx="9575800"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17" name="内容占位符 2">
                <a:extLst>
                  <a:ext uri="{FF2B5EF4-FFF2-40B4-BE49-F238E27FC236}">
                    <a16:creationId xmlns:a16="http://schemas.microsoft.com/office/drawing/2014/main" id="{C80DCA8C-01FA-624F-8551-E0D7956931D3}"/>
                  </a:ext>
                </a:extLst>
              </p:cNvPr>
              <p:cNvSpPr txBox="1">
                <a:spLocks noChangeArrowheads="1"/>
              </p:cNvSpPr>
              <p:nvPr/>
            </p:nvSpPr>
            <p:spPr>
              <a:xfrm>
                <a:off x="914401" y="1554480"/>
                <a:ext cx="9651998"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18" lvl="1" indent="-342900">
                  <a:lnSpc>
                    <a:spcPct val="150000"/>
                  </a:lnSpc>
                  <a:buClr>
                    <a:srgbClr val="005825"/>
                  </a:buClr>
                  <a:buSzPct val="125000"/>
                </a:pPr>
                <a14:m>
                  <m:oMath xmlns:m="http://schemas.openxmlformats.org/officeDocument/2006/math">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𝑋</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1</m:t>
                        </m:r>
                      </m:sub>
                    </m:s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𝑋</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𝑛</m:t>
                        </m:r>
                      </m:sub>
                    </m:sSub>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are </a:t>
                </a:r>
                <a:r>
                  <a:rPr lang="en-US" altLang="zh-CN" dirty="0" err="1">
                    <a:latin typeface="Times New Roman" panose="02020603050405020304" pitchFamily="18" charset="0"/>
                    <a:ea typeface="Microsoft YaHei" panose="020B0503020204020204" pitchFamily="34" charset="-122"/>
                    <a:cs typeface="Times New Roman" panose="02020603050405020304" pitchFamily="18" charset="0"/>
                  </a:rPr>
                  <a:t>i.i.d.</a:t>
                </a:r>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with mean </a:t>
                </a:r>
                <a14:m>
                  <m:oMath xmlns:m="http://schemas.openxmlformats.org/officeDocument/2006/math">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𝜇</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1</m:t>
                        </m:r>
                      </m:sub>
                    </m:sSub>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and variance </a:t>
                </a:r>
                <a14:m>
                  <m:oMath xmlns:m="http://schemas.openxmlformats.org/officeDocument/2006/math">
                    <m:sSubSup>
                      <m:sSubSup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𝜎</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1</m:t>
                        </m:r>
                      </m:sub>
                      <m:sup>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2</m:t>
                        </m:r>
                      </m:sup>
                    </m:sSubSup>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a:t>
                </a:r>
                <a14:m>
                  <m:oMath xmlns:m="http://schemas.openxmlformats.org/officeDocument/2006/math">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𝑌</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1</m:t>
                        </m:r>
                      </m:sub>
                    </m:s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𝑌</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𝑚</m:t>
                        </m:r>
                      </m:sub>
                    </m:sSub>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are </a:t>
                </a:r>
                <a:r>
                  <a:rPr lang="en-US" altLang="zh-CN" dirty="0" err="1">
                    <a:latin typeface="Times New Roman" panose="02020603050405020304" pitchFamily="18" charset="0"/>
                    <a:ea typeface="Microsoft YaHei" panose="020B0503020204020204" pitchFamily="34" charset="-122"/>
                    <a:cs typeface="Times New Roman" panose="02020603050405020304" pitchFamily="18" charset="0"/>
                  </a:rPr>
                  <a:t>i.i.d.</a:t>
                </a:r>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with mean </a:t>
                </a:r>
                <a14:m>
                  <m:oMath xmlns:m="http://schemas.openxmlformats.org/officeDocument/2006/math">
                    <m:sSub>
                      <m:sSubPr>
                        <m:ctrlPr>
                          <a:rPr lang="en-US" altLang="zh-CN" i="1">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i="1">
                            <a:latin typeface="Cambria Math" panose="02040503050406030204" pitchFamily="18" charset="0"/>
                            <a:ea typeface="Microsoft YaHei" panose="020B0503020204020204" pitchFamily="34" charset="-122"/>
                            <a:cs typeface="Times New Roman" panose="02020603050405020304" pitchFamily="18" charset="0"/>
                          </a:rPr>
                          <m:t>𝜇</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2</m:t>
                        </m:r>
                      </m:sub>
                    </m:sSub>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and variance </a:t>
                </a:r>
                <a14:m>
                  <m:oMath xmlns:m="http://schemas.openxmlformats.org/officeDocument/2006/math">
                    <m:sSubSup>
                      <m:sSubSupPr>
                        <m:ctrlPr>
                          <a:rPr lang="en-US" altLang="zh-CN" i="1">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i="1">
                            <a:latin typeface="Cambria Math" panose="02040503050406030204" pitchFamily="18" charset="0"/>
                            <a:ea typeface="Microsoft YaHei" panose="020B0503020204020204" pitchFamily="34" charset="-122"/>
                            <a:cs typeface="Times New Roman" panose="02020603050405020304" pitchFamily="18" charset="0"/>
                          </a:rPr>
                          <m:t>𝜎</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2</m:t>
                        </m:r>
                      </m:sub>
                      <m:sup>
                        <m:r>
                          <a:rPr lang="en-US" altLang="zh-CN" i="1">
                            <a:latin typeface="Cambria Math" panose="02040503050406030204" pitchFamily="18" charset="0"/>
                            <a:ea typeface="Microsoft YaHei" panose="020B0503020204020204" pitchFamily="34" charset="-122"/>
                            <a:cs typeface="Times New Roman" panose="02020603050405020304" pitchFamily="18" charset="0"/>
                          </a:rPr>
                          <m:t>2</m:t>
                        </m:r>
                      </m:sup>
                    </m:sSubSup>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a:t>
                </a:r>
              </a:p>
              <a:p>
                <a:pPr marL="800106" lvl="2" indent="-342900">
                  <a:lnSpc>
                    <a:spcPct val="150000"/>
                  </a:lnSpc>
                  <a:buClr>
                    <a:srgbClr val="005825"/>
                  </a:buClr>
                  <a:buSzPct val="125000"/>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Heteroskedastic linear model: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𝑋</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𝜖</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sub>
                    </m:sSub>
                  </m:oMath>
                </a14:m>
                <a:r>
                  <a:rPr lang="en-US" altLang="zh-CN"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𝑌</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𝑗</m:t>
                        </m:r>
                      </m:sub>
                    </m:sSub>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2</m:t>
                        </m:r>
                      </m:sub>
                    </m:sSub>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𝜖</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𝑗</m:t>
                        </m:r>
                      </m:sub>
                    </m:s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𝑣𝑎𝑟</m:t>
                    </m:r>
                    <m:d>
                      <m:d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𝜖</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sub>
                        </m:sSub>
                      </m:e>
                    </m:d>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1</m:t>
                        </m:r>
                      </m:sub>
                      <m:sup>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2</m:t>
                        </m:r>
                      </m:sup>
                    </m:sSubSup>
                  </m:oMath>
                </a14:m>
                <a:r>
                  <a:rPr lang="en-US" altLang="zh-CN" dirty="0">
                    <a:latin typeface="Times New Roman" panose="02020603050405020304" pitchFamily="18" charset="0"/>
                    <a:ea typeface="Cambria Math" panose="02040503050406030204" pitchFamily="18" charset="0"/>
                    <a:cs typeface="Times New Roman" panose="02020603050405020304" pitchFamily="18" charset="0"/>
                  </a:rPr>
                  <a:t> for </a:t>
                </a:r>
                <a14:m>
                  <m:oMath xmlns:m="http://schemas.openxmlformats.org/officeDocument/2006/math">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𝑛</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603050405020304" pitchFamily="18" charset="0"/>
                      </a:rPr>
                      <m:t>𝑣𝑎𝑟</m:t>
                    </m:r>
                    <m:d>
                      <m:d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𝜖</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sub>
                        </m:sSub>
                      </m:e>
                    </m:d>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a:latin typeface="Cambria Math" panose="02040503050406030204" pitchFamily="18" charset="0"/>
                            <a:ea typeface="Cambria Math" panose="02040503050406030204" pitchFamily="18" charset="0"/>
                            <a:cs typeface="Times New Roman" panose="02020603050405020304" pitchFamily="18" charset="0"/>
                          </a:rPr>
                          <m:t>𝜎</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2</m:t>
                        </m:r>
                      </m:sub>
                      <m:sup>
                        <m:r>
                          <a:rPr lang="en-US" altLang="zh-CN" i="1">
                            <a:latin typeface="Cambria Math" panose="02040503050406030204" pitchFamily="18" charset="0"/>
                            <a:ea typeface="Cambria Math" panose="02040503050406030204" pitchFamily="18" charset="0"/>
                            <a:cs typeface="Times New Roman" panose="02020603050405020304" pitchFamily="18" charset="0"/>
                          </a:rPr>
                          <m:t>2</m:t>
                        </m:r>
                      </m:sup>
                    </m:sSubSup>
                  </m:oMath>
                </a14:m>
                <a:r>
                  <a:rPr lang="en-US" altLang="zh-CN" dirty="0">
                    <a:latin typeface="Times New Roman" panose="02020603050405020304" pitchFamily="18" charset="0"/>
                    <a:ea typeface="Cambria Math" panose="02040503050406030204" pitchFamily="18" charset="0"/>
                    <a:cs typeface="Times New Roman" panose="02020603050405020304" pitchFamily="18" charset="0"/>
                  </a:rPr>
                  <a:t> for </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𝑛</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zh-CN" i="1">
                        <a:latin typeface="Cambria Math" panose="02040503050406030204" pitchFamily="18" charset="0"/>
                        <a:ea typeface="Cambria Math" panose="02040503050406030204" pitchFamily="18" charset="0"/>
                        <a:cs typeface="Times New Roman" panose="02020603050405020304" pitchFamily="18" charset="0"/>
                      </a:rPr>
                      <m:t>𝑛</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𝑚</m:t>
                    </m:r>
                  </m:oMath>
                </a14:m>
                <a:endParaRPr lang="en-US" altLang="zh-CN" dirty="0">
                  <a:latin typeface="Times New Roman" panose="02020603050405020304" pitchFamily="18" charset="0"/>
                  <a:ea typeface="Cambria Math" panose="02040503050406030204" pitchFamily="18" charset="0"/>
                  <a:cs typeface="Times New Roman" panose="02020603050405020304" pitchFamily="18" charset="0"/>
                </a:endParaRPr>
              </a:p>
              <a:p>
                <a:pPr marL="800106" lvl="2" indent="-342900">
                  <a:lnSpc>
                    <a:spcPct val="150000"/>
                  </a:lnSpc>
                  <a:buClr>
                    <a:srgbClr val="005825"/>
                  </a:buClr>
                  <a:buSzPct val="125000"/>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OLS estimate: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𝜇</m:t>
                            </m:r>
                          </m:e>
                        </m:acc>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acc>
                      <m:accPr>
                        <m:chr m:val="̅"/>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𝑋</m:t>
                        </m:r>
                      </m:e>
                    </m:acc>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latin typeface="Cambria Math" panose="02040503050406030204" pitchFamily="18" charset="0"/>
                                <a:ea typeface="Cambria Math" panose="02040503050406030204" pitchFamily="18" charset="0"/>
                                <a:cs typeface="Times New Roman" panose="02020603050405020304" pitchFamily="18" charset="0"/>
                              </a:rPr>
                              <m:t>𝜇</m:t>
                            </m:r>
                          </m:e>
                        </m:acc>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2</m:t>
                        </m:r>
                      </m:sub>
                    </m:sSub>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m:t>
                    </m:r>
                    <m:acc>
                      <m:accPr>
                        <m:chr m:val="̅"/>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𝑌</m:t>
                        </m:r>
                      </m:e>
                    </m:acc>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bPr>
                      <m:e>
                        <m:acc>
                          <m:accPr>
                            <m:chr m:val="̂"/>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𝑉</m:t>
                            </m:r>
                          </m:e>
                        </m:acc>
                      </m:e>
                      <m: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𝐸𝐻𝑊</m:t>
                        </m:r>
                      </m:sub>
                    </m:s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𝑑𝑖𝑎𝑔</m:t>
                    </m:r>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f>
                      <m:f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fPr>
                      <m:num>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m:t>
                        </m:r>
                        <m:sSup>
                          <m:sSupPr>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sSupPr>
                          <m:e>
                            <m:d>
                              <m:dPr>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dPr>
                              <m:e>
                                <m:sSub>
                                  <m:sSubPr>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𝑋</m:t>
                                    </m:r>
                                  </m:e>
                                  <m:sub>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𝑖</m:t>
                                    </m:r>
                                  </m:sub>
                                </m:sSub>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m:t>
                                </m:r>
                                <m:acc>
                                  <m:accPr>
                                    <m:chr m:val="̅"/>
                                    <m:ctrlP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𝑋</m:t>
                                    </m:r>
                                  </m:e>
                                </m:acc>
                              </m:e>
                            </m:d>
                          </m:e>
                          <m:sup>
                            <m:r>
                              <a:rPr lang="en-US" altLang="zh-CN" i="1" dirty="0">
                                <a:latin typeface="Cambria Math" panose="02040503050406030204" pitchFamily="18" charset="0"/>
                                <a:ea typeface="Microsoft YaHei" panose="020B0503020204020204" pitchFamily="34" charset="-122"/>
                                <a:cs typeface="Times New Roman" panose="02020603050405020304" pitchFamily="18" charset="0"/>
                              </a:rPr>
                              <m:t>2</m:t>
                            </m:r>
                          </m:sup>
                        </m:sSup>
                      </m:num>
                      <m:den>
                        <m:sSup>
                          <m:sSup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𝑛</m:t>
                            </m:r>
                          </m:e>
                          <m:sup>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2</m:t>
                            </m:r>
                          </m:sup>
                        </m:sSup>
                      </m:den>
                    </m:f>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f>
                      <m:f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fPr>
                      <m:num>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sSup>
                          <m:sSup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pPr>
                          <m:e>
                            <m:d>
                              <m:d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dPr>
                              <m:e>
                                <m:sSub>
                                  <m:sSub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𝑌</m:t>
                                    </m:r>
                                  </m:e>
                                  <m: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𝑗</m:t>
                                    </m:r>
                                  </m:sub>
                                </m:s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acc>
                                  <m:accPr>
                                    <m:chr m:val="̅"/>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𝑌</m:t>
                                    </m:r>
                                  </m:e>
                                </m:acc>
                              </m:e>
                            </m:d>
                          </m:e>
                          <m:sup>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2</m:t>
                            </m:r>
                          </m:sup>
                        </m:sSup>
                      </m:num>
                      <m:den>
                        <m:sSup>
                          <m:sSup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𝑚</m:t>
                            </m:r>
                          </m:e>
                          <m:sup>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2</m:t>
                            </m:r>
                          </m:sup>
                        </m:sSup>
                      </m:den>
                    </m:f>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oMath>
                </a14:m>
                <a:endParaRPr lang="en-US" altLang="zh-CN" dirty="0">
                  <a:latin typeface="Times New Roman" panose="02020603050405020304" pitchFamily="18" charset="0"/>
                  <a:ea typeface="Cambria Math" panose="02040503050406030204" pitchFamily="18" charset="0"/>
                  <a:cs typeface="Times New Roman" panose="02020603050405020304" pitchFamily="18" charset="0"/>
                </a:endParaRPr>
              </a:p>
              <a:p>
                <a:pPr marL="800106" lvl="2" indent="-342900">
                  <a:lnSpc>
                    <a:spcPct val="150000"/>
                  </a:lnSpc>
                  <a:buClr>
                    <a:srgbClr val="005825"/>
                  </a:buClr>
                  <a:buSzPct val="125000"/>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Inference on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b="0" i="0"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CN" b="0" i="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2</m:t>
                        </m:r>
                      </m:sub>
                    </m:sSub>
                  </m:oMath>
                </a14:m>
                <a:r>
                  <a:rPr lang="en-US" altLang="zh-CN" dirty="0">
                    <a:latin typeface="Times New Roman" panose="02020603050405020304" pitchFamily="18" charset="0"/>
                    <a:ea typeface="Cambria Math" panose="02040503050406030204" pitchFamily="18" charset="0"/>
                    <a:cs typeface="Times New Roman" panose="02020603050405020304" pitchFamily="18" charset="0"/>
                  </a:rPr>
                  <a:t>:</a:t>
                </a:r>
                <a:endParaRPr lang="en-US" altLang="zh-CN" sz="2000"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mc:Choice>
        <mc:Fallback xmlns="">
          <p:sp>
            <p:nvSpPr>
              <p:cNvPr id="17" name="内容占位符 2">
                <a:extLst>
                  <a:ext uri="{FF2B5EF4-FFF2-40B4-BE49-F238E27FC236}">
                    <a16:creationId xmlns:a16="http://schemas.microsoft.com/office/drawing/2014/main" id="{C80DCA8C-01FA-624F-8551-E0D7956931D3}"/>
                  </a:ext>
                </a:extLst>
              </p:cNvPr>
              <p:cNvSpPr txBox="1">
                <a:spLocks noRot="1" noChangeAspect="1" noMove="1" noResize="1" noEditPoints="1" noAdjustHandles="1" noChangeArrowheads="1" noChangeShapeType="1" noTextEdit="1"/>
              </p:cNvSpPr>
              <p:nvPr/>
            </p:nvSpPr>
            <p:spPr>
              <a:xfrm>
                <a:off x="914401" y="1554480"/>
                <a:ext cx="9651998" cy="4656139"/>
              </a:xfrm>
              <a:prstGeom prst="rect">
                <a:avLst/>
              </a:prstGeom>
              <a:blipFill>
                <a:blip r:embed="rId3"/>
                <a:stretch>
                  <a:fillRect l="-1447" r="-395"/>
                </a:stretch>
              </a:blipFill>
            </p:spPr>
            <p:txBody>
              <a:bodyPr/>
              <a:lstStyle/>
              <a:p>
                <a:r>
                  <a:rPr lang="en-US">
                    <a:noFill/>
                  </a:rPr>
                  <a:t> </a:t>
                </a:r>
              </a:p>
            </p:txBody>
          </p:sp>
        </mc:Fallback>
      </mc:AlternateContent>
    </p:spTree>
    <p:extLst>
      <p:ext uri="{BB962C8B-B14F-4D97-AF65-F5344CB8AC3E}">
        <p14:creationId xmlns:p14="http://schemas.microsoft.com/office/powerpoint/2010/main" val="409251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10810E2-AB70-030E-609C-81D59D9221CC}"/>
              </a:ext>
            </a:extLst>
          </p:cNvPr>
          <p:cNvGrpSpPr/>
          <p:nvPr>
            <p:custDataLst>
              <p:tags r:id="rId2"/>
            </p:custDataLst>
          </p:nvPr>
        </p:nvGrpSpPr>
        <p:grpSpPr>
          <a:xfrm>
            <a:off x="0" y="0"/>
            <a:ext cx="12192000" cy="635000"/>
            <a:chOff x="0" y="0"/>
            <a:chExt cx="12192000" cy="635000"/>
          </a:xfrm>
        </p:grpSpPr>
        <p:sp>
          <p:nvSpPr>
            <p:cNvPr id="6" name="TitleBackground">
              <a:extLst>
                <a:ext uri="{FF2B5EF4-FFF2-40B4-BE49-F238E27FC236}">
                  <a16:creationId xmlns:a16="http://schemas.microsoft.com/office/drawing/2014/main" id="{6D232DE4-9CA5-8370-816B-77DCB5E2E719}"/>
                </a:ext>
              </a:extLst>
            </p:cNvPr>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lorBlock">
              <a:extLst>
                <a:ext uri="{FF2B5EF4-FFF2-40B4-BE49-F238E27FC236}">
                  <a16:creationId xmlns:a16="http://schemas.microsoft.com/office/drawing/2014/main" id="{39F6D15E-2E19-5AD4-6EC0-DEF66C666161}"/>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ypeText">
              <a:extLst>
                <a:ext uri="{FF2B5EF4-FFF2-40B4-BE49-F238E27FC236}">
                  <a16:creationId xmlns:a16="http://schemas.microsoft.com/office/drawing/2014/main" id="{19AA2203-5434-E431-45DA-3051FCC5189F}"/>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匿名</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a:extLst>
                <a:ext uri="{FF2B5EF4-FFF2-40B4-BE49-F238E27FC236}">
                  <a16:creationId xmlns:a16="http://schemas.microsoft.com/office/drawing/2014/main" id="{67DEF47B-36A2-8628-339A-87E8E7F6D7DB}"/>
                </a:ext>
              </a:extLst>
            </p:cNvPr>
            <p:cNvSpPr txBox="1"/>
            <p:nvPr>
              <p:custDataLst>
                <p:tags r:id="rId13"/>
              </p:custDataLst>
            </p:nvPr>
          </p:nvSpPr>
          <p:spPr>
            <a:xfrm>
              <a:off x="2075180" y="109220"/>
              <a:ext cx="2286000" cy="508000"/>
            </a:xfrm>
            <a:prstGeom prst="rect">
              <a:avLst/>
            </a:prstGeom>
            <a:noFill/>
          </p:spPr>
          <p:txBody>
            <a:bodyPr vert="horz" wrap="none" rtlCol="0" anchor="ctr" anchorCtr="0">
              <a:noAutofit/>
            </a:bodyPr>
            <a:lstStyle/>
            <a:p>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sp>
        <p:nvSpPr>
          <p:cNvPr id="11" name="TextBox 10">
            <a:extLst>
              <a:ext uri="{FF2B5EF4-FFF2-40B4-BE49-F238E27FC236}">
                <a16:creationId xmlns:a16="http://schemas.microsoft.com/office/drawing/2014/main" id="{CE1F1E53-0D1A-A6C9-8E8A-9609E1D2C868}"/>
              </a:ext>
            </a:extLst>
          </p:cNvPr>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The asymptotic result in two sample Z test requires that</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7F4BD5F-70EA-B45F-C147-84465C28A623}"/>
                  </a:ext>
                </a:extLst>
              </p:cNvPr>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Both </a:t>
                </a:r>
                <a14:m>
                  <m:oMath xmlns:m="http://schemas.openxmlformats.org/officeDocument/2006/math">
                    <m:r>
                      <a:rPr lang="en-US" altLang="zh-CN"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𝑚</m:t>
                    </m:r>
                  </m:oMath>
                </a14:m>
                <a:r>
                  <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14:m>
                  <m:oMath xmlns:m="http://schemas.openxmlformats.org/officeDocument/2006/math">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𝑛</m:t>
                    </m:r>
                  </m:oMath>
                </a14:m>
                <a:r>
                  <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go to infinity</a:t>
                </a:r>
              </a:p>
            </p:txBody>
          </p:sp>
        </mc:Choice>
        <mc:Fallback xmlns="">
          <p:sp>
            <p:nvSpPr>
              <p:cNvPr id="12" name="TextBox 11">
                <a:extLst>
                  <a:ext uri="{FF2B5EF4-FFF2-40B4-BE49-F238E27FC236}">
                    <a16:creationId xmlns:a16="http://schemas.microsoft.com/office/drawing/2014/main" id="{17F4BD5F-70EA-B45F-C147-84465C28A623}"/>
                  </a:ext>
                </a:extLst>
              </p:cNvPr>
              <p:cNvSpPr txBox="1">
                <a:spLocks noRot="1" noChangeAspect="1" noMove="1" noResize="1" noEditPoints="1" noAdjustHandles="1" noChangeArrowheads="1" noChangeShapeType="1" noTextEdit="1"/>
              </p:cNvSpPr>
              <p:nvPr>
                <p:custDataLst>
                  <p:tags r:id="rId15"/>
                </p:custDataLst>
              </p:nvPr>
            </p:nvSpPr>
            <p:spPr>
              <a:xfrm>
                <a:off x="2438400" y="2786063"/>
                <a:ext cx="8534400" cy="642938"/>
              </a:xfrm>
              <a:prstGeom prst="rect">
                <a:avLst/>
              </a:prstGeom>
              <a:blipFill>
                <a:blip r:embed="rId16"/>
                <a:stretch>
                  <a:fillRect l="-1337" b="-96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D0EEACB-359A-9346-5A1D-5CE8F9C0469D}"/>
                  </a:ext>
                </a:extLst>
              </p:cNvPr>
              <p:cNvSpPr txBox="1"/>
              <p:nvPr>
                <p:custDataLst>
                  <p:tags r:id="rId5"/>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Only </a:t>
                </a:r>
                <a14:m>
                  <m:oMath xmlns:m="http://schemas.openxmlformats.org/officeDocument/2006/math">
                    <m:r>
                      <a:rPr lang="en-US" altLang="zh-CN"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𝑚</m:t>
                    </m:r>
                    <m:r>
                      <a:rPr lang="en-US" altLang="zh-CN"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𝑛</m:t>
                    </m:r>
                  </m:oMath>
                </a14:m>
                <a:r>
                  <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goes to infinity </a:t>
                </a:r>
              </a:p>
            </p:txBody>
          </p:sp>
        </mc:Choice>
        <mc:Fallback xmlns="">
          <p:sp>
            <p:nvSpPr>
              <p:cNvPr id="13" name="TextBox 12">
                <a:extLst>
                  <a:ext uri="{FF2B5EF4-FFF2-40B4-BE49-F238E27FC236}">
                    <a16:creationId xmlns:a16="http://schemas.microsoft.com/office/drawing/2014/main" id="{BD0EEACB-359A-9346-5A1D-5CE8F9C0469D}"/>
                  </a:ext>
                </a:extLst>
              </p:cNvPr>
              <p:cNvSpPr txBox="1">
                <a:spLocks noRot="1" noChangeAspect="1" noMove="1" noResize="1" noEditPoints="1" noAdjustHandles="1" noChangeArrowheads="1" noChangeShapeType="1" noTextEdit="1"/>
              </p:cNvSpPr>
              <p:nvPr>
                <p:custDataLst>
                  <p:tags r:id="rId17"/>
                </p:custDataLst>
              </p:nvPr>
            </p:nvSpPr>
            <p:spPr>
              <a:xfrm>
                <a:off x="2438400" y="3643313"/>
                <a:ext cx="8534400" cy="642938"/>
              </a:xfrm>
              <a:prstGeom prst="rect">
                <a:avLst/>
              </a:prstGeom>
              <a:blipFill>
                <a:blip r:embed="rId18"/>
                <a:stretch>
                  <a:fillRect l="-1337" b="-11765"/>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2A405F8F-377B-CF6B-F603-65F58C4494AB}"/>
              </a:ext>
            </a:extLst>
          </p:cNvPr>
          <p:cNvSpPr>
            <a:spLocks noChangeAspect="1"/>
          </p:cNvSpPr>
          <p:nvPr>
            <p:custDataLst>
              <p:tags r:id="rId6"/>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7" name="Oval 16">
            <a:extLst>
              <a:ext uri="{FF2B5EF4-FFF2-40B4-BE49-F238E27FC236}">
                <a16:creationId xmlns:a16="http://schemas.microsoft.com/office/drawing/2014/main" id="{D5E2EAFE-70C3-CDA2-B35E-C1FA389514FB}"/>
              </a:ext>
            </a:extLst>
          </p:cNvPr>
          <p:cNvSpPr>
            <a:spLocks noChangeAspect="1"/>
          </p:cNvSpPr>
          <p:nvPr>
            <p:custDataLst>
              <p:tags r:id="rId7"/>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20" name="Rounded Rectangle 19">
            <a:extLst>
              <a:ext uri="{FF2B5EF4-FFF2-40B4-BE49-F238E27FC236}">
                <a16:creationId xmlns:a16="http://schemas.microsoft.com/office/drawing/2014/main" id="{45CAD825-7F45-866C-4F75-4E46004E496B}"/>
              </a:ext>
            </a:extLst>
          </p:cNvPr>
          <p:cNvSpPr/>
          <p:nvPr>
            <p:custDataLst>
              <p:tags r:id="rId8"/>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5" name="Picture 4">
            <a:extLst>
              <a:ext uri="{FF2B5EF4-FFF2-40B4-BE49-F238E27FC236}">
                <a16:creationId xmlns:a16="http://schemas.microsoft.com/office/drawing/2014/main" id="{850B898E-3562-844B-11A4-511EBB7DADB2}"/>
              </a:ext>
            </a:extLst>
          </p:cNvPr>
          <p:cNvPicPr>
            <a:picLocks/>
          </p:cNvPicPr>
          <p:nvPr>
            <p:custDataLst>
              <p:tags r:id="rId9"/>
            </p:custDataLst>
          </p:nvPr>
        </p:nvPicPr>
        <p:blipFill>
          <a:blip r:embed="rId19"/>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451752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One-way ANOVA with heteroskedasticity</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25</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22" name="直接连接符 4">
            <a:extLst>
              <a:ext uri="{FF2B5EF4-FFF2-40B4-BE49-F238E27FC236}">
                <a16:creationId xmlns:a16="http://schemas.microsoft.com/office/drawing/2014/main" id="{73213F19-706B-4DE8-BD21-B987678BE3F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24" name="内容占位符 2">
            <a:extLst>
              <a:ext uri="{FF2B5EF4-FFF2-40B4-BE49-F238E27FC236}">
                <a16:creationId xmlns:a16="http://schemas.microsoft.com/office/drawing/2014/main" id="{61DE3B45-FE26-9A4C-8B09-EA25B05DA3CE}"/>
              </a:ext>
            </a:extLst>
          </p:cNvPr>
          <p:cNvSpPr txBox="1">
            <a:spLocks noChangeArrowheads="1"/>
          </p:cNvSpPr>
          <p:nvPr/>
        </p:nvSpPr>
        <p:spPr>
          <a:xfrm>
            <a:off x="914400" y="1554480"/>
            <a:ext cx="9575800"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17" name="内容占位符 2">
                <a:extLst>
                  <a:ext uri="{FF2B5EF4-FFF2-40B4-BE49-F238E27FC236}">
                    <a16:creationId xmlns:a16="http://schemas.microsoft.com/office/drawing/2014/main" id="{C80DCA8C-01FA-624F-8551-E0D7956931D3}"/>
                  </a:ext>
                </a:extLst>
              </p:cNvPr>
              <p:cNvSpPr txBox="1">
                <a:spLocks noChangeArrowheads="1"/>
              </p:cNvSpPr>
              <p:nvPr/>
            </p:nvSpPr>
            <p:spPr>
              <a:xfrm>
                <a:off x="914401" y="1554480"/>
                <a:ext cx="9651998"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18" lvl="1" indent="-342900">
                  <a:lnSpc>
                    <a:spcPct val="150000"/>
                  </a:lnSpc>
                  <a:buClr>
                    <a:srgbClr val="005825"/>
                  </a:buClr>
                  <a:buSzPct val="125000"/>
                </a:pPr>
                <a14:m>
                  <m:oMath xmlns:m="http://schemas.openxmlformats.org/officeDocument/2006/math">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𝑋</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1</m:t>
                        </m:r>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𝑗</m:t>
                        </m:r>
                      </m:sub>
                    </m:s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𝑋</m:t>
                        </m:r>
                      </m:e>
                      <m:sub>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𝑛</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𝑗</m:t>
                            </m:r>
                          </m:sub>
                        </m:s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𝑗</m:t>
                        </m:r>
                      </m:sub>
                    </m:sSub>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for </a:t>
                </a:r>
                <a14:m>
                  <m:oMath xmlns:m="http://schemas.openxmlformats.org/officeDocument/2006/math">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𝑗</m:t>
                    </m:r>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=1,…,</m:t>
                    </m:r>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𝑏</m:t>
                    </m:r>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are </a:t>
                </a:r>
                <a:r>
                  <a:rPr lang="en-US" altLang="zh-CN" dirty="0" err="1">
                    <a:latin typeface="Times New Roman" panose="02020603050405020304" pitchFamily="18" charset="0"/>
                    <a:ea typeface="Microsoft YaHei" panose="020B0503020204020204" pitchFamily="34" charset="-122"/>
                    <a:cs typeface="Times New Roman" panose="02020603050405020304" pitchFamily="18" charset="0"/>
                  </a:rPr>
                  <a:t>i.i.d.</a:t>
                </a:r>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with mean </a:t>
                </a:r>
                <a14:m>
                  <m:oMath xmlns:m="http://schemas.openxmlformats.org/officeDocument/2006/math">
                    <m:sSub>
                      <m:sSub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𝜇</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𝑗</m:t>
                        </m:r>
                      </m:sub>
                    </m:sSub>
                  </m:oMath>
                </a14:m>
                <a:r>
                  <a:rPr lang="en-US" altLang="zh-CN" dirty="0">
                    <a:latin typeface="Times New Roman" panose="02020603050405020304" pitchFamily="18" charset="0"/>
                    <a:ea typeface="Microsoft YaHei" panose="020B0503020204020204" pitchFamily="34" charset="-122"/>
                    <a:cs typeface="Times New Roman" panose="02020603050405020304" pitchFamily="18" charset="0"/>
                  </a:rPr>
                  <a:t> and variance </a:t>
                </a:r>
                <a14:m>
                  <m:oMath xmlns:m="http://schemas.openxmlformats.org/officeDocument/2006/math">
                    <m:sSubSup>
                      <m:sSubSupPr>
                        <m:ctrlP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𝜎</m:t>
                        </m:r>
                      </m:e>
                      <m:sub>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𝑗</m:t>
                        </m:r>
                      </m:sub>
                      <m:sup>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2</m:t>
                        </m:r>
                      </m:sup>
                    </m:sSubSup>
                  </m:oMath>
                </a14:m>
                <a:endParaRPr lang="en-US" altLang="zh-CN" dirty="0">
                  <a:latin typeface="Times New Roman" panose="02020603050405020304" pitchFamily="18" charset="0"/>
                  <a:ea typeface="Microsoft YaHei" panose="020B0503020204020204" pitchFamily="34" charset="-122"/>
                  <a:cs typeface="Times New Roman" panose="02020603050405020304" pitchFamily="18" charset="0"/>
                </a:endParaRPr>
              </a:p>
              <a:p>
                <a:pPr marL="800106" lvl="2" indent="-342900">
                  <a:lnSpc>
                    <a:spcPct val="150000"/>
                  </a:lnSpc>
                  <a:buClr>
                    <a:srgbClr val="005825"/>
                  </a:buClr>
                  <a:buSzPct val="125000"/>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Normal linear model: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𝑋</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𝑖𝑗</m:t>
                        </m:r>
                      </m:sub>
                    </m:s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𝑗</m:t>
                        </m:r>
                      </m:sub>
                    </m:s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𝜖</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𝑖𝑗</m:t>
                        </m:r>
                      </m:sub>
                    </m:sSub>
                    <m:r>
                      <a:rPr lang="en-US" altLang="zh-CN" i="1" smtClean="0">
                        <a:latin typeface="Cambria Math" panose="02040503050406030204" pitchFamily="18" charset="0"/>
                        <a:ea typeface="Cambria Math" panose="02040503050406030204" pitchFamily="18" charset="0"/>
                        <a:cs typeface="Times New Roman" panose="02020603050405020304" pitchFamily="18" charset="0"/>
                      </a:rPr>
                      <m:t> </m:t>
                    </m:r>
                  </m:oMath>
                </a14:m>
                <a:endParaRPr lang="en-US" altLang="zh-CN" dirty="0">
                  <a:latin typeface="Times New Roman" panose="02020603050405020304" pitchFamily="18" charset="0"/>
                  <a:ea typeface="Cambria Math" panose="02040503050406030204" pitchFamily="18" charset="0"/>
                  <a:cs typeface="Times New Roman" panose="02020603050405020304" pitchFamily="18" charset="0"/>
                </a:endParaRPr>
              </a:p>
              <a:p>
                <a:pPr marL="800106" lvl="2" indent="-342900">
                  <a:lnSpc>
                    <a:spcPct val="150000"/>
                  </a:lnSpc>
                  <a:buClr>
                    <a:srgbClr val="005825"/>
                  </a:buClr>
                  <a:buSzPct val="125000"/>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OLS estimate: </a:t>
                </a:r>
                <a14:m>
                  <m:oMath xmlns:m="http://schemas.openxmlformats.org/officeDocument/2006/math">
                    <m:sSub>
                      <m:sSub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bPr>
                      <m:e>
                        <m:acc>
                          <m:accPr>
                            <m:chr m:val="̂"/>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𝜇</m:t>
                            </m:r>
                          </m:e>
                        </m:acc>
                      </m:e>
                      <m: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𝑗</m:t>
                        </m:r>
                      </m:sub>
                    </m:s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bPr>
                      <m:e>
                        <m:acc>
                          <m:accPr>
                            <m:chr m:val="̅"/>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𝑋</m:t>
                            </m:r>
                          </m:e>
                        </m:acc>
                      </m:e>
                      <m: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𝑗</m:t>
                        </m:r>
                      </m:sub>
                    </m:s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 </m:t>
                    </m:r>
                    <m:sSup>
                      <m:sSup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 </m:t>
                        </m:r>
                        <m:acc>
                          <m:accPr>
                            <m:chr m:val="̂"/>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𝜎</m:t>
                            </m:r>
                          </m:e>
                        </m:acc>
                      </m:e>
                      <m:sup>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2</m:t>
                        </m:r>
                      </m:sup>
                    </m:sSup>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𝑆𝑆𝑊</m:t>
                    </m:r>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𝑛</m:t>
                    </m:r>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𝑏</m:t>
                    </m:r>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oMath>
                </a14:m>
                <a:endParaRPr lang="en-US" altLang="zh-CN" dirty="0">
                  <a:latin typeface="Times New Roman" panose="02020603050405020304" pitchFamily="18" charset="0"/>
                  <a:ea typeface="Cambria Math" panose="02040503050406030204" pitchFamily="18" charset="0"/>
                  <a:cs typeface="Times New Roman" panose="02020603050405020304" pitchFamily="18" charset="0"/>
                </a:endParaRPr>
              </a:p>
              <a:p>
                <a:pPr marL="342918" lvl="1" indent="-342900">
                  <a:lnSpc>
                    <a:spcPct val="150000"/>
                  </a:lnSpc>
                  <a:buClr>
                    <a:srgbClr val="005825"/>
                  </a:buClr>
                  <a:buSzPct val="125000"/>
                </a:pPr>
                <a:r>
                  <a:rPr lang="en-US" altLang="zh-CN" sz="2000" dirty="0">
                    <a:ea typeface="Arial Unicode MS" panose="020B0604020202020204" pitchFamily="34" charset="-128"/>
                    <a:cs typeface="Arial Unicode MS" panose="020B0604020202020204" pitchFamily="34" charset="-128"/>
                  </a:rPr>
                  <a:t>One-way ANOVA: </a:t>
                </a:r>
                <a14:m>
                  <m:oMath xmlns:m="http://schemas.openxmlformats.org/officeDocument/2006/math">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𝐻</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0</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𝜇</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𝜇</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𝑏</m:t>
                        </m:r>
                      </m:sub>
                    </m:sSub>
                  </m:oMath>
                </a14:m>
                <a:endParaRPr lang="en-US" altLang="zh-CN" sz="2000" dirty="0">
                  <a:ea typeface="Arial Unicode MS" panose="020B0604020202020204" pitchFamily="34" charset="-128"/>
                  <a:cs typeface="Arial Unicode MS" panose="020B0604020202020204" pitchFamily="34" charset="-128"/>
                </a:endParaRPr>
              </a:p>
              <a:p>
                <a:pPr marL="800106" lvl="2" indent="-342900">
                  <a:lnSpc>
                    <a:spcPct val="150000"/>
                  </a:lnSpc>
                  <a:buClr>
                    <a:srgbClr val="005825"/>
                  </a:buClr>
                  <a:buSzPct val="125000"/>
                </a:pPr>
                <a:r>
                  <a:rPr lang="en-US" altLang="zh-CN" dirty="0">
                    <a:ea typeface="Arial Unicode MS" panose="020B0604020202020204" pitchFamily="34" charset="-128"/>
                    <a:cs typeface="Arial Unicode MS" panose="020B0604020202020204" pitchFamily="34" charset="-128"/>
                  </a:rPr>
                  <a:t>Rewrite the null hypothesis: </a:t>
                </a:r>
                <a14:m>
                  <m:oMath xmlns:m="http://schemas.openxmlformats.org/officeDocument/2006/math">
                    <m: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t>𝐶</m:t>
                    </m:r>
                    <m:sSup>
                      <m:sSupPr>
                        <m:ctrlP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ctrlPr>
                      </m:sSupPr>
                      <m:e>
                        <m:d>
                          <m:dPr>
                            <m:ctrlP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ctrlPr>
                          </m:dPr>
                          <m:e>
                            <m:sSub>
                              <m:sSubPr>
                                <m:ctrlP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t>𝜇</m:t>
                                </m:r>
                              </m:e>
                              <m:sub>
                                <m: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t>𝜇</m:t>
                                </m:r>
                              </m:e>
                              <m:sub>
                                <m: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t>𝑏</m:t>
                                </m:r>
                              </m:sub>
                            </m:sSub>
                          </m:e>
                        </m:d>
                      </m:e>
                      <m:sup>
                        <m: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t>𝑇</m:t>
                        </m:r>
                      </m:sup>
                    </m:sSup>
                    <m:r>
                      <a:rPr lang="en-US" altLang="zh-CN" b="0" i="1" smtClean="0">
                        <a:latin typeface="Cambria Math" panose="02040503050406030204" pitchFamily="18" charset="0"/>
                        <a:ea typeface="Arial Unicode MS" panose="020B0604020202020204" pitchFamily="34" charset="-128"/>
                        <a:cs typeface="Arial Unicode MS" panose="020B0604020202020204" pitchFamily="34" charset="-128"/>
                      </a:rPr>
                      <m:t>=0</m:t>
                    </m:r>
                  </m:oMath>
                </a14:m>
                <a:endParaRPr lang="en-US" altLang="zh-CN" dirty="0">
                  <a:ea typeface="Arial Unicode MS" panose="020B0604020202020204" pitchFamily="34" charset="-128"/>
                  <a:cs typeface="Arial Unicode MS" panose="020B0604020202020204" pitchFamily="34" charset="-128"/>
                </a:endParaRPr>
              </a:p>
              <a:p>
                <a:pPr marL="800106" lvl="2" indent="-342900">
                  <a:lnSpc>
                    <a:spcPct val="150000"/>
                  </a:lnSpc>
                  <a:buClr>
                    <a:srgbClr val="005825"/>
                  </a:buClr>
                  <a:buSzPct val="125000"/>
                </a:pPr>
                <a14:m>
                  <m:oMath xmlns:m="http://schemas.openxmlformats.org/officeDocument/2006/math">
                    <m:sSub>
                      <m:sSubPr>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sSubPr>
                      <m:e>
                        <m:acc>
                          <m:accPr>
                            <m:chr m:val="̂"/>
                            <m:ctrlP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𝑉</m:t>
                            </m:r>
                          </m:e>
                        </m:acc>
                      </m:e>
                      <m: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𝐸𝐻𝑊</m:t>
                        </m:r>
                      </m:sub>
                    </m:sSub>
                    <m:r>
                      <a:rPr lang="en-US" altLang="zh-CN" b="0" i="1" dirty="0" smtClean="0">
                        <a:latin typeface="Cambria Math" panose="02040503050406030204" pitchFamily="18" charset="0"/>
                        <a:ea typeface="Microsoft YaHei" panose="020B0503020204020204" pitchFamily="34" charset="-122"/>
                        <a:cs typeface="Times New Roman" panose="02020603050405020304" pitchFamily="18" charset="0"/>
                      </a:rPr>
                      <m:t>=</m:t>
                    </m:r>
                  </m:oMath>
                </a14:m>
                <a:endParaRPr lang="en-US" altLang="zh-CN" dirty="0">
                  <a:ea typeface="Arial Unicode MS" panose="020B0604020202020204" pitchFamily="34" charset="-128"/>
                  <a:cs typeface="Arial Unicode MS" panose="020B0604020202020204" pitchFamily="34" charset="-128"/>
                </a:endParaRPr>
              </a:p>
            </p:txBody>
          </p:sp>
        </mc:Choice>
        <mc:Fallback xmlns="">
          <p:sp>
            <p:nvSpPr>
              <p:cNvPr id="17" name="内容占位符 2">
                <a:extLst>
                  <a:ext uri="{FF2B5EF4-FFF2-40B4-BE49-F238E27FC236}">
                    <a16:creationId xmlns:a16="http://schemas.microsoft.com/office/drawing/2014/main" id="{C80DCA8C-01FA-624F-8551-E0D7956931D3}"/>
                  </a:ext>
                </a:extLst>
              </p:cNvPr>
              <p:cNvSpPr txBox="1">
                <a:spLocks noRot="1" noChangeAspect="1" noMove="1" noResize="1" noEditPoints="1" noAdjustHandles="1" noChangeArrowheads="1" noChangeShapeType="1" noTextEdit="1"/>
              </p:cNvSpPr>
              <p:nvPr/>
            </p:nvSpPr>
            <p:spPr>
              <a:xfrm>
                <a:off x="914401" y="1554480"/>
                <a:ext cx="9651998" cy="4656139"/>
              </a:xfrm>
              <a:prstGeom prst="rect">
                <a:avLst/>
              </a:prstGeom>
              <a:blipFill>
                <a:blip r:embed="rId3"/>
                <a:stretch>
                  <a:fillRect l="-1447"/>
                </a:stretch>
              </a:blipFill>
            </p:spPr>
            <p:txBody>
              <a:bodyPr/>
              <a:lstStyle/>
              <a:p>
                <a:r>
                  <a:rPr lang="en-US">
                    <a:noFill/>
                  </a:rPr>
                  <a:t> </a:t>
                </a:r>
              </a:p>
            </p:txBody>
          </p:sp>
        </mc:Fallback>
      </mc:AlternateContent>
    </p:spTree>
    <p:extLst>
      <p:ext uri="{BB962C8B-B14F-4D97-AF65-F5344CB8AC3E}">
        <p14:creationId xmlns:p14="http://schemas.microsoft.com/office/powerpoint/2010/main" val="3073384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Example: Lalonde data</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26</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14" name="直接连接符 4">
            <a:extLst>
              <a:ext uri="{FF2B5EF4-FFF2-40B4-BE49-F238E27FC236}">
                <a16:creationId xmlns:a16="http://schemas.microsoft.com/office/drawing/2014/main" id="{63B26065-44AF-44A7-8B41-2A4E1EE5915E}"/>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17" name="内容占位符 2">
            <a:extLst>
              <a:ext uri="{FF2B5EF4-FFF2-40B4-BE49-F238E27FC236}">
                <a16:creationId xmlns:a16="http://schemas.microsoft.com/office/drawing/2014/main" id="{D4382DFF-92CE-2D42-8477-6FBD08D6928E}"/>
              </a:ext>
            </a:extLst>
          </p:cNvPr>
          <p:cNvSpPr txBox="1">
            <a:spLocks noChangeArrowheads="1"/>
          </p:cNvSpPr>
          <p:nvPr/>
        </p:nvSpPr>
        <p:spPr>
          <a:xfrm>
            <a:off x="914400" y="1554480"/>
            <a:ext cx="9677400" cy="4933493"/>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p:pic>
        <p:nvPicPr>
          <p:cNvPr id="2" name="Picture 1">
            <a:extLst>
              <a:ext uri="{FF2B5EF4-FFF2-40B4-BE49-F238E27FC236}">
                <a16:creationId xmlns:a16="http://schemas.microsoft.com/office/drawing/2014/main" id="{EAED3B51-A1D0-A447-8C90-1B8237504B17}"/>
              </a:ext>
            </a:extLst>
          </p:cNvPr>
          <p:cNvPicPr>
            <a:picLocks noChangeAspect="1"/>
          </p:cNvPicPr>
          <p:nvPr/>
        </p:nvPicPr>
        <p:blipFill>
          <a:blip r:embed="rId2"/>
          <a:stretch>
            <a:fillRect/>
          </a:stretch>
        </p:blipFill>
        <p:spPr>
          <a:xfrm>
            <a:off x="853059" y="1545429"/>
            <a:ext cx="7254494" cy="4942544"/>
          </a:xfrm>
          <a:prstGeom prst="rect">
            <a:avLst/>
          </a:prstGeom>
        </p:spPr>
      </p:pic>
    </p:spTree>
    <p:extLst>
      <p:ext uri="{BB962C8B-B14F-4D97-AF65-F5344CB8AC3E}">
        <p14:creationId xmlns:p14="http://schemas.microsoft.com/office/powerpoint/2010/main" val="3782043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Example: Boston housing data</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27</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14" name="直接连接符 4">
            <a:extLst>
              <a:ext uri="{FF2B5EF4-FFF2-40B4-BE49-F238E27FC236}">
                <a16:creationId xmlns:a16="http://schemas.microsoft.com/office/drawing/2014/main" id="{63B26065-44AF-44A7-8B41-2A4E1EE5915E}"/>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17" name="内容占位符 2">
            <a:extLst>
              <a:ext uri="{FF2B5EF4-FFF2-40B4-BE49-F238E27FC236}">
                <a16:creationId xmlns:a16="http://schemas.microsoft.com/office/drawing/2014/main" id="{D4382DFF-92CE-2D42-8477-6FBD08D6928E}"/>
              </a:ext>
            </a:extLst>
          </p:cNvPr>
          <p:cNvSpPr txBox="1">
            <a:spLocks noChangeArrowheads="1"/>
          </p:cNvSpPr>
          <p:nvPr/>
        </p:nvSpPr>
        <p:spPr>
          <a:xfrm>
            <a:off x="914400" y="1554480"/>
            <a:ext cx="9677400" cy="4933493"/>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p:pic>
        <p:nvPicPr>
          <p:cNvPr id="3" name="Picture 2">
            <a:extLst>
              <a:ext uri="{FF2B5EF4-FFF2-40B4-BE49-F238E27FC236}">
                <a16:creationId xmlns:a16="http://schemas.microsoft.com/office/drawing/2014/main" id="{C76DB320-7310-7F46-9702-73BD327AD8AB}"/>
              </a:ext>
            </a:extLst>
          </p:cNvPr>
          <p:cNvPicPr>
            <a:picLocks noChangeAspect="1"/>
          </p:cNvPicPr>
          <p:nvPr/>
        </p:nvPicPr>
        <p:blipFill>
          <a:blip r:embed="rId2"/>
          <a:stretch>
            <a:fillRect/>
          </a:stretch>
        </p:blipFill>
        <p:spPr>
          <a:xfrm>
            <a:off x="838200" y="1374821"/>
            <a:ext cx="6712167" cy="5483179"/>
          </a:xfrm>
          <a:prstGeom prst="rect">
            <a:avLst/>
          </a:prstGeom>
        </p:spPr>
      </p:pic>
      <p:pic>
        <p:nvPicPr>
          <p:cNvPr id="4" name="Picture 3">
            <a:extLst>
              <a:ext uri="{FF2B5EF4-FFF2-40B4-BE49-F238E27FC236}">
                <a16:creationId xmlns:a16="http://schemas.microsoft.com/office/drawing/2014/main" id="{C7AEBA1D-42A7-D140-9D8F-FC48BB7CF65E}"/>
              </a:ext>
            </a:extLst>
          </p:cNvPr>
          <p:cNvPicPr>
            <a:picLocks noChangeAspect="1"/>
          </p:cNvPicPr>
          <p:nvPr/>
        </p:nvPicPr>
        <p:blipFill>
          <a:blip r:embed="rId3"/>
          <a:stretch>
            <a:fillRect/>
          </a:stretch>
        </p:blipFill>
        <p:spPr>
          <a:xfrm>
            <a:off x="5139579" y="1374821"/>
            <a:ext cx="8669244" cy="5473379"/>
          </a:xfrm>
          <a:prstGeom prst="rect">
            <a:avLst/>
          </a:prstGeom>
        </p:spPr>
      </p:pic>
    </p:spTree>
    <p:extLst>
      <p:ext uri="{BB962C8B-B14F-4D97-AF65-F5344CB8AC3E}">
        <p14:creationId xmlns:p14="http://schemas.microsoft.com/office/powerpoint/2010/main" val="2646106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Final remarks</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1" y="4788800"/>
            <a:ext cx="8255000" cy="1932678"/>
          </a:xfrm>
        </p:spPr>
        <p:txBody>
          <a:bodyPr>
            <a:normAutofit/>
          </a:bodyPr>
          <a:lstStyle/>
          <a:p>
            <a:pPr marL="0" indent="0">
              <a:lnSpc>
                <a:spcPct val="150000"/>
              </a:lnSpc>
              <a:buClr>
                <a:srgbClr val="FF0000"/>
              </a:buClr>
              <a:buNone/>
            </a:pP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28</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14" name="直接连接符 4">
            <a:extLst>
              <a:ext uri="{FF2B5EF4-FFF2-40B4-BE49-F238E27FC236}">
                <a16:creationId xmlns:a16="http://schemas.microsoft.com/office/drawing/2014/main" id="{63B26065-44AF-44A7-8B41-2A4E1EE5915E}"/>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17" name="内容占位符 2">
            <a:extLst>
              <a:ext uri="{FF2B5EF4-FFF2-40B4-BE49-F238E27FC236}">
                <a16:creationId xmlns:a16="http://schemas.microsoft.com/office/drawing/2014/main" id="{D4382DFF-92CE-2D42-8477-6FBD08D6928E}"/>
              </a:ext>
            </a:extLst>
          </p:cNvPr>
          <p:cNvSpPr txBox="1">
            <a:spLocks noChangeArrowheads="1"/>
          </p:cNvSpPr>
          <p:nvPr/>
        </p:nvSpPr>
        <p:spPr>
          <a:xfrm>
            <a:off x="914400" y="1554480"/>
            <a:ext cx="9677400" cy="4933493"/>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ea typeface="Arial Unicode MS" panose="020B0604020202020204" pitchFamily="34" charset="-128"/>
                <a:cs typeface="Arial Unicode MS" panose="020B0604020202020204" pitchFamily="34" charset="-128"/>
              </a:rPr>
              <a:t>The asymptotic analysis with EHW standard errors hold under weak parametric assumptions on the error terms.</a:t>
            </a:r>
          </a:p>
          <a:p>
            <a:endParaRPr lang="en-US" altLang="zh-CN" dirty="0">
              <a:ea typeface="Arial Unicode MS" panose="020B0604020202020204" pitchFamily="34" charset="-128"/>
              <a:cs typeface="Arial Unicode MS" panose="020B0604020202020204" pitchFamily="34" charset="-128"/>
            </a:endParaRPr>
          </a:p>
          <a:p>
            <a:r>
              <a:rPr lang="en-US" altLang="zh-CN" dirty="0">
                <a:ea typeface="Arial Unicode MS" panose="020B0604020202020204" pitchFamily="34" charset="-128"/>
                <a:cs typeface="Arial Unicode MS" panose="020B0604020202020204" pitchFamily="34" charset="-128"/>
              </a:rPr>
              <a:t>Limitations</a:t>
            </a:r>
          </a:p>
          <a:p>
            <a:pPr lvl="1"/>
            <a:r>
              <a:rPr lang="en-US" altLang="zh-CN" dirty="0">
                <a:ea typeface="Arial Unicode MS" panose="020B0604020202020204" pitchFamily="34" charset="-128"/>
                <a:cs typeface="Arial Unicode MS" panose="020B0604020202020204" pitchFamily="34" charset="-128"/>
              </a:rPr>
              <a:t>Results based on limiting theorems</a:t>
            </a:r>
          </a:p>
          <a:p>
            <a:pPr lvl="1"/>
            <a:r>
              <a:rPr lang="en-US" altLang="zh-CN" dirty="0">
                <a:ea typeface="Arial Unicode MS" panose="020B0604020202020204" pitchFamily="34" charset="-128"/>
                <a:cs typeface="Arial Unicode MS" panose="020B0604020202020204" pitchFamily="34" charset="-128"/>
              </a:rPr>
              <a:t>Can be severely biased and have large variability in finite samples</a:t>
            </a:r>
          </a:p>
          <a:p>
            <a:pPr lvl="1"/>
            <a:r>
              <a:rPr lang="en-US" altLang="zh-CN" dirty="0">
                <a:ea typeface="Arial Unicode MS" panose="020B0604020202020204" pitchFamily="34" charset="-128"/>
                <a:cs typeface="Arial Unicode MS" panose="020B0604020202020204" pitchFamily="34" charset="-128"/>
              </a:rPr>
              <a:t>Under the heteroskedastic linear model, the Gauss-Markov theorem does not hold, so the OLS can be inefficient</a:t>
            </a:r>
          </a:p>
          <a:p>
            <a:pPr lvl="1"/>
            <a:r>
              <a:rPr lang="en-US" altLang="zh-CN" dirty="0">
                <a:ea typeface="Arial Unicode MS" panose="020B0604020202020204" pitchFamily="34" charset="-128"/>
                <a:cs typeface="Arial Unicode MS" panose="020B0604020202020204" pitchFamily="34" charset="-128"/>
              </a:rPr>
              <a:t>Prediction interval is impossible for a future observation </a:t>
            </a:r>
            <a:endParaRPr lang="zh-CN" altLang="en-US" dirty="0">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9237630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
  <p:tag name="PROBLEMSCORE_HALF" val="0"/>
  <p:tag name="PROBLEMHASREMARK" val="False"/>
</p:tagLst>
</file>

<file path=ppt/tags/tag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
  <p:tag name="PROBLEMSCORE_HALF" val="0"/>
  <p:tag name="PROBLEMHASREMARK" val="False"/>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Polling"/>
  <p:tag name="PROBLEMSCORE" val="0"/>
  <p:tag name="ANONYMOUSPOLLING" val="True"/>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48.xml><?xml version="1.0" encoding="utf-8"?>
<p:tagLst xmlns:a="http://schemas.openxmlformats.org/drawingml/2006/main" xmlns:r="http://schemas.openxmlformats.org/officeDocument/2006/relationships" xmlns:p="http://schemas.openxmlformats.org/presentationml/2006/main">
  <p:tag name="RAINPROBLEM" val="Polling"/>
  <p:tag name="PROBLEMSCORE" val="0"/>
  <p:tag name="ANONYMOUSPOLLING" val="True"/>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5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5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20472</TotalTime>
  <Words>1139</Words>
  <Application>Microsoft Macintosh PowerPoint</Application>
  <PresentationFormat>Widescreen</PresentationFormat>
  <Paragraphs>231</Paragraphs>
  <Slides>28</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Microsoft YaHei</vt:lpstr>
      <vt:lpstr>Microsoft YaHei</vt:lpstr>
      <vt:lpstr>Microsoft YaHei</vt:lpstr>
      <vt:lpstr>Arial</vt:lpstr>
      <vt:lpstr>Calibri</vt:lpstr>
      <vt:lpstr>Cambria Math</vt:lpstr>
      <vt:lpstr>Times New Roman</vt:lpstr>
      <vt:lpstr>Verdana</vt:lpstr>
      <vt:lpstr>Wingdings</vt:lpstr>
      <vt:lpstr>Office Theme</vt:lpstr>
      <vt:lpstr>Asymptotic inference in OLS</vt:lpstr>
      <vt:lpstr>Motivation</vt:lpstr>
      <vt:lpstr>PowerPoint Presentation</vt:lpstr>
      <vt:lpstr>PowerPoint Presentation</vt:lpstr>
      <vt:lpstr>Simulation</vt:lpstr>
      <vt:lpstr>Simulation results</vt:lpstr>
      <vt:lpstr>Heteroskedastic linear model</vt:lpstr>
      <vt:lpstr>Basic asymptotics</vt:lpstr>
      <vt:lpstr>Basic asymptotics</vt:lpstr>
      <vt:lpstr>Properties</vt:lpstr>
      <vt:lpstr>Consistency of OLS estimator</vt:lpstr>
      <vt:lpstr>Consistency of OLS estimator</vt:lpstr>
      <vt:lpstr>Consistency of OLS estimator</vt:lpstr>
      <vt:lpstr>Asymptotic Normality of OLS estimator</vt:lpstr>
      <vt:lpstr>Sandwich variance estimator</vt:lpstr>
      <vt:lpstr>Sandwich variance estimator</vt:lpstr>
      <vt:lpstr>Sandwich variance estimator</vt:lpstr>
      <vt:lpstr>Asymptotic inference of OLS estimator</vt:lpstr>
      <vt:lpstr>Other “HC” standard errors</vt:lpstr>
      <vt:lpstr>Special case</vt:lpstr>
      <vt:lpstr>PowerPoint Presentation</vt:lpstr>
      <vt:lpstr>Revisit the Z test</vt:lpstr>
      <vt:lpstr>Revisit the two sample test</vt:lpstr>
      <vt:lpstr>PowerPoint Presentation</vt:lpstr>
      <vt:lpstr>One-way ANOVA with heteroskedasticity</vt:lpstr>
      <vt:lpstr>Example: Lalonde data</vt:lpstr>
      <vt:lpstr>Example: Boston housing data</vt:lpstr>
      <vt:lpstr>Final remarks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求职汇报</dc:title>
  <dc:creator>Microsoft Office User</dc:creator>
  <cp:lastModifiedBy>Zhichao Jiang</cp:lastModifiedBy>
  <cp:revision>172</cp:revision>
  <dcterms:created xsi:type="dcterms:W3CDTF">2022-01-07T20:32:42Z</dcterms:created>
  <dcterms:modified xsi:type="dcterms:W3CDTF">2025-09-20T06:16:23Z</dcterms:modified>
</cp:coreProperties>
</file>