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697" r:id="rId3"/>
    <p:sldId id="698" r:id="rId4"/>
    <p:sldId id="710" r:id="rId5"/>
    <p:sldId id="699" r:id="rId6"/>
    <p:sldId id="709" r:id="rId7"/>
    <p:sldId id="700" r:id="rId8"/>
    <p:sldId id="701" r:id="rId9"/>
    <p:sldId id="702" r:id="rId10"/>
    <p:sldId id="703" r:id="rId11"/>
    <p:sldId id="704" r:id="rId12"/>
    <p:sldId id="705" r:id="rId13"/>
    <p:sldId id="706" r:id="rId14"/>
    <p:sldId id="707" r:id="rId15"/>
    <p:sldId id="7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/>
    <p:restoredTop sz="92318"/>
  </p:normalViewPr>
  <p:slideViewPr>
    <p:cSldViewPr snapToGrid="0" snapToObjects="1">
      <p:cViewPr varScale="1">
        <p:scale>
          <a:sx n="89" d="100"/>
          <a:sy n="89" d="100"/>
        </p:scale>
        <p:origin x="10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Carroll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Ruppert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(1988) is a textbook on this topic </a:t>
            </a:r>
            <a:endParaRPr lang="en-US" dirty="0"/>
          </a:p>
          <a:p>
            <a:r>
              <a:rPr lang="zh-CN" altLang="en-US" dirty="0"/>
              <a:t>虽然我们有</a:t>
            </a:r>
            <a:r>
              <a:rPr lang="en-US" altLang="zh-CN" dirty="0"/>
              <a:t>EHW</a:t>
            </a:r>
            <a:r>
              <a:rPr lang="zh-CN" altLang="en-US" dirty="0"/>
              <a:t>，但是模型还是在估计量接近正态分布的时候效果最好，所以要做</a:t>
            </a:r>
            <a:r>
              <a:rPr lang="en-US" altLang="zh-CN" dirty="0"/>
              <a:t>transformation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5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economics,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 is the semi-elasticity of y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model with log transformation on the outcome.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0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economics,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βˆ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 is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-elasticity of y in the model with log transformation on both the outcome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6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3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97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4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20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8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04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economics, it is almost the default choice to include the quadratic term of working experience in the log wage equation.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78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68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37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discussions in Angrist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Pischke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(2008) and Card et al. (2015).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2.png"/><Relationship Id="rId3" Type="http://schemas.openxmlformats.org/officeDocument/2006/relationships/tags" Target="../tags/tag3.xml"/><Relationship Id="rId21" Type="http://schemas.openxmlformats.org/officeDocument/2006/relationships/tags" Target="../tags/tag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9.png"/><Relationship Id="rId29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5.xml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tags" Target="../tags/tag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0.png"/><Relationship Id="rId27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Transformation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Transformation 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/>
              <p:nvPr/>
            </p:nvSpPr>
            <p:spPr>
              <a:xfrm>
                <a:off x="838200" y="1828274"/>
                <a:ext cx="956063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linear model works best for continuous outcomes and especially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for</a:t>
                </a:r>
              </a:p>
              <a:p>
                <a:r>
                  <a:rPr lang="en-US" altLang="zh-CN" sz="2400" dirty="0"/>
                  <a:t>    Normally distributed outcomes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linear model can be a poor approximation for the original outcome, </a:t>
                </a:r>
              </a:p>
              <a:p>
                <a:r>
                  <a:rPr lang="en-US" altLang="zh-CN" sz="2400" dirty="0"/>
                  <a:t>     but may </a:t>
                </a:r>
                <a:r>
                  <a:rPr lang="en-US" sz="2400" dirty="0"/>
                  <a:t>perform well for certain transformation of the outcome and the </a:t>
                </a:r>
              </a:p>
              <a:p>
                <a:r>
                  <a:rPr lang="en-US" sz="2400" dirty="0"/>
                  <a:t>     covariates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Whenever we specify a linear model, we implicitly have transformed the </a:t>
                </a:r>
              </a:p>
              <a:p>
                <a:r>
                  <a:rPr lang="en-US" sz="2400" dirty="0"/>
                  <a:t>     original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274"/>
                <a:ext cx="9560631" cy="3416320"/>
              </a:xfrm>
              <a:prstGeom prst="rect">
                <a:avLst/>
              </a:prstGeom>
              <a:blipFill>
                <a:blip r:embed="rId3"/>
                <a:stretch>
                  <a:fillRect l="-796" t="-1487" b="-3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 transformation of the outcome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/>
              <p:nvPr/>
            </p:nvSpPr>
            <p:spPr>
              <a:xfrm>
                <a:off x="936171" y="1894114"/>
                <a:ext cx="10745057" cy="2765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With positive, especially heavy-tailed outcomes, a standard transformation is the </a:t>
                </a:r>
              </a:p>
              <a:p>
                <a:r>
                  <a:rPr lang="en-US" sz="2400" dirty="0"/>
                  <a:t>      log transformation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Interpretation: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increases by one unit, then the proportion increase in the fitted</a:t>
                </a:r>
              </a:p>
              <a:p>
                <a:r>
                  <a:rPr lang="zh-CN" altLang="en-US" sz="2400" dirty="0"/>
                  <a:t>      </a:t>
                </a:r>
                <a:r>
                  <a:rPr lang="en-US" altLang="zh-CN" sz="2400" dirty="0"/>
                  <a:t>outcome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, controlling for other variables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894114"/>
                <a:ext cx="10745057" cy="2765694"/>
              </a:xfrm>
              <a:prstGeom prst="rect">
                <a:avLst/>
              </a:prstGeom>
              <a:blipFill>
                <a:blip r:embed="rId3"/>
                <a:stretch>
                  <a:fillRect l="-708" t="-1835" b="-3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57F246C-669A-7842-B19A-A3956ED82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50" y="2786816"/>
            <a:ext cx="3721100" cy="520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1D7212-D5AF-7442-B439-6E531191A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863232"/>
            <a:ext cx="2921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B8DFDDF-54DF-83D1-071A-E5C4B3432FD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35DE7C3D-1F0B-A316-FB04-E6AC013416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048326A-4EDB-6AB8-3682-7C0C48739B7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4CFB3CF3-53DC-33D2-2C92-D194A4B323D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F2C75CA-BDB2-33A4-C1C3-A365A1A8ACE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FDC4B0-BFB5-0C6D-8B9C-2138131D1247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If we regression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log</m:t>
                        </m:r>
                      </m:fName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</m:e>
                    </m:func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on a binary variable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𝑍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which of the following statements about the coefficient of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𝑍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is correct?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FDC4B0-BFB5-0C6D-8B9C-2138131D1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48F95E-76D1-8B2A-E3BE-F5732E74FE9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represents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∣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𝑍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=1)</m:t>
                        </m:r>
                      </m:e>
                    </m:func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∣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𝑍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=0)</m:t>
                        </m:r>
                      </m:e>
                    </m:func>
                  </m:oMath>
                </a14:m>
                <a:endParaRPr 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48F95E-76D1-8B2A-E3BE-F5732E74F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blipFill>
                <a:blip r:embed="rId22"/>
                <a:stretch>
                  <a:fillRect l="-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5577D-864E-3D17-5706-7A44B43440EB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represents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{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d>
                          <m:dPr>
                            <m:sepChr m:val="∣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𝑌</m:t>
                            </m:r>
                          </m:e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𝑍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=1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d>
                          <m:dPr>
                            <m:sepChr m:val="∣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𝑌</m:t>
                            </m:r>
                          </m:e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𝑍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=0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}</m:t>
                        </m:r>
                      </m:e>
                    </m:func>
                  </m:oMath>
                </a14:m>
                <a:endParaRPr 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5577D-864E-3D17-5706-7A44B4344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blipFill>
                <a:blip r:embed="rId24"/>
                <a:stretch>
                  <a:fillRect l="-297" t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E924B7-0114-E142-4137-F4F87601783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represents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d>
                      <m:dPr>
                        <m:sepChr m:val="∣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𝑌</m:t>
                            </m:r>
                          </m:e>
                        </m:func>
                      </m:e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𝑍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=1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∣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𝑍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=0)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E924B7-0114-E142-4137-F4F876017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>
                <a:blip r:embed="rId26"/>
                <a:stretch>
                  <a:fillRect l="-297" t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5765B0-38DD-F6DA-6C07-2C1F1D89A4C4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represents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d>
                          <m:dPr>
                            <m:sepChr m:val="∣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𝑌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𝑍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=1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∣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𝑍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=0)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𝐸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𝑌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∣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𝑍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=1)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5765B0-38DD-F6DA-6C07-2C1F1D89A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blipFill>
                <a:blip r:embed="rId28"/>
                <a:stretch>
                  <a:fillRect l="-297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5663F8B-1C3E-C3FB-79CA-EA1CE8A80F7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F25AE6-D61B-5271-7F73-86E85690E71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6F863F-F68F-597C-3F90-97D20385FD7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3E64E1-2F42-6271-C3C5-9489105807E5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7CB5300-1D63-B51F-4EFB-5C1CA779E0F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E20C7-C561-6E8A-6AFD-2D88C7E6BDD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007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transformation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/>
              <p:nvPr/>
            </p:nvSpPr>
            <p:spPr>
              <a:xfrm>
                <a:off x="936171" y="1894114"/>
                <a:ext cx="10285107" cy="387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Sometimes, we may apply the log transformation on both the outcome and a certain covariate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Interpretation: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increases by 1%, then the fitted </a:t>
                </a:r>
                <a:r>
                  <a:rPr lang="en-US" altLang="zh-CN" sz="2400" dirty="0"/>
                  <a:t>outcome will increase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%, controlling for other variables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894114"/>
                <a:ext cx="10285107" cy="3873689"/>
              </a:xfrm>
              <a:prstGeom prst="rect">
                <a:avLst/>
              </a:prstGeom>
              <a:blipFill>
                <a:blip r:embed="rId3"/>
                <a:stretch>
                  <a:fillRect l="-740" t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5213B98-AFCE-C943-864B-70F9257E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786" y="2596784"/>
            <a:ext cx="622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4B911-2693-2F44-8523-5835C7D02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336" y="3283317"/>
            <a:ext cx="31115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8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Remark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/>
              <p:nvPr/>
            </p:nvSpPr>
            <p:spPr>
              <a:xfrm>
                <a:off x="936171" y="1894114"/>
                <a:ext cx="10285107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When to log-transform the outcome</a:t>
                </a: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outcome is strictly positive and highly skewed, e.g., income, housing price, population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underlying process is multiplicative, e.g., tumor size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You want to interpret results in relative or percentage terms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not to log-transform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outcome includes negative values. </a:t>
                </a:r>
                <a:r>
                  <a:rPr lang="en-US" altLang="zh-CN" sz="2000" dirty="0"/>
                  <a:t>For a outcome with zero values, we can </a:t>
                </a:r>
                <a:r>
                  <a:rPr lang="en-US" sz="2000" dirty="0"/>
                  <a:t>modify the log transformation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to decide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Check residual plots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Compare model diagnostics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894114"/>
                <a:ext cx="10285107" cy="4093428"/>
              </a:xfrm>
              <a:prstGeom prst="rect">
                <a:avLst/>
              </a:prstGeom>
              <a:blipFill>
                <a:blip r:embed="rId3"/>
                <a:stretch>
                  <a:fillRect l="-740" t="-1238" r="-247" b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75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Box-Cox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transformation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/>
              <p:nvPr/>
            </p:nvSpPr>
            <p:spPr>
              <a:xfrm>
                <a:off x="936171" y="1894114"/>
                <a:ext cx="1017577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Box-Cox transformation unifies the log transformation and the power transformation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continuous 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Can we choose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based on data?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894114"/>
                <a:ext cx="10175777" cy="4154984"/>
              </a:xfrm>
              <a:prstGeom prst="rect">
                <a:avLst/>
              </a:prstGeom>
              <a:blipFill>
                <a:blip r:embed="rId3"/>
                <a:stretch>
                  <a:fillRect l="-747" t="-1220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8C51404-2826-FD48-9A9A-AF1F596CF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900" y="2475877"/>
            <a:ext cx="27686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F9B5ED-529B-C941-A451-4E379DDF1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814" y="3620124"/>
            <a:ext cx="70866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Estimating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anose="020B0604020202020204" pitchFamily="34" charset="-128"/>
                      </a:rPr>
                      <m:t>𝝀</m:t>
                    </m:r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AF320D-49B6-E542-8BD6-FA81CAF343B5}"/>
              </a:ext>
            </a:extLst>
          </p:cNvPr>
          <p:cNvSpPr txBox="1"/>
          <p:nvPr/>
        </p:nvSpPr>
        <p:spPr>
          <a:xfrm>
            <a:off x="776866" y="1774726"/>
            <a:ext cx="105769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Box and Cox (1964) proposed a strategy based on the maximum likelihood under </a:t>
            </a:r>
          </a:p>
          <a:p>
            <a:r>
              <a:rPr lang="en-US" sz="2400" dirty="0"/>
              <a:t>     the Normal linear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73E33-FA56-D84C-83D2-27A31C42D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007" y="2848968"/>
            <a:ext cx="4914900" cy="111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80051A-98DF-754B-B58C-E331F943F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393" y="4234229"/>
            <a:ext cx="6832600" cy="1155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E6DA69-4E98-A34F-86FB-8B772581853B}"/>
              </a:ext>
            </a:extLst>
          </p:cNvPr>
          <p:cNvSpPr/>
          <p:nvPr/>
        </p:nvSpPr>
        <p:spPr>
          <a:xfrm flipH="1">
            <a:off x="5886995" y="3702451"/>
            <a:ext cx="45719" cy="158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AA20E5-6F22-D748-89F7-31F4632AC967}"/>
                  </a:ext>
                </a:extLst>
              </p:cNvPr>
              <p:cNvSpPr txBox="1"/>
              <p:nvPr/>
            </p:nvSpPr>
            <p:spPr>
              <a:xfrm>
                <a:off x="5790111" y="3633961"/>
                <a:ext cx="2394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AA20E5-6F22-D748-89F7-31F4632AC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11" y="3633961"/>
                <a:ext cx="23948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3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Estimating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anose="020B0604020202020204" pitchFamily="34" charset="-128"/>
                      </a:rPr>
                      <m:t>𝝀</m:t>
                    </m:r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41FEDF0-098C-3C46-B82D-A613D8A22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64" y="1583373"/>
            <a:ext cx="7353300" cy="2044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03EAF3-5EBF-5044-83A1-93D8FFE0F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864" y="3628073"/>
            <a:ext cx="7924800" cy="1346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DFE6D9-CDAB-A143-8FFE-E285F6AACB3A}"/>
                  </a:ext>
                </a:extLst>
              </p:cNvPr>
              <p:cNvSpPr txBox="1"/>
              <p:nvPr/>
            </p:nvSpPr>
            <p:spPr>
              <a:xfrm>
                <a:off x="1036864" y="5274627"/>
                <a:ext cx="85697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treat this as the likelihood function, defined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DFE6D9-CDAB-A143-8FFE-E285F6AAC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64" y="5274627"/>
                <a:ext cx="8569718" cy="461665"/>
              </a:xfrm>
              <a:prstGeom prst="rect">
                <a:avLst/>
              </a:prstGeom>
              <a:blipFill>
                <a:blip r:embed="rId6"/>
                <a:stretch>
                  <a:fillRect l="-1036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18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sz="3200" b="1" dirty="0">
                    <a:solidFill>
                      <a:srgbClr val="005825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 Unicode MS" panose="020B0604020202020204" pitchFamily="34" charset="-128"/>
                  </a:rPr>
                  <a:t>Estimating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0582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 Unicode MS" panose="020B0604020202020204" pitchFamily="34" charset="-128"/>
                      </a:rPr>
                      <m:t>𝝀</m:t>
                    </m:r>
                  </m:oMath>
                </a14:m>
                <a:endParaRPr lang="zh-CN" altLang="en-US" sz="3200" b="1" dirty="0">
                  <a:solidFill>
                    <a:srgbClr val="00582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4" name="标题 1">
                <a:extLst>
                  <a:ext uri="{FF2B5EF4-FFF2-40B4-BE49-F238E27FC236}">
                    <a16:creationId xmlns:a16="http://schemas.microsoft.com/office/drawing/2014/main" id="{EEBF282F-030B-264B-922C-B5D0902A1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A2583-89BE-A647-AB6C-E7E2D37FBF2A}"/>
                  </a:ext>
                </a:extLst>
              </p:cNvPr>
              <p:cNvSpPr txBox="1"/>
              <p:nvPr/>
            </p:nvSpPr>
            <p:spPr>
              <a:xfrm>
                <a:off x="957943" y="1970314"/>
                <a:ext cx="10110396" cy="3998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Profile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MLE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, maximizing the likelihood to obtain            and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Maximize the profile likelihood as a function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</a:t>
                </a:r>
                <a:r>
                  <a:rPr lang="en-US" altLang="zh-CN" sz="2400" i="1" dirty="0" err="1"/>
                  <a:t>boxcox</a:t>
                </a:r>
                <a:r>
                  <a:rPr lang="en-US" altLang="zh-CN" sz="2400" dirty="0"/>
                  <a:t> function in the </a:t>
                </a:r>
                <a:r>
                  <a:rPr lang="en-US" altLang="zh-CN" sz="2400" i="1" dirty="0"/>
                  <a:t>MASS</a:t>
                </a:r>
                <a:r>
                  <a:rPr lang="en-US" altLang="zh-CN" sz="2400" dirty="0"/>
                  <a:t> package plots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find its maximizer and </a:t>
                </a:r>
              </a:p>
              <a:p>
                <a:r>
                  <a:rPr lang="en-US" sz="2400" dirty="0"/>
                  <a:t>     construct a 95% confidence interval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A2583-89BE-A647-AB6C-E7E2D37FB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3" y="1970314"/>
                <a:ext cx="10110396" cy="3998852"/>
              </a:xfrm>
              <a:prstGeom prst="rect">
                <a:avLst/>
              </a:prstGeom>
              <a:blipFill>
                <a:blip r:embed="rId4"/>
                <a:stretch>
                  <a:fillRect l="-753" t="-1270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0F4C4D0-F22F-6A48-955C-33EA198EB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956" y="2295017"/>
            <a:ext cx="571500" cy="34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B35DDC-4334-384F-903C-F00F00AD4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161" y="2367589"/>
            <a:ext cx="28702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C96FF-A3C4-FA4B-A521-1DBE3B983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1000" y="3029582"/>
            <a:ext cx="6350000" cy="83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1294F7-3F4E-E14F-B1DD-08228B37D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5156" y="3867782"/>
            <a:ext cx="72644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5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Jobs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data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analysis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7BF4F0E-5A9C-574E-B42D-39EFC8C71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05" y="1875971"/>
            <a:ext cx="9145599" cy="420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4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Transformation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of the covariates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D5C487-83CE-F945-B177-A70592FD57E7}"/>
                  </a:ext>
                </a:extLst>
              </p:cNvPr>
              <p:cNvSpPr txBox="1"/>
              <p:nvPr/>
            </p:nvSpPr>
            <p:spPr>
              <a:xfrm>
                <a:off x="838201" y="1799983"/>
                <a:ext cx="105156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approximations may not be adequate, so we can consider a polynomial specification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With a one-dimensional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we can use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With more than one covariate, we can include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can approximate the mean of the outcome by a linear combination of some basis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i="1" dirty="0"/>
                  <a:t>gam</a:t>
                </a:r>
                <a:r>
                  <a:rPr lang="en-US" sz="2400" dirty="0"/>
                  <a:t> function in the </a:t>
                </a:r>
                <a:r>
                  <a:rPr lang="en-US" sz="2400" i="1" dirty="0" err="1"/>
                  <a:t>mgcv</a:t>
                </a:r>
                <a:r>
                  <a:rPr lang="en-US" sz="2400" dirty="0"/>
                  <a:t> package uses this strategy including the automatic procedure for</a:t>
                </a:r>
                <a:r>
                  <a:rPr lang="zh-CN" altLang="en-US" sz="2400" dirty="0"/>
                  <a:t> </a:t>
                </a:r>
                <a:r>
                  <a:rPr lang="en-US" sz="2400" dirty="0"/>
                  <a:t>choosing the number of basis functions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D5C487-83CE-F945-B177-A70592FD5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799983"/>
                <a:ext cx="10515600" cy="4708981"/>
              </a:xfrm>
              <a:prstGeom prst="rect">
                <a:avLst/>
              </a:prstGeom>
              <a:blipFill>
                <a:blip r:embed="rId3"/>
                <a:stretch>
                  <a:fillRect l="-844" t="-1075" b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BA9CED-B2F7-994D-9DFB-F21FDBF42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021" y="2439510"/>
            <a:ext cx="4483100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7C5570-B931-AC4C-938A-9FAAD13AB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492" y="3591314"/>
            <a:ext cx="29210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05D05-4ADB-B842-8F08-F4AC8E872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874" y="3570538"/>
            <a:ext cx="4775200" cy="48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EC6B45-C238-5B40-B726-4EDA7F143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4992" y="4862983"/>
            <a:ext cx="36576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2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9604622-661C-4743-8787-6CD69C15FFAE}"/>
              </a:ext>
            </a:extLst>
          </p:cNvPr>
          <p:cNvSpPr txBox="1"/>
          <p:nvPr/>
        </p:nvSpPr>
        <p:spPr>
          <a:xfrm>
            <a:off x="968828" y="1361042"/>
            <a:ext cx="919194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True function is a sine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generalized additive model is an extension to the multivariate case</a:t>
            </a:r>
          </a:p>
        </p:txBody>
      </p:sp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Example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EFBCFFB-8672-4242-A2BB-14682A8A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05" y="1947843"/>
            <a:ext cx="5022574" cy="26120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156B8E-845B-5F4B-92F1-DBCF9DD40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88" y="5146694"/>
            <a:ext cx="53467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6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discontinuity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225741E-98C0-1741-91A8-9174C2F08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29" y="1441452"/>
            <a:ext cx="3911600" cy="4914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1519D-7968-5B48-A57D-3302012FA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664" y="1387293"/>
            <a:ext cx="5422900" cy="162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70C208-DC96-C943-AA8E-3E5DDF650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55" y="4268234"/>
            <a:ext cx="6426200" cy="1600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CDDAF1-648B-B14D-A254-6382225345D2}"/>
                  </a:ext>
                </a:extLst>
              </p:cNvPr>
              <p:cNvSpPr txBox="1"/>
              <p:nvPr/>
            </p:nvSpPr>
            <p:spPr>
              <a:xfrm>
                <a:off x="4799455" y="3898902"/>
                <a:ext cx="30636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we center the covariates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CDDAF1-648B-B14D-A254-63822253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455" y="3898902"/>
                <a:ext cx="3063659" cy="369332"/>
              </a:xfrm>
              <a:prstGeom prst="rect">
                <a:avLst/>
              </a:prstGeom>
              <a:blipFill>
                <a:blip r:embed="rId6"/>
                <a:stretch>
                  <a:fillRect l="-1653" t="-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CF330CF-5B86-0C40-9E49-AE26FCF47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906" y="2993008"/>
            <a:ext cx="6965465" cy="878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E3875-142A-074B-9904-BCB673C95F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906" y="5933372"/>
            <a:ext cx="65532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Regression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kink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AF432F1-BD3A-1843-A7BD-9A4E9AF6B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28" y="1566071"/>
            <a:ext cx="3860800" cy="491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145AC-A8CD-9940-96F3-59296B5F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772" y="1566071"/>
            <a:ext cx="4318000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E863B-B664-734E-A0A4-CD4764C3E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629303"/>
            <a:ext cx="45720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3286AD-39F6-6F49-ADF4-D2D8012FF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273" y="4922863"/>
            <a:ext cx="49276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6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22363</TotalTime>
  <Words>664</Words>
  <Application>Microsoft Office PowerPoint</Application>
  <PresentationFormat>宽屏</PresentationFormat>
  <Paragraphs>142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 Unicode MS</vt:lpstr>
      <vt:lpstr>Microsoft YaHei</vt:lpstr>
      <vt:lpstr>Microsoft YaHei</vt:lpstr>
      <vt:lpstr>Microsoft YaHei</vt:lpstr>
      <vt:lpstr>Arial</vt:lpstr>
      <vt:lpstr>Calibri</vt:lpstr>
      <vt:lpstr>Cambria Math</vt:lpstr>
      <vt:lpstr>Times New Roman</vt:lpstr>
      <vt:lpstr>Office Theme</vt:lpstr>
      <vt:lpstr>Transformation</vt:lpstr>
      <vt:lpstr>Transformation </vt:lpstr>
      <vt:lpstr>Log transformation of the outcome</vt:lpstr>
      <vt:lpstr>PowerPoint 演示文稿</vt:lpstr>
      <vt:lpstr>Log transformation</vt:lpstr>
      <vt:lpstr>Remark</vt:lpstr>
      <vt:lpstr>Box-Cox transformation</vt:lpstr>
      <vt:lpstr>Estimating λ</vt:lpstr>
      <vt:lpstr>Estimating λ</vt:lpstr>
      <vt:lpstr>Estimating λ</vt:lpstr>
      <vt:lpstr>Jobs data analysis</vt:lpstr>
      <vt:lpstr>Transformation of the covariates</vt:lpstr>
      <vt:lpstr>Example</vt:lpstr>
      <vt:lpstr>Regression discontinuity</vt:lpstr>
      <vt:lpstr>Regression kink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222</cp:revision>
  <dcterms:created xsi:type="dcterms:W3CDTF">2022-01-07T20:32:42Z</dcterms:created>
  <dcterms:modified xsi:type="dcterms:W3CDTF">2025-11-10T10:16:40Z</dcterms:modified>
</cp:coreProperties>
</file>