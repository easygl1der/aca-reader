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808" r:id="rId3"/>
    <p:sldId id="809" r:id="rId4"/>
    <p:sldId id="699" r:id="rId5"/>
    <p:sldId id="700" r:id="rId6"/>
    <p:sldId id="701" r:id="rId7"/>
    <p:sldId id="702" r:id="rId8"/>
    <p:sldId id="703" r:id="rId9"/>
    <p:sldId id="704" r:id="rId10"/>
    <p:sldId id="810" r:id="rId11"/>
    <p:sldId id="706" r:id="rId12"/>
    <p:sldId id="707" r:id="rId13"/>
    <p:sldId id="708" r:id="rId14"/>
    <p:sldId id="811" r:id="rId15"/>
    <p:sldId id="812" r:id="rId16"/>
    <p:sldId id="813" r:id="rId17"/>
    <p:sldId id="7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19"/>
    <p:restoredTop sz="92331"/>
  </p:normalViewPr>
  <p:slideViewPr>
    <p:cSldViewPr snapToGrid="0" snapToObjects="1">
      <p:cViewPr varScale="1">
        <p:scale>
          <a:sx n="126" d="100"/>
          <a:sy n="126" d="100"/>
        </p:scale>
        <p:origin x="23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B963D-F400-5A75-B2C2-3A36744F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E3FBE-F339-B6B9-83A6-64C89EEC8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5EA0B-E9DE-C6CF-9091-A2BB1EAF6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64B9D-F9CE-A21D-9200-A041647C42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50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61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97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4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20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08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047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200FA-E4CD-DDA5-C7AD-77C4B970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383BC-6BE7-0BD4-34A6-894EA087E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38EF6-207D-86BE-E17D-3F858DB20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6E52F-48E2-2A94-DD94-DF19342B2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50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68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 linear, logistic, </a:t>
            </a:r>
            <a:r>
              <a:rPr lang="en-US" dirty="0" err="1"/>
              <a:t>poisson</a:t>
            </a:r>
            <a:r>
              <a:rPr lang="en-US" dirty="0"/>
              <a:t> models all satisfy this equation, but the NB model does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37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48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34BEA-989D-1118-E81A-ABFCBE1EA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02C7B-E219-8C20-D23F-7C9AA684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A0BA7-83E3-EFDF-8A86-173B7979C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FAEF6-CC03-F571-E43C-77211CE3C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01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7A8B-CFF9-2DB4-2552-16296568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511D5-F953-E03B-D605-3094D1FC8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30532-12BF-18D9-F84C-E8F768392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09E9D-51E3-DC19-6970-682B52737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00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EE191-43F1-9724-2A76-F3319BA8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BAF36-2C68-1132-5B94-E8044FC4D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D86D0-58B9-240C-C668-152B45B85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11003-439E-0954-DA42-03487F0C2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2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3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Generalized linear models: a unification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Generalized linear models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A0293DA8-2870-C84B-90F0-70EC54461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9372600" cy="4656139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/>
            <a:r>
              <a:rPr lang="en-US" sz="2400" dirty="0"/>
              <a:t>We have discussed the following models for independent observations </a:t>
            </a:r>
          </a:p>
          <a:p>
            <a:pPr marL="800100" lvl="1" indent="-342900"/>
            <a:r>
              <a:rPr lang="en-US" sz="2000" dirty="0"/>
              <a:t>Normal linear model for continuous outcomes</a:t>
            </a:r>
          </a:p>
          <a:p>
            <a:pPr marL="800100" lvl="1" indent="-342900"/>
            <a:endParaRPr lang="en-US" sz="2000" dirty="0"/>
          </a:p>
          <a:p>
            <a:pPr marL="800100" lvl="1" indent="-342900"/>
            <a:endParaRPr lang="en-US" sz="2000" dirty="0"/>
          </a:p>
          <a:p>
            <a:pPr marL="800100" lvl="1" indent="-342900"/>
            <a:r>
              <a:rPr lang="en-US" sz="2000" dirty="0"/>
              <a:t>Logistic model for binary outcomes</a:t>
            </a:r>
          </a:p>
          <a:p>
            <a:pPr marL="800100" lvl="1" indent="-342900"/>
            <a:endParaRPr lang="en-US" sz="2000" dirty="0"/>
          </a:p>
          <a:p>
            <a:pPr marL="800100" lvl="1" indent="-342900"/>
            <a:endParaRPr lang="en-US" sz="2000" dirty="0"/>
          </a:p>
          <a:p>
            <a:pPr marL="800100" lvl="1" indent="-342900"/>
            <a:r>
              <a:rPr lang="en-US" sz="2000" dirty="0"/>
              <a:t>Poisson model for count outcomes</a:t>
            </a:r>
          </a:p>
          <a:p>
            <a:pPr marL="800100" lvl="1" indent="-342900"/>
            <a:endParaRPr lang="en-US" sz="2000" dirty="0"/>
          </a:p>
          <a:p>
            <a:pPr marL="800100" lvl="1" indent="-342900"/>
            <a:endParaRPr lang="en-US" sz="2000" dirty="0"/>
          </a:p>
          <a:p>
            <a:pPr marL="800100" lvl="1" indent="-342900"/>
            <a:r>
              <a:rPr lang="en-US" sz="2000" dirty="0"/>
              <a:t>Negative-Binomial model for </a:t>
            </a:r>
            <a:r>
              <a:rPr lang="en-US" sz="2000" dirty="0" err="1"/>
              <a:t>overdispersed</a:t>
            </a:r>
            <a:r>
              <a:rPr lang="en-US" sz="2000" dirty="0"/>
              <a:t> count outcomes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v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A88F8D-0B71-4929-4933-E899176B3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450" y="2331403"/>
            <a:ext cx="37465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46F5A5-EC43-6334-3E9B-DCFE7437A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564" y="3248799"/>
            <a:ext cx="4572000" cy="673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B6A895-B933-03C4-9807-3F1B8D81E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450" y="4346712"/>
            <a:ext cx="39116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471513-A84B-29A7-77AC-964409B97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2956" y="5394960"/>
            <a:ext cx="38735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088A-40CB-291A-727E-0A13B427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A0B1797B-35D1-B674-03A0-120274579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Exponential family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87484BF1-8127-5FD2-59D7-CE6E1AE16C1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372600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sz="2400" dirty="0"/>
                  <a:t>Natural exponential family with dispersion</a:t>
                </a:r>
              </a:p>
              <a:p>
                <a:pPr marL="342900" indent="-342900"/>
                <a:endParaRPr lang="en-US" sz="2400" dirty="0"/>
              </a:p>
              <a:p>
                <a:pPr marL="342900" indent="-342900"/>
                <a:endParaRPr lang="en-US" sz="2400" dirty="0"/>
              </a:p>
              <a:p>
                <a:pPr marL="342900" indent="-342900"/>
                <a:endParaRPr lang="en-US" sz="2400" dirty="0"/>
              </a:p>
              <a:p>
                <a:pPr marL="800089" lvl="1" indent="-3429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are unknown parameters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(),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000" dirty="0"/>
                  <a:t> are known functions</a:t>
                </a:r>
              </a:p>
              <a:p>
                <a:pPr marL="800089" lvl="1" indent="-3429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is the natural parameter depending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/>
                  <a:t> is the dispersion parameter</a:t>
                </a:r>
              </a:p>
              <a:p>
                <a:pPr marL="800089" lvl="1" indent="-342900"/>
                <a:r>
                  <a:rPr lang="en-US" sz="2000" dirty="0"/>
                  <a:t>Natural exponential family: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800089" lvl="1" indent="-342900"/>
                <a:endParaRPr lang="en-US" sz="2000" dirty="0"/>
              </a:p>
              <a:p>
                <a:pPr marL="342900" indent="-342900"/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87484BF1-8127-5FD2-59D7-CE6E1AE16C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372600" cy="4656139"/>
              </a:xfrm>
              <a:blipFill>
                <a:blip r:embed="rId3"/>
                <a:stretch>
                  <a:fillRect l="-947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B51E5C37-635C-DC35-717B-82CB3E65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8C06FF1-C542-217E-8C40-67E7ED2CF1FC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9EBFF0-F40A-8288-BA99-E328E208654F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B7061-C3D0-90DB-DA9C-F49E16A86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950" y="2133600"/>
            <a:ext cx="46355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5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Normal linear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CD3C063-E5DF-414B-9BC7-20D730B23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56" y="2175302"/>
            <a:ext cx="5867400" cy="139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7F8E09-17A2-D14F-9319-316654111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178" y="4056914"/>
            <a:ext cx="27305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8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Logistic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28E0884-3EB6-8B4C-830F-7DEB7A5C0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58" y="1827829"/>
            <a:ext cx="4749800" cy="1816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3E94B4-DF5E-2C45-BDAE-84AAFAA26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158" y="3781068"/>
            <a:ext cx="6832600" cy="673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B93B5F-AD19-2242-A47B-02DCBAA6C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007" y="4857410"/>
            <a:ext cx="10033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78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Poisson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6E6DA69-4E98-A34F-86FB-8B772581853B}"/>
              </a:ext>
            </a:extLst>
          </p:cNvPr>
          <p:cNvSpPr/>
          <p:nvPr/>
        </p:nvSpPr>
        <p:spPr>
          <a:xfrm flipH="1">
            <a:off x="5886995" y="3702451"/>
            <a:ext cx="45719" cy="1589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65ACC3-7C2B-8C44-9DE4-960BFA7F6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945" y="1934229"/>
            <a:ext cx="5372100" cy="76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F987E7-D7B9-E64F-8A97-5160490D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50" y="3134227"/>
            <a:ext cx="3009900" cy="59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ACE897-2030-8F4B-843E-3DA1F8962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56" y="4169125"/>
            <a:ext cx="939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Negative-Binomial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64029AC-5B6D-384A-96E5-3518B07CC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2047083"/>
            <a:ext cx="8115300" cy="1790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927DD9-8472-1846-8848-C452393F0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0" y="3860009"/>
            <a:ext cx="77470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70ACE9-FEBD-C345-B91E-3AE5F92B4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450" y="4703367"/>
            <a:ext cx="1028700" cy="393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12D96-077A-EF4B-BEB2-9728DBC9E409}"/>
                  </a:ext>
                </a:extLst>
              </p:cNvPr>
              <p:cNvSpPr txBox="1"/>
              <p:nvPr/>
            </p:nvSpPr>
            <p:spPr>
              <a:xfrm>
                <a:off x="990601" y="1594527"/>
                <a:ext cx="7907678" cy="42165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With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fixed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Without fixed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CN" sz="2400" dirty="0"/>
                  <a:t>, it does not belong to an exponential family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B12D96-077A-EF4B-BEB2-9728DBC9E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1" y="1594527"/>
                <a:ext cx="7907678" cy="4216539"/>
              </a:xfrm>
              <a:prstGeom prst="rect">
                <a:avLst/>
              </a:prstGeom>
              <a:blipFill>
                <a:blip r:embed="rId6"/>
                <a:stretch>
                  <a:fillRect l="-1124" t="-1201" r="-321" b="-270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18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Bartlett’s identities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16D6765-DE6F-FB4B-B090-16BED8183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003" y="4048550"/>
            <a:ext cx="2946400" cy="35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9D1B03-2A32-0649-8D28-928A9B23258C}"/>
              </a:ext>
            </a:extLst>
          </p:cNvPr>
          <p:cNvSpPr txBox="1"/>
          <p:nvPr/>
        </p:nvSpPr>
        <p:spPr>
          <a:xfrm>
            <a:off x="838200" y="4013046"/>
            <a:ext cx="778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Proof: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1ADCB-EE82-0644-9F9F-DCBABF3C5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686" y="3800214"/>
            <a:ext cx="3352800" cy="711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8CEC1-C796-6D45-B63D-A08D665EA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003" y="4581485"/>
            <a:ext cx="3314700" cy="1816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E4A23D-6D0A-5F42-8802-BBE4EF5C66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7356" y="4735797"/>
            <a:ext cx="5930900" cy="15113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E68275-87AB-E945-901B-AAF750435A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294327"/>
            <a:ext cx="9938657" cy="25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05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Moments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5FF7869-7F0F-E14C-8EB8-9E0E83F9D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214" y="1499805"/>
            <a:ext cx="4686300" cy="78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92790D-F35F-0B48-AD43-946BF11DF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214" y="2156550"/>
            <a:ext cx="3009900" cy="495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559B75-9835-EB44-95F7-849C094A3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372" y="2545493"/>
            <a:ext cx="3657600" cy="45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4D4050-A50A-E748-B5F3-2F3A925A3788}"/>
              </a:ext>
            </a:extLst>
          </p:cNvPr>
          <p:cNvSpPr txBox="1"/>
          <p:nvPr/>
        </p:nvSpPr>
        <p:spPr>
          <a:xfrm>
            <a:off x="1077686" y="3211286"/>
            <a:ext cx="84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Proof: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340E25-E805-2142-A3B1-B7060CB2B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1208" y="3826848"/>
            <a:ext cx="6997700" cy="825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977819-F69B-3C4C-A2A0-1DF7416D28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9721" y="4836113"/>
            <a:ext cx="53721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24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EA42-D7B4-DE3D-6CB2-A3E0BA17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2396A856-0481-AD89-A05A-A328565A1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Generalized linear model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BFBC03B6-BA31-47FF-A46F-2F908F1F65A5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9372600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sz="2400" dirty="0"/>
                  <a:t>Link the mean of the outcome and the linear combination of covariates</a:t>
                </a:r>
              </a:p>
              <a:p>
                <a:pPr marL="342900" indent="-342900"/>
                <a:endParaRPr lang="en-US" sz="2400" dirty="0"/>
              </a:p>
              <a:p>
                <a:pPr marL="342900" indent="-342900"/>
                <a:r>
                  <a:rPr lang="en-US" sz="2400" dirty="0"/>
                  <a:t>The inverse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400" dirty="0"/>
                  <a:t> is called the link function</a:t>
                </a:r>
              </a:p>
              <a:p>
                <a:pPr marL="342900" indent="-342900"/>
                <a:r>
                  <a:rPr lang="en-US" sz="2000" dirty="0"/>
                  <a:t>Three components of GLM</a:t>
                </a:r>
              </a:p>
              <a:p>
                <a:pPr marL="800100" lvl="1" indent="-342900"/>
                <a:r>
                  <a:rPr lang="en-US" sz="2000" dirty="0"/>
                  <a:t>Conditional distribution: exponential family with dispersion</a:t>
                </a:r>
              </a:p>
              <a:p>
                <a:pPr marL="800100" lvl="1" indent="-342900"/>
                <a:r>
                  <a:rPr lang="en-US" sz="2000" dirty="0"/>
                  <a:t>Conditional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800100" lvl="1" indent="-342900"/>
                <a:r>
                  <a:rPr lang="en-US" sz="2000" dirty="0"/>
                  <a:t>Link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342900" indent="-342900"/>
                <a:endParaRPr lang="en-US" sz="2400" dirty="0"/>
              </a:p>
              <a:p>
                <a:pPr marL="457189" lvl="1" indent="0">
                  <a:buNone/>
                </a:pPr>
                <a:endParaRPr lang="en-US" sz="2000" dirty="0"/>
              </a:p>
              <a:p>
                <a:pPr marL="342900" indent="-342900"/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BFBC03B6-BA31-47FF-A46F-2F908F1F6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9372600" cy="4656139"/>
              </a:xfrm>
              <a:blipFill>
                <a:blip r:embed="rId3"/>
                <a:stretch>
                  <a:fillRect l="-947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107C835F-50F1-D07D-754F-823106B1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2D6A36E-C43E-25DE-11B2-BF1BBEC25410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2E24D8-A4BC-064A-ABC1-6CE63718ECD3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268339-3DEA-7C29-FA46-714005872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937545"/>
            <a:ext cx="1270000" cy="393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E35368-71C7-BEDC-A7E0-53B4B7A4F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7306" y="4346712"/>
            <a:ext cx="3340100" cy="368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B10BD9-7C06-9619-2FA8-6959B7148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758690"/>
            <a:ext cx="7480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8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 for GLM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A3AC276-486C-EB4E-868B-84B08670E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65" y="1493455"/>
            <a:ext cx="4787900" cy="800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E4BAA0-EBD4-BA45-A580-D58704594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065" y="2262823"/>
            <a:ext cx="2120900" cy="685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EB94D7-14CD-C245-9A87-553005EA1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5065" y="2948623"/>
            <a:ext cx="2336800" cy="1346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CC7673-09E7-EE4C-BB7C-68A663A06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194" y="4386578"/>
            <a:ext cx="3721100" cy="71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F61F98-A9BE-C745-AAF2-AD84862A35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6815" y="5130955"/>
            <a:ext cx="2057400" cy="800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9E48DA-C1C1-2747-9ECD-170796E6DBBC}"/>
              </a:ext>
            </a:extLst>
          </p:cNvPr>
          <p:cNvSpPr txBox="1"/>
          <p:nvPr/>
        </p:nvSpPr>
        <p:spPr>
          <a:xfrm>
            <a:off x="2704830" y="5329776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MLE:</a:t>
            </a:r>
          </a:p>
        </p:txBody>
      </p:sp>
    </p:spTree>
    <p:extLst>
      <p:ext uri="{BB962C8B-B14F-4D97-AF65-F5344CB8AC3E}">
        <p14:creationId xmlns:p14="http://schemas.microsoft.com/office/powerpoint/2010/main" val="61116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 for GLM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76791D5-EC0C-B942-94D9-1827F0039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243" y="1690690"/>
            <a:ext cx="3124200" cy="673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010BCF-F374-FF4A-B328-6A63EAAD7278}"/>
                  </a:ext>
                </a:extLst>
              </p:cNvPr>
              <p:cNvSpPr txBox="1"/>
              <p:nvPr/>
            </p:nvSpPr>
            <p:spPr>
              <a:xfrm>
                <a:off x="1023257" y="2601686"/>
                <a:ext cx="573509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natural choice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sz="2400" dirty="0"/>
                  <a:t> is to cancel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in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Canonical link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010BCF-F374-FF4A-B328-6A63EAAD7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7" y="2601686"/>
                <a:ext cx="5735096" cy="1138773"/>
              </a:xfrm>
              <a:prstGeom prst="rect">
                <a:avLst/>
              </a:prstGeom>
              <a:blipFill>
                <a:blip r:embed="rId4"/>
                <a:stretch>
                  <a:fillRect l="-1545" t="-3297" r="-662" b="-1208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A32AF44-35E5-A24F-A5A3-6905001F9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407" y="2617252"/>
            <a:ext cx="3365500" cy="40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3AA543-01BD-4844-B194-1963BDF59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040" y="3336986"/>
            <a:ext cx="2552700" cy="36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E22B1-C91E-8A4A-9414-B73C6848D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2799" y="3683515"/>
            <a:ext cx="5689600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DBBEF5-7236-BF42-93A0-C258A5C4F5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4828" y="4335013"/>
            <a:ext cx="50292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2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Variance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F517D20-36B7-374F-8069-0AE03A4F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765" y="1558472"/>
            <a:ext cx="6108700" cy="2717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2C6411-4355-274C-B7E8-D62B934D1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165" y="4276272"/>
            <a:ext cx="3314700" cy="71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2A9412-547F-EC45-B51D-72276E2AC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1" y="4987472"/>
            <a:ext cx="5702300" cy="15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C2A286-66B3-8346-A526-096F02C4CA87}"/>
              </a:ext>
            </a:extLst>
          </p:cNvPr>
          <p:cNvSpPr txBox="1"/>
          <p:nvPr/>
        </p:nvSpPr>
        <p:spPr>
          <a:xfrm>
            <a:off x="620485" y="5287807"/>
            <a:ext cx="2594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With canonical link</a:t>
            </a:r>
          </a:p>
        </p:txBody>
      </p:sp>
    </p:spTree>
    <p:extLst>
      <p:ext uri="{BB962C8B-B14F-4D97-AF65-F5344CB8AC3E}">
        <p14:creationId xmlns:p14="http://schemas.microsoft.com/office/powerpoint/2010/main" val="294496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CAC9-CE4D-7E22-CD2A-DF29510D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591CF02D-2247-D993-B0CB-882B92CD9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Estimation and inference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1C727257-9077-561D-5A32-F9685AEA01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9372600" cy="4656139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/>
            <a:r>
              <a:rPr lang="en-US" sz="2400" dirty="0"/>
              <a:t>Replace the unknown parameters with their estimates</a:t>
            </a:r>
          </a:p>
          <a:p>
            <a:pPr marL="342900" indent="-342900"/>
            <a:endParaRPr lang="en-US" sz="2400" dirty="0"/>
          </a:p>
          <a:p>
            <a:pPr marL="342900" indent="-342900"/>
            <a:r>
              <a:rPr lang="en-US" sz="2400" dirty="0"/>
              <a:t>Normal linear model</a:t>
            </a:r>
          </a:p>
          <a:p>
            <a:pPr marL="342900" indent="-342900"/>
            <a:endParaRPr lang="en-US" sz="2400" dirty="0"/>
          </a:p>
          <a:p>
            <a:pPr marL="342900" indent="-342900"/>
            <a:r>
              <a:rPr lang="en-US" sz="2400" dirty="0"/>
              <a:t>Logistic model</a:t>
            </a:r>
          </a:p>
          <a:p>
            <a:pPr marL="342900" indent="-342900"/>
            <a:endParaRPr lang="en-US" sz="2400" dirty="0"/>
          </a:p>
          <a:p>
            <a:pPr marL="800089" lvl="1" indent="-342900"/>
            <a:endParaRPr lang="en-US" sz="2000" dirty="0"/>
          </a:p>
          <a:p>
            <a:pPr marL="342900" indent="-342900"/>
            <a:r>
              <a:rPr lang="en-US" sz="2400" dirty="0"/>
              <a:t>Poisson model</a:t>
            </a:r>
          </a:p>
          <a:p>
            <a:pPr marL="342900" indent="-342900"/>
            <a:endParaRPr lang="en-US" sz="240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endParaRPr lang="en-US" sz="2000" i="1" dirty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51565E2-A933-0463-C81D-CB8077F6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128991A-5A66-2E0B-982B-B5DCB7FCE46B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1508EC-7125-57F5-F967-1FF4A2826ABC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C16DF7-0668-54B2-8B97-EEC9EFD61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56" y="2362970"/>
            <a:ext cx="1752600" cy="406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D897AA-64D6-BC04-0B12-5DC1C8630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722" y="3259685"/>
            <a:ext cx="17653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76F379-1402-26D2-8AD5-37AEB4C86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083" y="3285085"/>
            <a:ext cx="2476500" cy="393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028AF4-C0F7-61ED-3E70-825FB0C98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1091" y="3766409"/>
            <a:ext cx="2019300" cy="38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5118B6-177C-41E7-8AD2-DF69BDBB1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1091" y="4542744"/>
            <a:ext cx="1790700" cy="393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729F7F-4AF0-B64B-C4B6-A3234DB9F0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391" y="4559890"/>
            <a:ext cx="1701800" cy="368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640824-62C4-5FF8-2F9B-3180CB4D2D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2925" y="5234436"/>
            <a:ext cx="9525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3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AE85A-9B61-8F95-590D-DBB57C18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961BDE45-6694-EEFF-977E-D125DDE22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Other GLMs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8CD01C0A-C765-5A23-7DAD-0741FA1024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463040"/>
            <a:ext cx="9372600" cy="4656139"/>
          </a:xfrm>
          <a:ln>
            <a:noFill/>
          </a:ln>
        </p:spPr>
        <p:txBody>
          <a:bodyPr>
            <a:normAutofit/>
          </a:bodyPr>
          <a:lstStyle/>
          <a:p>
            <a:pPr marL="342900" indent="-342900"/>
            <a:r>
              <a:rPr lang="en-US" sz="2400" dirty="0"/>
              <a:t>The </a:t>
            </a:r>
            <a:r>
              <a:rPr lang="en-US" sz="2400" i="1" dirty="0" err="1"/>
              <a:t>glm</a:t>
            </a:r>
            <a:r>
              <a:rPr lang="en-US" sz="2400" dirty="0"/>
              <a:t> function allows for the specification of the </a:t>
            </a:r>
            <a:r>
              <a:rPr lang="en-US" sz="2400" i="1" dirty="0"/>
              <a:t>family</a:t>
            </a:r>
            <a:r>
              <a:rPr lang="en-US" sz="2400" dirty="0"/>
              <a:t> parameters</a:t>
            </a:r>
          </a:p>
          <a:p>
            <a:pPr marL="342900" indent="-342900"/>
            <a:endParaRPr lang="en-US" sz="2400" dirty="0"/>
          </a:p>
          <a:p>
            <a:pPr marL="342900" indent="-342900"/>
            <a:endParaRPr lang="en-US" sz="2400" dirty="0"/>
          </a:p>
          <a:p>
            <a:pPr marL="800089" lvl="1" indent="-342900"/>
            <a:endParaRPr lang="en-US" sz="2000" dirty="0"/>
          </a:p>
          <a:p>
            <a:pPr marL="342900" indent="-342900"/>
            <a:endParaRPr lang="en-US" sz="2400" dirty="0"/>
          </a:p>
          <a:p>
            <a:pPr marL="342900" indent="-342900"/>
            <a:endParaRPr lang="en-US" sz="2400" dirty="0"/>
          </a:p>
          <a:p>
            <a:pPr marL="342900" indent="-342900"/>
            <a:endParaRPr lang="en-US" sz="2400" dirty="0"/>
          </a:p>
          <a:p>
            <a:pPr marL="342900" indent="-342900"/>
            <a:r>
              <a:rPr lang="en-US" sz="2400" dirty="0"/>
              <a:t>See the help file of the </a:t>
            </a:r>
            <a:r>
              <a:rPr lang="en-US" sz="2400" i="1" dirty="0" err="1"/>
              <a:t>glm</a:t>
            </a:r>
            <a:r>
              <a:rPr lang="en-US" sz="2400" dirty="0"/>
              <a:t> function and McCullagh and Nelder (1989) for more details</a:t>
            </a:r>
          </a:p>
          <a:p>
            <a:pPr marL="342900" indent="-342900"/>
            <a:endParaRPr lang="en-US" sz="2400" dirty="0"/>
          </a:p>
          <a:p>
            <a:pPr lvl="1">
              <a:lnSpc>
                <a:spcPct val="150000"/>
              </a:lnSpc>
              <a:buClr>
                <a:schemeClr val="tx1"/>
              </a:buClr>
            </a:pPr>
            <a:endParaRPr lang="en-US" altLang="zh-CN" sz="2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>
              <a:lnSpc>
                <a:spcPct val="150000"/>
              </a:lnSpc>
              <a:buClr>
                <a:srgbClr val="FF0000"/>
              </a:buClr>
            </a:pPr>
            <a:endParaRPr lang="en-US" sz="2000" i="1" dirty="0"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endParaRPr lang="en-US" altLang="zh-CN" sz="18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zh-CN" altLang="en-US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32B6CA7D-DA79-69DF-AB0B-8413F0F8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05C7EB2-55C1-F96B-3B46-08D9CFAC4261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169BE27-0E24-EF2C-F64E-BC3392259831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0C5F05-5BDB-9E32-9815-A99BAA47D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365" y="2063750"/>
            <a:ext cx="61087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9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E4D8-25BD-F9FD-3888-03E51E2E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9A241D69-39E1-F26D-B80C-9AB1BF424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Gamma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9C051831-3423-D52B-7CA9-0A58BCB531C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399" y="1463040"/>
                <a:ext cx="10101943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342900" indent="-342900"/>
                <a:r>
                  <a:rPr lang="en-US" sz="2400" dirty="0"/>
                  <a:t>Gamma(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): positive with mean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/>
                  <a:t> and variance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342900" indent="-342900"/>
                <a:r>
                  <a:rPr lang="en-US" sz="2400" dirty="0"/>
                  <a:t>For convenience of modeling, we reparametrize it as Gamma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’(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342900" indent="-342900"/>
                <a:endParaRPr lang="en-US" sz="2400" dirty="0"/>
              </a:p>
              <a:p>
                <a:pPr marL="800089" lvl="1" indent="-342900"/>
                <a:endParaRPr lang="en-US" sz="2000" dirty="0"/>
              </a:p>
              <a:p>
                <a:pPr marL="342900" indent="-342900"/>
                <a:r>
                  <a:rPr lang="en-US" sz="2400" dirty="0"/>
                  <a:t>Density of Gamma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exponential family with dispersion</a:t>
                </a:r>
              </a:p>
              <a:p>
                <a:pPr marL="342900" indent="-342900"/>
                <a:endParaRPr lang="en-US" sz="2400" dirty="0"/>
              </a:p>
              <a:p>
                <a:pPr marL="342900" indent="-342900"/>
                <a:endParaRPr lang="en-US" sz="2400" dirty="0"/>
              </a:p>
              <a:p>
                <a:pPr marL="800089" lvl="1" indent="-342900"/>
                <a:r>
                  <a:rPr lang="en-US" sz="2000" dirty="0"/>
                  <a:t>Gamma regression</a:t>
                </a:r>
              </a:p>
              <a:p>
                <a:pPr marL="800089" lvl="1" indent="-342900"/>
                <a:r>
                  <a:rPr lang="en-US" sz="2000" dirty="0"/>
                  <a:t>This does not correspond to a canonical link</a:t>
                </a:r>
              </a:p>
              <a:p>
                <a:pPr marL="800089" lvl="1" indent="-342900"/>
                <a:endParaRPr lang="en-US" sz="2000" dirty="0"/>
              </a:p>
              <a:p>
                <a:pPr marL="342900" indent="-342900"/>
                <a:endParaRPr lang="en-US" sz="2400" dirty="0"/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9C051831-3423-D52B-7CA9-0A58BCB531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399" y="1463040"/>
                <a:ext cx="10101943" cy="4656139"/>
              </a:xfrm>
              <a:blipFill>
                <a:blip r:embed="rId3"/>
                <a:stretch>
                  <a:fillRect l="-879" t="-19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910D6C77-BF93-B021-C211-74508265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65B43AD-BC77-BAEC-DE85-1E410B1B28BA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0D5DA8-CA2B-D934-CBBF-4CE24763297F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4E46C-754E-337E-14B1-45A5C379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044" y="2439353"/>
            <a:ext cx="3619500" cy="69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C925C5-FC28-293E-F2D1-15B6731BE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544" y="3720148"/>
            <a:ext cx="4508500" cy="67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1E8299-8ADC-703C-3732-E80B147AA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044" y="4516798"/>
            <a:ext cx="1905000" cy="279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41BADF-AAAC-DD8E-86A3-2C14586CCA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5921" y="4420640"/>
            <a:ext cx="2476500" cy="40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CFB9B2-C18F-F4AE-ABE2-1BCA4E43BD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868" y="4420640"/>
            <a:ext cx="1054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MLE for log-linear Gamma 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8B527-9CFE-B346-A5AC-435AEF981A2D}"/>
                  </a:ext>
                </a:extLst>
              </p:cNvPr>
              <p:cNvSpPr txBox="1"/>
              <p:nvPr/>
            </p:nvSpPr>
            <p:spPr>
              <a:xfrm>
                <a:off x="1090806" y="3958996"/>
                <a:ext cx="10441897" cy="22027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It is similar to the Poisson score equation except for the additional weight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Gamma vs. log-Normal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Gamma regression assumes the log of the conditional mean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is linear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Log-Normal</a:t>
                </a:r>
                <a:r>
                  <a:rPr lang="en-US" sz="2000" dirty="0"/>
                  <a:t> regression assumes the conditional mean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000" dirty="0"/>
                  <a:t> is linear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38B527-9CFE-B346-A5AC-435AEF98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806" y="3958996"/>
                <a:ext cx="10441897" cy="2202783"/>
              </a:xfrm>
              <a:prstGeom prst="rect">
                <a:avLst/>
              </a:prstGeom>
              <a:blipFill>
                <a:blip r:embed="rId3"/>
                <a:stretch>
                  <a:fillRect l="-728" t="-2286" b="-4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B899C7C-6CF3-674B-B69C-EA040FB93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143" y="1770743"/>
            <a:ext cx="6959600" cy="66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A961F7-8146-C04B-A819-B409FDDCF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450" y="2431143"/>
            <a:ext cx="6565900" cy="74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A9513-DA88-E14B-A5F5-D0AA8871A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304" y="3171596"/>
            <a:ext cx="3873500" cy="78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84F534-1B8D-B74C-AC15-7DEBB1620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5872" y="3786195"/>
            <a:ext cx="27051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7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37007</TotalTime>
  <Words>424</Words>
  <Application>Microsoft Macintosh PowerPoint</Application>
  <PresentationFormat>Widescreen</PresentationFormat>
  <Paragraphs>157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微软雅黑</vt:lpstr>
      <vt:lpstr>微软雅黑</vt:lpstr>
      <vt:lpstr>Arial</vt:lpstr>
      <vt:lpstr>Calibri</vt:lpstr>
      <vt:lpstr>Cambria Math</vt:lpstr>
      <vt:lpstr>Times New Roman</vt:lpstr>
      <vt:lpstr>Verdana</vt:lpstr>
      <vt:lpstr>Wingdings</vt:lpstr>
      <vt:lpstr>Office Theme</vt:lpstr>
      <vt:lpstr>Generalized linear models: a unification</vt:lpstr>
      <vt:lpstr>Generalized linear models</vt:lpstr>
      <vt:lpstr>Exponential family</vt:lpstr>
      <vt:lpstr>Normal linear model</vt:lpstr>
      <vt:lpstr>Logistic model</vt:lpstr>
      <vt:lpstr>Poisson model</vt:lpstr>
      <vt:lpstr>Negative-Binomial model</vt:lpstr>
      <vt:lpstr>Bartlett’s identities</vt:lpstr>
      <vt:lpstr>Moments</vt:lpstr>
      <vt:lpstr>Generalized linear model</vt:lpstr>
      <vt:lpstr>MLE for GLM</vt:lpstr>
      <vt:lpstr>MLE for GLM</vt:lpstr>
      <vt:lpstr>Variance</vt:lpstr>
      <vt:lpstr>Estimation and inference</vt:lpstr>
      <vt:lpstr>Other GLMs</vt:lpstr>
      <vt:lpstr>Gamma regression</vt:lpstr>
      <vt:lpstr>MLE for log-linear Gamma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Zhichao Jiang</cp:lastModifiedBy>
  <cp:revision>228</cp:revision>
  <dcterms:created xsi:type="dcterms:W3CDTF">2022-01-07T20:32:42Z</dcterms:created>
  <dcterms:modified xsi:type="dcterms:W3CDTF">2025-12-12T09:42:39Z</dcterms:modified>
</cp:coreProperties>
</file>